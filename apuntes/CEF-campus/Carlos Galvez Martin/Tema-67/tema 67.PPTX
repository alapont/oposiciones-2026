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356" r:id="rId4"/>
    <p:sldId id="258" r:id="rId5"/>
    <p:sldId id="299" r:id="rId6"/>
    <p:sldId id="301" r:id="rId7"/>
    <p:sldId id="302" r:id="rId8"/>
    <p:sldId id="300" r:id="rId9"/>
    <p:sldId id="259" r:id="rId10"/>
    <p:sldId id="260" r:id="rId11"/>
    <p:sldId id="304" r:id="rId12"/>
    <p:sldId id="305" r:id="rId13"/>
    <p:sldId id="306" r:id="rId14"/>
    <p:sldId id="307" r:id="rId15"/>
    <p:sldId id="308" r:id="rId16"/>
    <p:sldId id="309" r:id="rId17"/>
    <p:sldId id="303" r:id="rId18"/>
    <p:sldId id="310" r:id="rId19"/>
    <p:sldId id="311" r:id="rId20"/>
    <p:sldId id="26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262" r:id="rId29"/>
    <p:sldId id="319" r:id="rId30"/>
    <p:sldId id="320" r:id="rId31"/>
    <p:sldId id="321" r:id="rId32"/>
    <p:sldId id="322" r:id="rId33"/>
    <p:sldId id="323" r:id="rId34"/>
    <p:sldId id="263" r:id="rId35"/>
    <p:sldId id="324" r:id="rId36"/>
    <p:sldId id="325" r:id="rId37"/>
    <p:sldId id="326" r:id="rId38"/>
    <p:sldId id="327" r:id="rId39"/>
    <p:sldId id="328" r:id="rId40"/>
    <p:sldId id="329" r:id="rId41"/>
    <p:sldId id="264" r:id="rId42"/>
    <p:sldId id="330" r:id="rId43"/>
    <p:sldId id="331" r:id="rId44"/>
    <p:sldId id="332" r:id="rId45"/>
    <p:sldId id="333" r:id="rId46"/>
    <p:sldId id="334" r:id="rId47"/>
    <p:sldId id="335" r:id="rId48"/>
    <p:sldId id="336" r:id="rId49"/>
    <p:sldId id="265" r:id="rId50"/>
    <p:sldId id="337" r:id="rId51"/>
    <p:sldId id="338" r:id="rId52"/>
    <p:sldId id="339" r:id="rId53"/>
    <p:sldId id="340" r:id="rId54"/>
    <p:sldId id="341" r:id="rId55"/>
    <p:sldId id="342" r:id="rId56"/>
    <p:sldId id="266" r:id="rId57"/>
    <p:sldId id="343" r:id="rId58"/>
    <p:sldId id="344" r:id="rId59"/>
    <p:sldId id="354" r:id="rId60"/>
    <p:sldId id="355" r:id="rId61"/>
    <p:sldId id="345" r:id="rId62"/>
    <p:sldId id="346" r:id="rId63"/>
    <p:sldId id="347" r:id="rId64"/>
    <p:sldId id="353" r:id="rId65"/>
    <p:sldId id="348" r:id="rId66"/>
    <p:sldId id="349" r:id="rId67"/>
    <p:sldId id="350" r:id="rId68"/>
    <p:sldId id="267" r:id="rId69"/>
    <p:sldId id="351" r:id="rId70"/>
    <p:sldId id="268" r:id="rId71"/>
    <p:sldId id="269" r:id="rId72"/>
    <p:sldId id="270" r:id="rId73"/>
    <p:sldId id="271" r:id="rId74"/>
    <p:sldId id="272" r:id="rId75"/>
    <p:sldId id="273" r:id="rId76"/>
    <p:sldId id="274" r:id="rId77"/>
    <p:sldId id="275" r:id="rId78"/>
    <p:sldId id="276" r:id="rId79"/>
    <p:sldId id="277" r:id="rId80"/>
    <p:sldId id="278" r:id="rId81"/>
    <p:sldId id="279" r:id="rId82"/>
    <p:sldId id="357" r:id="rId83"/>
    <p:sldId id="358" r:id="rId84"/>
    <p:sldId id="359" r:id="rId85"/>
    <p:sldId id="360" r:id="rId86"/>
    <p:sldId id="361" r:id="rId87"/>
    <p:sldId id="280" r:id="rId88"/>
    <p:sldId id="281" r:id="rId89"/>
    <p:sldId id="282" r:id="rId90"/>
    <p:sldId id="283" r:id="rId91"/>
    <p:sldId id="284" r:id="rId92"/>
    <p:sldId id="285" r:id="rId93"/>
    <p:sldId id="286" r:id="rId94"/>
    <p:sldId id="287" r:id="rId95"/>
    <p:sldId id="288" r:id="rId96"/>
    <p:sldId id="289" r:id="rId97"/>
    <p:sldId id="290" r:id="rId98"/>
    <p:sldId id="291" r:id="rId99"/>
    <p:sldId id="292" r:id="rId100"/>
    <p:sldId id="293" r:id="rId101"/>
    <p:sldId id="294" r:id="rId102"/>
    <p:sldId id="295" r:id="rId103"/>
    <p:sldId id="296" r:id="rId104"/>
    <p:sldId id="297" r:id="rId105"/>
    <p:sldId id="298" r:id="rId106"/>
    <p:sldId id="352" r:id="rId10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41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0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9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86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93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7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01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42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41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47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1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8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B51A03-DD53-3406-EADC-A480D0AF4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s-ES" sz="5400"/>
              <a:t>Tema 67 </a:t>
            </a:r>
            <a:r>
              <a:rPr lang="es-ES" sz="5400" dirty="0"/>
              <a:t>(I)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8F889C-4FA3-1A15-31D5-D9DDE12F1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7"/>
            <a:ext cx="4206240" cy="1184584"/>
          </a:xfrm>
        </p:spPr>
        <p:txBody>
          <a:bodyPr>
            <a:normAutofit/>
          </a:bodyPr>
          <a:lstStyle/>
          <a:p>
            <a:pPr algn="l"/>
            <a:r>
              <a:rPr lang="es-ES" dirty="0"/>
              <a:t>Entorno de desarrollo JAVA</a:t>
            </a:r>
            <a:endParaRPr lang="es-E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C20EB-1DDA-C3FC-852F-3DBD2A29C9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72" r="18553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37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76B9EF-33F9-3119-D5C1-1B53840A3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 a Java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1BC17-2650-93E1-72EE-A2CDE048D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Fue desarrollado por </a:t>
            </a:r>
            <a:r>
              <a:rPr lang="es-ES" dirty="0" err="1"/>
              <a:t>Sun</a:t>
            </a:r>
            <a:r>
              <a:rPr lang="es-ES" dirty="0"/>
              <a:t> Microsystems, lanzado en 1995.</a:t>
            </a:r>
          </a:p>
          <a:p>
            <a:r>
              <a:rPr lang="es-ES" dirty="0"/>
              <a:t>Se caracteriza por su filosofía de </a:t>
            </a:r>
            <a:r>
              <a:rPr lang="es-ES" dirty="0" err="1"/>
              <a:t>Write</a:t>
            </a:r>
            <a:r>
              <a:rPr lang="es-ES" dirty="0"/>
              <a:t> Once, Run </a:t>
            </a:r>
            <a:r>
              <a:rPr lang="es-ES" dirty="0" err="1"/>
              <a:t>Anywhere</a:t>
            </a:r>
            <a:r>
              <a:rPr lang="es-ES" dirty="0"/>
              <a:t> (WORA), permite ejecutar en cualquier sistema gracias a la JVM.</a:t>
            </a:r>
          </a:p>
          <a:p>
            <a:r>
              <a:rPr lang="es-ES" dirty="0"/>
              <a:t>Ventajas sobre C/C++:</a:t>
            </a:r>
          </a:p>
          <a:p>
            <a:pPr lvl="1"/>
            <a:r>
              <a:rPr lang="es-ES" dirty="0"/>
              <a:t>Sin punteros directos.</a:t>
            </a:r>
          </a:p>
          <a:p>
            <a:pPr lvl="1"/>
            <a:r>
              <a:rPr lang="es-ES" dirty="0"/>
              <a:t>Gestión automática de memoria mediante el recolector de basura.</a:t>
            </a:r>
          </a:p>
          <a:p>
            <a:r>
              <a:rPr lang="es-ES" dirty="0"/>
              <a:t>Desde el principio tuvo como propósito ser una plataforma y lenguaje orientado a portabilidad, seguridad y robustez.</a:t>
            </a:r>
          </a:p>
          <a:p>
            <a:r>
              <a:rPr lang="es-ES" dirty="0"/>
              <a:t>Ha estado en evolución constante desde Java 1.0 a Java 21, con hitos técnicos y cambios en el ecosistema.</a:t>
            </a:r>
          </a:p>
        </p:txBody>
      </p:sp>
    </p:spTree>
    <p:extLst>
      <p:ext uri="{BB962C8B-B14F-4D97-AF65-F5344CB8AC3E}">
        <p14:creationId xmlns:p14="http://schemas.microsoft.com/office/powerpoint/2010/main" val="35845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1DA00-A445-BE4C-0D28-1F613F663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Gestión automática de memoria en Java (GC)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8C595D-24B6-29A6-E3C4-E5499D983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Heap</a:t>
            </a:r>
            <a:r>
              <a:rPr lang="es-ES" dirty="0"/>
              <a:t> (objetos)</a:t>
            </a:r>
          </a:p>
          <a:p>
            <a:pPr lvl="1"/>
            <a:r>
              <a:rPr lang="es-ES" dirty="0"/>
              <a:t>Young Gen: </a:t>
            </a:r>
            <a:r>
              <a:rPr lang="es-ES" dirty="0" err="1"/>
              <a:t>Eden</a:t>
            </a:r>
            <a:r>
              <a:rPr lang="es-ES" dirty="0"/>
              <a:t> + </a:t>
            </a:r>
            <a:r>
              <a:rPr lang="es-ES" dirty="0" err="1"/>
              <a:t>Survivor</a:t>
            </a:r>
            <a:r>
              <a:rPr lang="es-ES" dirty="0"/>
              <a:t> (objetos jóvenes).</a:t>
            </a:r>
          </a:p>
          <a:p>
            <a:pPr lvl="1"/>
            <a:r>
              <a:rPr lang="es-ES" dirty="0"/>
              <a:t>Old Gen: objetos de larga vida.</a:t>
            </a:r>
          </a:p>
          <a:p>
            <a:pPr lvl="1"/>
            <a:r>
              <a:rPr lang="es-ES" dirty="0" err="1"/>
              <a:t>Metaspace</a:t>
            </a:r>
            <a:r>
              <a:rPr lang="es-ES" dirty="0"/>
              <a:t>: metadatos de clases.</a:t>
            </a:r>
          </a:p>
          <a:p>
            <a:r>
              <a:rPr lang="es-ES" dirty="0"/>
              <a:t>Ciclo de vida</a:t>
            </a:r>
          </a:p>
          <a:p>
            <a:pPr marL="571500" lvl="1" indent="-342900">
              <a:buFont typeface="+mj-lt"/>
              <a:buAutoNum type="arabicPeriod"/>
            </a:pPr>
            <a:r>
              <a:rPr lang="es-ES" dirty="0"/>
              <a:t>Asignación en </a:t>
            </a:r>
            <a:r>
              <a:rPr lang="es-ES" dirty="0" err="1"/>
              <a:t>Eden</a:t>
            </a:r>
            <a:r>
              <a:rPr lang="es-ES" dirty="0"/>
              <a:t> (rápida).</a:t>
            </a:r>
          </a:p>
          <a:p>
            <a:pPr marL="571500" lvl="1" indent="-342900">
              <a:buFont typeface="+mj-lt"/>
              <a:buAutoNum type="arabicPeriod"/>
            </a:pPr>
            <a:r>
              <a:rPr lang="es-ES" dirty="0"/>
              <a:t>Copia entre </a:t>
            </a:r>
            <a:r>
              <a:rPr lang="es-ES" dirty="0" err="1"/>
              <a:t>Survivor</a:t>
            </a:r>
            <a:r>
              <a:rPr lang="es-ES" dirty="0"/>
              <a:t> si siguen vivos.</a:t>
            </a:r>
          </a:p>
          <a:p>
            <a:pPr marL="571500" lvl="1" indent="-342900">
              <a:buFont typeface="+mj-lt"/>
              <a:buAutoNum type="arabicPeriod"/>
            </a:pPr>
            <a:r>
              <a:rPr lang="es-ES" dirty="0"/>
              <a:t>Promoción a Old tras varias colecciones.</a:t>
            </a:r>
          </a:p>
        </p:txBody>
      </p:sp>
      <p:pic>
        <p:nvPicPr>
          <p:cNvPr id="1026" name="Picture 2" descr="Diagram of Java memory for several threads">
            <a:extLst>
              <a:ext uri="{FF2B5EF4-FFF2-40B4-BE49-F238E27FC236}">
                <a16:creationId xmlns:a16="http://schemas.microsoft.com/office/drawing/2014/main" id="{41DD8E0F-49AD-3C48-35F2-82227A652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8779" y="1114769"/>
            <a:ext cx="3429288" cy="2484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agram of Java memory distribution">
            <a:extLst>
              <a:ext uri="{FF2B5EF4-FFF2-40B4-BE49-F238E27FC236}">
                <a16:creationId xmlns:a16="http://schemas.microsoft.com/office/drawing/2014/main" id="{34781489-4E0F-78D3-CC62-44BC7F73F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981" y="3777268"/>
            <a:ext cx="4799187" cy="261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018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DA892F-2C93-4986-1D3E-1B4BEF26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Aparición de Java y primeras versiones (1.0 – 1.1)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28F904-0B1D-0133-9BA8-D000284C0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" dirty="0"/>
              <a:t>Orígenes: Proyecto Green (1991, </a:t>
            </a:r>
            <a:r>
              <a:rPr lang="es-ES" dirty="0" err="1"/>
              <a:t>Sun</a:t>
            </a:r>
            <a:r>
              <a:rPr lang="es-ES" dirty="0"/>
              <a:t> Microsystems) → </a:t>
            </a:r>
            <a:r>
              <a:rPr lang="es-ES" dirty="0" err="1"/>
              <a:t>Oak</a:t>
            </a:r>
            <a:r>
              <a:rPr lang="es-ES" dirty="0"/>
              <a:t> → renombrado Java (1994).</a:t>
            </a:r>
          </a:p>
          <a:p>
            <a:r>
              <a:rPr lang="es-ES" dirty="0"/>
              <a:t>Lanzamiento: 1995, con foco en applets para aplicaciones web interactivas.</a:t>
            </a:r>
          </a:p>
          <a:p>
            <a:r>
              <a:rPr lang="es-ES" dirty="0"/>
              <a:t>Java 1.0 (1996)</a:t>
            </a:r>
          </a:p>
          <a:p>
            <a:pPr lvl="1"/>
            <a:r>
              <a:rPr lang="es-ES" dirty="0" err="1"/>
              <a:t>APIs</a:t>
            </a:r>
            <a:r>
              <a:rPr lang="es-ES" dirty="0"/>
              <a:t> y clases básicas.</a:t>
            </a:r>
          </a:p>
          <a:p>
            <a:pPr lvl="1"/>
            <a:r>
              <a:rPr lang="es-ES" dirty="0"/>
              <a:t>Biblioteca gráfica AWT.</a:t>
            </a:r>
          </a:p>
          <a:p>
            <a:pPr lvl="1"/>
            <a:r>
              <a:rPr lang="es-ES" dirty="0" err="1"/>
              <a:t>Bytecode</a:t>
            </a:r>
            <a:r>
              <a:rPr lang="es-ES" dirty="0"/>
              <a:t> y primera JVM.</a:t>
            </a:r>
          </a:p>
          <a:p>
            <a:pPr lvl="1"/>
            <a:r>
              <a:rPr lang="es-ES" dirty="0"/>
              <a:t>Portabilidad independiente del SO (WORA).</a:t>
            </a:r>
          </a:p>
          <a:p>
            <a:r>
              <a:rPr lang="es-ES" dirty="0"/>
              <a:t>Java 1.1 (1997)</a:t>
            </a:r>
          </a:p>
          <a:p>
            <a:pPr lvl="1"/>
            <a:r>
              <a:rPr lang="es-ES" dirty="0"/>
              <a:t>Ampliación API estándar (Reader/</a:t>
            </a:r>
            <a:r>
              <a:rPr lang="es-ES" dirty="0" err="1"/>
              <a:t>Writer</a:t>
            </a:r>
            <a:r>
              <a:rPr lang="es-ES" dirty="0"/>
              <a:t>, manejo de fechas, </a:t>
            </a:r>
            <a:r>
              <a:rPr lang="es-ES" dirty="0" err="1"/>
              <a:t>Resource</a:t>
            </a:r>
            <a:r>
              <a:rPr lang="es-ES" dirty="0"/>
              <a:t> </a:t>
            </a:r>
            <a:r>
              <a:rPr lang="es-ES" dirty="0" err="1"/>
              <a:t>Bundles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JavaBeans, JDBC (acceso a BBDD).</a:t>
            </a:r>
          </a:p>
          <a:p>
            <a:pPr lvl="1"/>
            <a:r>
              <a:rPr lang="es-ES" dirty="0"/>
              <a:t>Clases internas (</a:t>
            </a:r>
            <a:r>
              <a:rPr lang="es-ES" dirty="0" err="1"/>
              <a:t>inner</a:t>
            </a:r>
            <a:r>
              <a:rPr lang="es-ES" dirty="0"/>
              <a:t> </a:t>
            </a:r>
            <a:r>
              <a:rPr lang="es-ES" dirty="0" err="1"/>
              <a:t>classes</a:t>
            </a:r>
            <a:r>
              <a:rPr lang="es-ES" dirty="0"/>
              <a:t>) y RMI.</a:t>
            </a:r>
          </a:p>
        </p:txBody>
      </p:sp>
    </p:spTree>
    <p:extLst>
      <p:ext uri="{BB962C8B-B14F-4D97-AF65-F5344CB8AC3E}">
        <p14:creationId xmlns:p14="http://schemas.microsoft.com/office/powerpoint/2010/main" val="1491669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929CC-F6DE-CF7B-7BA6-BF07C9246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JavaBeans en java 1.1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276A2B-5B0F-02C9-D77E-5005550D1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653578" cy="2942193"/>
          </a:xfrm>
        </p:spPr>
        <p:txBody>
          <a:bodyPr>
            <a:normAutofit/>
          </a:bodyPr>
          <a:lstStyle/>
          <a:p>
            <a:r>
              <a:rPr lang="es-ES" dirty="0"/>
              <a:t>Componente reutilizable de software pensado para herramientas visuales.</a:t>
            </a:r>
          </a:p>
          <a:p>
            <a:r>
              <a:rPr lang="es-ES" dirty="0"/>
              <a:t>Reglas:</a:t>
            </a:r>
          </a:p>
          <a:p>
            <a:pPr lvl="1"/>
            <a:r>
              <a:rPr lang="es-ES" dirty="0"/>
              <a:t>Constructor sin argumentos.</a:t>
            </a:r>
          </a:p>
          <a:p>
            <a:pPr lvl="1"/>
            <a:r>
              <a:rPr lang="es-ES" dirty="0"/>
              <a:t>Propiedades con </a:t>
            </a:r>
            <a:r>
              <a:rPr lang="es-ES" dirty="0" err="1"/>
              <a:t>getters</a:t>
            </a:r>
            <a:r>
              <a:rPr lang="es-ES" dirty="0"/>
              <a:t> y </a:t>
            </a:r>
            <a:r>
              <a:rPr lang="es-ES" dirty="0" err="1"/>
              <a:t>setters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Implementa </a:t>
            </a:r>
            <a:r>
              <a:rPr lang="es-ES" dirty="0" err="1"/>
              <a:t>Serializable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Usados en entornos como </a:t>
            </a:r>
            <a:r>
              <a:rPr lang="es-ES" dirty="0" err="1"/>
              <a:t>VisualAge</a:t>
            </a:r>
            <a:r>
              <a:rPr lang="es-ES" dirty="0"/>
              <a:t>, </a:t>
            </a:r>
            <a:r>
              <a:rPr lang="es-ES" dirty="0" err="1"/>
              <a:t>JBuilder</a:t>
            </a:r>
            <a:r>
              <a:rPr lang="es-ES" dirty="0"/>
              <a:t>, NetBeans.</a:t>
            </a:r>
          </a:p>
          <a:p>
            <a:pPr lvl="1"/>
            <a:r>
              <a:rPr lang="es-ES" dirty="0"/>
              <a:t>Configuración en tiempo de diseño (drag &amp; </a:t>
            </a:r>
            <a:r>
              <a:rPr lang="es-ES" dirty="0" err="1"/>
              <a:t>drop</a:t>
            </a:r>
            <a:r>
              <a:rPr lang="es-ES" dirty="0"/>
              <a:t> en IDE).</a:t>
            </a:r>
          </a:p>
          <a:p>
            <a:pPr marL="228600" lvl="1" indent="0">
              <a:buNone/>
            </a:pPr>
            <a:endParaRPr lang="es-ES" dirty="0"/>
          </a:p>
          <a:p>
            <a:pPr marL="228600" lvl="1" indent="0">
              <a:buNone/>
            </a:pPr>
            <a:endParaRPr lang="es-ES" dirty="0"/>
          </a:p>
          <a:p>
            <a:pPr marL="228600" lvl="1" indent="0">
              <a:buNone/>
            </a:pP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B9CEDEF-307C-A086-5D83-4D1E4EDF430D}"/>
              </a:ext>
            </a:extLst>
          </p:cNvPr>
          <p:cNvSpPr txBox="1"/>
          <p:nvPr/>
        </p:nvSpPr>
        <p:spPr>
          <a:xfrm>
            <a:off x="1171575" y="4692359"/>
            <a:ext cx="7900987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28600" lvl="1" indent="0">
              <a:buNone/>
            </a:pP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PersonaBean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Serializable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228600" lvl="1" indent="0">
              <a:buNone/>
            </a:pP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nombre;</a:t>
            </a:r>
          </a:p>
          <a:p>
            <a:pPr marL="228600" lvl="1" indent="0">
              <a:buNone/>
            </a:pP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getNombre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nombre; }</a:t>
            </a:r>
          </a:p>
          <a:p>
            <a:pPr marL="228600" lvl="1" indent="0">
              <a:buNone/>
            </a:pP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setNombre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this.nombre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n; }</a:t>
            </a:r>
          </a:p>
          <a:p>
            <a:pPr marL="228600" lvl="1" indent="0">
              <a:buNone/>
            </a:pP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9924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5432F-8387-0AD2-A8F5-A91D3ED34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JDBC (Java </a:t>
            </a:r>
            <a:r>
              <a:rPr lang="es-ES" dirty="0" err="1"/>
              <a:t>Database</a:t>
            </a:r>
            <a:r>
              <a:rPr lang="es-ES" dirty="0"/>
              <a:t> </a:t>
            </a:r>
            <a:r>
              <a:rPr lang="es-ES" dirty="0" err="1"/>
              <a:t>Connectivity</a:t>
            </a:r>
            <a:r>
              <a:rPr lang="es-ES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3DA124-1EA9-6304-AD57-DFD957903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API estándar para conectar Java con bases de datos relacionales.</a:t>
            </a:r>
          </a:p>
          <a:p>
            <a:r>
              <a:rPr lang="es-ES" dirty="0"/>
              <a:t>Sustituyó librerías propietarias → unificación del acceso.</a:t>
            </a:r>
          </a:p>
          <a:p>
            <a:r>
              <a:rPr lang="es-ES" dirty="0"/>
              <a:t>Arquitectura básica</a:t>
            </a:r>
          </a:p>
          <a:p>
            <a:pPr lvl="1"/>
            <a:r>
              <a:rPr lang="es-ES" dirty="0" err="1"/>
              <a:t>DriverManager</a:t>
            </a:r>
            <a:r>
              <a:rPr lang="es-ES" dirty="0"/>
              <a:t> – gestiona drivers JDBC.</a:t>
            </a:r>
          </a:p>
          <a:p>
            <a:pPr lvl="1"/>
            <a:r>
              <a:rPr lang="es-ES" dirty="0" err="1"/>
              <a:t>Connection</a:t>
            </a:r>
            <a:r>
              <a:rPr lang="es-ES" dirty="0"/>
              <a:t> – establece la conexión</a:t>
            </a:r>
          </a:p>
          <a:p>
            <a:pPr lvl="1"/>
            <a:r>
              <a:rPr lang="es-ES" dirty="0"/>
              <a:t>.</a:t>
            </a:r>
            <a:r>
              <a:rPr lang="es-ES" dirty="0" err="1"/>
              <a:t>Statement</a:t>
            </a:r>
            <a:r>
              <a:rPr lang="es-ES" dirty="0"/>
              <a:t> / </a:t>
            </a:r>
            <a:r>
              <a:rPr lang="es-ES" dirty="0" err="1"/>
              <a:t>PreparedStatement</a:t>
            </a:r>
            <a:r>
              <a:rPr lang="es-ES" dirty="0"/>
              <a:t> – ejecuta SQL.</a:t>
            </a:r>
          </a:p>
          <a:p>
            <a:pPr lvl="1"/>
            <a:r>
              <a:rPr lang="es-ES" dirty="0" err="1"/>
              <a:t>ResultSet</a:t>
            </a:r>
            <a:r>
              <a:rPr lang="es-ES" dirty="0"/>
              <a:t> – recorre resultados.</a:t>
            </a:r>
          </a:p>
        </p:txBody>
      </p:sp>
    </p:spTree>
    <p:extLst>
      <p:ext uri="{BB962C8B-B14F-4D97-AF65-F5344CB8AC3E}">
        <p14:creationId xmlns:p14="http://schemas.microsoft.com/office/powerpoint/2010/main" val="1648146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45809-D873-C633-7322-7134DFA2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Clases Internas (</a:t>
            </a:r>
            <a:r>
              <a:rPr lang="es-ES" dirty="0" err="1"/>
              <a:t>Inner</a:t>
            </a:r>
            <a:r>
              <a:rPr lang="es-ES" dirty="0"/>
              <a:t> </a:t>
            </a:r>
            <a:r>
              <a:rPr lang="es-ES" dirty="0" err="1"/>
              <a:t>Classes</a:t>
            </a:r>
            <a:r>
              <a:rPr lang="es-ES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3989D5-4A0E-09F9-C0C5-3CEAB5448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260141" cy="2899331"/>
          </a:xfrm>
        </p:spPr>
        <p:txBody>
          <a:bodyPr/>
          <a:lstStyle/>
          <a:p>
            <a:r>
              <a:rPr lang="es-ES" dirty="0"/>
              <a:t>Permiten definir una clase dentro de otra para encapsular lógica y mejorar la legibilidad.</a:t>
            </a:r>
          </a:p>
          <a:p>
            <a:r>
              <a:rPr lang="es-ES" dirty="0"/>
              <a:t>Tipos</a:t>
            </a:r>
          </a:p>
          <a:p>
            <a:pPr lvl="1"/>
            <a:r>
              <a:rPr lang="es-ES" dirty="0"/>
              <a:t>No estáticas → acceden a miembros de la clase externa.</a:t>
            </a:r>
          </a:p>
          <a:p>
            <a:pPr lvl="1"/>
            <a:r>
              <a:rPr lang="es-ES" dirty="0"/>
              <a:t>Estáticas → como clases independientes, pero agrupadas.</a:t>
            </a:r>
          </a:p>
          <a:p>
            <a:pPr lvl="1"/>
            <a:r>
              <a:rPr lang="es-ES" dirty="0"/>
              <a:t>Anónimas → implementación rápida de interfaces o clases abstractas (muy usadas antes de lambdas).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12D696-BF27-2299-C90D-98B049BC1F2D}"/>
              </a:ext>
            </a:extLst>
          </p:cNvPr>
          <p:cNvSpPr txBox="1"/>
          <p:nvPr/>
        </p:nvSpPr>
        <p:spPr>
          <a:xfrm>
            <a:off x="612648" y="4872038"/>
            <a:ext cx="10403015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("Hola"); }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1605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A0DEE-5B8D-83C9-0628-6B1109A29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RMI (Remote </a:t>
            </a:r>
            <a:r>
              <a:rPr lang="es-ES" dirty="0" err="1"/>
              <a:t>Method</a:t>
            </a:r>
            <a:r>
              <a:rPr lang="es-ES" dirty="0"/>
              <a:t> </a:t>
            </a:r>
            <a:r>
              <a:rPr lang="es-ES" dirty="0" err="1"/>
              <a:t>Invocation</a:t>
            </a:r>
            <a:r>
              <a:rPr lang="es-ES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FC69EB-73FF-9867-C205-11B6C42C3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API para invocar métodos en objetos remotos como si fueran locales.</a:t>
            </a:r>
          </a:p>
          <a:p>
            <a:r>
              <a:rPr lang="es-ES" dirty="0"/>
              <a:t>Facilita la programación distribuida 100% Java.</a:t>
            </a:r>
          </a:p>
          <a:p>
            <a:r>
              <a:rPr lang="es-ES" dirty="0"/>
              <a:t>Cómo funciona</a:t>
            </a:r>
          </a:p>
          <a:p>
            <a:pPr lvl="1"/>
            <a:r>
              <a:rPr lang="es-ES" dirty="0" err="1"/>
              <a:t>Stub</a:t>
            </a:r>
            <a:r>
              <a:rPr lang="es-ES" dirty="0"/>
              <a:t>/</a:t>
            </a:r>
            <a:r>
              <a:rPr lang="es-ES" dirty="0" err="1"/>
              <a:t>Skeleton</a:t>
            </a:r>
            <a:r>
              <a:rPr lang="es-ES" dirty="0"/>
              <a:t>: </a:t>
            </a:r>
            <a:r>
              <a:rPr lang="es-ES" dirty="0" err="1"/>
              <a:t>proxies</a:t>
            </a:r>
            <a:r>
              <a:rPr lang="es-ES" dirty="0"/>
              <a:t> generados automáticamente.</a:t>
            </a:r>
          </a:p>
          <a:p>
            <a:pPr lvl="1"/>
            <a:r>
              <a:rPr lang="es-ES" dirty="0"/>
              <a:t>Comunicación sobre TCP/IP.</a:t>
            </a:r>
          </a:p>
          <a:p>
            <a:pPr lvl="1"/>
            <a:r>
              <a:rPr lang="es-ES" dirty="0"/>
              <a:t>Serialización de objetos para paso de parámetros y retorno de valores.</a:t>
            </a:r>
          </a:p>
        </p:txBody>
      </p:sp>
    </p:spTree>
    <p:extLst>
      <p:ext uri="{BB962C8B-B14F-4D97-AF65-F5344CB8AC3E}">
        <p14:creationId xmlns:p14="http://schemas.microsoft.com/office/powerpoint/2010/main" val="3554010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A7115-A66C-ED91-7D67-95EEF28FB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1.2 – 1.4 (I)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CEBA93-5897-01C3-3363-B086237E3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1998: Lanzamiento de Java 1.2 (Java 2), gran salto evolutivo.</a:t>
            </a:r>
          </a:p>
          <a:p>
            <a:r>
              <a:rPr lang="es-ES" dirty="0"/>
              <a:t>Segmentación de la plataforma:</a:t>
            </a:r>
          </a:p>
          <a:p>
            <a:pPr lvl="1"/>
            <a:r>
              <a:rPr lang="es-ES" dirty="0"/>
              <a:t>Java SE – Escritorio</a:t>
            </a:r>
          </a:p>
          <a:p>
            <a:pPr lvl="1"/>
            <a:r>
              <a:rPr lang="es-ES" dirty="0"/>
              <a:t>Java EE – Empresarial/servidor</a:t>
            </a:r>
          </a:p>
          <a:p>
            <a:pPr lvl="1"/>
            <a:r>
              <a:rPr lang="es-ES" dirty="0"/>
              <a:t>Java ME – Móviles/embebidos</a:t>
            </a:r>
          </a:p>
          <a:p>
            <a:r>
              <a:rPr lang="es-ES" dirty="0"/>
              <a:t>Java 1.2 (1998)</a:t>
            </a:r>
          </a:p>
          <a:p>
            <a:pPr lvl="1"/>
            <a:r>
              <a:rPr lang="es-ES" dirty="0"/>
              <a:t>Framework de Colecciones.</a:t>
            </a:r>
          </a:p>
          <a:p>
            <a:pPr lvl="1"/>
            <a:r>
              <a:rPr lang="es-ES" dirty="0"/>
              <a:t>Swing (</a:t>
            </a:r>
            <a:r>
              <a:rPr lang="es-ES" dirty="0" err="1"/>
              <a:t>GUIs</a:t>
            </a:r>
            <a:r>
              <a:rPr lang="es-ES" dirty="0"/>
              <a:t> avanzadas) y Java 2D.</a:t>
            </a:r>
          </a:p>
          <a:p>
            <a:pPr lvl="1"/>
            <a:r>
              <a:rPr lang="es-ES" dirty="0"/>
              <a:t>Seguridad mejorada (firmas digitales, controles de acceso).</a:t>
            </a:r>
          </a:p>
          <a:p>
            <a:pPr lvl="1"/>
            <a:r>
              <a:rPr lang="es-ES" dirty="0"/>
              <a:t>Internacionalización y mejoras JDBC.</a:t>
            </a:r>
          </a:p>
        </p:txBody>
      </p:sp>
    </p:spTree>
    <p:extLst>
      <p:ext uri="{BB962C8B-B14F-4D97-AF65-F5344CB8AC3E}">
        <p14:creationId xmlns:p14="http://schemas.microsoft.com/office/powerpoint/2010/main" val="2631518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8E083-73FF-2927-3DA9-3D27F767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1.2 – 1.4 (II)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3CB59B-6D19-7B8F-9D51-E344E0AB0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Java 1.3 (2000)</a:t>
            </a:r>
          </a:p>
          <a:p>
            <a:pPr lvl="1"/>
            <a:r>
              <a:rPr lang="es-ES" dirty="0"/>
              <a:t>JVM </a:t>
            </a:r>
            <a:r>
              <a:rPr lang="es-ES" dirty="0" err="1"/>
              <a:t>HotSpot</a:t>
            </a:r>
            <a:r>
              <a:rPr lang="es-ES" dirty="0"/>
              <a:t> con JIT.</a:t>
            </a:r>
          </a:p>
          <a:p>
            <a:pPr lvl="1"/>
            <a:r>
              <a:rPr lang="es-ES" dirty="0"/>
              <a:t>API JNDI.</a:t>
            </a:r>
          </a:p>
          <a:p>
            <a:pPr lvl="1"/>
            <a:r>
              <a:rPr lang="es-ES" dirty="0"/>
              <a:t>Mejoras en RMI, Swing y despliegue (caché de clases, descarga selectiva de </a:t>
            </a:r>
            <a:r>
              <a:rPr lang="es-ES" dirty="0" err="1"/>
              <a:t>JARs</a:t>
            </a:r>
            <a:r>
              <a:rPr lang="es-ES" dirty="0"/>
              <a:t>).</a:t>
            </a:r>
          </a:p>
          <a:p>
            <a:r>
              <a:rPr lang="es-ES" dirty="0"/>
              <a:t>Java 1.4 (2002)</a:t>
            </a:r>
          </a:p>
          <a:p>
            <a:pPr lvl="1"/>
            <a:r>
              <a:rPr lang="es-ES" dirty="0" err="1"/>
              <a:t>Assertions</a:t>
            </a:r>
            <a:r>
              <a:rPr lang="es-ES" dirty="0"/>
              <a:t> y </a:t>
            </a:r>
            <a:r>
              <a:rPr lang="es-ES" dirty="0" err="1"/>
              <a:t>regex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SSL/TLS, Kerberos, NIO, </a:t>
            </a:r>
            <a:r>
              <a:rPr lang="es-ES" dirty="0" err="1"/>
              <a:t>logging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Procesamiento XML integrado.</a:t>
            </a:r>
          </a:p>
          <a:p>
            <a:pPr lvl="1"/>
            <a:r>
              <a:rPr lang="es-ES" dirty="0"/>
              <a:t>Java Web </a:t>
            </a:r>
            <a:r>
              <a:rPr lang="es-ES" dirty="0" err="1"/>
              <a:t>Start</a:t>
            </a:r>
            <a:r>
              <a:rPr lang="es-ES" dirty="0"/>
              <a:t> oficial.</a:t>
            </a:r>
          </a:p>
          <a:p>
            <a:pPr lvl="1"/>
            <a:r>
              <a:rPr lang="es-ES" dirty="0"/>
              <a:t>Compatibilidad con 64 bits.</a:t>
            </a:r>
          </a:p>
        </p:txBody>
      </p:sp>
    </p:spTree>
    <p:extLst>
      <p:ext uri="{BB962C8B-B14F-4D97-AF65-F5344CB8AC3E}">
        <p14:creationId xmlns:p14="http://schemas.microsoft.com/office/powerpoint/2010/main" val="3178863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E8EE4-2E60-AC3C-0A68-EBFF056D6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Assertions</a:t>
            </a:r>
            <a:r>
              <a:rPr lang="es-ES" dirty="0"/>
              <a:t> (</a:t>
            </a:r>
            <a:r>
              <a:rPr lang="es-ES" dirty="0" err="1"/>
              <a:t>assert</a:t>
            </a:r>
            <a:r>
              <a:rPr lang="es-ES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CFC488-41AC-57A3-17AE-49CDB4D0E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653578" cy="1956356"/>
          </a:xfrm>
        </p:spPr>
        <p:txBody>
          <a:bodyPr/>
          <a:lstStyle/>
          <a:p>
            <a:r>
              <a:rPr lang="es-ES" dirty="0"/>
              <a:t>Introducción de la palabra clave </a:t>
            </a:r>
            <a:r>
              <a:rPr lang="es-ES" dirty="0" err="1"/>
              <a:t>assert</a:t>
            </a:r>
            <a:r>
              <a:rPr lang="es-ES" dirty="0"/>
              <a:t> en el lenguaje.</a:t>
            </a:r>
          </a:p>
          <a:p>
            <a:r>
              <a:rPr lang="es-ES" dirty="0"/>
              <a:t>Sirve para comprobar que ciertas condiciones lógicas se cumplen en tiempo de ejecución.</a:t>
            </a:r>
          </a:p>
          <a:p>
            <a:r>
              <a:rPr lang="es-ES" dirty="0"/>
              <a:t>Pensadas como herramienta de depuración.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25433A-C810-095D-F082-FFF07CCA62DF}"/>
              </a:ext>
            </a:extLst>
          </p:cNvPr>
          <p:cNvSpPr txBox="1"/>
          <p:nvPr/>
        </p:nvSpPr>
        <p:spPr>
          <a:xfrm>
            <a:off x="971550" y="3971925"/>
            <a:ext cx="75438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edad = -5;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edad &gt;= 0 : "La edad no puede ser negativa";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95617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945BA-876C-3402-85EE-23F73EDF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Expresiones regulares (</a:t>
            </a:r>
            <a:r>
              <a:rPr lang="es-ES" dirty="0" err="1"/>
              <a:t>Regex</a:t>
            </a:r>
            <a:r>
              <a:rPr lang="es-ES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C619F1-C506-988D-A08C-D9FF8382D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974516" cy="1132258"/>
          </a:xfrm>
        </p:spPr>
        <p:txBody>
          <a:bodyPr/>
          <a:lstStyle/>
          <a:p>
            <a:r>
              <a:rPr lang="es-ES" dirty="0"/>
              <a:t>Antes de Java 1.4, si se quería </a:t>
            </a:r>
            <a:r>
              <a:rPr lang="es-ES" dirty="0" err="1"/>
              <a:t>regex</a:t>
            </a:r>
            <a:r>
              <a:rPr lang="es-ES" dirty="0"/>
              <a:t> había que usar librerías externas (ej. Apache ORO).</a:t>
            </a:r>
          </a:p>
          <a:p>
            <a:r>
              <a:rPr lang="es-ES" dirty="0"/>
              <a:t>En 1.4 se introdujo </a:t>
            </a:r>
            <a:r>
              <a:rPr lang="es-ES" dirty="0" err="1"/>
              <a:t>java.util.regex</a:t>
            </a:r>
            <a:r>
              <a:rPr lang="es-ES" dirty="0"/>
              <a:t> → soporte oficial de expresiones regulares.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748C32-1EDA-F906-BBAC-47179A714677}"/>
              </a:ext>
            </a:extLst>
          </p:cNvPr>
          <p:cNvSpPr txBox="1"/>
          <p:nvPr/>
        </p:nvSpPr>
        <p:spPr>
          <a:xfrm>
            <a:off x="928688" y="2847790"/>
            <a:ext cx="10444162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java.util.regex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RegexEjemplo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texto = "Mi correo es usuario@mail.com";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p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Pattern.compile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("\\w+@\\w+\\.\\w+");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m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p.matcher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(texto);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m.find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("Encontrado: " +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m.group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5207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1CD14-A4AE-34E1-B520-8EC1D728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SSL/TLS (JSSE integrado)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A68B30-122C-B51A-9DC5-2D68DE0DC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1242821"/>
          </a:xfrm>
        </p:spPr>
        <p:txBody>
          <a:bodyPr/>
          <a:lstStyle/>
          <a:p>
            <a:r>
              <a:rPr lang="es-ES" dirty="0"/>
              <a:t>HTTPS y sockets seguros en la API estándar.</a:t>
            </a:r>
          </a:p>
          <a:p>
            <a:r>
              <a:rPr lang="es-ES" dirty="0"/>
              <a:t>Uso de certificados y cifrado en aplicaciones Java.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30F455-60BF-E2A7-EC5D-0DCF7D563F12}"/>
              </a:ext>
            </a:extLst>
          </p:cNvPr>
          <p:cNvSpPr txBox="1"/>
          <p:nvPr/>
        </p:nvSpPr>
        <p:spPr>
          <a:xfrm>
            <a:off x="612648" y="3254188"/>
            <a:ext cx="10653578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javax.net.ssl.HttpsURLConnection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java.net.URL;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HTTPSDemo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throws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URL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new URL("https://example.com");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HttpsURLConnection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con =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HttpsURLConnection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url.openConnection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("Cifrado usado: " +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con.getCipherSuite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2494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EB77E4-C6DC-57F2-D10F-EDD73E30E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s-ES" dirty="0"/>
              <a:t>Kerberos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70ECB2-C612-98A2-5868-3A08C679A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s-ES" sz="1800"/>
              <a:t>Autenticación integrada en javax.security.auth.kerberos.</a:t>
            </a:r>
          </a:p>
          <a:p>
            <a:r>
              <a:rPr lang="es-ES" sz="1800"/>
              <a:t>Compatible con JAAS y entornos corporativos (SSO).</a:t>
            </a: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000ECB1B-BAB4-6048-2390-63D6A81D4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077" y="1114923"/>
            <a:ext cx="5128147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809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BA5BB-24D1-F1A9-955F-552153A90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NIO (New I/O)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11456D-AD08-6598-5043-A1C69FB52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503028" cy="1570593"/>
          </a:xfrm>
        </p:spPr>
        <p:txBody>
          <a:bodyPr/>
          <a:lstStyle/>
          <a:p>
            <a:r>
              <a:rPr lang="es-ES" dirty="0"/>
              <a:t>Nuevo paquete </a:t>
            </a:r>
            <a:r>
              <a:rPr lang="es-ES" dirty="0" err="1"/>
              <a:t>java.nio</a:t>
            </a:r>
            <a:r>
              <a:rPr lang="es-ES" dirty="0"/>
              <a:t>.</a:t>
            </a:r>
          </a:p>
          <a:p>
            <a:r>
              <a:rPr lang="es-ES" dirty="0"/>
              <a:t>Buffers + </a:t>
            </a:r>
            <a:r>
              <a:rPr lang="es-ES" dirty="0" err="1"/>
              <a:t>Channels</a:t>
            </a:r>
            <a:r>
              <a:rPr lang="es-ES" dirty="0"/>
              <a:t> → E/S más rápida.</a:t>
            </a:r>
          </a:p>
          <a:p>
            <a:r>
              <a:rPr lang="es-ES" dirty="0"/>
              <a:t>Non-</a:t>
            </a:r>
            <a:r>
              <a:rPr lang="es-ES" dirty="0" err="1"/>
              <a:t>blocking</a:t>
            </a:r>
            <a:r>
              <a:rPr lang="es-ES" dirty="0"/>
              <a:t> I/O para servidores concurrentes.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334A94-9A0F-E555-EC94-2B7530633C94}"/>
              </a:ext>
            </a:extLst>
          </p:cNvPr>
          <p:cNvSpPr txBox="1"/>
          <p:nvPr/>
        </p:nvSpPr>
        <p:spPr>
          <a:xfrm>
            <a:off x="742950" y="3871913"/>
            <a:ext cx="10523276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FileChannel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channel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FileInputStream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("ejemplo.txt").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getChannel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ByteBuffer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buffer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ByteBuffer.allocate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(64);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channel.read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(buffer) != -1)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buffer.flip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               // modo lectura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buffer.hasRemaining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()) 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buffer.get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buffer.clear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              // modo escritura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5141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B9A20-25C4-9E69-4A2E-C673C69F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 de </a:t>
            </a:r>
            <a:r>
              <a:rPr lang="es-ES" dirty="0" err="1"/>
              <a:t>logging</a:t>
            </a:r>
            <a:r>
              <a:rPr lang="es-ES" dirty="0"/>
              <a:t> estándar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3DE187-587F-E83D-482B-B79D07128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445878" cy="1713468"/>
          </a:xfrm>
        </p:spPr>
        <p:txBody>
          <a:bodyPr/>
          <a:lstStyle/>
          <a:p>
            <a:r>
              <a:rPr lang="es-ES" dirty="0"/>
              <a:t>Sistema estándar de logs.</a:t>
            </a:r>
          </a:p>
          <a:p>
            <a:r>
              <a:rPr lang="es-ES" dirty="0"/>
              <a:t>Clases: </a:t>
            </a:r>
            <a:r>
              <a:rPr lang="es-ES" dirty="0" err="1"/>
              <a:t>Logger</a:t>
            </a:r>
            <a:r>
              <a:rPr lang="es-ES" dirty="0"/>
              <a:t>, </a:t>
            </a:r>
            <a:r>
              <a:rPr lang="es-ES" dirty="0" err="1"/>
              <a:t>Handler</a:t>
            </a:r>
            <a:r>
              <a:rPr lang="es-ES" dirty="0"/>
              <a:t>, </a:t>
            </a:r>
            <a:r>
              <a:rPr lang="es-ES" dirty="0" err="1"/>
              <a:t>Formatter</a:t>
            </a:r>
            <a:r>
              <a:rPr lang="es-ES" dirty="0"/>
              <a:t>.</a:t>
            </a:r>
          </a:p>
          <a:p>
            <a:r>
              <a:rPr lang="es-ES" dirty="0"/>
              <a:t>Niveles: INFO, WARNING, SEVERE…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3E89F78-3D15-7377-3FF5-2E603BF7A2DF}"/>
              </a:ext>
            </a:extLst>
          </p:cNvPr>
          <p:cNvSpPr txBox="1"/>
          <p:nvPr/>
        </p:nvSpPr>
        <p:spPr>
          <a:xfrm>
            <a:off x="771525" y="3671888"/>
            <a:ext cx="10494701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java.util.logging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LogEjemplo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final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Logger.getLogger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MiApp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logger.info("Iniciando aplicación...");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logger.warning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("Advertencia: uso alto de memoria");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logger.severe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("Error crítico");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50210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AE4F2-93B3-C630-CAAB-71E4BA66D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JNDI (Java Naming and Directory Interface)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6737FE-6343-70F6-CE31-33A113BC7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API estándar de Java para localizar recursos por nombre (sin codificar direcciones físicas).</a:t>
            </a:r>
          </a:p>
          <a:p>
            <a:r>
              <a:rPr lang="es-ES" dirty="0"/>
              <a:t>Usada para : </a:t>
            </a:r>
          </a:p>
          <a:p>
            <a:pPr lvl="1"/>
            <a:r>
              <a:rPr lang="fr-FR" dirty="0" err="1"/>
              <a:t>Lookup</a:t>
            </a:r>
            <a:r>
              <a:rPr lang="fr-FR" dirty="0"/>
              <a:t> de </a:t>
            </a:r>
            <a:r>
              <a:rPr lang="fr-FR" dirty="0" err="1"/>
              <a:t>DataSources</a:t>
            </a:r>
            <a:r>
              <a:rPr lang="fr-FR" dirty="0"/>
              <a:t> JDBC (BBDD).</a:t>
            </a:r>
          </a:p>
          <a:p>
            <a:pPr lvl="1"/>
            <a:r>
              <a:rPr lang="es-ES" dirty="0" err="1"/>
              <a:t>JavaMail</a:t>
            </a:r>
            <a:r>
              <a:rPr lang="es-ES" dirty="0"/>
              <a:t> </a:t>
            </a:r>
            <a:r>
              <a:rPr lang="es-ES" dirty="0" err="1"/>
              <a:t>sessions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Integración con LDAP, DNS, RMI </a:t>
            </a:r>
            <a:r>
              <a:rPr lang="es-ES" dirty="0" err="1"/>
              <a:t>registry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Configuración centralizada en el servidor de aplicaciones.</a:t>
            </a:r>
          </a:p>
          <a:p>
            <a:pPr lvl="1"/>
            <a:r>
              <a:rPr lang="es-ES" dirty="0"/>
              <a:t>JMS </a:t>
            </a:r>
            <a:r>
              <a:rPr lang="es-ES" dirty="0" err="1"/>
              <a:t>Queues</a:t>
            </a:r>
            <a:r>
              <a:rPr lang="es-ES" dirty="0"/>
              <a:t>/</a:t>
            </a:r>
            <a:r>
              <a:rPr lang="es-ES" dirty="0" err="1"/>
              <a:t>Topics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6441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B7CED-54E2-7557-E8DD-570388BA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Procesamiento XML integrado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F4D5F5-1222-2D3B-8AD5-92EA82345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534965" cy="1457974"/>
          </a:xfrm>
        </p:spPr>
        <p:txBody>
          <a:bodyPr/>
          <a:lstStyle/>
          <a:p>
            <a:r>
              <a:rPr lang="es-ES" dirty="0"/>
              <a:t>Con 1.4 se incorporó oficialmente:</a:t>
            </a:r>
          </a:p>
          <a:p>
            <a:pPr lvl="1"/>
            <a:r>
              <a:rPr lang="es-ES" dirty="0"/>
              <a:t>JAXP (Java API </a:t>
            </a:r>
            <a:r>
              <a:rPr lang="es-ES" dirty="0" err="1"/>
              <a:t>for</a:t>
            </a:r>
            <a:r>
              <a:rPr lang="es-ES" dirty="0"/>
              <a:t> XML Processing) dentro del JDK.</a:t>
            </a:r>
          </a:p>
          <a:p>
            <a:pPr lvl="1"/>
            <a:r>
              <a:rPr lang="es-ES" dirty="0"/>
              <a:t>Implementaciones DOM y SAX ya venían integradas (basadas en </a:t>
            </a:r>
            <a:r>
              <a:rPr lang="es-ES" dirty="0" err="1"/>
              <a:t>Xerces</a:t>
            </a:r>
            <a:r>
              <a:rPr lang="es-ES" dirty="0"/>
              <a:t>).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7F9C3D-DCE2-9200-7950-B7A933E92877}"/>
              </a:ext>
            </a:extLst>
          </p:cNvPr>
          <p:cNvSpPr txBox="1"/>
          <p:nvPr/>
        </p:nvSpPr>
        <p:spPr>
          <a:xfrm>
            <a:off x="612648" y="3429000"/>
            <a:ext cx="10508070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javax.xml.parsers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org.w3c.dom.*;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File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new File("ejemplo.xml");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DocumentBuilder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DocumentBuilderFactory.newInstance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newDocumentBuilder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db.parse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("Elemento raíz: " +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doc.getDocumentElement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getNodeName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163316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50B57-8151-6692-1D36-A396C83FB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Web Start (</a:t>
            </a:r>
            <a:r>
              <a:rPr lang="en-US" dirty="0" err="1"/>
              <a:t>oficial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1.4)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5E0139-0C7F-A7E5-C5DF-C8A6EFBBF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Tecnología para ejecutar aplicaciones Java desde la web con un clic (sin instalar manualmente </a:t>
            </a:r>
            <a:r>
              <a:rPr lang="es-ES" dirty="0" err="1"/>
              <a:t>JARs</a:t>
            </a:r>
            <a:r>
              <a:rPr lang="es-ES" dirty="0"/>
              <a:t>).</a:t>
            </a:r>
          </a:p>
          <a:p>
            <a:r>
              <a:rPr lang="es-ES" dirty="0"/>
              <a:t>El navegador descargaba un fichero .</a:t>
            </a:r>
            <a:r>
              <a:rPr lang="es-ES" dirty="0" err="1"/>
              <a:t>jnlp</a:t>
            </a:r>
            <a:r>
              <a:rPr lang="es-ES" dirty="0"/>
              <a:t> (Java Network </a:t>
            </a:r>
            <a:r>
              <a:rPr lang="es-ES" dirty="0" err="1"/>
              <a:t>Launch</a:t>
            </a:r>
            <a:r>
              <a:rPr lang="es-ES" dirty="0"/>
              <a:t> </a:t>
            </a:r>
            <a:r>
              <a:rPr lang="es-ES" dirty="0" err="1"/>
              <a:t>Protocol</a:t>
            </a:r>
            <a:r>
              <a:rPr lang="es-ES" dirty="0"/>
              <a:t>), que contenía:</a:t>
            </a:r>
          </a:p>
          <a:p>
            <a:pPr lvl="1"/>
            <a:r>
              <a:rPr lang="es-ES" dirty="0"/>
              <a:t>Nombre de la app.</a:t>
            </a:r>
          </a:p>
          <a:p>
            <a:pPr lvl="1"/>
            <a:r>
              <a:rPr lang="es-ES" dirty="0"/>
              <a:t>Recursos necesarios (</a:t>
            </a:r>
            <a:r>
              <a:rPr lang="es-ES" dirty="0" err="1"/>
              <a:t>JARs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Permisos de seguridad.</a:t>
            </a:r>
          </a:p>
        </p:txBody>
      </p:sp>
    </p:spTree>
    <p:extLst>
      <p:ext uri="{BB962C8B-B14F-4D97-AF65-F5344CB8AC3E}">
        <p14:creationId xmlns:p14="http://schemas.microsoft.com/office/powerpoint/2010/main" val="1339039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1D543E-0815-EA16-BD71-73F345868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5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CA7263-F983-E3FF-1AFC-6C03BDED6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Java 5.0 (1.5, 2004) – Tiger</a:t>
            </a:r>
          </a:p>
          <a:p>
            <a:pPr lvl="1"/>
            <a:r>
              <a:rPr lang="es-ES" dirty="0"/>
              <a:t>Genéricos – comprobación de tipos en compilación.</a:t>
            </a:r>
          </a:p>
          <a:p>
            <a:pPr lvl="1"/>
            <a:r>
              <a:rPr lang="es-ES" dirty="0"/>
              <a:t>Anotaciones (</a:t>
            </a:r>
            <a:r>
              <a:rPr lang="es-ES" dirty="0" err="1"/>
              <a:t>annotations</a:t>
            </a:r>
            <a:r>
              <a:rPr lang="es-ES" dirty="0"/>
              <a:t>) – metadatos para </a:t>
            </a:r>
            <a:r>
              <a:rPr lang="es-ES" dirty="0" err="1"/>
              <a:t>frameworks</a:t>
            </a:r>
            <a:r>
              <a:rPr lang="es-ES" dirty="0"/>
              <a:t> y reflexión.</a:t>
            </a:r>
          </a:p>
          <a:p>
            <a:pPr lvl="1"/>
            <a:r>
              <a:rPr lang="es-ES" dirty="0"/>
              <a:t>Enumeraciones, </a:t>
            </a:r>
            <a:r>
              <a:rPr lang="es-ES" dirty="0" err="1"/>
              <a:t>for-each</a:t>
            </a:r>
            <a:r>
              <a:rPr lang="es-ES" dirty="0"/>
              <a:t>, </a:t>
            </a:r>
            <a:r>
              <a:rPr lang="es-ES" dirty="0" err="1"/>
              <a:t>varargs</a:t>
            </a:r>
            <a:r>
              <a:rPr lang="es-ES" dirty="0"/>
              <a:t>, </a:t>
            </a:r>
            <a:r>
              <a:rPr lang="es-ES" dirty="0" err="1"/>
              <a:t>autoboxing</a:t>
            </a:r>
            <a:r>
              <a:rPr lang="es-ES" dirty="0"/>
              <a:t>/</a:t>
            </a:r>
            <a:r>
              <a:rPr lang="es-ES" dirty="0" err="1"/>
              <a:t>unboxing</a:t>
            </a:r>
            <a:r>
              <a:rPr lang="es-ES" dirty="0"/>
              <a:t>.</a:t>
            </a:r>
          </a:p>
          <a:p>
            <a:pPr lvl="1"/>
            <a:r>
              <a:rPr lang="es-ES" dirty="0" err="1"/>
              <a:t>java.util.concurrent</a:t>
            </a:r>
            <a:r>
              <a:rPr lang="es-ES" dirty="0"/>
              <a:t> – estructuras concurrentes y </a:t>
            </a:r>
            <a:r>
              <a:rPr lang="es-ES" dirty="0" err="1"/>
              <a:t>thread</a:t>
            </a:r>
            <a:r>
              <a:rPr lang="es-ES" dirty="0"/>
              <a:t> pools.</a:t>
            </a:r>
          </a:p>
          <a:p>
            <a:pPr lvl="1"/>
            <a:r>
              <a:rPr lang="es-ES" dirty="0"/>
              <a:t>JDBC 3.0 y otras utilidades estándar.</a:t>
            </a:r>
          </a:p>
        </p:txBody>
      </p:sp>
    </p:spTree>
    <p:extLst>
      <p:ext uri="{BB962C8B-B14F-4D97-AF65-F5344CB8AC3E}">
        <p14:creationId xmlns:p14="http://schemas.microsoft.com/office/powerpoint/2010/main" val="3928062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ED032-F9A5-A216-6EB9-59F710BBD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Genéricos en Java 5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5D374B-73E7-66FE-7A1A-AFD0CDA7E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1132258"/>
          </a:xfrm>
        </p:spPr>
        <p:txBody>
          <a:bodyPr/>
          <a:lstStyle/>
          <a:p>
            <a:r>
              <a:rPr lang="es-ES" dirty="0"/>
              <a:t>Se puede declarar el tipo de objetos que contendrá la colección (o cualquier clase genérica).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BDA99E5-C73D-6EAA-BE93-FB62D0F98C30}"/>
              </a:ext>
            </a:extLst>
          </p:cNvPr>
          <p:cNvSpPr txBox="1"/>
          <p:nvPr/>
        </p:nvSpPr>
        <p:spPr>
          <a:xfrm>
            <a:off x="914400" y="2662517"/>
            <a:ext cx="10653578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Caja&lt;T&gt;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T valor;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set(T v) { valor = v; }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T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valor; }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// Uso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Caja&lt;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&gt; c1 = new Caja&lt;&gt;();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c1.set(100);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x = c1.get();  //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autounboxing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Caja&lt;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&gt; c2 = new Caja&lt;&gt;();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c2.set("texto");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y = c2.get();</a:t>
            </a:r>
          </a:p>
        </p:txBody>
      </p:sp>
    </p:spTree>
    <p:extLst>
      <p:ext uri="{BB962C8B-B14F-4D97-AF65-F5344CB8AC3E}">
        <p14:creationId xmlns:p14="http://schemas.microsoft.com/office/powerpoint/2010/main" val="2960984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55272-6F9C-8954-C13E-0AD129434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5 – Anotaciones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788D3A-8286-CB0A-66F8-CBCDEC51F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653578" cy="624256"/>
          </a:xfrm>
        </p:spPr>
        <p:txBody>
          <a:bodyPr/>
          <a:lstStyle/>
          <a:p>
            <a:r>
              <a:rPr lang="es-ES" dirty="0"/>
              <a:t>Metadatos en el código que guían al compilador, </a:t>
            </a:r>
            <a:r>
              <a:rPr lang="es-ES" dirty="0" err="1"/>
              <a:t>frameworks</a:t>
            </a:r>
            <a:r>
              <a:rPr lang="es-ES" dirty="0"/>
              <a:t> o herramientas.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24B97E6-E33C-85C6-8845-2F892F326791}"/>
              </a:ext>
            </a:extLst>
          </p:cNvPr>
          <p:cNvSpPr txBox="1"/>
          <p:nvPr/>
        </p:nvSpPr>
        <p:spPr>
          <a:xfrm>
            <a:off x="612648" y="2339788"/>
            <a:ext cx="95802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@Override     // comprueba que sobrescribe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"Ejemplo"; }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@Deprecated   // marca métodos obsoletos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viejo() { }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@SuppressWarnings("unchecked") // oculta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warnings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lista = new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328FB86-51B3-29D0-E261-87794235B236}"/>
              </a:ext>
            </a:extLst>
          </p:cNvPr>
          <p:cNvSpPr txBox="1"/>
          <p:nvPr/>
        </p:nvSpPr>
        <p:spPr>
          <a:xfrm>
            <a:off x="753035" y="4867835"/>
            <a:ext cx="9439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Uso en </a:t>
            </a:r>
            <a:r>
              <a:rPr lang="es-ES" dirty="0" err="1"/>
              <a:t>frameworks</a:t>
            </a:r>
            <a:r>
              <a:rPr lang="es-ES" dirty="0"/>
              <a:t> modernos: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Spring → @Autowired, @Service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JPA → @Entity, @Id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JUnit</a:t>
            </a:r>
            <a:r>
              <a:rPr lang="es-ES" dirty="0"/>
              <a:t> → @Test</a:t>
            </a:r>
          </a:p>
        </p:txBody>
      </p:sp>
    </p:spTree>
    <p:extLst>
      <p:ext uri="{BB962C8B-B14F-4D97-AF65-F5344CB8AC3E}">
        <p14:creationId xmlns:p14="http://schemas.microsoft.com/office/powerpoint/2010/main" val="2618920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A55A0-B00A-BF5F-5B83-5ED088A28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Novedades de sintaxis en Java 5 (I):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42E0B0-B0EB-1410-B7F8-23F2FD3AB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1350397"/>
          </a:xfrm>
        </p:spPr>
        <p:txBody>
          <a:bodyPr/>
          <a:lstStyle/>
          <a:p>
            <a:r>
              <a:rPr lang="es-ES" dirty="0"/>
              <a:t>Enumeraciones (</a:t>
            </a:r>
            <a:r>
              <a:rPr lang="es-ES" dirty="0" err="1"/>
              <a:t>enum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Antes de Java 5 → se usaban constantes </a:t>
            </a:r>
            <a:r>
              <a:rPr lang="es-ES" dirty="0" err="1"/>
              <a:t>int</a:t>
            </a:r>
            <a:r>
              <a:rPr lang="es-ES" dirty="0"/>
              <a:t> o </a:t>
            </a:r>
            <a:r>
              <a:rPr lang="es-ES" dirty="0" err="1"/>
              <a:t>String</a:t>
            </a:r>
            <a:r>
              <a:rPr lang="es-ES" dirty="0"/>
              <a:t> para representar valores fijos.</a:t>
            </a:r>
          </a:p>
          <a:p>
            <a:pPr lvl="1"/>
            <a:r>
              <a:rPr lang="es-ES" dirty="0"/>
              <a:t>Ahora → </a:t>
            </a:r>
            <a:r>
              <a:rPr lang="es-ES" dirty="0" err="1"/>
              <a:t>enum</a:t>
            </a:r>
            <a:r>
              <a:rPr lang="es-ES" dirty="0"/>
              <a:t> es un tipo seguro con valores predefinidos.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F89ADE-A3F4-56F7-ADB3-B774C906BC86}"/>
              </a:ext>
            </a:extLst>
          </p:cNvPr>
          <p:cNvSpPr txBox="1"/>
          <p:nvPr/>
        </p:nvSpPr>
        <p:spPr>
          <a:xfrm>
            <a:off x="981635" y="3213847"/>
            <a:ext cx="96818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enum Dia { LUNES, MARTES, MIERCOLES }</a:t>
            </a:r>
          </a:p>
          <a:p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Dia d =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Dia.LUNES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897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D5E33-9BC0-EF4D-11B3-53013498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Novedades de sintaxis en Java 5 (II):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69189F-5DD8-80EF-A576-044717F50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454282" cy="960433"/>
          </a:xfrm>
        </p:spPr>
        <p:txBody>
          <a:bodyPr/>
          <a:lstStyle/>
          <a:p>
            <a:r>
              <a:rPr lang="es-ES" dirty="0" err="1"/>
              <a:t>For-each</a:t>
            </a:r>
            <a:r>
              <a:rPr lang="es-ES" dirty="0"/>
              <a:t> </a:t>
            </a:r>
            <a:r>
              <a:rPr lang="es-ES" dirty="0" err="1"/>
              <a:t>loop</a:t>
            </a:r>
            <a:endParaRPr lang="es-ES" dirty="0"/>
          </a:p>
          <a:p>
            <a:pPr lvl="1"/>
            <a:r>
              <a:rPr lang="es-ES" dirty="0"/>
              <a:t>Sintaxis más simple para recorrer colecciones o </a:t>
            </a:r>
            <a:r>
              <a:rPr lang="es-ES" dirty="0" err="1"/>
              <a:t>arrays</a:t>
            </a:r>
            <a:r>
              <a:rPr lang="es-ES"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CE3D2B8-91D3-7BEE-81DF-89D246496B2A}"/>
              </a:ext>
            </a:extLst>
          </p:cNvPr>
          <p:cNvSpPr txBox="1"/>
          <p:nvPr/>
        </p:nvSpPr>
        <p:spPr>
          <a:xfrm>
            <a:off x="995082" y="3025588"/>
            <a:ext cx="102711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nombre :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listaNombres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(nombre);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96545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015D9-337B-1E9D-8D6F-FDAB15A51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Novedades de sintaxis en Java 5 (III):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092413-3096-9907-37C1-3F2E44BC2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252577" cy="960433"/>
          </a:xfrm>
        </p:spPr>
        <p:txBody>
          <a:bodyPr/>
          <a:lstStyle/>
          <a:p>
            <a:r>
              <a:rPr lang="es-ES" dirty="0" err="1"/>
              <a:t>Varargs</a:t>
            </a:r>
            <a:r>
              <a:rPr lang="es-ES" dirty="0"/>
              <a:t> (Argumentos variables)</a:t>
            </a:r>
          </a:p>
          <a:p>
            <a:pPr lvl="1"/>
            <a:r>
              <a:rPr lang="es-ES" dirty="0"/>
              <a:t>Permiten pasar un número variable de argumentos a un método.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1105B69-2210-427E-874C-F773E5285191}"/>
              </a:ext>
            </a:extLst>
          </p:cNvPr>
          <p:cNvSpPr txBox="1"/>
          <p:nvPr/>
        </p:nvSpPr>
        <p:spPr>
          <a:xfrm>
            <a:off x="612648" y="2904565"/>
            <a:ext cx="1027947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sumar(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...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total = 0;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n :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 total += n;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(total);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// Uso: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sumar(1,2,3);   // 6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sumar(10,20);   // 30</a:t>
            </a:r>
          </a:p>
        </p:txBody>
      </p:sp>
    </p:spTree>
    <p:extLst>
      <p:ext uri="{BB962C8B-B14F-4D97-AF65-F5344CB8AC3E}">
        <p14:creationId xmlns:p14="http://schemas.microsoft.com/office/powerpoint/2010/main" val="509045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C0FA4-3526-88F5-7990-F563AD74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Novedades de sintaxis en Java 5 (IV):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01E761-6539-36EF-05E8-7EAC27C3D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653578" cy="1132258"/>
          </a:xfrm>
        </p:spPr>
        <p:txBody>
          <a:bodyPr/>
          <a:lstStyle/>
          <a:p>
            <a:r>
              <a:rPr lang="es-ES" dirty="0" err="1"/>
              <a:t>Autoboxing</a:t>
            </a:r>
            <a:r>
              <a:rPr lang="es-ES" dirty="0"/>
              <a:t> / </a:t>
            </a:r>
            <a:r>
              <a:rPr lang="es-ES" dirty="0" err="1"/>
              <a:t>Unboxing</a:t>
            </a:r>
            <a:endParaRPr lang="es-ES" dirty="0"/>
          </a:p>
          <a:p>
            <a:pPr lvl="1"/>
            <a:r>
              <a:rPr lang="es-ES" dirty="0"/>
              <a:t>Conversión automática entre tipos primitivos y sus </a:t>
            </a:r>
            <a:r>
              <a:rPr lang="es-ES" dirty="0" err="1"/>
              <a:t>wrappers</a:t>
            </a:r>
            <a:r>
              <a:rPr lang="es-ES" dirty="0"/>
              <a:t> (</a:t>
            </a:r>
            <a:r>
              <a:rPr lang="es-ES" dirty="0" err="1"/>
              <a:t>int</a:t>
            </a:r>
            <a:r>
              <a:rPr lang="es-ES" dirty="0"/>
              <a:t> ↔ </a:t>
            </a:r>
            <a:r>
              <a:rPr lang="es-ES" dirty="0" err="1"/>
              <a:t>Integer</a:t>
            </a:r>
            <a:r>
              <a:rPr lang="es-ES" dirty="0"/>
              <a:t>, </a:t>
            </a:r>
            <a:r>
              <a:rPr lang="es-ES" dirty="0" err="1"/>
              <a:t>double</a:t>
            </a:r>
            <a:r>
              <a:rPr lang="es-ES" dirty="0"/>
              <a:t> ↔ </a:t>
            </a:r>
            <a:r>
              <a:rPr lang="es-ES" dirty="0" err="1"/>
              <a:t>Double</a:t>
            </a:r>
            <a:r>
              <a:rPr lang="es-ES" dirty="0"/>
              <a:t>).</a:t>
            </a:r>
          </a:p>
          <a:p>
            <a:pPr marL="228600" lvl="1" indent="0">
              <a:buNone/>
            </a:pP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22D3C6B-EE3A-D680-8002-3D4BE8FDF4F1}"/>
              </a:ext>
            </a:extLst>
          </p:cNvPr>
          <p:cNvSpPr txBox="1"/>
          <p:nvPr/>
        </p:nvSpPr>
        <p:spPr>
          <a:xfrm>
            <a:off x="793376" y="2847790"/>
            <a:ext cx="103004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&gt; lista = new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lista.add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(5);        //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autoboxing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n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lista.get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(0); //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unboxing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034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E63B-A20B-A1E1-F548-596AC03E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Java 5 – </a:t>
            </a:r>
            <a:r>
              <a:rPr lang="fr-FR" dirty="0" err="1"/>
              <a:t>java.util.concurrent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0D2E05-6B27-D375-340E-3BC751934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494624" cy="933539"/>
          </a:xfrm>
        </p:spPr>
        <p:txBody>
          <a:bodyPr/>
          <a:lstStyle/>
          <a:p>
            <a:r>
              <a:rPr lang="es-ES" dirty="0"/>
              <a:t>Estructuras concurrentes</a:t>
            </a:r>
          </a:p>
          <a:p>
            <a:pPr lvl="1"/>
            <a:r>
              <a:rPr lang="es-ES" dirty="0"/>
              <a:t>Colas seguras para hilos (</a:t>
            </a:r>
            <a:r>
              <a:rPr lang="es-ES" dirty="0" err="1"/>
              <a:t>BlockingQueue</a:t>
            </a:r>
            <a:r>
              <a:rPr lang="es-ES" dirty="0"/>
              <a:t>)</a:t>
            </a:r>
          </a:p>
          <a:p>
            <a:pPr marL="228600" lvl="1" indent="0">
              <a:buNone/>
            </a:pP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85341A6-8536-E13D-E3F1-DD6AB36F4C09}"/>
              </a:ext>
            </a:extLst>
          </p:cNvPr>
          <p:cNvSpPr txBox="1"/>
          <p:nvPr/>
        </p:nvSpPr>
        <p:spPr>
          <a:xfrm>
            <a:off x="612648" y="2649071"/>
            <a:ext cx="106535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BlockingQueue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&gt; cola = new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ArrayBlockingQueue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&lt;&gt;(10);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cola.put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("tarea");       // productor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t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cola.take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  // consumidor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EDCAFB72-923E-9858-27AC-0020F60D5814}"/>
              </a:ext>
            </a:extLst>
          </p:cNvPr>
          <p:cNvSpPr txBox="1">
            <a:spLocks/>
          </p:cNvSpPr>
          <p:nvPr/>
        </p:nvSpPr>
        <p:spPr>
          <a:xfrm>
            <a:off x="612648" y="3735010"/>
            <a:ext cx="10494624" cy="933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Colecciones concurrentes</a:t>
            </a:r>
          </a:p>
          <a:p>
            <a:pPr lvl="1"/>
            <a:r>
              <a:rPr lang="es-ES" dirty="0" err="1"/>
              <a:t>ConcurrentHashMap</a:t>
            </a:r>
            <a:r>
              <a:rPr lang="es-ES" dirty="0"/>
              <a:t>, </a:t>
            </a:r>
            <a:r>
              <a:rPr lang="es-ES" dirty="0" err="1"/>
              <a:t>CopyOnWriteArrayList</a:t>
            </a:r>
            <a:r>
              <a:rPr lang="es-ES" dirty="0"/>
              <a:t> → acceso seguro sin bloquear todo el objeto.</a:t>
            </a:r>
          </a:p>
          <a:p>
            <a:pPr marL="228600" lvl="1" indent="0">
              <a:buFont typeface="Arial" panose="020B0604020202020204" pitchFamily="34" charset="0"/>
              <a:buNone/>
            </a:pPr>
            <a:endParaRPr lang="es-ES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DE9CD32-B491-B48B-6E27-7B7BCCE68B44}"/>
              </a:ext>
            </a:extLst>
          </p:cNvPr>
          <p:cNvSpPr txBox="1">
            <a:spLocks/>
          </p:cNvSpPr>
          <p:nvPr/>
        </p:nvSpPr>
        <p:spPr>
          <a:xfrm>
            <a:off x="612648" y="4976622"/>
            <a:ext cx="10494624" cy="933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Thread</a:t>
            </a:r>
            <a:r>
              <a:rPr lang="es-ES" dirty="0"/>
              <a:t> Pools (Ejecutores)</a:t>
            </a:r>
          </a:p>
          <a:p>
            <a:pPr lvl="1"/>
            <a:r>
              <a:rPr lang="es-ES" dirty="0" err="1"/>
              <a:t>ExecutorService</a:t>
            </a:r>
            <a:r>
              <a:rPr lang="es-ES" dirty="0"/>
              <a:t> → gestiona hilos automáticamente.</a:t>
            </a:r>
          </a:p>
          <a:p>
            <a:pPr marL="228600" lvl="1" indent="0">
              <a:buFont typeface="Arial" panose="020B0604020202020204" pitchFamily="34" charset="0"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53816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8443B-9C2D-A730-6F36-C1ECD7D58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6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67604D-D45A-46D4-B1FC-E8B20CFF1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Java 6 (1.6, 2006)</a:t>
            </a:r>
          </a:p>
          <a:p>
            <a:pPr lvl="1"/>
            <a:r>
              <a:rPr lang="es-ES" dirty="0"/>
              <a:t>Servicios web integrados: JAX-WS (SOAP), JAXB (XML </a:t>
            </a:r>
            <a:r>
              <a:rPr lang="es-ES" dirty="0" err="1"/>
              <a:t>binding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API de compilación en tiempo de ejecución (JSR-199).</a:t>
            </a:r>
          </a:p>
          <a:p>
            <a:pPr lvl="1"/>
            <a:r>
              <a:rPr lang="es-ES" dirty="0"/>
              <a:t>Mejoras en Swing (</a:t>
            </a:r>
            <a:r>
              <a:rPr lang="es-ES" dirty="0" err="1"/>
              <a:t>SwingWorker</a:t>
            </a:r>
            <a:r>
              <a:rPr lang="es-ES" dirty="0"/>
              <a:t>), scripting embebido (</a:t>
            </a:r>
            <a:r>
              <a:rPr lang="es-ES" dirty="0" err="1"/>
              <a:t>Rhino</a:t>
            </a:r>
            <a:r>
              <a:rPr lang="es-ES" dirty="0"/>
              <a:t> JS).</a:t>
            </a:r>
          </a:p>
          <a:p>
            <a:pPr lvl="1"/>
            <a:r>
              <a:rPr lang="es-ES" dirty="0"/>
              <a:t>Herramientas de </a:t>
            </a:r>
            <a:r>
              <a:rPr lang="es-ES" dirty="0" err="1"/>
              <a:t>monitoring</a:t>
            </a:r>
            <a:r>
              <a:rPr lang="es-ES" dirty="0"/>
              <a:t> y diagnóstico (</a:t>
            </a:r>
            <a:r>
              <a:rPr lang="es-ES" dirty="0" err="1"/>
              <a:t>JVisualVM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Optimizaciones de JVM y rendimiento.</a:t>
            </a:r>
          </a:p>
        </p:txBody>
      </p:sp>
    </p:spTree>
    <p:extLst>
      <p:ext uri="{BB962C8B-B14F-4D97-AF65-F5344CB8AC3E}">
        <p14:creationId xmlns:p14="http://schemas.microsoft.com/office/powerpoint/2010/main" val="3775776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8AD8C-8C63-B2FB-8D8C-D7E47D77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JAX-WS (SOAP Web </a:t>
            </a:r>
            <a:r>
              <a:rPr lang="es-ES" dirty="0" err="1"/>
              <a:t>Services</a:t>
            </a:r>
            <a:r>
              <a:rPr lang="es-ES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FEA2F0-047E-02D5-0455-C942BFDAD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1045953" cy="1132258"/>
          </a:xfrm>
        </p:spPr>
        <p:txBody>
          <a:bodyPr/>
          <a:lstStyle/>
          <a:p>
            <a:r>
              <a:rPr lang="es-ES" dirty="0"/>
              <a:t>Sustituye a JAX-RPC.</a:t>
            </a:r>
          </a:p>
          <a:p>
            <a:r>
              <a:rPr lang="es-ES" dirty="0"/>
              <a:t>Permite exponer y consumir servicios SOAP desde el JDK.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6DC8E70-2CC0-2AC5-D907-DCD3832025B4}"/>
              </a:ext>
            </a:extLst>
          </p:cNvPr>
          <p:cNvSpPr txBox="1"/>
          <p:nvPr/>
        </p:nvSpPr>
        <p:spPr>
          <a:xfrm>
            <a:off x="612648" y="3071813"/>
            <a:ext cx="110316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@WebService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HolaService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@WebMethod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saludar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(String n) { return "Hola " + n;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0201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3EE06-1335-D668-86CB-952070692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JAXB (XML </a:t>
            </a:r>
            <a:r>
              <a:rPr lang="es-ES" dirty="0" err="1"/>
              <a:t>Binding</a:t>
            </a:r>
            <a:r>
              <a:rPr lang="es-ES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7EC612-C0B7-7AAB-478B-7A3550B90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917366" cy="1132258"/>
          </a:xfrm>
        </p:spPr>
        <p:txBody>
          <a:bodyPr/>
          <a:lstStyle/>
          <a:p>
            <a:r>
              <a:rPr lang="es-ES" dirty="0"/>
              <a:t>Convierte objetos Java ↔ XML automáticamente.</a:t>
            </a:r>
          </a:p>
          <a:p>
            <a:r>
              <a:rPr lang="es-ES" dirty="0" err="1"/>
              <a:t>Marshaller</a:t>
            </a:r>
            <a:r>
              <a:rPr lang="es-ES" dirty="0"/>
              <a:t> y </a:t>
            </a:r>
            <a:r>
              <a:rPr lang="es-ES" dirty="0" err="1"/>
              <a:t>Unmarshaller</a:t>
            </a:r>
            <a:r>
              <a:rPr lang="es-ES" dirty="0"/>
              <a:t> facilitan serializar y leer XML sin DOM/SAX manual.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188692E-80D3-5E0E-5C11-300106391584}"/>
              </a:ext>
            </a:extLst>
          </p:cNvPr>
          <p:cNvSpPr txBox="1"/>
          <p:nvPr/>
        </p:nvSpPr>
        <p:spPr>
          <a:xfrm>
            <a:off x="885825" y="3429000"/>
            <a:ext cx="9729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@XmlRootElement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Persona {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nombre;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edad; }</a:t>
            </a:r>
          </a:p>
        </p:txBody>
      </p:sp>
    </p:spTree>
    <p:extLst>
      <p:ext uri="{BB962C8B-B14F-4D97-AF65-F5344CB8AC3E}">
        <p14:creationId xmlns:p14="http://schemas.microsoft.com/office/powerpoint/2010/main" val="3606765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45792-B17A-A47C-DE19-4B882C89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6 – JSR-199 (Java </a:t>
            </a:r>
            <a:r>
              <a:rPr lang="pt-BR" dirty="0" err="1"/>
              <a:t>Compiler</a:t>
            </a:r>
            <a:r>
              <a:rPr lang="pt-BR" dirty="0"/>
              <a:t> API)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7C1582-AC7C-78A2-468D-87624079F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488741" cy="1499156"/>
          </a:xfrm>
        </p:spPr>
        <p:txBody>
          <a:bodyPr/>
          <a:lstStyle/>
          <a:p>
            <a:r>
              <a:rPr lang="es-ES" dirty="0"/>
              <a:t>Acceso programático al compilador de Java.</a:t>
            </a:r>
          </a:p>
          <a:p>
            <a:r>
              <a:rPr lang="es-ES" dirty="0"/>
              <a:t>Permite compilar código en tiempo de ejecución sin invocar </a:t>
            </a:r>
            <a:r>
              <a:rPr lang="es-ES" dirty="0" err="1"/>
              <a:t>javac</a:t>
            </a:r>
            <a:r>
              <a:rPr lang="es-ES" dirty="0"/>
              <a:t> externo.</a:t>
            </a:r>
          </a:p>
          <a:p>
            <a:r>
              <a:rPr lang="es-ES" dirty="0"/>
              <a:t>Base de </a:t>
            </a:r>
            <a:r>
              <a:rPr lang="es-ES" dirty="0" err="1"/>
              <a:t>IDEs</a:t>
            </a:r>
            <a:r>
              <a:rPr lang="es-ES" dirty="0"/>
              <a:t> y </a:t>
            </a:r>
            <a:r>
              <a:rPr lang="es-ES" dirty="0" err="1"/>
              <a:t>frameworks</a:t>
            </a:r>
            <a:r>
              <a:rPr lang="es-ES" dirty="0"/>
              <a:t> dinámicos.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A03763-FC74-54D1-2F7B-8B28C8EC33C2}"/>
              </a:ext>
            </a:extLst>
          </p:cNvPr>
          <p:cNvSpPr txBox="1"/>
          <p:nvPr/>
        </p:nvSpPr>
        <p:spPr>
          <a:xfrm>
            <a:off x="942975" y="3543300"/>
            <a:ext cx="10158413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javax.tools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JavaCompiler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ToolProvider.getSystemJavaCompiler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res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compiler.run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, "MiClase.java");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(res == 0 ? "Compilación exitosa" : "Error al compilar");</a:t>
            </a:r>
          </a:p>
        </p:txBody>
      </p:sp>
    </p:spTree>
    <p:extLst>
      <p:ext uri="{BB962C8B-B14F-4D97-AF65-F5344CB8AC3E}">
        <p14:creationId xmlns:p14="http://schemas.microsoft.com/office/powerpoint/2010/main" val="747229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BBC66-39B5-8C4B-4839-7CE50BA98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Scripting embebido (</a:t>
            </a:r>
            <a:r>
              <a:rPr lang="es-ES" dirty="0" err="1"/>
              <a:t>Rhino</a:t>
            </a:r>
            <a:r>
              <a:rPr lang="es-ES" dirty="0"/>
              <a:t> JS)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09E124-A0E1-9E51-AEBE-CC31620EE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860216" cy="1584881"/>
          </a:xfrm>
        </p:spPr>
        <p:txBody>
          <a:bodyPr/>
          <a:lstStyle/>
          <a:p>
            <a:r>
              <a:rPr lang="es-ES" dirty="0"/>
              <a:t>JSR-223 → API estándar para ejecutar lenguajes de scripting en Java.</a:t>
            </a:r>
          </a:p>
          <a:p>
            <a:r>
              <a:rPr lang="es-ES" dirty="0"/>
              <a:t>Motor incluido: </a:t>
            </a:r>
            <a:r>
              <a:rPr lang="es-ES" dirty="0" err="1"/>
              <a:t>Rhino</a:t>
            </a:r>
            <a:r>
              <a:rPr lang="es-ES" dirty="0"/>
              <a:t> (JavaScript).</a:t>
            </a:r>
          </a:p>
          <a:p>
            <a:r>
              <a:rPr lang="es-ES" dirty="0"/>
              <a:t>Permite ejecutar código dinámico dentro de una app Java.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7D60FD-9B4B-79D7-4192-7B4FD2FF1F85}"/>
              </a:ext>
            </a:extLst>
          </p:cNvPr>
          <p:cNvSpPr txBox="1"/>
          <p:nvPr/>
        </p:nvSpPr>
        <p:spPr>
          <a:xfrm>
            <a:off x="857250" y="3429000"/>
            <a:ext cx="10408976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javax.script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ScriptEngine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engine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new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ScriptEngineManager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getEngineByName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("JavaScript");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engine.eval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('Hola desde JavaScript en Java!');");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engine.put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("x", 5);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engine.put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("y", 10);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engine.eval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('Suma = ' + (x + y));");</a:t>
            </a:r>
          </a:p>
        </p:txBody>
      </p:sp>
    </p:spTree>
    <p:extLst>
      <p:ext uri="{BB962C8B-B14F-4D97-AF65-F5344CB8AC3E}">
        <p14:creationId xmlns:p14="http://schemas.microsoft.com/office/powerpoint/2010/main" val="2220651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D660B-B390-F0F6-FD6E-FA1364EAA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Herramientas de </a:t>
            </a:r>
            <a:r>
              <a:rPr lang="es-ES" dirty="0" err="1"/>
              <a:t>Monitoring</a:t>
            </a:r>
            <a:r>
              <a:rPr lang="es-ES" dirty="0"/>
              <a:t> (</a:t>
            </a:r>
            <a:r>
              <a:rPr lang="es-ES" dirty="0" err="1"/>
              <a:t>JVisualVM</a:t>
            </a:r>
            <a:r>
              <a:rPr lang="es-ES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04B2B6-EBC0-1669-F8ED-2B8F7F27B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Incluido con JDK (desde 6u7).</a:t>
            </a:r>
          </a:p>
          <a:p>
            <a:r>
              <a:rPr lang="es-ES" dirty="0"/>
              <a:t>Analiza y diagnostica aplicaciones Java en tiempo real.</a:t>
            </a:r>
          </a:p>
          <a:p>
            <a:r>
              <a:rPr lang="es-ES" dirty="0"/>
              <a:t>Unifica herramientas (</a:t>
            </a:r>
            <a:r>
              <a:rPr lang="es-ES" dirty="0" err="1"/>
              <a:t>jconsole</a:t>
            </a:r>
            <a:r>
              <a:rPr lang="es-ES" dirty="0"/>
              <a:t>, </a:t>
            </a:r>
            <a:r>
              <a:rPr lang="es-ES" dirty="0" err="1"/>
              <a:t>jmap</a:t>
            </a:r>
            <a:r>
              <a:rPr lang="es-ES" dirty="0"/>
              <a:t>, </a:t>
            </a:r>
            <a:r>
              <a:rPr lang="es-ES" dirty="0" err="1"/>
              <a:t>jstack</a:t>
            </a:r>
            <a:r>
              <a:rPr lang="es-ES" dirty="0"/>
              <a:t>, </a:t>
            </a:r>
            <a:r>
              <a:rPr lang="es-ES" dirty="0" err="1"/>
              <a:t>jstat</a:t>
            </a:r>
            <a:r>
              <a:rPr lang="es-ES" dirty="0"/>
              <a:t>).</a:t>
            </a:r>
          </a:p>
          <a:p>
            <a:r>
              <a:rPr lang="es-ES" dirty="0"/>
              <a:t>Entre sus funciones principales destacan:</a:t>
            </a:r>
          </a:p>
          <a:p>
            <a:pPr lvl="1"/>
            <a:r>
              <a:rPr lang="es-ES" dirty="0" err="1"/>
              <a:t>Analisis</a:t>
            </a:r>
            <a:r>
              <a:rPr lang="es-ES" dirty="0"/>
              <a:t> uso de CPU y memoria (incl. GC).</a:t>
            </a:r>
          </a:p>
          <a:p>
            <a:pPr lvl="1"/>
            <a:r>
              <a:rPr lang="es-ES" dirty="0" err="1"/>
              <a:t>Heap</a:t>
            </a:r>
            <a:r>
              <a:rPr lang="es-ES" dirty="0"/>
              <a:t> </a:t>
            </a:r>
            <a:r>
              <a:rPr lang="es-ES" dirty="0" err="1"/>
              <a:t>dump</a:t>
            </a:r>
            <a:r>
              <a:rPr lang="es-ES" dirty="0"/>
              <a:t> → inspección de objetos en memoria.</a:t>
            </a:r>
          </a:p>
          <a:p>
            <a:pPr lvl="1"/>
            <a:r>
              <a:rPr lang="es-ES" dirty="0" err="1"/>
              <a:t>Thread</a:t>
            </a:r>
            <a:r>
              <a:rPr lang="es-ES" dirty="0"/>
              <a:t> </a:t>
            </a:r>
            <a:r>
              <a:rPr lang="es-ES" dirty="0" err="1"/>
              <a:t>dump</a:t>
            </a:r>
            <a:r>
              <a:rPr lang="es-ES" dirty="0"/>
              <a:t> → detectar bloqueos/</a:t>
            </a:r>
            <a:r>
              <a:rPr lang="es-ES" dirty="0" err="1"/>
              <a:t>deadlocks</a:t>
            </a:r>
            <a:r>
              <a:rPr lang="es-ES" dirty="0"/>
              <a:t>.</a:t>
            </a:r>
          </a:p>
          <a:p>
            <a:pPr lvl="1"/>
            <a:r>
              <a:rPr lang="es-ES" dirty="0" err="1"/>
              <a:t>Profiling</a:t>
            </a:r>
            <a:r>
              <a:rPr lang="es-ES" dirty="0"/>
              <a:t> → encontrar cuellos de botella.</a:t>
            </a:r>
          </a:p>
          <a:p>
            <a:pPr lvl="1"/>
            <a:r>
              <a:rPr lang="es-ES" dirty="0"/>
              <a:t>Conexión a procesos locales y remotos.</a:t>
            </a:r>
          </a:p>
        </p:txBody>
      </p:sp>
    </p:spTree>
    <p:extLst>
      <p:ext uri="{BB962C8B-B14F-4D97-AF65-F5344CB8AC3E}">
        <p14:creationId xmlns:p14="http://schemas.microsoft.com/office/powerpoint/2010/main" val="11610560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E5106-59AD-8132-296E-663664D6E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Era Oracle: Java 7 y Java 8 (I)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D4FA1E-DB81-7E78-24D9-2FB607DCF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Java 7 (2011) – Proyecto </a:t>
            </a:r>
            <a:r>
              <a:rPr lang="es-ES" dirty="0" err="1"/>
              <a:t>Coin</a:t>
            </a:r>
            <a:endParaRPr lang="es-ES" dirty="0"/>
          </a:p>
          <a:p>
            <a:pPr lvl="1"/>
            <a:r>
              <a:rPr lang="es-ES" dirty="0" err="1"/>
              <a:t>Strings</a:t>
            </a:r>
            <a:r>
              <a:rPr lang="es-ES" dirty="0"/>
              <a:t> en switch.</a:t>
            </a:r>
          </a:p>
          <a:p>
            <a:pPr lvl="1"/>
            <a:r>
              <a:rPr lang="es-ES" dirty="0" err="1"/>
              <a:t>Multi-catch</a:t>
            </a:r>
            <a:r>
              <a:rPr lang="es-ES" dirty="0"/>
              <a:t> (varias excepciones en un solo bloque).</a:t>
            </a:r>
          </a:p>
          <a:p>
            <a:pPr lvl="1"/>
            <a:r>
              <a:rPr lang="es-ES" dirty="0"/>
              <a:t>Operador diamante &lt;&gt; en genéricos.</a:t>
            </a:r>
          </a:p>
          <a:p>
            <a:pPr lvl="1"/>
            <a:r>
              <a:rPr lang="es-ES" dirty="0"/>
              <a:t>try-</a:t>
            </a:r>
            <a:r>
              <a:rPr lang="es-ES" dirty="0" err="1"/>
              <a:t>with</a:t>
            </a:r>
            <a:r>
              <a:rPr lang="es-ES" dirty="0"/>
              <a:t>-</a:t>
            </a:r>
            <a:r>
              <a:rPr lang="es-ES" dirty="0" err="1"/>
              <a:t>resources</a:t>
            </a:r>
            <a:r>
              <a:rPr lang="es-ES" dirty="0"/>
              <a:t> para cierre automático de recursos.</a:t>
            </a:r>
          </a:p>
          <a:p>
            <a:pPr lvl="1"/>
            <a:r>
              <a:rPr lang="es-ES" dirty="0"/>
              <a:t>G1 </a:t>
            </a:r>
            <a:r>
              <a:rPr lang="es-ES" dirty="0" err="1"/>
              <a:t>Garbage</a:t>
            </a:r>
            <a:r>
              <a:rPr lang="es-ES" dirty="0"/>
              <a:t> </a:t>
            </a:r>
            <a:r>
              <a:rPr lang="es-ES" dirty="0" err="1"/>
              <a:t>Collector</a:t>
            </a:r>
            <a:r>
              <a:rPr lang="es-ES" dirty="0"/>
              <a:t> (grandes montones).</a:t>
            </a:r>
          </a:p>
          <a:p>
            <a:pPr lvl="1"/>
            <a:r>
              <a:rPr lang="es-ES" dirty="0" err="1"/>
              <a:t>invokedynamic</a:t>
            </a:r>
            <a:r>
              <a:rPr lang="es-ES" dirty="0"/>
              <a:t> para soporte de otros lenguajes en la JVM.</a:t>
            </a:r>
          </a:p>
        </p:txBody>
      </p:sp>
    </p:spTree>
    <p:extLst>
      <p:ext uri="{BB962C8B-B14F-4D97-AF65-F5344CB8AC3E}">
        <p14:creationId xmlns:p14="http://schemas.microsoft.com/office/powerpoint/2010/main" val="19443425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B2591-A796-4898-815F-EBCF42F6B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Cambios switches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653F92-7569-6CF4-414A-702F36E84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445878" cy="1713468"/>
          </a:xfrm>
        </p:spPr>
        <p:txBody>
          <a:bodyPr/>
          <a:lstStyle/>
          <a:p>
            <a:r>
              <a:rPr lang="es-ES" dirty="0"/>
              <a:t>Antes de Java 7 el switch solo funcionaba con:</a:t>
            </a:r>
          </a:p>
          <a:p>
            <a:pPr lvl="1"/>
            <a:r>
              <a:rPr lang="es-ES" dirty="0"/>
              <a:t>Tipos primitivos: </a:t>
            </a:r>
            <a:r>
              <a:rPr lang="es-ES" dirty="0" err="1"/>
              <a:t>int</a:t>
            </a:r>
            <a:r>
              <a:rPr lang="es-ES" dirty="0"/>
              <a:t>, </a:t>
            </a:r>
            <a:r>
              <a:rPr lang="es-ES" dirty="0" err="1"/>
              <a:t>char</a:t>
            </a:r>
            <a:r>
              <a:rPr lang="es-ES" dirty="0"/>
              <a:t>, byte, short.</a:t>
            </a:r>
          </a:p>
          <a:p>
            <a:pPr lvl="1"/>
            <a:r>
              <a:rPr lang="es-ES" dirty="0" err="1"/>
              <a:t>Enum</a:t>
            </a:r>
            <a:r>
              <a:rPr lang="es-ES" dirty="0"/>
              <a:t> (desde Java 5).</a:t>
            </a:r>
          </a:p>
          <a:p>
            <a:r>
              <a:rPr lang="es-ES" dirty="0"/>
              <a:t>Con java 7 se pasa a soportar </a:t>
            </a:r>
            <a:r>
              <a:rPr lang="es-ES" dirty="0" err="1"/>
              <a:t>String</a:t>
            </a:r>
            <a:r>
              <a:rPr lang="es-ES" dirty="0"/>
              <a:t> en switch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3CBB7BE-E81A-40B1-C6C3-043411B4C356}"/>
              </a:ext>
            </a:extLst>
          </p:cNvPr>
          <p:cNvSpPr txBox="1"/>
          <p:nvPr/>
        </p:nvSpPr>
        <p:spPr>
          <a:xfrm>
            <a:off x="1106425" y="3463634"/>
            <a:ext cx="9458324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switch (color)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case "rojo":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("Color cálido");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break;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case "azul":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("Color frío");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break;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default: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("Color desconocido");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490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AEAFF-E87C-7D0B-8F32-2F40802A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7 – </a:t>
            </a:r>
            <a:r>
              <a:rPr lang="es-ES" dirty="0" err="1"/>
              <a:t>Multi-catch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E528AC-F323-0F8C-42BE-3BB1BC341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1"/>
            <a:ext cx="4759452" cy="2370693"/>
          </a:xfrm>
        </p:spPr>
        <p:txBody>
          <a:bodyPr/>
          <a:lstStyle/>
          <a:p>
            <a:r>
              <a:rPr lang="es-ES" dirty="0"/>
              <a:t>Antes de Java 7 : Cada excepción distinta requería su propio bloque catch, aunque el manejo fuera igual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030ED21-6CF7-0A25-9846-80BF21E74C8B}"/>
              </a:ext>
            </a:extLst>
          </p:cNvPr>
          <p:cNvSpPr txBox="1">
            <a:spLocks/>
          </p:cNvSpPr>
          <p:nvPr/>
        </p:nvSpPr>
        <p:spPr>
          <a:xfrm>
            <a:off x="6506774" y="1730849"/>
            <a:ext cx="4759452" cy="2370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Con Java 7: Se pueden capturar varias excepciones en un mismo bloque usando | (pipe):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2F8BC6-E048-8795-6B4F-B2C63D7FA7D7}"/>
              </a:ext>
            </a:extLst>
          </p:cNvPr>
          <p:cNvSpPr txBox="1"/>
          <p:nvPr/>
        </p:nvSpPr>
        <p:spPr>
          <a:xfrm>
            <a:off x="1014413" y="4101542"/>
            <a:ext cx="41290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metodo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e.printStackTrace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SQLException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e.printStackTrace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8B93262-1BAC-F5A8-ABB3-D7647C342389}"/>
              </a:ext>
            </a:extLst>
          </p:cNvPr>
          <p:cNvSpPr txBox="1"/>
          <p:nvPr/>
        </p:nvSpPr>
        <p:spPr>
          <a:xfrm>
            <a:off x="6506774" y="4101542"/>
            <a:ext cx="41290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metodo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SQLException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e.printStackTrace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36771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31810-6182-16B5-CB99-9CFBBDEBC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 diamante &lt;&gt;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B4AE6F-C8F6-9FD8-360C-36BF766BA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3"/>
            <a:ext cx="4330827" cy="1713468"/>
          </a:xfrm>
        </p:spPr>
        <p:txBody>
          <a:bodyPr/>
          <a:lstStyle/>
          <a:p>
            <a:r>
              <a:rPr lang="es-ES" dirty="0"/>
              <a:t>Antes de Java 7 : Al usar genéricos había que repetir el tipo dos veces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2CB67F6-FD45-566A-CF2D-E96E6F70E316}"/>
              </a:ext>
            </a:extLst>
          </p:cNvPr>
          <p:cNvSpPr txBox="1">
            <a:spLocks/>
          </p:cNvSpPr>
          <p:nvPr/>
        </p:nvSpPr>
        <p:spPr>
          <a:xfrm>
            <a:off x="6222873" y="1715533"/>
            <a:ext cx="4330827" cy="1713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Con Java 7: Se introduce el operador diamante (&lt;&gt;) → el compilador infiere el tipo del contexto: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DC00FD3-80FE-118B-AC8A-56A627FA8E33}"/>
              </a:ext>
            </a:extLst>
          </p:cNvPr>
          <p:cNvSpPr txBox="1"/>
          <p:nvPr/>
        </p:nvSpPr>
        <p:spPr>
          <a:xfrm>
            <a:off x="612648" y="4090342"/>
            <a:ext cx="4129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&gt; lista = new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&gt;();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78AA3CF-B8AF-A207-DB59-145804AA4D23}"/>
              </a:ext>
            </a:extLst>
          </p:cNvPr>
          <p:cNvSpPr txBox="1"/>
          <p:nvPr/>
        </p:nvSpPr>
        <p:spPr>
          <a:xfrm>
            <a:off x="6323742" y="4102571"/>
            <a:ext cx="4129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&gt; lista = new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</p:txBody>
      </p:sp>
    </p:spTree>
    <p:extLst>
      <p:ext uri="{BB962C8B-B14F-4D97-AF65-F5344CB8AC3E}">
        <p14:creationId xmlns:p14="http://schemas.microsoft.com/office/powerpoint/2010/main" val="219062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2429E-9E95-3E90-D691-0C2EA217F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Try-</a:t>
            </a:r>
            <a:r>
              <a:rPr lang="es-ES" dirty="0" err="1"/>
              <a:t>with</a:t>
            </a:r>
            <a:r>
              <a:rPr lang="es-ES" dirty="0"/>
              <a:t>-</a:t>
            </a:r>
            <a:r>
              <a:rPr lang="es-ES" dirty="0" err="1"/>
              <a:t>resources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B2E797-5443-C271-387C-AC3396FE0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653578" cy="1270556"/>
          </a:xfrm>
        </p:spPr>
        <p:txBody>
          <a:bodyPr/>
          <a:lstStyle/>
          <a:p>
            <a:r>
              <a:rPr lang="es-ES" dirty="0"/>
              <a:t>Los recursos se cierran automáticamente y no es necesario un </a:t>
            </a:r>
            <a:r>
              <a:rPr lang="es-ES" dirty="0" err="1"/>
              <a:t>finally</a:t>
            </a:r>
            <a:r>
              <a:rPr lang="es-ES" dirty="0"/>
              <a:t>: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41D2B32-4B9E-943B-3D15-43FD874FD71A}"/>
              </a:ext>
            </a:extLst>
          </p:cNvPr>
          <p:cNvSpPr txBox="1"/>
          <p:nvPr/>
        </p:nvSpPr>
        <p:spPr>
          <a:xfrm>
            <a:off x="871538" y="3157538"/>
            <a:ext cx="94726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try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BufferedReader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BufferedReader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FileReader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("archivo.txt")))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br.readLine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catch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e.printStackTrace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4285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A1D57-2FA1-112F-E7D5-48B79DC04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Java 7 – G1 Garbage Collector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231FE4-8306-E920-55A7-E10DD08D8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G1 (</a:t>
            </a:r>
            <a:r>
              <a:rPr lang="es-ES" dirty="0" err="1"/>
              <a:t>Garbage</a:t>
            </a:r>
            <a:r>
              <a:rPr lang="es-ES" dirty="0"/>
              <a:t> </a:t>
            </a:r>
            <a:r>
              <a:rPr lang="es-ES" dirty="0" err="1"/>
              <a:t>First</a:t>
            </a:r>
            <a:r>
              <a:rPr lang="es-ES" dirty="0"/>
              <a:t>): nuevo GC para </a:t>
            </a:r>
            <a:r>
              <a:rPr lang="es-ES" dirty="0" err="1"/>
              <a:t>heaps</a:t>
            </a:r>
            <a:r>
              <a:rPr lang="es-ES" dirty="0"/>
              <a:t> grandes (multi-GB).</a:t>
            </a:r>
          </a:p>
          <a:p>
            <a:r>
              <a:rPr lang="es-ES" dirty="0"/>
              <a:t>Introducido en Java 7 (experimental), por defecto desde Java 9.</a:t>
            </a:r>
          </a:p>
          <a:p>
            <a:r>
              <a:rPr lang="es-ES" dirty="0"/>
              <a:t>Cómo funciona:</a:t>
            </a:r>
          </a:p>
          <a:p>
            <a:pPr lvl="1"/>
            <a:r>
              <a:rPr lang="es-ES" dirty="0"/>
              <a:t>Divide el </a:t>
            </a:r>
            <a:r>
              <a:rPr lang="es-ES" dirty="0" err="1"/>
              <a:t>heap</a:t>
            </a:r>
            <a:r>
              <a:rPr lang="es-ES" dirty="0"/>
              <a:t> en regiones en lugar de áreas fijas (joven/viejo).</a:t>
            </a:r>
          </a:p>
          <a:p>
            <a:pPr lvl="1"/>
            <a:r>
              <a:rPr lang="es-ES" dirty="0"/>
              <a:t>Recolecta primero las regiones con más basura.</a:t>
            </a:r>
          </a:p>
          <a:p>
            <a:pPr lvl="1"/>
            <a:r>
              <a:rPr lang="es-ES" dirty="0"/>
              <a:t>Paralelo y concurrente → aprovecha multinúcleo.</a:t>
            </a:r>
          </a:p>
        </p:txBody>
      </p:sp>
    </p:spTree>
    <p:extLst>
      <p:ext uri="{BB962C8B-B14F-4D97-AF65-F5344CB8AC3E}">
        <p14:creationId xmlns:p14="http://schemas.microsoft.com/office/powerpoint/2010/main" val="2672641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E6120-0050-9D88-4FA0-AF7737DC0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7 – </a:t>
            </a:r>
            <a:r>
              <a:rPr lang="es-ES" dirty="0" err="1"/>
              <a:t>invokedynamic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D85234-239B-04C7-E652-6061B078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Nueva instrucción de </a:t>
            </a:r>
            <a:r>
              <a:rPr lang="es-ES" dirty="0" err="1"/>
              <a:t>bytecode</a:t>
            </a:r>
            <a:r>
              <a:rPr lang="es-ES" dirty="0"/>
              <a:t> JVM (JSR-292).</a:t>
            </a:r>
          </a:p>
          <a:p>
            <a:r>
              <a:rPr lang="es-ES" dirty="0"/>
              <a:t>Diseñada para soportar lenguajes dinámicos (</a:t>
            </a:r>
            <a:r>
              <a:rPr lang="es-ES" dirty="0" err="1"/>
              <a:t>JRuby</a:t>
            </a:r>
            <a:r>
              <a:rPr lang="es-ES" dirty="0"/>
              <a:t>, </a:t>
            </a:r>
            <a:r>
              <a:rPr lang="es-ES" dirty="0" err="1"/>
              <a:t>Groovy</a:t>
            </a:r>
            <a:r>
              <a:rPr lang="es-ES" dirty="0"/>
              <a:t>, </a:t>
            </a:r>
            <a:r>
              <a:rPr lang="es-ES" dirty="0" err="1"/>
              <a:t>Kotlin</a:t>
            </a:r>
            <a:r>
              <a:rPr lang="es-ES" dirty="0"/>
              <a:t>, Scala…).</a:t>
            </a:r>
          </a:p>
          <a:p>
            <a:r>
              <a:rPr lang="es-ES" dirty="0"/>
              <a:t>Cómo funciona:</a:t>
            </a:r>
          </a:p>
          <a:p>
            <a:pPr lvl="1"/>
            <a:r>
              <a:rPr lang="es-ES" dirty="0"/>
              <a:t>Permite que las llamadas a métodos se resuelvan en tiempo de ejecución.</a:t>
            </a:r>
          </a:p>
          <a:p>
            <a:pPr lvl="1"/>
            <a:r>
              <a:rPr lang="es-ES" dirty="0"/>
              <a:t>Usa </a:t>
            </a:r>
            <a:r>
              <a:rPr lang="es-ES" dirty="0" err="1"/>
              <a:t>call</a:t>
            </a:r>
            <a:r>
              <a:rPr lang="es-ES" dirty="0"/>
              <a:t> sites dinámicos y la API </a:t>
            </a:r>
            <a:r>
              <a:rPr lang="es-ES" dirty="0" err="1"/>
              <a:t>java.lang.invoke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27988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E12A2-CCA7-158C-849E-580542EDB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Era Oracle: Java 7 y Java 8 (II)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7F7A6D-B5BF-96F8-09F8-CEE858035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Java 8 (2014) – Salto funcional y modernización</a:t>
            </a:r>
          </a:p>
          <a:p>
            <a:pPr lvl="1"/>
            <a:r>
              <a:rPr lang="es-ES" dirty="0"/>
              <a:t>Expresiones lambda y API </a:t>
            </a:r>
            <a:r>
              <a:rPr lang="es-ES" dirty="0" err="1"/>
              <a:t>Streams</a:t>
            </a:r>
            <a:r>
              <a:rPr lang="es-ES" dirty="0"/>
              <a:t> (programación funcional, </a:t>
            </a:r>
            <a:r>
              <a:rPr lang="es-ES" dirty="0" err="1"/>
              <a:t>paralelizable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Métodos por defecto en interfaces.</a:t>
            </a:r>
          </a:p>
          <a:p>
            <a:pPr lvl="1"/>
            <a:r>
              <a:rPr lang="es-ES" dirty="0"/>
              <a:t>Nueva API de Fecha/Hora (JSR-310).</a:t>
            </a:r>
          </a:p>
          <a:p>
            <a:pPr lvl="1"/>
            <a:r>
              <a:rPr lang="es-ES" dirty="0" err="1"/>
              <a:t>JavaFX</a:t>
            </a:r>
            <a:r>
              <a:rPr lang="es-ES" dirty="0"/>
              <a:t> integrado en el JDK.</a:t>
            </a:r>
          </a:p>
          <a:p>
            <a:pPr lvl="1"/>
            <a:r>
              <a:rPr lang="es-ES" dirty="0"/>
              <a:t>Motor JavaScript </a:t>
            </a:r>
            <a:r>
              <a:rPr lang="es-ES" dirty="0" err="1"/>
              <a:t>Nashorn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Referencias de método (Clase::</a:t>
            </a:r>
            <a:r>
              <a:rPr lang="es-ES" dirty="0" err="1"/>
              <a:t>metodo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Versión LTS con soporte extendido, muy adoptada en entornos </a:t>
            </a:r>
            <a:r>
              <a:rPr lang="es-ES" dirty="0" err="1"/>
              <a:t>enterprise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52395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B13CE-CD72-3781-404E-C54A8400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8 – Expresiones Lambda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615159-AB42-A0F4-479F-16AA187B2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760203" cy="1132258"/>
          </a:xfrm>
        </p:spPr>
        <p:txBody>
          <a:bodyPr/>
          <a:lstStyle/>
          <a:p>
            <a:r>
              <a:rPr lang="es-ES" dirty="0"/>
              <a:t>Sintaxis compacta para interfaces funcionales (un solo método abstracto).</a:t>
            </a:r>
          </a:p>
          <a:p>
            <a:r>
              <a:rPr lang="es-ES" dirty="0"/>
              <a:t>Sustituyen clases anónimas → código más limpio.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27F9F6-E6EF-D3EB-CE34-8D13F0106F9E}"/>
              </a:ext>
            </a:extLst>
          </p:cNvPr>
          <p:cNvSpPr txBox="1"/>
          <p:nvPr/>
        </p:nvSpPr>
        <p:spPr>
          <a:xfrm>
            <a:off x="612648" y="3200400"/>
            <a:ext cx="4387977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Collections.sort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new Comparator&lt;String&gt;()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int compare(String s1, String s2)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s1.compareTo(s2);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65685E4-F4AF-5071-26B9-CE3D5A0EA769}"/>
              </a:ext>
            </a:extLst>
          </p:cNvPr>
          <p:cNvCxnSpPr/>
          <p:nvPr/>
        </p:nvCxnSpPr>
        <p:spPr>
          <a:xfrm>
            <a:off x="5372100" y="4086225"/>
            <a:ext cx="1400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0A125629-98E5-E120-21A9-CE38191AEABD}"/>
              </a:ext>
            </a:extLst>
          </p:cNvPr>
          <p:cNvSpPr txBox="1"/>
          <p:nvPr/>
        </p:nvSpPr>
        <p:spPr>
          <a:xfrm>
            <a:off x="7143750" y="3763059"/>
            <a:ext cx="438797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Collections.sort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(s1, s2) -&gt; s1.compareTo(s2));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3458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6A217-0F5D-72AB-BB1B-D937F8CB1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8 – API </a:t>
            </a:r>
            <a:r>
              <a:rPr lang="es-ES" dirty="0" err="1"/>
              <a:t>Streams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932215-9E31-7C98-784E-E696DB801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653578" cy="1132258"/>
          </a:xfrm>
        </p:spPr>
        <p:txBody>
          <a:bodyPr/>
          <a:lstStyle/>
          <a:p>
            <a:r>
              <a:rPr lang="es-ES" dirty="0"/>
              <a:t>Procesamiento declarativo de colecciones (</a:t>
            </a:r>
            <a:r>
              <a:rPr lang="es-ES" dirty="0" err="1"/>
              <a:t>filter</a:t>
            </a:r>
            <a:r>
              <a:rPr lang="es-ES" dirty="0"/>
              <a:t>, </a:t>
            </a:r>
            <a:r>
              <a:rPr lang="es-ES" dirty="0" err="1"/>
              <a:t>map</a:t>
            </a:r>
            <a:r>
              <a:rPr lang="es-ES" dirty="0"/>
              <a:t>, reduce).</a:t>
            </a:r>
          </a:p>
          <a:p>
            <a:r>
              <a:rPr lang="es-ES" dirty="0"/>
              <a:t>Ejecución secuencial o paralela (</a:t>
            </a:r>
            <a:r>
              <a:rPr lang="es-ES" dirty="0" err="1"/>
              <a:t>parallelStream</a:t>
            </a:r>
            <a:r>
              <a:rPr lang="es-ES" dirty="0"/>
              <a:t>()).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7DFFF4-AE70-6237-C891-F83BE23C4495}"/>
              </a:ext>
            </a:extLst>
          </p:cNvPr>
          <p:cNvSpPr txBox="1"/>
          <p:nvPr/>
        </p:nvSpPr>
        <p:spPr>
          <a:xfrm>
            <a:off x="885825" y="3200400"/>
            <a:ext cx="103804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nombres.stream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(n -&gt;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n.startsWith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("P"))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toUpperCase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 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059238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E65B7-A8BB-7286-BCF2-E48856639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 por defecto en interfaces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4D25CA-FA1F-6B4D-5C08-44B659274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699056"/>
          </a:xfrm>
        </p:spPr>
        <p:txBody>
          <a:bodyPr/>
          <a:lstStyle/>
          <a:p>
            <a:r>
              <a:rPr lang="es-ES" dirty="0"/>
              <a:t>Interfaces pueden tener implementación por defecto: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62628E7-D15D-DD7C-E25C-91BFEC355DC9}"/>
              </a:ext>
            </a:extLst>
          </p:cNvPr>
          <p:cNvSpPr txBox="1"/>
          <p:nvPr/>
        </p:nvSpPr>
        <p:spPr>
          <a:xfrm>
            <a:off x="612648" y="2857500"/>
            <a:ext cx="105030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Animal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hacerSonido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default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dormir()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Zzz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...");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Perro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Animal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hacerSonido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("Guau!"); }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11344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C9BB9-A02E-05D4-022D-2AB3184DC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Nueva API de Fecha/Hora (JSR-310)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4C2A1E-9947-6250-1942-694383C00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503028" cy="2570718"/>
          </a:xfrm>
        </p:spPr>
        <p:txBody>
          <a:bodyPr/>
          <a:lstStyle/>
          <a:p>
            <a:r>
              <a:rPr lang="es-ES" dirty="0"/>
              <a:t>Date y Calendar → confusos, mutables, poco seguros.</a:t>
            </a:r>
          </a:p>
          <a:p>
            <a:r>
              <a:rPr lang="es-ES" dirty="0"/>
              <a:t>Con Java 8 → paquete </a:t>
            </a:r>
            <a:r>
              <a:rPr lang="es-ES" dirty="0" err="1"/>
              <a:t>java.time</a:t>
            </a:r>
            <a:endParaRPr lang="es-ES" dirty="0"/>
          </a:p>
          <a:p>
            <a:pPr lvl="1"/>
            <a:r>
              <a:rPr lang="es-ES" dirty="0" err="1"/>
              <a:t>LocalDate</a:t>
            </a:r>
            <a:r>
              <a:rPr lang="es-ES" dirty="0"/>
              <a:t> → solo fecha.</a:t>
            </a:r>
          </a:p>
          <a:p>
            <a:pPr lvl="1"/>
            <a:r>
              <a:rPr lang="es-ES" dirty="0" err="1"/>
              <a:t>LocalTime</a:t>
            </a:r>
            <a:r>
              <a:rPr lang="es-ES" dirty="0"/>
              <a:t> → solo hora.</a:t>
            </a:r>
          </a:p>
          <a:p>
            <a:pPr lvl="1"/>
            <a:r>
              <a:rPr lang="es-ES" dirty="0" err="1"/>
              <a:t>LocalDateTime</a:t>
            </a:r>
            <a:r>
              <a:rPr lang="es-ES" dirty="0"/>
              <a:t> → fecha + hora.</a:t>
            </a:r>
          </a:p>
          <a:p>
            <a:pPr lvl="1"/>
            <a:r>
              <a:rPr lang="es-ES" dirty="0" err="1"/>
              <a:t>ZonedDateTime</a:t>
            </a:r>
            <a:r>
              <a:rPr lang="es-ES" dirty="0"/>
              <a:t> → con zona horaria.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6C8B92-B9D7-6377-C5FB-9BE3A38E6F76}"/>
              </a:ext>
            </a:extLst>
          </p:cNvPr>
          <p:cNvSpPr txBox="1"/>
          <p:nvPr/>
        </p:nvSpPr>
        <p:spPr>
          <a:xfrm>
            <a:off x="612648" y="4471988"/>
            <a:ext cx="104887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hoy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LocalDate.now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cumple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LocalDate.of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(1999, 5, 20);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("Hoy: " + hoy);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("Días hasta cumple: " +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ChronoUnit.DAYS.between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(hoy, cumple));</a:t>
            </a:r>
          </a:p>
        </p:txBody>
      </p:sp>
    </p:spTree>
    <p:extLst>
      <p:ext uri="{BB962C8B-B14F-4D97-AF65-F5344CB8AC3E}">
        <p14:creationId xmlns:p14="http://schemas.microsoft.com/office/powerpoint/2010/main" val="3324111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8E59D-DC8E-8569-D3F0-5E8687CFA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JavaFX</a:t>
            </a:r>
            <a:r>
              <a:rPr lang="es-ES" dirty="0"/>
              <a:t> integrado en el JDK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E375BE-7400-2703-D082-614B7EAB3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Sustituto moderno de Swing/AWT.</a:t>
            </a:r>
          </a:p>
          <a:p>
            <a:r>
              <a:rPr lang="es-ES" dirty="0"/>
              <a:t>Con Java 8 → </a:t>
            </a:r>
            <a:r>
              <a:rPr lang="es-ES" dirty="0" err="1"/>
              <a:t>JavaFX</a:t>
            </a:r>
            <a:r>
              <a:rPr lang="es-ES" dirty="0"/>
              <a:t> incluido en el JDK estándar.</a:t>
            </a:r>
          </a:p>
          <a:p>
            <a:r>
              <a:rPr lang="es-ES" dirty="0"/>
              <a:t>Características</a:t>
            </a:r>
          </a:p>
          <a:p>
            <a:pPr lvl="1"/>
            <a:r>
              <a:rPr lang="es-ES" dirty="0"/>
              <a:t>Basado en </a:t>
            </a:r>
            <a:r>
              <a:rPr lang="es-ES" dirty="0" err="1"/>
              <a:t>Scene</a:t>
            </a:r>
            <a:r>
              <a:rPr lang="es-ES" dirty="0"/>
              <a:t> </a:t>
            </a:r>
            <a:r>
              <a:rPr lang="es-ES" dirty="0" err="1"/>
              <a:t>Graph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Estilos con CSS y diseño con FXML.</a:t>
            </a:r>
          </a:p>
          <a:p>
            <a:pPr lvl="1"/>
            <a:r>
              <a:rPr lang="es-ES" dirty="0"/>
              <a:t>Controles avanzados: tablas, gráficas, multimedia.</a:t>
            </a:r>
          </a:p>
          <a:p>
            <a:pPr lvl="1"/>
            <a:r>
              <a:rPr lang="es-ES" dirty="0"/>
              <a:t>Aceleración por GPU.</a:t>
            </a:r>
          </a:p>
        </p:txBody>
      </p:sp>
    </p:spTree>
    <p:extLst>
      <p:ext uri="{BB962C8B-B14F-4D97-AF65-F5344CB8AC3E}">
        <p14:creationId xmlns:p14="http://schemas.microsoft.com/office/powerpoint/2010/main" val="37751675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E0A11-370C-965C-23E3-91016DB46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Motor JavaScript </a:t>
            </a:r>
            <a:r>
              <a:rPr lang="es-ES" dirty="0" err="1"/>
              <a:t>Nashorn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2CC9B-BF6A-128B-0B12-675AC4BA8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Sustituyó a </a:t>
            </a:r>
            <a:r>
              <a:rPr lang="es-ES" dirty="0" err="1"/>
              <a:t>Rhino</a:t>
            </a:r>
            <a:r>
              <a:rPr lang="es-ES" dirty="0"/>
              <a:t> (Java 6).</a:t>
            </a:r>
          </a:p>
          <a:p>
            <a:r>
              <a:rPr lang="es-ES" dirty="0"/>
              <a:t>Compatible con ECMAScript 5.1.</a:t>
            </a:r>
          </a:p>
          <a:p>
            <a:r>
              <a:rPr lang="es-ES" dirty="0"/>
              <a:t>Usa </a:t>
            </a:r>
            <a:r>
              <a:rPr lang="es-ES" dirty="0" err="1"/>
              <a:t>invokedynamic</a:t>
            </a:r>
            <a:r>
              <a:rPr lang="es-ES" dirty="0"/>
              <a:t> → mucho más rápido.</a:t>
            </a:r>
          </a:p>
        </p:txBody>
      </p:sp>
    </p:spTree>
    <p:extLst>
      <p:ext uri="{BB962C8B-B14F-4D97-AF65-F5344CB8AC3E}">
        <p14:creationId xmlns:p14="http://schemas.microsoft.com/office/powerpoint/2010/main" val="30739223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0B0C0E-28F3-6FBE-4147-F9975F90F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Referencias de método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2BA8C2-05D4-1671-67F9-6D657CD20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917366" cy="956231"/>
          </a:xfrm>
        </p:spPr>
        <p:txBody>
          <a:bodyPr/>
          <a:lstStyle/>
          <a:p>
            <a:r>
              <a:rPr lang="es-ES" dirty="0"/>
              <a:t>Forma más corta y legible de usar lambdas cuando lo único que se hace es llamar a un método existente.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E9989CD-5349-D692-11F7-AF1730B51EAD}"/>
              </a:ext>
            </a:extLst>
          </p:cNvPr>
          <p:cNvSpPr txBox="1"/>
          <p:nvPr/>
        </p:nvSpPr>
        <p:spPr>
          <a:xfrm>
            <a:off x="2614613" y="2671763"/>
            <a:ext cx="645795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lista.forEach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 -&gt;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(s));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F74E0CB-B362-B3E3-9D75-789AB33DAB59}"/>
              </a:ext>
            </a:extLst>
          </p:cNvPr>
          <p:cNvCxnSpPr/>
          <p:nvPr/>
        </p:nvCxnSpPr>
        <p:spPr>
          <a:xfrm>
            <a:off x="5486400" y="3429000"/>
            <a:ext cx="0" cy="121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B27041A7-C071-D605-E027-DBBFA928B69F}"/>
              </a:ext>
            </a:extLst>
          </p:cNvPr>
          <p:cNvSpPr txBox="1"/>
          <p:nvPr/>
        </p:nvSpPr>
        <p:spPr>
          <a:xfrm>
            <a:off x="2614612" y="4643438"/>
            <a:ext cx="645794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lista.forEach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8531356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C1354-1570-4F16-9EA2-3D4816E28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Nueva era de lanzamientos rápidos (Java 9 a Java 16)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BC3B85-1C2B-F499-C0F5-6463B0849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Modelo</a:t>
            </a:r>
          </a:p>
          <a:p>
            <a:pPr lvl="1"/>
            <a:r>
              <a:rPr lang="es-ES" dirty="0"/>
              <a:t>Desde 2017: lanzamientos cada 6 meses.</a:t>
            </a:r>
          </a:p>
          <a:p>
            <a:pPr lvl="1"/>
            <a:r>
              <a:rPr lang="es-ES" dirty="0"/>
              <a:t>Algunas versiones marcadas LTS (11, 17, 21…).No-LTS → soporte hasta la siguiente versión.</a:t>
            </a:r>
          </a:p>
          <a:p>
            <a:r>
              <a:rPr lang="es-ES" dirty="0"/>
              <a:t>Java 9 (2017)</a:t>
            </a:r>
          </a:p>
          <a:p>
            <a:pPr lvl="1"/>
            <a:r>
              <a:rPr lang="es-ES" dirty="0"/>
              <a:t>JPMS / Proyecto </a:t>
            </a:r>
            <a:r>
              <a:rPr lang="es-ES" dirty="0" err="1"/>
              <a:t>Jigsaw</a:t>
            </a:r>
            <a:r>
              <a:rPr lang="es-ES" dirty="0"/>
              <a:t> (</a:t>
            </a:r>
            <a:r>
              <a:rPr lang="es-ES" dirty="0" err="1"/>
              <a:t>modularización</a:t>
            </a:r>
            <a:r>
              <a:rPr lang="es-ES" dirty="0"/>
              <a:t> del JDK).</a:t>
            </a:r>
          </a:p>
          <a:p>
            <a:pPr lvl="1"/>
            <a:r>
              <a:rPr lang="es-ES" dirty="0" err="1"/>
              <a:t>jlink</a:t>
            </a:r>
            <a:r>
              <a:rPr lang="es-ES" dirty="0"/>
              <a:t>, colecciones inmutables (</a:t>
            </a:r>
            <a:r>
              <a:rPr lang="es-ES" dirty="0" err="1"/>
              <a:t>List.of</a:t>
            </a:r>
            <a:r>
              <a:rPr lang="es-ES" dirty="0"/>
              <a:t>), </a:t>
            </a:r>
            <a:r>
              <a:rPr lang="es-ES" dirty="0" err="1"/>
              <a:t>JShell</a:t>
            </a:r>
            <a:r>
              <a:rPr lang="es-ES" dirty="0"/>
              <a:t> REPL.</a:t>
            </a:r>
          </a:p>
          <a:p>
            <a:pPr lvl="1"/>
            <a:r>
              <a:rPr lang="es-ES" dirty="0"/>
              <a:t>API HTTP/2 (incubador), fin de applets.</a:t>
            </a:r>
          </a:p>
          <a:p>
            <a:r>
              <a:rPr lang="es-ES" dirty="0"/>
              <a:t>Java 10 (2018)</a:t>
            </a:r>
          </a:p>
          <a:p>
            <a:pPr lvl="1"/>
            <a:r>
              <a:rPr lang="es-ES" dirty="0" err="1"/>
              <a:t>var</a:t>
            </a:r>
            <a:r>
              <a:rPr lang="es-ES" dirty="0"/>
              <a:t> para inferencia de tipos locales.</a:t>
            </a:r>
          </a:p>
          <a:p>
            <a:pPr lvl="1"/>
            <a:r>
              <a:rPr lang="es-ES" dirty="0"/>
              <a:t>JVM container-</a:t>
            </a:r>
            <a:r>
              <a:rPr lang="es-ES" dirty="0" err="1"/>
              <a:t>aware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88569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41CDC-1371-A051-059F-0BE1B2A9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9 – JPMS / Proyecto </a:t>
            </a:r>
            <a:r>
              <a:rPr lang="es-ES" dirty="0" err="1"/>
              <a:t>Jigsaw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1213BD-4467-1DAB-D476-8D22B3DFC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360153" cy="1599168"/>
          </a:xfrm>
        </p:spPr>
        <p:txBody>
          <a:bodyPr/>
          <a:lstStyle/>
          <a:p>
            <a:r>
              <a:rPr lang="es-ES" dirty="0"/>
              <a:t>Sistema de módulos en Java.</a:t>
            </a:r>
          </a:p>
          <a:p>
            <a:r>
              <a:rPr lang="es-ES" dirty="0"/>
              <a:t>El JDK se dividió en ~90 módulos (</a:t>
            </a:r>
            <a:r>
              <a:rPr lang="es-ES" dirty="0" err="1"/>
              <a:t>java.base</a:t>
            </a:r>
            <a:r>
              <a:rPr lang="es-ES" dirty="0"/>
              <a:t>, </a:t>
            </a:r>
            <a:r>
              <a:rPr lang="es-ES" dirty="0" err="1"/>
              <a:t>java.sql</a:t>
            </a:r>
            <a:r>
              <a:rPr lang="es-ES" dirty="0"/>
              <a:t>, …).</a:t>
            </a:r>
          </a:p>
          <a:p>
            <a:r>
              <a:rPr lang="es-ES" dirty="0"/>
              <a:t>Cada app puede definir sus módulos → más control y seguridad.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A0DCD4-E2EA-8E63-81C7-5089EE1CFBE4}"/>
              </a:ext>
            </a:extLst>
          </p:cNvPr>
          <p:cNvSpPr txBox="1"/>
          <p:nvPr/>
        </p:nvSpPr>
        <p:spPr>
          <a:xfrm>
            <a:off x="612648" y="3629025"/>
            <a:ext cx="103458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mi.aplicacion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java.sql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exports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com.ejemplo.servicio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83630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71CDF-34C4-0AAC-43FE-470B03A99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9 – </a:t>
            </a:r>
            <a:r>
              <a:rPr lang="es-ES" dirty="0" err="1"/>
              <a:t>jlink</a:t>
            </a:r>
            <a:r>
              <a:rPr lang="es-ES" dirty="0"/>
              <a:t>, colecciones inmutables y </a:t>
            </a:r>
            <a:r>
              <a:rPr lang="es-ES" dirty="0" err="1"/>
              <a:t>JShell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C218F5-1DD4-A6FB-8C61-6515302B1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653578" cy="684768"/>
          </a:xfrm>
        </p:spPr>
        <p:txBody>
          <a:bodyPr/>
          <a:lstStyle/>
          <a:p>
            <a:r>
              <a:rPr lang="es-ES" dirty="0" err="1"/>
              <a:t>Jlink</a:t>
            </a:r>
            <a:r>
              <a:rPr lang="es-ES" dirty="0"/>
              <a:t> : Crea un </a:t>
            </a:r>
            <a:r>
              <a:rPr lang="es-ES" dirty="0" err="1"/>
              <a:t>runtime</a:t>
            </a:r>
            <a:r>
              <a:rPr lang="es-ES" dirty="0"/>
              <a:t> mínimo con solo los módulos necesarios.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E575F4-C542-F636-56F5-6B56E46F60D4}"/>
              </a:ext>
            </a:extLst>
          </p:cNvPr>
          <p:cNvSpPr txBox="1"/>
          <p:nvPr/>
        </p:nvSpPr>
        <p:spPr>
          <a:xfrm>
            <a:off x="785811" y="2541865"/>
            <a:ext cx="10653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jlink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-modules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java.base,java.sql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--output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miRuntime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43E4B3-0AE1-569A-0868-47D581B56A4A}"/>
              </a:ext>
            </a:extLst>
          </p:cNvPr>
          <p:cNvSpPr txBox="1"/>
          <p:nvPr/>
        </p:nvSpPr>
        <p:spPr>
          <a:xfrm>
            <a:off x="785812" y="3838336"/>
            <a:ext cx="1020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&gt; colores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List.of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rojo","verde","azul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3CE0233-AB38-6393-80DE-906AB6A8E655}"/>
              </a:ext>
            </a:extLst>
          </p:cNvPr>
          <p:cNvSpPr txBox="1">
            <a:spLocks/>
          </p:cNvSpPr>
          <p:nvPr/>
        </p:nvSpPr>
        <p:spPr>
          <a:xfrm>
            <a:off x="612648" y="3097331"/>
            <a:ext cx="10653578" cy="684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Colecciones inmutables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4F2C9F9-A3BD-CB9E-4BD6-11B7D6BABAAF}"/>
              </a:ext>
            </a:extLst>
          </p:cNvPr>
          <p:cNvSpPr txBox="1">
            <a:spLocks/>
          </p:cNvSpPr>
          <p:nvPr/>
        </p:nvSpPr>
        <p:spPr>
          <a:xfrm>
            <a:off x="559660" y="4578468"/>
            <a:ext cx="10653578" cy="684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JShell</a:t>
            </a:r>
            <a:r>
              <a:rPr lang="es-ES" dirty="0"/>
              <a:t> (REPL) : </a:t>
            </a:r>
            <a:r>
              <a:rPr lang="pt-BR" dirty="0"/>
              <a:t>consola </a:t>
            </a:r>
            <a:r>
              <a:rPr lang="pt-BR" dirty="0" err="1"/>
              <a:t>interactiva</a:t>
            </a:r>
            <a:r>
              <a:rPr lang="pt-BR" dirty="0"/>
              <a:t> para </a:t>
            </a:r>
            <a:r>
              <a:rPr lang="pt-BR" dirty="0" err="1"/>
              <a:t>probar</a:t>
            </a:r>
            <a:r>
              <a:rPr lang="pt-BR" dirty="0"/>
              <a:t> código Java.</a:t>
            </a:r>
            <a:r>
              <a:rPr lang="es-ES" dirty="0"/>
              <a:t> 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FD25D70-3E6B-ED11-0784-A15A33AE3BAE}"/>
              </a:ext>
            </a:extLst>
          </p:cNvPr>
          <p:cNvSpPr txBox="1"/>
          <p:nvPr/>
        </p:nvSpPr>
        <p:spPr>
          <a:xfrm>
            <a:off x="785811" y="5413274"/>
            <a:ext cx="10201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jshell&gt; int x = 5; x+3</a:t>
            </a:r>
          </a:p>
          <a:p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$1 ==&gt; 8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7233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E85F0-EB8A-17E2-E80F-A52B98CE8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Java 9 – API HTTP/2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69986F-4D7A-16D7-3CE7-E30E96313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1713468"/>
          </a:xfrm>
        </p:spPr>
        <p:txBody>
          <a:bodyPr/>
          <a:lstStyle/>
          <a:p>
            <a:r>
              <a:rPr lang="es-ES" dirty="0"/>
              <a:t>Sustituye a </a:t>
            </a:r>
            <a:r>
              <a:rPr lang="es-ES" dirty="0" err="1"/>
              <a:t>HttpURLConnection</a:t>
            </a:r>
            <a:r>
              <a:rPr lang="es-ES" dirty="0"/>
              <a:t> (Java 1.1).</a:t>
            </a:r>
          </a:p>
          <a:p>
            <a:r>
              <a:rPr lang="es-ES" dirty="0"/>
              <a:t>Incluida como incubadora (</a:t>
            </a:r>
            <a:r>
              <a:rPr lang="es-ES" dirty="0" err="1"/>
              <a:t>jdk.incubator.http</a:t>
            </a:r>
            <a:r>
              <a:rPr lang="es-ES" dirty="0"/>
              <a:t>).</a:t>
            </a:r>
          </a:p>
          <a:p>
            <a:r>
              <a:rPr lang="es-ES" dirty="0"/>
              <a:t>Soporta HTTP/1.1 y HTTP/2, asincronía con </a:t>
            </a:r>
            <a:r>
              <a:rPr lang="es-ES" dirty="0" err="1"/>
              <a:t>CompletableFuture</a:t>
            </a:r>
            <a:r>
              <a:rPr lang="es-ES"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4CB8775-4EC6-034E-A797-DB7DDD400EE0}"/>
              </a:ext>
            </a:extLst>
          </p:cNvPr>
          <p:cNvSpPr txBox="1"/>
          <p:nvPr/>
        </p:nvSpPr>
        <p:spPr>
          <a:xfrm>
            <a:off x="771525" y="3557588"/>
            <a:ext cx="104947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HttpClient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HttpClient.newHttpClient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HttpRequest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HttpRequest.newBuilder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URI.create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("https://example.com"))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HttpResponse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&gt; res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client.send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HttpResponse.BodyHandlers.ofString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14446026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09520A-EF26-FD0E-ABD2-6FB9A239C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9 – Fin de los Applets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C70AE2-3A58-D843-4E58-7338B0F68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Applets = pequeños programas Java en navegadores (años 90–2000).</a:t>
            </a:r>
          </a:p>
          <a:p>
            <a:r>
              <a:rPr lang="es-ES" dirty="0"/>
              <a:t>Requerían plugin → problemas de seguridad y compatibilidad.</a:t>
            </a:r>
          </a:p>
          <a:p>
            <a:r>
              <a:rPr lang="es-ES" dirty="0"/>
              <a:t>En Java 9 quedaron </a:t>
            </a:r>
            <a:r>
              <a:rPr lang="es-ES" dirty="0" err="1"/>
              <a:t>deprecated</a:t>
            </a:r>
            <a:r>
              <a:rPr lang="es-ES" dirty="0"/>
              <a:t> oficialmente y eliminados completamente en java 11</a:t>
            </a:r>
          </a:p>
        </p:txBody>
      </p:sp>
    </p:spTree>
    <p:extLst>
      <p:ext uri="{BB962C8B-B14F-4D97-AF65-F5344CB8AC3E}">
        <p14:creationId xmlns:p14="http://schemas.microsoft.com/office/powerpoint/2010/main" val="14622717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55D89-184F-EF74-58AF-B59BD21F6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10 – </a:t>
            </a:r>
            <a:r>
              <a:rPr lang="es-ES" dirty="0" err="1"/>
              <a:t>var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20E3BE-5972-5D49-EBA9-B255B32AF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017253" cy="1884918"/>
          </a:xfrm>
        </p:spPr>
        <p:txBody>
          <a:bodyPr/>
          <a:lstStyle/>
          <a:p>
            <a:r>
              <a:rPr lang="es-ES" dirty="0"/>
              <a:t>El compilador deduce el tipo de la variable a partir del inicializador.</a:t>
            </a:r>
          </a:p>
          <a:p>
            <a:r>
              <a:rPr lang="es-ES" dirty="0"/>
              <a:t>Solo para variables locales, bucles, try-</a:t>
            </a:r>
            <a:r>
              <a:rPr lang="es-ES" dirty="0" err="1"/>
              <a:t>with</a:t>
            </a:r>
            <a:r>
              <a:rPr lang="es-ES" dirty="0"/>
              <a:t>-</a:t>
            </a:r>
            <a:r>
              <a:rPr lang="es-ES" dirty="0" err="1"/>
              <a:t>resources</a:t>
            </a:r>
            <a:r>
              <a:rPr lang="es-ES" dirty="0"/>
              <a:t>.</a:t>
            </a:r>
          </a:p>
          <a:p>
            <a:r>
              <a:rPr lang="es-ES" dirty="0"/>
              <a:t>Tipado sigue siendo estático.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89587C-55F5-DD4B-12D7-D15C9091F65B}"/>
              </a:ext>
            </a:extLst>
          </p:cNvPr>
          <p:cNvSpPr txBox="1"/>
          <p:nvPr/>
        </p:nvSpPr>
        <p:spPr>
          <a:xfrm>
            <a:off x="612648" y="3914775"/>
            <a:ext cx="10031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var n = 10;              // int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var s = "hola";          // String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var lista = new ArrayList&lt;String&gt;();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for (var x : List.of(1,2,3)) { ... }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6115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459B5-823F-187C-BA8F-5A1C4E74F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10 – JVM container-</a:t>
            </a:r>
            <a:r>
              <a:rPr lang="es-ES" dirty="0" err="1"/>
              <a:t>aware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CA8417-9A1E-E79D-B678-5DCF69166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JVM reconoce límites de CPU y memoria en contenedores (Docker/K8s).</a:t>
            </a:r>
          </a:p>
          <a:p>
            <a:r>
              <a:rPr lang="es-ES" dirty="0"/>
              <a:t>Ajusta </a:t>
            </a:r>
            <a:r>
              <a:rPr lang="es-ES" dirty="0" err="1"/>
              <a:t>heap</a:t>
            </a:r>
            <a:r>
              <a:rPr lang="es-ES" dirty="0"/>
              <a:t> y paralelismo automáticamente.</a:t>
            </a:r>
          </a:p>
          <a:p>
            <a:r>
              <a:rPr lang="es-ES" dirty="0"/>
              <a:t>Mejor integración con Docker/</a:t>
            </a:r>
            <a:r>
              <a:rPr lang="es-ES" dirty="0" err="1"/>
              <a:t>Kubernetes</a:t>
            </a:r>
            <a:r>
              <a:rPr lang="es-ES" dirty="0"/>
              <a:t> → </a:t>
            </a:r>
            <a:r>
              <a:rPr lang="es-ES" dirty="0" err="1"/>
              <a:t>heap</a:t>
            </a:r>
            <a:r>
              <a:rPr lang="es-ES" dirty="0"/>
              <a:t> y GC más predecibles.</a:t>
            </a:r>
          </a:p>
        </p:txBody>
      </p:sp>
    </p:spTree>
    <p:extLst>
      <p:ext uri="{BB962C8B-B14F-4D97-AF65-F5344CB8AC3E}">
        <p14:creationId xmlns:p14="http://schemas.microsoft.com/office/powerpoint/2010/main" val="38327985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6BF24-6614-019D-5CAC-46D16A30C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Nueva era de lanzamientos rápidos (Java 9 a Java 16) (II)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650412-6FF5-8454-408F-546AC7BF7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Java 11 (2018, LTS)</a:t>
            </a:r>
          </a:p>
          <a:p>
            <a:pPr lvl="1"/>
            <a:r>
              <a:rPr lang="es-ES" dirty="0"/>
              <a:t>API HTTP Client final.</a:t>
            </a:r>
          </a:p>
          <a:p>
            <a:pPr lvl="1"/>
            <a:r>
              <a:rPr lang="es-ES" dirty="0"/>
              <a:t>Eliminación </a:t>
            </a:r>
            <a:r>
              <a:rPr lang="es-ES" dirty="0" err="1"/>
              <a:t>Nashorn</a:t>
            </a:r>
            <a:r>
              <a:rPr lang="es-ES" dirty="0"/>
              <a:t>, </a:t>
            </a:r>
            <a:r>
              <a:rPr lang="es-ES" dirty="0" err="1"/>
              <a:t>JavaFX</a:t>
            </a:r>
            <a:r>
              <a:rPr lang="es-ES" dirty="0"/>
              <a:t>, Web </a:t>
            </a:r>
            <a:r>
              <a:rPr lang="es-ES" dirty="0" err="1"/>
              <a:t>Start</a:t>
            </a:r>
            <a:r>
              <a:rPr lang="es-ES" dirty="0"/>
              <a:t> y applets.</a:t>
            </a:r>
          </a:p>
          <a:p>
            <a:pPr lvl="1"/>
            <a:r>
              <a:rPr lang="es-ES" dirty="0" err="1"/>
              <a:t>var</a:t>
            </a:r>
            <a:r>
              <a:rPr lang="es-ES" dirty="0"/>
              <a:t> en lambdas, nuevos métodos en </a:t>
            </a:r>
            <a:r>
              <a:rPr lang="es-ES" dirty="0" err="1"/>
              <a:t>String</a:t>
            </a:r>
            <a:r>
              <a:rPr lang="es-ES" dirty="0"/>
              <a:t> y Files.</a:t>
            </a:r>
          </a:p>
          <a:p>
            <a:pPr lvl="1"/>
            <a:r>
              <a:rPr lang="es-ES" dirty="0"/>
              <a:t>Cambio de licenciamiento (Oracle JDK comercial).</a:t>
            </a:r>
          </a:p>
          <a:p>
            <a:r>
              <a:rPr lang="es-ES" dirty="0"/>
              <a:t>Java 12–13 (2019)</a:t>
            </a:r>
          </a:p>
          <a:p>
            <a:pPr lvl="1"/>
            <a:r>
              <a:rPr lang="en-US" dirty="0"/>
              <a:t>Switch Expressions (preview).</a:t>
            </a:r>
          </a:p>
          <a:p>
            <a:pPr lvl="1"/>
            <a:r>
              <a:rPr lang="en-US" dirty="0"/>
              <a:t>Shenandoah GC, Text Blocks (preview).</a:t>
            </a:r>
          </a:p>
          <a:p>
            <a:r>
              <a:rPr lang="es-ES" dirty="0"/>
              <a:t>Java 14 (2020)</a:t>
            </a:r>
          </a:p>
          <a:p>
            <a:pPr lvl="1"/>
            <a:r>
              <a:rPr lang="es-ES" dirty="0" err="1"/>
              <a:t>Records</a:t>
            </a:r>
            <a:r>
              <a:rPr lang="es-ES" dirty="0"/>
              <a:t> (</a:t>
            </a:r>
            <a:r>
              <a:rPr lang="es-ES" dirty="0" err="1"/>
              <a:t>preview</a:t>
            </a:r>
            <a:r>
              <a:rPr lang="es-ES" dirty="0"/>
              <a:t>).</a:t>
            </a:r>
          </a:p>
          <a:p>
            <a:pPr lvl="1"/>
            <a:r>
              <a:rPr lang="es-ES" dirty="0" err="1"/>
              <a:t>Pattern</a:t>
            </a:r>
            <a:r>
              <a:rPr lang="es-ES" dirty="0"/>
              <a:t> </a:t>
            </a:r>
            <a:r>
              <a:rPr lang="es-ES" dirty="0" err="1"/>
              <a:t>Matching</a:t>
            </a:r>
            <a:r>
              <a:rPr lang="es-ES" dirty="0"/>
              <a:t> </a:t>
            </a:r>
            <a:r>
              <a:rPr lang="es-ES" dirty="0" err="1"/>
              <a:t>instanceof</a:t>
            </a:r>
            <a:r>
              <a:rPr lang="es-ES" dirty="0"/>
              <a:t> (</a:t>
            </a:r>
            <a:r>
              <a:rPr lang="es-ES" dirty="0" err="1"/>
              <a:t>preview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Switch </a:t>
            </a:r>
            <a:r>
              <a:rPr lang="es-ES" dirty="0" err="1"/>
              <a:t>Expressions</a:t>
            </a:r>
            <a:r>
              <a:rPr lang="es-ES" dirty="0"/>
              <a:t> finales.</a:t>
            </a:r>
          </a:p>
          <a:p>
            <a:pPr lvl="1"/>
            <a:r>
              <a:rPr lang="es-ES" dirty="0"/>
              <a:t>ZGC experimental, NPE más descriptivos.</a:t>
            </a:r>
          </a:p>
        </p:txBody>
      </p:sp>
    </p:spTree>
    <p:extLst>
      <p:ext uri="{BB962C8B-B14F-4D97-AF65-F5344CB8AC3E}">
        <p14:creationId xmlns:p14="http://schemas.microsoft.com/office/powerpoint/2010/main" val="32601030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B0F0D-B2DE-1F61-6360-9B2F5F548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Nueva API HTTP (estándar en Java 11)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DA83BF-0C0B-6BBC-3549-5FB9D1FB1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Java 9 apareció como incubador (</a:t>
            </a:r>
            <a:r>
              <a:rPr lang="es-ES" dirty="0" err="1"/>
              <a:t>jdk.incubator.http</a:t>
            </a:r>
            <a:r>
              <a:rPr lang="es-ES" dirty="0"/>
              <a:t>).</a:t>
            </a:r>
          </a:p>
          <a:p>
            <a:r>
              <a:rPr lang="es-ES" dirty="0"/>
              <a:t>En Java 11 se vuelve parte oficial: </a:t>
            </a:r>
            <a:r>
              <a:rPr lang="es-ES" dirty="0" err="1"/>
              <a:t>java.net.http</a:t>
            </a:r>
            <a:r>
              <a:rPr lang="es-ES" dirty="0"/>
              <a:t>.</a:t>
            </a:r>
          </a:p>
          <a:p>
            <a:r>
              <a:rPr lang="es-ES" dirty="0"/>
              <a:t>Soporta HTTP/1.1 y HTTP/2.</a:t>
            </a:r>
          </a:p>
          <a:p>
            <a:r>
              <a:rPr lang="es-ES" dirty="0"/>
              <a:t>API moderna, sencilla y fluida.</a:t>
            </a:r>
          </a:p>
          <a:p>
            <a:r>
              <a:rPr lang="es-ES" dirty="0"/>
              <a:t>Soporta llamadas asíncronas con </a:t>
            </a:r>
            <a:r>
              <a:rPr lang="es-ES" dirty="0" err="1"/>
              <a:t>CompletableFuture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51033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C40D16-9D58-735E-42F9-BE69E013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var</a:t>
            </a:r>
            <a:r>
              <a:rPr lang="es-ES" dirty="0"/>
              <a:t> en lambdas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CD0763-2B87-305A-D168-8EC4E37B4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788778" cy="1132258"/>
          </a:xfrm>
        </p:spPr>
        <p:txBody>
          <a:bodyPr/>
          <a:lstStyle/>
          <a:p>
            <a:r>
              <a:rPr lang="es-ES" dirty="0" err="1"/>
              <a:t>var</a:t>
            </a:r>
            <a:r>
              <a:rPr lang="es-ES" dirty="0"/>
              <a:t> ya existía en variables locales (Java 10).</a:t>
            </a:r>
          </a:p>
          <a:p>
            <a:r>
              <a:rPr lang="es-ES" dirty="0"/>
              <a:t>En Java 11 → también en parámetros de lambdas.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0B7843-E1BA-5D36-24D6-1DE7DAF70A2C}"/>
              </a:ext>
            </a:extLst>
          </p:cNvPr>
          <p:cNvSpPr txBox="1"/>
          <p:nvPr/>
        </p:nvSpPr>
        <p:spPr>
          <a:xfrm>
            <a:off x="612648" y="3286125"/>
            <a:ext cx="10817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().map((var s) -&gt;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s.toUpperCase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2623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32A87-C7C9-2F2A-FA51-5A3CE7CB7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Mejoras en </a:t>
            </a:r>
            <a:r>
              <a:rPr lang="es-ES" dirty="0" err="1"/>
              <a:t>string</a:t>
            </a:r>
            <a:r>
              <a:rPr lang="es-ES" dirty="0"/>
              <a:t> – java 12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016E00-81E2-46CC-FB49-9ED097905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1"/>
            <a:ext cx="3999694" cy="4779397"/>
          </a:xfrm>
        </p:spPr>
        <p:txBody>
          <a:bodyPr/>
          <a:lstStyle/>
          <a:p>
            <a:r>
              <a:rPr lang="es-ES" dirty="0" err="1"/>
              <a:t>String.indent</a:t>
            </a:r>
            <a:r>
              <a:rPr lang="es-ES" dirty="0"/>
              <a:t>(</a:t>
            </a:r>
            <a:r>
              <a:rPr lang="es-ES" dirty="0" err="1"/>
              <a:t>int</a:t>
            </a:r>
            <a:r>
              <a:rPr lang="es-ES" dirty="0"/>
              <a:t> n)</a:t>
            </a:r>
          </a:p>
          <a:p>
            <a:pPr lvl="1"/>
            <a:r>
              <a:rPr lang="es-ES" dirty="0" err="1"/>
              <a:t>String.indent</a:t>
            </a:r>
            <a:r>
              <a:rPr lang="es-ES" dirty="0"/>
              <a:t>(</a:t>
            </a:r>
            <a:r>
              <a:rPr lang="es-ES" dirty="0" err="1"/>
              <a:t>int</a:t>
            </a:r>
            <a:r>
              <a:rPr lang="es-ES" dirty="0"/>
              <a:t> n)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r>
              <a:rPr lang="es-ES" dirty="0" err="1"/>
              <a:t>String.transform</a:t>
            </a:r>
            <a:r>
              <a:rPr lang="es-ES" dirty="0"/>
              <a:t>(</a:t>
            </a:r>
            <a:r>
              <a:rPr lang="es-ES" dirty="0" err="1"/>
              <a:t>Function</a:t>
            </a:r>
            <a:r>
              <a:rPr lang="es-ES" dirty="0"/>
              <a:t>&lt;</a:t>
            </a:r>
            <a:r>
              <a:rPr lang="es-ES" dirty="0" err="1"/>
              <a:t>String</a:t>
            </a:r>
            <a:r>
              <a:rPr lang="es-ES" dirty="0"/>
              <a:t>, R&gt; f)</a:t>
            </a:r>
          </a:p>
          <a:p>
            <a:pPr lvl="1"/>
            <a:r>
              <a:rPr lang="es-ES" dirty="0"/>
              <a:t>Aplica una función al </a:t>
            </a:r>
            <a:r>
              <a:rPr lang="es-ES" dirty="0" err="1"/>
              <a:t>String</a:t>
            </a:r>
            <a:r>
              <a:rPr lang="es-ES" dirty="0"/>
              <a:t> y devuelve lo que produzca.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D8517DB-3089-CC9F-33C1-B8ECBD99A10B}"/>
              </a:ext>
            </a:extLst>
          </p:cNvPr>
          <p:cNvSpPr txBox="1"/>
          <p:nvPr/>
        </p:nvSpPr>
        <p:spPr>
          <a:xfrm>
            <a:off x="5889812" y="1680898"/>
            <a:ext cx="5042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texto = "Hola\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nMundo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texto.indent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(4));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E6D5C21-EAF8-B079-29BB-5252422D46FF}"/>
              </a:ext>
            </a:extLst>
          </p:cNvPr>
          <p:cNvSpPr txBox="1"/>
          <p:nvPr/>
        </p:nvSpPr>
        <p:spPr>
          <a:xfrm>
            <a:off x="5836024" y="4101373"/>
            <a:ext cx="50426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resultado = "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hola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.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(s -&gt;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s.toUpperCase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.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(s -&gt; "&gt;&gt; " + s + " &lt;&lt;");</a:t>
            </a:r>
          </a:p>
          <a:p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(resultado);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8364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3ADE0-6661-97AA-8670-D20EE9A61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Mejoras en manejo ficheros – java 12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43F659-2C30-57AC-7C72-DED23BC95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9916400" cy="2157221"/>
          </a:xfrm>
        </p:spPr>
        <p:txBody>
          <a:bodyPr/>
          <a:lstStyle/>
          <a:p>
            <a:r>
              <a:rPr lang="en-US" dirty="0" err="1"/>
              <a:t>Files.mismatch</a:t>
            </a:r>
            <a:r>
              <a:rPr lang="en-US" dirty="0"/>
              <a:t>(Path p1, Path p2)</a:t>
            </a:r>
          </a:p>
          <a:p>
            <a:pPr lvl="1"/>
            <a:r>
              <a:rPr lang="es-ES" dirty="0"/>
              <a:t>Compara dos ficheros byte a byte.</a:t>
            </a:r>
          </a:p>
          <a:p>
            <a:pPr lvl="1"/>
            <a:r>
              <a:rPr lang="es-ES" dirty="0"/>
              <a:t>Devuelve:</a:t>
            </a:r>
          </a:p>
          <a:p>
            <a:pPr lvl="2"/>
            <a:r>
              <a:rPr lang="es-ES" dirty="0"/>
              <a:t>-1 si son idénticos,</a:t>
            </a:r>
          </a:p>
          <a:p>
            <a:pPr lvl="2"/>
            <a:r>
              <a:rPr lang="es-ES" dirty="0"/>
              <a:t>El índice del primer byte diferente si no lo son.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D6FE1C-5213-5D8D-129C-EE286D1A423A}"/>
              </a:ext>
            </a:extLst>
          </p:cNvPr>
          <p:cNvSpPr txBox="1"/>
          <p:nvPr/>
        </p:nvSpPr>
        <p:spPr>
          <a:xfrm>
            <a:off x="612648" y="4128247"/>
            <a:ext cx="99836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Files.mismatch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Path.of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("a.txt"),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Path.of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("b.txt"));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== -1) 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("Son iguales");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("Difieren en el byte " +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738014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B7900-92AE-5646-D52F-B4F2E8253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12 – Switch Expressions (preview)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860788-29F1-C3DC-2E0F-48CDEC1DD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653578" cy="1132258"/>
          </a:xfrm>
        </p:spPr>
        <p:txBody>
          <a:bodyPr/>
          <a:lstStyle/>
          <a:p>
            <a:r>
              <a:rPr lang="es-ES" dirty="0"/>
              <a:t>Con Java 12 switch también puede devolver valores.</a:t>
            </a:r>
          </a:p>
          <a:p>
            <a:r>
              <a:rPr lang="es-ES" dirty="0"/>
              <a:t>Sintaxis compacta con -&gt;.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798967F-22FA-666A-1DF7-E7E3EDB75E1C}"/>
              </a:ext>
            </a:extLst>
          </p:cNvPr>
          <p:cNvSpPr txBox="1"/>
          <p:nvPr/>
        </p:nvSpPr>
        <p:spPr>
          <a:xfrm>
            <a:off x="612648" y="3429000"/>
            <a:ext cx="106535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3;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nombre = switch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case 1 -&gt; "Lunes";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case 2 -&gt; "Martes";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case 3 -&gt; "Miércoles";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default -&gt; "Otro";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842484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DD64E-BAD8-ADBA-8B33-E598531A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12 – </a:t>
            </a:r>
            <a:r>
              <a:rPr lang="pt-BR" dirty="0" err="1"/>
              <a:t>Shenandoah</a:t>
            </a:r>
            <a:r>
              <a:rPr lang="pt-BR" dirty="0"/>
              <a:t> GC (experimental)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A70906-0753-7AC8-F00F-322566133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Recolector de basura de baja latencia (</a:t>
            </a:r>
            <a:r>
              <a:rPr lang="es-ES" dirty="0" err="1"/>
              <a:t>RedHat</a:t>
            </a:r>
            <a:r>
              <a:rPr lang="es-ES" dirty="0"/>
              <a:t>).</a:t>
            </a:r>
          </a:p>
          <a:p>
            <a:r>
              <a:rPr lang="es-ES" dirty="0"/>
              <a:t>Minimiza las pausas del GC, incluso en </a:t>
            </a:r>
            <a:r>
              <a:rPr lang="es-ES" dirty="0" err="1"/>
              <a:t>heaps</a:t>
            </a:r>
            <a:r>
              <a:rPr lang="es-ES" dirty="0"/>
              <a:t> grandes.</a:t>
            </a:r>
          </a:p>
          <a:p>
            <a:r>
              <a:rPr lang="es-ES" dirty="0" err="1"/>
              <a:t>Compacción</a:t>
            </a:r>
            <a:r>
              <a:rPr lang="es-ES" dirty="0"/>
              <a:t> concurrente (a diferencia de G1/ZGC).</a:t>
            </a:r>
          </a:p>
          <a:p>
            <a:r>
              <a:rPr lang="es-ES" dirty="0"/>
              <a:t>Ideal para sistemas de tiempo real o finanzas.</a:t>
            </a:r>
          </a:p>
        </p:txBody>
      </p:sp>
    </p:spTree>
    <p:extLst>
      <p:ext uri="{BB962C8B-B14F-4D97-AF65-F5344CB8AC3E}">
        <p14:creationId xmlns:p14="http://schemas.microsoft.com/office/powerpoint/2010/main" val="1035973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B5741-FAD1-58AE-92ED-55F210E42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13 – Text Blocks (preview)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8BA591-D38C-C281-ADEE-E6A2A3213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202991" cy="656193"/>
          </a:xfrm>
        </p:spPr>
        <p:txBody>
          <a:bodyPr/>
          <a:lstStyle/>
          <a:p>
            <a:r>
              <a:rPr lang="es-ES" dirty="0"/>
              <a:t>Text Blocks con """ → cadenas multilínea limpias.</a:t>
            </a:r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AAB7E06-FA41-20E3-4213-4DC31A214A00}"/>
              </a:ext>
            </a:extLst>
          </p:cNvPr>
          <p:cNvSpPr txBox="1"/>
          <p:nvPr/>
        </p:nvSpPr>
        <p:spPr>
          <a:xfrm>
            <a:off x="612648" y="2757488"/>
            <a:ext cx="102601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"""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"nombre": "Ana",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"edad": 30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""";</a:t>
            </a:r>
          </a:p>
        </p:txBody>
      </p:sp>
    </p:spTree>
    <p:extLst>
      <p:ext uri="{BB962C8B-B14F-4D97-AF65-F5344CB8AC3E}">
        <p14:creationId xmlns:p14="http://schemas.microsoft.com/office/powerpoint/2010/main" val="37622926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B32DF-777D-2C20-9286-D7BFFD689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14/16 – Pattern Matching con </a:t>
            </a:r>
            <a:r>
              <a:rPr lang="en-US" dirty="0" err="1"/>
              <a:t>instanceof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E618F3-72AE-DACA-F2F5-B9968E102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508071" cy="691492"/>
          </a:xfrm>
        </p:spPr>
        <p:txBody>
          <a:bodyPr/>
          <a:lstStyle/>
          <a:p>
            <a:r>
              <a:rPr lang="es-ES" dirty="0"/>
              <a:t>Antes: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3800BD1-F328-565C-B109-84B3B4A38FD0}"/>
              </a:ext>
            </a:extLst>
          </p:cNvPr>
          <p:cNvSpPr txBox="1"/>
          <p:nvPr/>
        </p:nvSpPr>
        <p:spPr>
          <a:xfrm>
            <a:off x="612648" y="2662518"/>
            <a:ext cx="104273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s =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;   //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manual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s.toUpperCase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812E22-E65E-2829-680D-ADCBD442B3D4}"/>
              </a:ext>
            </a:extLst>
          </p:cNvPr>
          <p:cNvSpPr txBox="1"/>
          <p:nvPr/>
        </p:nvSpPr>
        <p:spPr>
          <a:xfrm>
            <a:off x="612647" y="5575125"/>
            <a:ext cx="10653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s)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s.toUpperCase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D58B9FC-50FF-C3BD-5FA9-20A07408912E}"/>
              </a:ext>
            </a:extLst>
          </p:cNvPr>
          <p:cNvSpPr txBox="1">
            <a:spLocks/>
          </p:cNvSpPr>
          <p:nvPr/>
        </p:nvSpPr>
        <p:spPr>
          <a:xfrm>
            <a:off x="531964" y="4503253"/>
            <a:ext cx="10508071" cy="69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Ahora: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36545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6BE82-B97B-0B24-C28E-0B36E76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Records</a:t>
            </a:r>
            <a:r>
              <a:rPr lang="es-ES" dirty="0"/>
              <a:t> (</a:t>
            </a:r>
            <a:r>
              <a:rPr lang="es-ES" dirty="0" err="1"/>
              <a:t>preview</a:t>
            </a:r>
            <a:r>
              <a:rPr lang="es-ES" dirty="0"/>
              <a:t> en Java 14, estándar en 16)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065832-C42A-6C60-CC40-617FC8DFC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431591" cy="1442006"/>
          </a:xfrm>
        </p:spPr>
        <p:txBody>
          <a:bodyPr/>
          <a:lstStyle/>
          <a:p>
            <a:r>
              <a:rPr lang="es-ES" dirty="0"/>
              <a:t>Crear clases "data </a:t>
            </a:r>
            <a:r>
              <a:rPr lang="es-ES" dirty="0" err="1"/>
              <a:t>carrier</a:t>
            </a:r>
            <a:r>
              <a:rPr lang="es-ES" dirty="0"/>
              <a:t>" (solo datos) implicaba mucho </a:t>
            </a:r>
            <a:r>
              <a:rPr lang="es-ES" dirty="0" err="1"/>
              <a:t>boilerplate</a:t>
            </a:r>
            <a:r>
              <a:rPr lang="es-ES" dirty="0"/>
              <a:t> (constructores, </a:t>
            </a:r>
            <a:r>
              <a:rPr lang="es-ES" dirty="0" err="1"/>
              <a:t>getters</a:t>
            </a:r>
            <a:r>
              <a:rPr lang="es-ES" dirty="0"/>
              <a:t>, </a:t>
            </a:r>
            <a:r>
              <a:rPr lang="es-ES" dirty="0" err="1"/>
              <a:t>equals</a:t>
            </a:r>
            <a:r>
              <a:rPr lang="es-ES" dirty="0"/>
              <a:t>, </a:t>
            </a:r>
            <a:r>
              <a:rPr lang="es-ES" dirty="0" err="1"/>
              <a:t>hashCode</a:t>
            </a:r>
            <a:r>
              <a:rPr lang="es-ES" dirty="0"/>
              <a:t>, </a:t>
            </a:r>
            <a:r>
              <a:rPr lang="es-ES" dirty="0" err="1"/>
              <a:t>toString</a:t>
            </a:r>
            <a:r>
              <a:rPr lang="es-ES" dirty="0"/>
              <a:t>).</a:t>
            </a:r>
          </a:p>
          <a:p>
            <a:r>
              <a:rPr lang="es-ES" dirty="0"/>
              <a:t>Con </a:t>
            </a:r>
            <a:r>
              <a:rPr lang="es-ES" dirty="0" err="1"/>
              <a:t>record</a:t>
            </a:r>
            <a:r>
              <a:rPr lang="es-ES" dirty="0"/>
              <a:t> → definición compacta e inmutable.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7EB07E-0727-D228-2487-A4536130FC19}"/>
              </a:ext>
            </a:extLst>
          </p:cNvPr>
          <p:cNvSpPr txBox="1"/>
          <p:nvPr/>
        </p:nvSpPr>
        <p:spPr>
          <a:xfrm>
            <a:off x="612648" y="3429000"/>
            <a:ext cx="104173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record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Persona(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nombre,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edad) {}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Persona p = new Persona("Ana", 30);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p.nombre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()); // Ana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(p); // Persona[nombre=Ana, edad=30]</a:t>
            </a:r>
          </a:p>
        </p:txBody>
      </p:sp>
    </p:spTree>
    <p:extLst>
      <p:ext uri="{BB962C8B-B14F-4D97-AF65-F5344CB8AC3E}">
        <p14:creationId xmlns:p14="http://schemas.microsoft.com/office/powerpoint/2010/main" val="35021114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CFB6E-AB6E-BE6C-8834-DBA8CE24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Sealed</a:t>
            </a:r>
            <a:r>
              <a:rPr lang="es-ES" dirty="0"/>
              <a:t> </a:t>
            </a:r>
            <a:r>
              <a:rPr lang="es-ES" dirty="0" err="1"/>
              <a:t>Classes</a:t>
            </a:r>
            <a:r>
              <a:rPr lang="es-ES" dirty="0"/>
              <a:t> (</a:t>
            </a:r>
            <a:r>
              <a:rPr lang="es-ES" dirty="0" err="1"/>
              <a:t>preview</a:t>
            </a:r>
            <a:r>
              <a:rPr lang="es-ES" dirty="0"/>
              <a:t> en Java 15, estándar en 17)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02F038-76D3-5835-844A-A4F63B094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1370568"/>
          </a:xfrm>
        </p:spPr>
        <p:txBody>
          <a:bodyPr/>
          <a:lstStyle/>
          <a:p>
            <a:r>
              <a:rPr lang="es-ES" dirty="0"/>
              <a:t>Permiten restringir qué clases pueden heredar de una clase o implementar una interfaz.</a:t>
            </a:r>
          </a:p>
          <a:p>
            <a:r>
              <a:rPr lang="es-ES" dirty="0"/>
              <a:t>Útil para modelar jerarquías cerradas.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041CE5-B155-AFB8-537C-CE35361DC145}"/>
              </a:ext>
            </a:extLst>
          </p:cNvPr>
          <p:cNvSpPr txBox="1"/>
          <p:nvPr/>
        </p:nvSpPr>
        <p:spPr>
          <a:xfrm>
            <a:off x="612648" y="3529013"/>
            <a:ext cx="106535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sealed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Forma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permits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Circulo,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Rectangulo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{}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final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Circulo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Forma {}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final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Rectangulo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Forma {}</a:t>
            </a:r>
          </a:p>
        </p:txBody>
      </p:sp>
    </p:spTree>
    <p:extLst>
      <p:ext uri="{BB962C8B-B14F-4D97-AF65-F5344CB8AC3E}">
        <p14:creationId xmlns:p14="http://schemas.microsoft.com/office/powerpoint/2010/main" val="1602994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24524-D11C-EB1B-37DC-386FB2A75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ZGC (Z Garbage Collector, Java 15 </a:t>
            </a:r>
            <a:r>
              <a:rPr lang="fr-FR" dirty="0" err="1"/>
              <a:t>estable</a:t>
            </a:r>
            <a:r>
              <a:rPr lang="fr-FR" dirty="0"/>
              <a:t>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6915C0-1ED1-B82D-BF2F-FB8DA3CF6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Recolector de basura diseñado para baja latencia y escalabilidad.</a:t>
            </a:r>
          </a:p>
          <a:p>
            <a:r>
              <a:rPr lang="es-ES" dirty="0"/>
              <a:t>Pausas del GC ≤ 10ms, incluso con </a:t>
            </a:r>
            <a:r>
              <a:rPr lang="es-ES" dirty="0" err="1"/>
              <a:t>heaps</a:t>
            </a:r>
            <a:r>
              <a:rPr lang="es-ES" dirty="0"/>
              <a:t> enormes (multi-TB).</a:t>
            </a:r>
          </a:p>
          <a:p>
            <a:r>
              <a:rPr lang="es-ES" dirty="0"/>
              <a:t>Todo el trabajo de recolección ocurre concurrentemente.</a:t>
            </a:r>
          </a:p>
        </p:txBody>
      </p:sp>
    </p:spTree>
    <p:extLst>
      <p:ext uri="{BB962C8B-B14F-4D97-AF65-F5344CB8AC3E}">
        <p14:creationId xmlns:p14="http://schemas.microsoft.com/office/powerpoint/2010/main" val="493742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3ACD5-4B00-FC3D-8E9E-3611A3C47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Nueva era de lanzamientos rápidos (Java 9 a Java 16) (III)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0990EE-A823-9C6F-565B-8815B0507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15 (2020)</a:t>
            </a:r>
          </a:p>
          <a:p>
            <a:pPr lvl="1"/>
            <a:r>
              <a:rPr lang="en-US" dirty="0"/>
              <a:t>Text Blocks finales.</a:t>
            </a:r>
          </a:p>
          <a:p>
            <a:pPr lvl="1"/>
            <a:r>
              <a:rPr lang="en-US" dirty="0" err="1"/>
              <a:t>Clases</a:t>
            </a:r>
            <a:r>
              <a:rPr lang="en-US" dirty="0"/>
              <a:t> </a:t>
            </a:r>
            <a:r>
              <a:rPr lang="en-US" dirty="0" err="1"/>
              <a:t>selladas</a:t>
            </a:r>
            <a:r>
              <a:rPr lang="en-US" dirty="0"/>
              <a:t> (preview).</a:t>
            </a:r>
          </a:p>
          <a:p>
            <a:pPr lvl="1"/>
            <a:r>
              <a:rPr lang="en-US" dirty="0"/>
              <a:t>Foreign Memory API (</a:t>
            </a:r>
            <a:r>
              <a:rPr lang="en-US" dirty="0" err="1"/>
              <a:t>incubador</a:t>
            </a:r>
            <a:r>
              <a:rPr lang="en-US" dirty="0"/>
              <a:t>).</a:t>
            </a:r>
          </a:p>
          <a:p>
            <a:r>
              <a:rPr lang="es-ES" dirty="0"/>
              <a:t>Java 16 (2021)</a:t>
            </a:r>
          </a:p>
          <a:p>
            <a:pPr lvl="1"/>
            <a:r>
              <a:rPr lang="es-ES" dirty="0" err="1"/>
              <a:t>Records</a:t>
            </a:r>
            <a:r>
              <a:rPr lang="es-ES" dirty="0"/>
              <a:t> y </a:t>
            </a:r>
            <a:r>
              <a:rPr lang="es-ES" dirty="0" err="1"/>
              <a:t>Pattern</a:t>
            </a:r>
            <a:r>
              <a:rPr lang="es-ES" dirty="0"/>
              <a:t> </a:t>
            </a:r>
            <a:r>
              <a:rPr lang="es-ES" dirty="0" err="1"/>
              <a:t>Matching</a:t>
            </a:r>
            <a:r>
              <a:rPr lang="es-ES" dirty="0"/>
              <a:t> finales.</a:t>
            </a:r>
          </a:p>
          <a:p>
            <a:pPr lvl="1"/>
            <a:r>
              <a:rPr lang="es-ES" dirty="0" err="1"/>
              <a:t>Stream.toList</a:t>
            </a:r>
            <a:r>
              <a:rPr lang="es-ES" dirty="0"/>
              <a:t>().</a:t>
            </a:r>
          </a:p>
          <a:p>
            <a:pPr lvl="1"/>
            <a:r>
              <a:rPr lang="es-ES" dirty="0"/>
              <a:t>Vector API (incubador).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471063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4DAB62-C74C-9AE1-B9FC-1320F9FED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Stream.toList</a:t>
            </a:r>
            <a:r>
              <a:rPr lang="es-ES" dirty="0"/>
              <a:t>()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F2AEE1-489B-96B9-B8C4-2E8BB4B2A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317291" cy="741918"/>
          </a:xfrm>
        </p:spPr>
        <p:txBody>
          <a:bodyPr/>
          <a:lstStyle/>
          <a:p>
            <a:r>
              <a:rPr lang="es-ES" dirty="0"/>
              <a:t>Antes:</a:t>
            </a:r>
          </a:p>
          <a:p>
            <a:pPr marL="228600" lvl="1" indent="0">
              <a:buNone/>
            </a:pP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09DD4CA-9A36-53C9-FED3-7A3A48410199}"/>
              </a:ext>
            </a:extLst>
          </p:cNvPr>
          <p:cNvSpPr txBox="1"/>
          <p:nvPr/>
        </p:nvSpPr>
        <p:spPr>
          <a:xfrm>
            <a:off x="612648" y="2728913"/>
            <a:ext cx="10374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List&lt;String&gt;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stream.collect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Collectors.toList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FF62AD86-1703-82F8-FB40-DA67FC85FE62}"/>
              </a:ext>
            </a:extLst>
          </p:cNvPr>
          <p:cNvSpPr txBox="1">
            <a:spLocks/>
          </p:cNvSpPr>
          <p:nvPr/>
        </p:nvSpPr>
        <p:spPr>
          <a:xfrm>
            <a:off x="612646" y="3658633"/>
            <a:ext cx="10317291" cy="74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Con Java 16:</a:t>
            </a:r>
          </a:p>
          <a:p>
            <a:pPr marL="228600" lvl="1" indent="0">
              <a:buFont typeface="Arial" panose="020B0604020202020204" pitchFamily="34" charset="0"/>
              <a:buNone/>
            </a:pP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2AED4D4-41B2-9EC8-E649-7FE0E6A54359}"/>
              </a:ext>
            </a:extLst>
          </p:cNvPr>
          <p:cNvSpPr txBox="1"/>
          <p:nvPr/>
        </p:nvSpPr>
        <p:spPr>
          <a:xfrm>
            <a:off x="689565" y="4400551"/>
            <a:ext cx="104997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&gt; pares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List.of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(1,2,3,4,5).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(n -&gt; n % 2 == 0)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toList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(pares); // [2, 4]</a:t>
            </a:r>
          </a:p>
        </p:txBody>
      </p:sp>
    </p:spTree>
    <p:extLst>
      <p:ext uri="{BB962C8B-B14F-4D97-AF65-F5344CB8AC3E}">
        <p14:creationId xmlns:p14="http://schemas.microsoft.com/office/powerpoint/2010/main" val="21984307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51A16-FE9A-64DE-F620-8E9E7EEAC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Herramientas y ejecución en la plataforma Java(I)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EF05A4-3E09-61E1-42E5-A6954F662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JVM – Java Virtual Machine</a:t>
            </a:r>
          </a:p>
          <a:p>
            <a:pPr lvl="1"/>
            <a:r>
              <a:rPr lang="es-ES" dirty="0"/>
              <a:t>Motor que ejecuta </a:t>
            </a:r>
            <a:r>
              <a:rPr lang="es-ES" dirty="0" err="1"/>
              <a:t>bytecode</a:t>
            </a:r>
            <a:r>
              <a:rPr lang="es-ES" dirty="0"/>
              <a:t> en cualquier SO.</a:t>
            </a:r>
          </a:p>
          <a:p>
            <a:pPr lvl="1"/>
            <a:r>
              <a:rPr lang="es-ES" dirty="0" err="1"/>
              <a:t>HotSpot</a:t>
            </a:r>
            <a:r>
              <a:rPr lang="es-ES" dirty="0"/>
              <a:t> (desde JDK 1.3): compilación JIT adaptativa, GC generacional, soporte SIMD/cripto.</a:t>
            </a:r>
          </a:p>
          <a:p>
            <a:pPr lvl="1"/>
            <a:r>
              <a:rPr lang="es-ES" dirty="0" err="1"/>
              <a:t>GCs</a:t>
            </a:r>
            <a:r>
              <a:rPr lang="es-ES" dirty="0"/>
              <a:t>: CMS, G1, ZGC, Shenandoah.</a:t>
            </a:r>
          </a:p>
          <a:p>
            <a:pPr lvl="1"/>
            <a:r>
              <a:rPr lang="es-ES" dirty="0"/>
              <a:t>Modularidad desde Java 9 (</a:t>
            </a:r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loaders</a:t>
            </a:r>
            <a:r>
              <a:rPr lang="es-ES" dirty="0"/>
              <a:t> modulares).</a:t>
            </a:r>
          </a:p>
          <a:p>
            <a:r>
              <a:rPr lang="es-ES" dirty="0"/>
              <a:t>JDK – Java </a:t>
            </a:r>
            <a:r>
              <a:rPr lang="es-ES" dirty="0" err="1"/>
              <a:t>Development</a:t>
            </a:r>
            <a:r>
              <a:rPr lang="es-ES" dirty="0"/>
              <a:t> Kit</a:t>
            </a:r>
          </a:p>
          <a:p>
            <a:pPr lvl="1"/>
            <a:r>
              <a:rPr lang="es-ES" dirty="0"/>
              <a:t>Incluye compilador </a:t>
            </a:r>
            <a:r>
              <a:rPr lang="es-ES" dirty="0" err="1"/>
              <a:t>javac</a:t>
            </a:r>
            <a:r>
              <a:rPr lang="es-ES" dirty="0"/>
              <a:t>, ejecutor java, </a:t>
            </a:r>
            <a:r>
              <a:rPr lang="es-ES" dirty="0" err="1"/>
              <a:t>javadoc</a:t>
            </a:r>
            <a:r>
              <a:rPr lang="es-ES" dirty="0"/>
              <a:t>, </a:t>
            </a:r>
            <a:r>
              <a:rPr lang="es-ES" dirty="0" err="1"/>
              <a:t>jdb</a:t>
            </a:r>
            <a:r>
              <a:rPr lang="es-ES" dirty="0"/>
              <a:t>, </a:t>
            </a:r>
            <a:r>
              <a:rPr lang="es-ES" dirty="0" err="1"/>
              <a:t>jar</a:t>
            </a:r>
            <a:r>
              <a:rPr lang="es-ES" dirty="0"/>
              <a:t>, etc.</a:t>
            </a:r>
          </a:p>
          <a:p>
            <a:pPr lvl="1"/>
            <a:r>
              <a:rPr lang="es-ES" dirty="0"/>
              <a:t>Contiene biblioteca estándar Java SE.</a:t>
            </a:r>
          </a:p>
          <a:p>
            <a:pPr lvl="1"/>
            <a:r>
              <a:rPr lang="es-ES" dirty="0"/>
              <a:t>Desde 2007, basado en </a:t>
            </a:r>
            <a:r>
              <a:rPr lang="es-ES" dirty="0" err="1"/>
              <a:t>OpenJDK</a:t>
            </a:r>
            <a:r>
              <a:rPr lang="es-ES" dirty="0"/>
              <a:t> (GPL).</a:t>
            </a:r>
          </a:p>
          <a:p>
            <a:pPr lvl="1"/>
            <a:r>
              <a:rPr lang="es-ES" dirty="0"/>
              <a:t>Distribuciones: Oracle, </a:t>
            </a:r>
            <a:r>
              <a:rPr lang="es-ES" dirty="0" err="1"/>
              <a:t>Temurin</a:t>
            </a:r>
            <a:r>
              <a:rPr lang="es-ES" dirty="0"/>
              <a:t>, </a:t>
            </a:r>
            <a:r>
              <a:rPr lang="es-ES" dirty="0" err="1"/>
              <a:t>Corretto</a:t>
            </a:r>
            <a:r>
              <a:rPr lang="es-ES" dirty="0"/>
              <a:t>, Red </a:t>
            </a:r>
            <a:r>
              <a:rPr lang="es-ES" dirty="0" err="1"/>
              <a:t>Hat</a:t>
            </a:r>
            <a:r>
              <a:rPr lang="es-ES" dirty="0"/>
              <a:t>, etc.</a:t>
            </a:r>
          </a:p>
          <a:p>
            <a:pPr lvl="1"/>
            <a:r>
              <a:rPr lang="es-ES" dirty="0" err="1"/>
              <a:t>jlink</a:t>
            </a:r>
            <a:r>
              <a:rPr lang="es-ES" dirty="0"/>
              <a:t> (Java 9+): crear </a:t>
            </a:r>
            <a:r>
              <a:rPr lang="es-ES" dirty="0" err="1"/>
              <a:t>runtimes</a:t>
            </a:r>
            <a:r>
              <a:rPr lang="es-ES" dirty="0"/>
              <a:t> ligeros con módulos necesarios.</a:t>
            </a:r>
          </a:p>
        </p:txBody>
      </p:sp>
    </p:spTree>
    <p:extLst>
      <p:ext uri="{BB962C8B-B14F-4D97-AF65-F5344CB8AC3E}">
        <p14:creationId xmlns:p14="http://schemas.microsoft.com/office/powerpoint/2010/main" val="34248654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5E3EF-164C-72A0-C643-13DB56B84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Herramientas y ejecución en la plataforma Java(II)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24A272-2CB2-783B-B2A7-CBFA2A693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JRE – Java </a:t>
            </a:r>
            <a:r>
              <a:rPr lang="es-ES" dirty="0" err="1"/>
              <a:t>Runtime</a:t>
            </a:r>
            <a:r>
              <a:rPr lang="es-ES" dirty="0"/>
              <a:t> </a:t>
            </a:r>
            <a:r>
              <a:rPr lang="es-ES" dirty="0" err="1"/>
              <a:t>Environment</a:t>
            </a:r>
            <a:endParaRPr lang="es-ES" dirty="0"/>
          </a:p>
          <a:p>
            <a:pPr lvl="1"/>
            <a:r>
              <a:rPr lang="es-ES" dirty="0"/>
              <a:t>JVM + bibliotecas estándar, sin herramientas de desarrollo.</a:t>
            </a:r>
          </a:p>
          <a:p>
            <a:pPr lvl="1"/>
            <a:r>
              <a:rPr lang="es-ES" dirty="0"/>
              <a:t>Ya no se distribuye separado desde Java 9; se usan </a:t>
            </a:r>
            <a:r>
              <a:rPr lang="es-ES" dirty="0" err="1"/>
              <a:t>runtimes</a:t>
            </a:r>
            <a:r>
              <a:rPr lang="es-ES" dirty="0"/>
              <a:t> creados con </a:t>
            </a:r>
            <a:r>
              <a:rPr lang="es-ES" dirty="0" err="1"/>
              <a:t>jlink</a:t>
            </a:r>
            <a:r>
              <a:rPr lang="es-ES" dirty="0"/>
              <a:t> o JDK completo.</a:t>
            </a:r>
          </a:p>
          <a:p>
            <a:r>
              <a:rPr lang="es-ES" dirty="0"/>
              <a:t>Compiladores</a:t>
            </a:r>
          </a:p>
          <a:p>
            <a:pPr lvl="1"/>
            <a:r>
              <a:rPr lang="es-ES" dirty="0" err="1"/>
              <a:t>javac</a:t>
            </a:r>
            <a:r>
              <a:rPr lang="es-ES" dirty="0"/>
              <a:t> (</a:t>
            </a:r>
            <a:r>
              <a:rPr lang="es-ES" dirty="0" err="1"/>
              <a:t>self</a:t>
            </a:r>
            <a:r>
              <a:rPr lang="es-ES" dirty="0"/>
              <a:t>-hosting desde Java 1.3).</a:t>
            </a:r>
          </a:p>
          <a:p>
            <a:pPr lvl="1"/>
            <a:r>
              <a:rPr lang="es-ES" dirty="0"/>
              <a:t>Otros: ECJ (Eclipse), GCJ (obsoleto), </a:t>
            </a:r>
            <a:r>
              <a:rPr lang="es-ES" dirty="0" err="1"/>
              <a:t>GraalVM</a:t>
            </a:r>
            <a:r>
              <a:rPr lang="es-ES" dirty="0"/>
              <a:t> (JIT avanzado y compilación nativa AOT).</a:t>
            </a:r>
          </a:p>
          <a:p>
            <a:r>
              <a:rPr lang="es-ES" dirty="0"/>
              <a:t>Evolución de ejecución/despliegue</a:t>
            </a:r>
          </a:p>
          <a:p>
            <a:pPr lvl="1"/>
            <a:r>
              <a:rPr lang="es-ES" dirty="0"/>
              <a:t>Años 90–2000: Applets (descontinuados en 2018–2019), Java Web </a:t>
            </a:r>
            <a:r>
              <a:rPr lang="es-ES" dirty="0" err="1"/>
              <a:t>Start</a:t>
            </a:r>
            <a:r>
              <a:rPr lang="es-ES" dirty="0"/>
              <a:t> (retirado en Java 11)</a:t>
            </a:r>
          </a:p>
          <a:p>
            <a:pPr lvl="1"/>
            <a:r>
              <a:rPr lang="es-ES" dirty="0"/>
              <a:t>.Actualidad: JAR/WAR, </a:t>
            </a:r>
            <a:r>
              <a:rPr lang="es-ES" dirty="0" err="1"/>
              <a:t>fat</a:t>
            </a:r>
            <a:r>
              <a:rPr lang="es-ES" dirty="0"/>
              <a:t> </a:t>
            </a:r>
            <a:r>
              <a:rPr lang="es-ES" dirty="0" err="1"/>
              <a:t>JARs</a:t>
            </a:r>
            <a:r>
              <a:rPr lang="es-ES" dirty="0"/>
              <a:t> (Spring </a:t>
            </a:r>
            <a:r>
              <a:rPr lang="es-ES" dirty="0" err="1"/>
              <a:t>Boot</a:t>
            </a:r>
            <a:r>
              <a:rPr lang="es-ES" dirty="0"/>
              <a:t>), contenedores Docker/K8s (JVM container-</a:t>
            </a:r>
            <a:r>
              <a:rPr lang="es-ES" dirty="0" err="1"/>
              <a:t>aware</a:t>
            </a:r>
            <a:r>
              <a:rPr lang="es-ES" dirty="0"/>
              <a:t>).</a:t>
            </a:r>
          </a:p>
          <a:p>
            <a:pPr lvl="1"/>
            <a:r>
              <a:rPr lang="es-ES" dirty="0" err="1"/>
              <a:t>jpackage</a:t>
            </a:r>
            <a:r>
              <a:rPr lang="es-ES" dirty="0"/>
              <a:t>: empaquetado nativo con </a:t>
            </a:r>
            <a:r>
              <a:rPr lang="es-ES" dirty="0" err="1"/>
              <a:t>runtime</a:t>
            </a:r>
            <a:r>
              <a:rPr lang="es-ES" dirty="0"/>
              <a:t> embebido.</a:t>
            </a:r>
          </a:p>
        </p:txBody>
      </p:sp>
    </p:spTree>
    <p:extLst>
      <p:ext uri="{BB962C8B-B14F-4D97-AF65-F5344CB8AC3E}">
        <p14:creationId xmlns:p14="http://schemas.microsoft.com/office/powerpoint/2010/main" val="151042594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3DF169-0C39-68E8-560E-8640C45B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Entorno empresarial (Java EE / </a:t>
            </a:r>
            <a:r>
              <a:rPr lang="es-ES" dirty="0" err="1"/>
              <a:t>Jakarta</a:t>
            </a:r>
            <a:r>
              <a:rPr lang="es-ES" dirty="0"/>
              <a:t> EE)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8ED4FA-06E4-A8AC-0015-322ADB274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Estándar para aplicaciones n-capas portables: </a:t>
            </a:r>
            <a:r>
              <a:rPr lang="es-ES" dirty="0" err="1"/>
              <a:t>servlets</a:t>
            </a:r>
            <a:r>
              <a:rPr lang="es-ES" dirty="0"/>
              <a:t>, EJB, JMS, JDBC.</a:t>
            </a:r>
          </a:p>
          <a:p>
            <a:r>
              <a:rPr lang="es-ES" dirty="0"/>
              <a:t>Servidores: WebSphere, WebLogic, </a:t>
            </a:r>
            <a:r>
              <a:rPr lang="es-ES" dirty="0" err="1"/>
              <a:t>JBoss</a:t>
            </a:r>
            <a:r>
              <a:rPr lang="es-ES" dirty="0"/>
              <a:t>/</a:t>
            </a:r>
            <a:r>
              <a:rPr lang="es-ES" dirty="0" err="1"/>
              <a:t>WildFly</a:t>
            </a:r>
            <a:r>
              <a:rPr lang="es-ES" dirty="0"/>
              <a:t>, Oracle </a:t>
            </a:r>
            <a:r>
              <a:rPr lang="es-ES" dirty="0" err="1"/>
              <a:t>AS.Uso</a:t>
            </a:r>
            <a:r>
              <a:rPr lang="es-ES" dirty="0"/>
              <a:t> masivo en banca, administración pública, comercio </a:t>
            </a:r>
            <a:r>
              <a:rPr lang="es-ES" dirty="0" err="1"/>
              <a:t>electrónico.Ventajas</a:t>
            </a:r>
            <a:r>
              <a:rPr lang="es-ES" dirty="0"/>
              <a:t>: independencia de proveedor, gran comunidad profesional.</a:t>
            </a:r>
          </a:p>
        </p:txBody>
      </p:sp>
    </p:spTree>
    <p:extLst>
      <p:ext uri="{BB962C8B-B14F-4D97-AF65-F5344CB8AC3E}">
        <p14:creationId xmlns:p14="http://schemas.microsoft.com/office/powerpoint/2010/main" val="9858102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5A972-1792-8FE3-5D32-E30D32061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Aplicaciones de escritorio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DDB664-915D-10BD-B276-FFE19D4FE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Ejemplos: NetBeans, IntelliJ IDEA, Eclipse.</a:t>
            </a:r>
          </a:p>
          <a:p>
            <a:r>
              <a:rPr lang="es-ES" dirty="0"/>
              <a:t>Tecnologías: Swing, SWT, </a:t>
            </a:r>
            <a:r>
              <a:rPr lang="es-ES" dirty="0" err="1"/>
              <a:t>JavaFX</a:t>
            </a:r>
            <a:r>
              <a:rPr lang="es-ES" dirty="0"/>
              <a:t>.</a:t>
            </a:r>
          </a:p>
          <a:p>
            <a:r>
              <a:rPr lang="es-ES" dirty="0"/>
              <a:t>Uso en herramientas de administración y monitoreo multiplataforma.</a:t>
            </a:r>
          </a:p>
        </p:txBody>
      </p:sp>
    </p:spTree>
    <p:extLst>
      <p:ext uri="{BB962C8B-B14F-4D97-AF65-F5344CB8AC3E}">
        <p14:creationId xmlns:p14="http://schemas.microsoft.com/office/powerpoint/2010/main" val="9296343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BDFDB-756F-6C6D-C3B7-13F30E0DD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Dispositivos móviles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3913B-D802-0E38-5836-50447FBCE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Java ME: estándar en teléfonos básicos (MIDP) y juegos móviles en 2000s.</a:t>
            </a:r>
          </a:p>
          <a:p>
            <a:r>
              <a:rPr lang="es-ES" dirty="0"/>
              <a:t>Android: sintaxis Java 5, VM </a:t>
            </a:r>
            <a:r>
              <a:rPr lang="es-ES" dirty="0" err="1"/>
              <a:t>Dalvik</a:t>
            </a:r>
            <a:r>
              <a:rPr lang="es-ES" dirty="0"/>
              <a:t>/ART, migración masiva de desarrolladores.</a:t>
            </a:r>
          </a:p>
        </p:txBody>
      </p:sp>
    </p:spTree>
    <p:extLst>
      <p:ext uri="{BB962C8B-B14F-4D97-AF65-F5344CB8AC3E}">
        <p14:creationId xmlns:p14="http://schemas.microsoft.com/office/powerpoint/2010/main" val="38709495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D8C0A-E131-41C6-717A-7EA3453CF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Sistemas embebidos e </a:t>
            </a:r>
            <a:r>
              <a:rPr lang="es-ES" dirty="0" err="1"/>
              <a:t>IoT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3C9200-4EA7-B34D-3CF7-D3952DDA9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Java </a:t>
            </a:r>
            <a:r>
              <a:rPr lang="es-ES" dirty="0" err="1"/>
              <a:t>Card</a:t>
            </a:r>
            <a:r>
              <a:rPr lang="es-ES" dirty="0"/>
              <a:t>: </a:t>
            </a:r>
            <a:r>
              <a:rPr lang="es-ES" dirty="0" err="1"/>
              <a:t>SIMs</a:t>
            </a:r>
            <a:r>
              <a:rPr lang="es-ES" dirty="0"/>
              <a:t>, tarjetas bancarias.</a:t>
            </a:r>
          </a:p>
          <a:p>
            <a:r>
              <a:rPr lang="es-ES" dirty="0"/>
              <a:t>Java TV / BD-J: decodificadores, Blu-ray.</a:t>
            </a:r>
          </a:p>
          <a:p>
            <a:r>
              <a:rPr lang="es-ES" dirty="0"/>
              <a:t>Presente en controladores, impresoras, pasarelas </a:t>
            </a:r>
            <a:r>
              <a:rPr lang="es-ES" dirty="0" err="1"/>
              <a:t>IoT</a:t>
            </a:r>
            <a:r>
              <a:rPr lang="es-ES" dirty="0"/>
              <a:t>.</a:t>
            </a:r>
          </a:p>
          <a:p>
            <a:r>
              <a:rPr lang="es-ES" dirty="0"/>
              <a:t>Raspberry Pi y dispositivos ARM corriendo Java SE reducido.</a:t>
            </a:r>
          </a:p>
        </p:txBody>
      </p:sp>
    </p:spTree>
    <p:extLst>
      <p:ext uri="{BB962C8B-B14F-4D97-AF65-F5344CB8AC3E}">
        <p14:creationId xmlns:p14="http://schemas.microsoft.com/office/powerpoint/2010/main" val="37087813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39D2C-8191-6ABA-8A1E-5D43A17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Ecosistema Java(I)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40208B-7BBD-E81A-1CD6-3F19FBCBA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IDEs</a:t>
            </a:r>
            <a:endParaRPr lang="es-ES" dirty="0"/>
          </a:p>
          <a:p>
            <a:pPr lvl="1"/>
            <a:r>
              <a:rPr lang="es-ES" dirty="0"/>
              <a:t>NetBeans (open </a:t>
            </a:r>
            <a:r>
              <a:rPr lang="es-ES" dirty="0" err="1"/>
              <a:t>source</a:t>
            </a:r>
            <a:r>
              <a:rPr lang="es-ES" dirty="0"/>
              <a:t> desde 2000), Eclipse (2001, extensible y gratuito), IntelliJ IDEA (2001, asistencia avanzada).</a:t>
            </a:r>
          </a:p>
          <a:p>
            <a:pPr lvl="1"/>
            <a:r>
              <a:rPr lang="es-ES" dirty="0"/>
              <a:t>Funciones: refactorización, autocompletado, depuración, integración Maven/</a:t>
            </a:r>
            <a:r>
              <a:rPr lang="es-ES" dirty="0" err="1"/>
              <a:t>Gradle</a:t>
            </a:r>
            <a:r>
              <a:rPr lang="es-ES" dirty="0"/>
              <a:t>.</a:t>
            </a:r>
          </a:p>
          <a:p>
            <a:r>
              <a:rPr lang="es-ES" dirty="0"/>
              <a:t>Sistemas de construcción</a:t>
            </a:r>
          </a:p>
          <a:p>
            <a:pPr lvl="1"/>
            <a:r>
              <a:rPr lang="es-ES" dirty="0" err="1"/>
              <a:t>Ant</a:t>
            </a:r>
            <a:r>
              <a:rPr lang="es-ES" dirty="0"/>
              <a:t> (2000): </a:t>
            </a:r>
            <a:r>
              <a:rPr lang="es-ES" dirty="0" err="1"/>
              <a:t>builds</a:t>
            </a:r>
            <a:r>
              <a:rPr lang="es-ES" dirty="0"/>
              <a:t> XML.</a:t>
            </a:r>
          </a:p>
          <a:p>
            <a:pPr lvl="1"/>
            <a:r>
              <a:rPr lang="es-ES" dirty="0"/>
              <a:t>Maven (2004): dependencias + convención → estándar de facto.</a:t>
            </a:r>
          </a:p>
          <a:p>
            <a:pPr lvl="1"/>
            <a:r>
              <a:rPr lang="es-ES" dirty="0" err="1"/>
              <a:t>Gradle</a:t>
            </a:r>
            <a:r>
              <a:rPr lang="es-ES" dirty="0"/>
              <a:t> (2009): DSL flexible (</a:t>
            </a:r>
            <a:r>
              <a:rPr lang="es-ES" dirty="0" err="1"/>
              <a:t>Groovy</a:t>
            </a:r>
            <a:r>
              <a:rPr lang="es-ES" dirty="0"/>
              <a:t>/</a:t>
            </a:r>
            <a:r>
              <a:rPr lang="es-ES" dirty="0" err="1"/>
              <a:t>Kotlin</a:t>
            </a:r>
            <a:r>
              <a:rPr lang="es-ES" dirty="0"/>
              <a:t>), muy usado en Android.</a:t>
            </a:r>
          </a:p>
        </p:txBody>
      </p:sp>
    </p:spTree>
    <p:extLst>
      <p:ext uri="{BB962C8B-B14F-4D97-AF65-F5344CB8AC3E}">
        <p14:creationId xmlns:p14="http://schemas.microsoft.com/office/powerpoint/2010/main" val="30273904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C0BD-DBB0-CBB7-5198-C154372CE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Ecosistema Java(II)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D12BBF-CB77-7B83-A7FA-9277EFF08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Frameworks</a:t>
            </a:r>
            <a:r>
              <a:rPr lang="es-ES" dirty="0"/>
              <a:t> y librerías</a:t>
            </a:r>
          </a:p>
          <a:p>
            <a:pPr lvl="1"/>
            <a:r>
              <a:rPr lang="es-ES" dirty="0"/>
              <a:t>Web: Struts (MVC), Spring (</a:t>
            </a:r>
            <a:r>
              <a:rPr lang="es-ES" dirty="0" err="1"/>
              <a:t>IoC</a:t>
            </a:r>
            <a:r>
              <a:rPr lang="es-ES" dirty="0"/>
              <a:t>, DI, Spring </a:t>
            </a:r>
            <a:r>
              <a:rPr lang="es-ES" dirty="0" err="1"/>
              <a:t>Boot</a:t>
            </a:r>
            <a:r>
              <a:rPr lang="es-ES" dirty="0"/>
              <a:t>), JSF, GWT, </a:t>
            </a:r>
            <a:r>
              <a:rPr lang="es-ES" dirty="0" err="1"/>
              <a:t>Vaadin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Persistencia: </a:t>
            </a:r>
            <a:r>
              <a:rPr lang="es-ES" dirty="0" err="1"/>
              <a:t>Hibernate</a:t>
            </a:r>
            <a:r>
              <a:rPr lang="es-ES" dirty="0"/>
              <a:t> (ORM).</a:t>
            </a:r>
          </a:p>
          <a:p>
            <a:pPr lvl="1"/>
            <a:r>
              <a:rPr lang="es-ES" dirty="0"/>
              <a:t>Servicios: JAX-RS, Jersey, </a:t>
            </a:r>
            <a:r>
              <a:rPr lang="es-ES" dirty="0" err="1"/>
              <a:t>RESTEasy</a:t>
            </a:r>
            <a:r>
              <a:rPr lang="es-ES" dirty="0"/>
              <a:t>, </a:t>
            </a:r>
            <a:r>
              <a:rPr lang="es-ES" dirty="0" err="1"/>
              <a:t>MicroProfile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Utilidades: Apache </a:t>
            </a:r>
            <a:r>
              <a:rPr lang="es-ES" dirty="0" err="1"/>
              <a:t>Commons</a:t>
            </a:r>
            <a:r>
              <a:rPr lang="es-ES" dirty="0"/>
              <a:t>, SLF4J, </a:t>
            </a:r>
            <a:r>
              <a:rPr lang="es-ES" dirty="0" err="1"/>
              <a:t>JUnit</a:t>
            </a:r>
            <a:r>
              <a:rPr lang="es-ES" dirty="0"/>
              <a:t>, Big Data (Hadoop, </a:t>
            </a:r>
            <a:r>
              <a:rPr lang="es-ES" dirty="0" err="1"/>
              <a:t>Spark</a:t>
            </a:r>
            <a:r>
              <a:rPr lang="es-ES" dirty="0"/>
              <a:t>), lenguajes JVM (</a:t>
            </a:r>
            <a:r>
              <a:rPr lang="es-ES" dirty="0" err="1"/>
              <a:t>Kotlin</a:t>
            </a:r>
            <a:r>
              <a:rPr lang="es-ES" dirty="0"/>
              <a:t>, Scala).</a:t>
            </a:r>
          </a:p>
          <a:p>
            <a:r>
              <a:rPr lang="es-ES" dirty="0"/>
              <a:t>Comunidad y gobernanza</a:t>
            </a:r>
          </a:p>
          <a:p>
            <a:pPr lvl="1"/>
            <a:r>
              <a:rPr lang="es-ES" dirty="0"/>
              <a:t>JCP (Java </a:t>
            </a:r>
            <a:r>
              <a:rPr lang="es-ES" dirty="0" err="1"/>
              <a:t>Community</a:t>
            </a:r>
            <a:r>
              <a:rPr lang="es-ES" dirty="0"/>
              <a:t> </a:t>
            </a:r>
            <a:r>
              <a:rPr lang="es-ES" dirty="0" err="1"/>
              <a:t>Process</a:t>
            </a:r>
            <a:r>
              <a:rPr lang="es-ES" dirty="0"/>
              <a:t>) + </a:t>
            </a:r>
            <a:r>
              <a:rPr lang="es-ES" dirty="0" err="1"/>
              <a:t>JSRs</a:t>
            </a:r>
            <a:r>
              <a:rPr lang="es-ES" dirty="0"/>
              <a:t> para evolución consensuada.</a:t>
            </a:r>
          </a:p>
          <a:p>
            <a:pPr lvl="1"/>
            <a:r>
              <a:rPr lang="es-ES" dirty="0" err="1"/>
              <a:t>OpenJDK</a:t>
            </a:r>
            <a:r>
              <a:rPr lang="es-ES" dirty="0"/>
              <a:t> como implementación oficial (GPL).</a:t>
            </a:r>
          </a:p>
          <a:p>
            <a:pPr lvl="1"/>
            <a:r>
              <a:rPr lang="es-ES" dirty="0"/>
              <a:t>Java EE transferido a la Fundación Eclipse → </a:t>
            </a:r>
            <a:r>
              <a:rPr lang="es-ES" dirty="0" err="1"/>
              <a:t>Jakarta</a:t>
            </a:r>
            <a:r>
              <a:rPr lang="es-ES" dirty="0"/>
              <a:t> EE.</a:t>
            </a:r>
          </a:p>
          <a:p>
            <a:pPr lvl="1"/>
            <a:r>
              <a:rPr lang="es-ES" dirty="0"/>
              <a:t>Eventos: </a:t>
            </a:r>
            <a:r>
              <a:rPr lang="es-ES" dirty="0" err="1"/>
              <a:t>JavaOne</a:t>
            </a:r>
            <a:r>
              <a:rPr lang="es-ES" dirty="0"/>
              <a:t>, </a:t>
            </a:r>
            <a:r>
              <a:rPr lang="es-ES" dirty="0" err="1"/>
              <a:t>JavaLand</a:t>
            </a:r>
            <a:r>
              <a:rPr lang="es-ES" dirty="0"/>
              <a:t>, Java User </a:t>
            </a:r>
            <a:r>
              <a:rPr lang="es-ES" dirty="0" err="1"/>
              <a:t>Groups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358970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00B33-7C88-6EEF-62C0-BAC3288A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Licenciamiento y disputas legales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99CEA6-C34F-0870-71A2-3A8F930FD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 </a:t>
            </a:r>
            <a:r>
              <a:rPr lang="es-ES" dirty="0" err="1"/>
              <a:t>Sun</a:t>
            </a:r>
            <a:r>
              <a:rPr lang="es-ES" dirty="0"/>
              <a:t> a Oracle</a:t>
            </a:r>
          </a:p>
          <a:p>
            <a:pPr lvl="1"/>
            <a:r>
              <a:rPr lang="es-ES" dirty="0" err="1"/>
              <a:t>Sun</a:t>
            </a:r>
            <a:r>
              <a:rPr lang="es-ES" dirty="0"/>
              <a:t> libera gran parte de Java (2006–2007, GPL).</a:t>
            </a:r>
          </a:p>
          <a:p>
            <a:pPr lvl="1"/>
            <a:r>
              <a:rPr lang="es-ES" dirty="0"/>
              <a:t>Oracle adquiere Java (2010).</a:t>
            </a:r>
          </a:p>
          <a:p>
            <a:pPr lvl="1"/>
            <a:r>
              <a:rPr lang="es-ES" dirty="0"/>
              <a:t>Cambio de licencia en Java 11 (uso comercial pago) → migración a </a:t>
            </a:r>
            <a:r>
              <a:rPr lang="es-ES" dirty="0" err="1"/>
              <a:t>OpenJDK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Desde Java 17: uso gratuito también en producción.</a:t>
            </a:r>
          </a:p>
          <a:p>
            <a:r>
              <a:rPr lang="es-ES" dirty="0"/>
              <a:t>Caso Oracle vs Google (Android)</a:t>
            </a:r>
          </a:p>
          <a:p>
            <a:pPr lvl="1"/>
            <a:r>
              <a:rPr lang="es-ES" dirty="0"/>
              <a:t>Android usó </a:t>
            </a:r>
            <a:r>
              <a:rPr lang="es-ES" dirty="0" err="1"/>
              <a:t>APIs</a:t>
            </a:r>
            <a:r>
              <a:rPr lang="es-ES" dirty="0"/>
              <a:t> Java SE sin licencia oficial (</a:t>
            </a:r>
            <a:r>
              <a:rPr lang="es-ES" dirty="0" err="1"/>
              <a:t>Dalvik</a:t>
            </a:r>
            <a:r>
              <a:rPr lang="es-ES" dirty="0"/>
              <a:t>/ART).</a:t>
            </a:r>
          </a:p>
          <a:p>
            <a:pPr lvl="1"/>
            <a:r>
              <a:rPr lang="es-ES" dirty="0"/>
              <a:t>Disputa 2010–2021 → Corte Suprema de EE.UU. falla a favor de Google (uso justo).</a:t>
            </a:r>
          </a:p>
          <a:p>
            <a:pPr lvl="1"/>
            <a:r>
              <a:rPr lang="es-ES" dirty="0"/>
              <a:t>Android ahora usa </a:t>
            </a:r>
            <a:r>
              <a:rPr lang="es-ES" dirty="0" err="1"/>
              <a:t>OpenJDK</a:t>
            </a:r>
            <a:r>
              <a:rPr lang="es-ES" dirty="0"/>
              <a:t> para </a:t>
            </a:r>
            <a:r>
              <a:rPr lang="es-ES" dirty="0" err="1"/>
              <a:t>APIs</a:t>
            </a:r>
            <a:r>
              <a:rPr lang="es-ES" dirty="0"/>
              <a:t> Java.</a:t>
            </a:r>
          </a:p>
        </p:txBody>
      </p:sp>
    </p:spTree>
    <p:extLst>
      <p:ext uri="{BB962C8B-B14F-4D97-AF65-F5344CB8AC3E}">
        <p14:creationId xmlns:p14="http://schemas.microsoft.com/office/powerpoint/2010/main" val="31424533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16331-D21D-2B82-02B7-F64329DC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Evolución de versiones: de Java 8 a Java 17 y 21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8D4F07-CD6F-2D68-253A-49E5D196E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Nuevo modelo de lanzamientos (desde 2018)</a:t>
            </a:r>
          </a:p>
          <a:p>
            <a:pPr lvl="1"/>
            <a:r>
              <a:rPr lang="es-ES" dirty="0"/>
              <a:t>1 versión cada 6 meses.</a:t>
            </a:r>
          </a:p>
          <a:p>
            <a:pPr lvl="1"/>
            <a:r>
              <a:rPr lang="es-ES" dirty="0"/>
              <a:t>LTS (Long </a:t>
            </a:r>
            <a:r>
              <a:rPr lang="es-ES" dirty="0" err="1"/>
              <a:t>Term</a:t>
            </a:r>
            <a:r>
              <a:rPr lang="es-ES" dirty="0"/>
              <a:t> </a:t>
            </a:r>
            <a:r>
              <a:rPr lang="es-ES" dirty="0" err="1"/>
              <a:t>Support</a:t>
            </a:r>
            <a:r>
              <a:rPr lang="es-ES" dirty="0"/>
              <a:t>) cada ~2 años → versiones estables para adopción empresarial.</a:t>
            </a:r>
          </a:p>
          <a:p>
            <a:pPr lvl="1"/>
            <a:r>
              <a:rPr lang="es-ES" dirty="0"/>
              <a:t>LTS recientes: Java 8 (2014), Java 11 (2018), Java 17 (2021), Java 21 (2023).</a:t>
            </a:r>
          </a:p>
          <a:p>
            <a:pPr lvl="1"/>
            <a:r>
              <a:rPr lang="es-ES" dirty="0"/>
              <a:t>Próxima LTS esperada: Java 25 (2025).</a:t>
            </a:r>
          </a:p>
        </p:txBody>
      </p:sp>
    </p:spTree>
    <p:extLst>
      <p:ext uri="{BB962C8B-B14F-4D97-AF65-F5344CB8AC3E}">
        <p14:creationId xmlns:p14="http://schemas.microsoft.com/office/powerpoint/2010/main" val="9119030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CE5374-CECB-6CA4-99A7-DC345631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17 (LTS – 2021)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841235-2A97-B71C-3778-E7E358DF7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Records</a:t>
            </a:r>
            <a:r>
              <a:rPr lang="es-ES" dirty="0"/>
              <a:t>: clases inmutables y transparentes.</a:t>
            </a:r>
          </a:p>
          <a:p>
            <a:r>
              <a:rPr lang="es-ES" dirty="0"/>
              <a:t>Clases selladas (</a:t>
            </a:r>
            <a:r>
              <a:rPr lang="es-ES" dirty="0" err="1"/>
              <a:t>sealed</a:t>
            </a:r>
            <a:r>
              <a:rPr lang="es-ES" dirty="0"/>
              <a:t>): restringir herencia.</a:t>
            </a:r>
          </a:p>
          <a:p>
            <a:r>
              <a:rPr lang="es-ES" dirty="0"/>
              <a:t>GC de baja pausa: ZGC, Shenandoah.</a:t>
            </a:r>
          </a:p>
          <a:p>
            <a:r>
              <a:rPr lang="es-ES" dirty="0" err="1"/>
              <a:t>Modularización</a:t>
            </a:r>
            <a:r>
              <a:rPr lang="es-ES" dirty="0"/>
              <a:t> completa (desde Java 9).</a:t>
            </a:r>
          </a:p>
          <a:p>
            <a:r>
              <a:rPr lang="es-ES" dirty="0"/>
              <a:t>Eliminados Applets, Java Web </a:t>
            </a:r>
            <a:r>
              <a:rPr lang="es-ES" dirty="0" err="1"/>
              <a:t>Start</a:t>
            </a:r>
            <a:r>
              <a:rPr lang="es-ES" dirty="0"/>
              <a:t>, </a:t>
            </a:r>
            <a:r>
              <a:rPr lang="es-ES" dirty="0" err="1"/>
              <a:t>APIs</a:t>
            </a:r>
            <a:r>
              <a:rPr lang="es-ES" dirty="0"/>
              <a:t> Java EE y CORBA.</a:t>
            </a:r>
          </a:p>
        </p:txBody>
      </p:sp>
    </p:spTree>
    <p:extLst>
      <p:ext uri="{BB962C8B-B14F-4D97-AF65-F5344CB8AC3E}">
        <p14:creationId xmlns:p14="http://schemas.microsoft.com/office/powerpoint/2010/main" val="42266239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22EDC-C883-20D4-B6ED-2F5B3D3B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21 (LTS – 2023)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E62A7C-668B-CE7E-F8C1-FD079E235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Hilos virtuales (Proyecto </a:t>
            </a:r>
            <a:r>
              <a:rPr lang="es-ES" dirty="0" err="1"/>
              <a:t>Loom</a:t>
            </a:r>
            <a:r>
              <a:rPr lang="es-ES" dirty="0"/>
              <a:t>) → millones de hilos sobre pocos hilos nativos → escalabilidad masiva.</a:t>
            </a:r>
          </a:p>
          <a:p>
            <a:r>
              <a:rPr lang="es-ES" dirty="0"/>
              <a:t>Nuevas interfaces: </a:t>
            </a:r>
            <a:r>
              <a:rPr lang="es-ES" dirty="0" err="1"/>
              <a:t>SequencedCollection</a:t>
            </a:r>
            <a:r>
              <a:rPr lang="es-ES" dirty="0"/>
              <a:t>, </a:t>
            </a:r>
            <a:r>
              <a:rPr lang="es-ES" dirty="0" err="1"/>
              <a:t>SequencedSet</a:t>
            </a:r>
            <a:r>
              <a:rPr lang="es-ES" dirty="0"/>
              <a:t>, </a:t>
            </a:r>
            <a:r>
              <a:rPr lang="es-ES" dirty="0" err="1"/>
              <a:t>SequencedMap</a:t>
            </a:r>
            <a:r>
              <a:rPr lang="es-ES" dirty="0"/>
              <a:t>.</a:t>
            </a:r>
          </a:p>
          <a:p>
            <a:r>
              <a:rPr lang="es-ES" dirty="0"/>
              <a:t>Métodos convenientes: </a:t>
            </a:r>
            <a:r>
              <a:rPr lang="es-ES" dirty="0" err="1"/>
              <a:t>getFirst</a:t>
            </a:r>
            <a:r>
              <a:rPr lang="es-ES" dirty="0"/>
              <a:t>(), </a:t>
            </a:r>
            <a:r>
              <a:rPr lang="es-ES" dirty="0" err="1"/>
              <a:t>getLast</a:t>
            </a:r>
            <a:r>
              <a:rPr lang="es-ES" dirty="0"/>
              <a:t>() en colecciones.</a:t>
            </a:r>
          </a:p>
          <a:p>
            <a:r>
              <a:rPr lang="es-ES" dirty="0" err="1"/>
              <a:t>Pattern</a:t>
            </a:r>
            <a:r>
              <a:rPr lang="es-ES" dirty="0"/>
              <a:t> </a:t>
            </a:r>
            <a:r>
              <a:rPr lang="es-ES" dirty="0" err="1"/>
              <a:t>matching</a:t>
            </a:r>
            <a:r>
              <a:rPr lang="es-ES" dirty="0"/>
              <a:t> para switch y </a:t>
            </a:r>
            <a:r>
              <a:rPr lang="es-ES" dirty="0" err="1"/>
              <a:t>records</a:t>
            </a:r>
            <a:r>
              <a:rPr lang="es-ES" dirty="0"/>
              <a:t>.</a:t>
            </a:r>
          </a:p>
          <a:p>
            <a:r>
              <a:rPr lang="es-ES" dirty="0"/>
              <a:t>Unicode 15 + soporte de emojis.</a:t>
            </a:r>
          </a:p>
          <a:p>
            <a:r>
              <a:rPr lang="es-ES" dirty="0"/>
              <a:t>API HTTP mejorada (cierre automático de conexiones).</a:t>
            </a:r>
          </a:p>
          <a:p>
            <a:r>
              <a:rPr lang="es-ES" dirty="0" err="1"/>
              <a:t>Preview</a:t>
            </a:r>
            <a:r>
              <a:rPr lang="es-ES" dirty="0"/>
              <a:t>: cadenas plantilla, concurrencia estructurada.</a:t>
            </a:r>
          </a:p>
        </p:txBody>
      </p:sp>
    </p:spTree>
    <p:extLst>
      <p:ext uri="{BB962C8B-B14F-4D97-AF65-F5344CB8AC3E}">
        <p14:creationId xmlns:p14="http://schemas.microsoft.com/office/powerpoint/2010/main" val="30729877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B6564-97B6-83D4-B48C-8F9B4D5C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Hilos virtuales (Project </a:t>
            </a:r>
            <a:r>
              <a:rPr lang="es-ES" dirty="0" err="1"/>
              <a:t>Loom</a:t>
            </a:r>
            <a:r>
              <a:rPr lang="es-ES" dirty="0"/>
              <a:t>) – Java 21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3728A0-B49B-D4B3-D4F6-2F8AF1EAC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653578" cy="2413556"/>
          </a:xfrm>
        </p:spPr>
        <p:txBody>
          <a:bodyPr/>
          <a:lstStyle/>
          <a:p>
            <a:r>
              <a:rPr lang="es-ES" dirty="0" err="1"/>
              <a:t>Threads</a:t>
            </a:r>
            <a:r>
              <a:rPr lang="es-ES" dirty="0"/>
              <a:t> ligeros gestionados por la JVM</a:t>
            </a:r>
          </a:p>
          <a:p>
            <a:r>
              <a:rPr lang="es-ES" dirty="0"/>
              <a:t>Permiten millones de hilos sobre pocos nativos</a:t>
            </a:r>
          </a:p>
          <a:p>
            <a:r>
              <a:rPr lang="es-ES" dirty="0"/>
              <a:t>Ideales para tareas de I/O concurrente (HTTP, BBDD, sockets)</a:t>
            </a:r>
          </a:p>
          <a:p>
            <a:r>
              <a:rPr lang="es-ES" dirty="0"/>
              <a:t>Modelo simple: “1 tarea = 1 hilo” sin coste elevado</a:t>
            </a:r>
          </a:p>
          <a:p>
            <a:r>
              <a:rPr lang="es-ES" dirty="0"/>
              <a:t>Integrados en </a:t>
            </a:r>
            <a:r>
              <a:rPr lang="es-ES" dirty="0" err="1"/>
              <a:t>Thread</a:t>
            </a:r>
            <a:r>
              <a:rPr lang="es-ES" dirty="0"/>
              <a:t> y </a:t>
            </a:r>
            <a:r>
              <a:rPr lang="es-ES" dirty="0" err="1"/>
              <a:t>ExecutorService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4D18DE6-1123-B1B0-6D24-2EC5151C4B57}"/>
              </a:ext>
            </a:extLst>
          </p:cNvPr>
          <p:cNvSpPr txBox="1"/>
          <p:nvPr/>
        </p:nvSpPr>
        <p:spPr>
          <a:xfrm>
            <a:off x="612648" y="4429125"/>
            <a:ext cx="106535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try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Executors.newVirtualThreadPerTaskExecutor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exec.submit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(() -&gt;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("Hola!"));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69781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F25FC-876B-2FA3-6ADA-7F0139747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Nuevas interfaces en Java 21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7E9234-5809-37E7-2BF9-D0FF64DD2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653578" cy="3627993"/>
          </a:xfrm>
        </p:spPr>
        <p:txBody>
          <a:bodyPr/>
          <a:lstStyle/>
          <a:p>
            <a:r>
              <a:rPr lang="es-ES" dirty="0" err="1"/>
              <a:t>SequencedCollection</a:t>
            </a:r>
            <a:r>
              <a:rPr lang="es-ES" dirty="0"/>
              <a:t>, </a:t>
            </a:r>
            <a:r>
              <a:rPr lang="es-ES" dirty="0" err="1"/>
              <a:t>SequencedSet</a:t>
            </a:r>
            <a:r>
              <a:rPr lang="es-ES" dirty="0"/>
              <a:t>, </a:t>
            </a:r>
            <a:r>
              <a:rPr lang="es-ES" dirty="0" err="1"/>
              <a:t>SequencedMap</a:t>
            </a:r>
            <a:endParaRPr lang="es-ES" dirty="0"/>
          </a:p>
          <a:p>
            <a:pPr lvl="1"/>
            <a:r>
              <a:rPr lang="es-ES" dirty="0"/>
              <a:t>API unificada para colecciones ordenadas</a:t>
            </a:r>
          </a:p>
          <a:p>
            <a:pPr lvl="1"/>
            <a:r>
              <a:rPr lang="es-ES" dirty="0"/>
              <a:t>Acceso coherente a primer / último elemento</a:t>
            </a:r>
          </a:p>
          <a:p>
            <a:pPr lvl="1"/>
            <a:r>
              <a:rPr lang="es-ES" dirty="0"/>
              <a:t>Métodos clave ([</a:t>
            </a:r>
            <a:r>
              <a:rPr lang="es-ES" dirty="0" err="1"/>
              <a:t>getFirst</a:t>
            </a:r>
            <a:r>
              <a:rPr lang="es-ES" dirty="0"/>
              <a:t>(), </a:t>
            </a:r>
            <a:r>
              <a:rPr lang="es-ES" dirty="0" err="1"/>
              <a:t>getLast</a:t>
            </a:r>
            <a:r>
              <a:rPr lang="es-ES" dirty="0"/>
              <a:t>()], [</a:t>
            </a:r>
            <a:r>
              <a:rPr lang="es-ES" dirty="0" err="1"/>
              <a:t>addFirst</a:t>
            </a:r>
            <a:r>
              <a:rPr lang="es-ES" dirty="0"/>
              <a:t>(), </a:t>
            </a:r>
            <a:r>
              <a:rPr lang="es-ES" dirty="0" err="1"/>
              <a:t>addLast</a:t>
            </a:r>
            <a:r>
              <a:rPr lang="es-ES" dirty="0"/>
              <a:t>()], [</a:t>
            </a:r>
            <a:r>
              <a:rPr lang="es-ES" dirty="0" err="1"/>
              <a:t>removeFirst</a:t>
            </a:r>
            <a:r>
              <a:rPr lang="es-ES" dirty="0"/>
              <a:t>(), </a:t>
            </a:r>
            <a:r>
              <a:rPr lang="es-ES" dirty="0" err="1"/>
              <a:t>removeLast</a:t>
            </a:r>
            <a:r>
              <a:rPr lang="es-ES" dirty="0"/>
              <a:t>()], [</a:t>
            </a:r>
            <a:r>
              <a:rPr lang="es-ES" dirty="0" err="1"/>
              <a:t>reversed</a:t>
            </a:r>
            <a:r>
              <a:rPr lang="es-ES" dirty="0"/>
              <a:t>()])</a:t>
            </a:r>
          </a:p>
          <a:p>
            <a:r>
              <a:rPr lang="es-ES" dirty="0"/>
              <a:t>Implementaciones:</a:t>
            </a:r>
          </a:p>
          <a:p>
            <a:pPr lvl="1"/>
            <a:r>
              <a:rPr lang="es-ES" dirty="0" err="1"/>
              <a:t>List</a:t>
            </a:r>
            <a:r>
              <a:rPr lang="es-ES" dirty="0"/>
              <a:t>, </a:t>
            </a:r>
            <a:r>
              <a:rPr lang="es-ES" dirty="0" err="1"/>
              <a:t>Deque</a:t>
            </a:r>
            <a:r>
              <a:rPr lang="es-ES" dirty="0"/>
              <a:t> → </a:t>
            </a:r>
            <a:r>
              <a:rPr lang="es-ES" dirty="0" err="1"/>
              <a:t>SequencedCollection</a:t>
            </a:r>
            <a:endParaRPr lang="es-ES" dirty="0"/>
          </a:p>
          <a:p>
            <a:pPr lvl="1"/>
            <a:r>
              <a:rPr lang="es-ES" dirty="0" err="1"/>
              <a:t>LinkedHashSet</a:t>
            </a:r>
            <a:r>
              <a:rPr lang="es-ES" dirty="0"/>
              <a:t> → </a:t>
            </a:r>
            <a:r>
              <a:rPr lang="es-ES" dirty="0" err="1"/>
              <a:t>SequencedSet</a:t>
            </a:r>
            <a:endParaRPr lang="es-ES" dirty="0"/>
          </a:p>
          <a:p>
            <a:pPr lvl="1"/>
            <a:r>
              <a:rPr lang="es-ES" dirty="0" err="1"/>
              <a:t>LinkedHashMap</a:t>
            </a:r>
            <a:r>
              <a:rPr lang="es-ES" dirty="0"/>
              <a:t> → </a:t>
            </a:r>
            <a:r>
              <a:rPr lang="es-ES" dirty="0" err="1"/>
              <a:t>SequencedMap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CED3EF8-225D-A3CA-CF20-4F9B22892E97}"/>
              </a:ext>
            </a:extLst>
          </p:cNvPr>
          <p:cNvSpPr txBox="1"/>
          <p:nvPr/>
        </p:nvSpPr>
        <p:spPr>
          <a:xfrm>
            <a:off x="1143000" y="5500688"/>
            <a:ext cx="8515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SequencedSet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&gt; s = new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LinkedHashSet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s.addFirst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("A");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s.addLast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("B");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s.reversed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()); // [B, A]</a:t>
            </a:r>
          </a:p>
        </p:txBody>
      </p:sp>
    </p:spTree>
    <p:extLst>
      <p:ext uri="{BB962C8B-B14F-4D97-AF65-F5344CB8AC3E}">
        <p14:creationId xmlns:p14="http://schemas.microsoft.com/office/powerpoint/2010/main" val="361390330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5E996-B601-1EC3-FAFD-006CB79B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Pattern</a:t>
            </a:r>
            <a:r>
              <a:rPr lang="es-ES" dirty="0"/>
              <a:t> </a:t>
            </a:r>
            <a:r>
              <a:rPr lang="es-ES" dirty="0" err="1"/>
              <a:t>Matching</a:t>
            </a:r>
            <a:r>
              <a:rPr lang="es-ES" dirty="0"/>
              <a:t> en Java 21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4BBAC1-500C-D794-D554-DEE144D6F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2299256"/>
          </a:xfrm>
        </p:spPr>
        <p:txBody>
          <a:bodyPr>
            <a:normAutofit lnSpcReduction="10000"/>
          </a:bodyPr>
          <a:lstStyle/>
          <a:p>
            <a:r>
              <a:rPr lang="es-ES" dirty="0"/>
              <a:t>switch + </a:t>
            </a:r>
            <a:r>
              <a:rPr lang="es-ES" dirty="0" err="1"/>
              <a:t>records</a:t>
            </a:r>
            <a:endParaRPr lang="es-ES" dirty="0"/>
          </a:p>
          <a:p>
            <a:pPr lvl="1"/>
            <a:r>
              <a:rPr lang="es-ES" dirty="0"/>
              <a:t>switch ahora entiende tipos y </a:t>
            </a:r>
            <a:r>
              <a:rPr lang="es-ES" dirty="0" err="1"/>
              <a:t>records</a:t>
            </a:r>
            <a:endParaRPr lang="es-ES" dirty="0"/>
          </a:p>
          <a:p>
            <a:pPr lvl="1"/>
            <a:r>
              <a:rPr lang="es-ES" dirty="0"/>
              <a:t>Se pueden desestructurar objetos directamente</a:t>
            </a:r>
          </a:p>
          <a:p>
            <a:pPr lvl="1"/>
            <a:r>
              <a:rPr lang="es-ES" dirty="0"/>
              <a:t>Soporta </a:t>
            </a:r>
            <a:r>
              <a:rPr lang="es-ES" dirty="0" err="1"/>
              <a:t>guards</a:t>
            </a:r>
            <a:r>
              <a:rPr lang="es-ES" dirty="0"/>
              <a:t> (</a:t>
            </a:r>
            <a:r>
              <a:rPr lang="es-ES" dirty="0" err="1"/>
              <a:t>when</a:t>
            </a:r>
            <a:r>
              <a:rPr lang="es-ES" dirty="0"/>
              <a:t>) para condiciones extra</a:t>
            </a:r>
          </a:p>
          <a:p>
            <a:pPr lvl="1"/>
            <a:r>
              <a:rPr lang="es-ES" dirty="0"/>
              <a:t>Evita </a:t>
            </a:r>
            <a:r>
              <a:rPr lang="es-ES" dirty="0" err="1"/>
              <a:t>instanceof</a:t>
            </a:r>
            <a:r>
              <a:rPr lang="es-ES" dirty="0"/>
              <a:t> + casting manual</a:t>
            </a:r>
          </a:p>
          <a:p>
            <a:pPr lvl="1"/>
            <a:r>
              <a:rPr lang="es-ES" dirty="0"/>
              <a:t>Código más claro, seguro y expresivo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97F583B-7E41-F7B8-831F-BA21F6516570}"/>
              </a:ext>
            </a:extLst>
          </p:cNvPr>
          <p:cNvSpPr txBox="1"/>
          <p:nvPr/>
        </p:nvSpPr>
        <p:spPr>
          <a:xfrm>
            <a:off x="612648" y="4049422"/>
            <a:ext cx="106535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sealed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interface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permits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{}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record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r)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{}</a:t>
            </a: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record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w,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h)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{}</a:t>
            </a:r>
          </a:p>
          <a:p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s) = switch (s)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case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r)      -&gt;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* r * r;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case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w,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h)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when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w == h -&gt; w * h;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case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w,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h) -&gt; w * h;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577905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BFACC-2838-6A8C-9FD0-2A464D86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API HTTP mejorada – Java 21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945D76-CBEE-22C2-C676-8D347E220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517316" cy="2213531"/>
          </a:xfrm>
        </p:spPr>
        <p:txBody>
          <a:bodyPr/>
          <a:lstStyle/>
          <a:p>
            <a:r>
              <a:rPr lang="es-ES" dirty="0" err="1"/>
              <a:t>HttpClient</a:t>
            </a:r>
            <a:r>
              <a:rPr lang="es-ES" dirty="0"/>
              <a:t> (desde Java 11) con pool de conexiones</a:t>
            </a:r>
          </a:p>
          <a:p>
            <a:r>
              <a:rPr lang="es-ES" dirty="0"/>
              <a:t>En Java 21 → mejor cierre automático de conexiones</a:t>
            </a:r>
          </a:p>
          <a:p>
            <a:r>
              <a:rPr lang="es-ES" dirty="0"/>
              <a:t>Si no consumes el cuerpo → el cliente lo cierra/reutiliza</a:t>
            </a:r>
          </a:p>
          <a:p>
            <a:r>
              <a:rPr lang="es-ES" dirty="0"/>
              <a:t>Menos riesgo de fugas de conexión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1B344E8-314E-1EFF-0B73-218E3A094C30}"/>
              </a:ext>
            </a:extLst>
          </p:cNvPr>
          <p:cNvSpPr txBox="1"/>
          <p:nvPr/>
        </p:nvSpPr>
        <p:spPr>
          <a:xfrm>
            <a:off x="612648" y="4257675"/>
            <a:ext cx="10653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res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client.send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HttpResponse.BodyHandlers.ofInputStream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try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in =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res.body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in.readAllBytes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(); // conexión liberada</a:t>
            </a:r>
          </a:p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110767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450E6-C861-10AD-BA67-4713D6840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 err="1"/>
              <a:t>Templates</a:t>
            </a:r>
            <a:r>
              <a:rPr lang="es-ES" dirty="0"/>
              <a:t> + Concurrencia estructurada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1A0996-EF5C-216D-ABCA-94EDD2286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653578" cy="1427718"/>
          </a:xfrm>
        </p:spPr>
        <p:txBody>
          <a:bodyPr/>
          <a:lstStyle/>
          <a:p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 err="1"/>
              <a:t>Templates</a:t>
            </a:r>
            <a:r>
              <a:rPr lang="es-ES" dirty="0"/>
              <a:t> (JEP 430)</a:t>
            </a:r>
          </a:p>
          <a:p>
            <a:pPr lvl="1"/>
            <a:r>
              <a:rPr lang="es-ES" dirty="0"/>
              <a:t>Interpolación de cadenas más clara y segura</a:t>
            </a:r>
          </a:p>
          <a:p>
            <a:pPr lvl="1"/>
            <a:r>
              <a:rPr lang="es-ES" dirty="0"/>
              <a:t>Procesadores (STR, FMT, personalizados)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CBAAC88-58EE-3F60-1E4B-0724C68CCB62}"/>
              </a:ext>
            </a:extLst>
          </p:cNvPr>
          <p:cNvSpPr txBox="1"/>
          <p:nvPr/>
        </p:nvSpPr>
        <p:spPr>
          <a:xfrm>
            <a:off x="612648" y="3429000"/>
            <a:ext cx="10653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 name = "Ada";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 msg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STR."Hola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\{name}!";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CF7B504-CE24-CC28-A6AE-A436E7E0D43A}"/>
              </a:ext>
            </a:extLst>
          </p:cNvPr>
          <p:cNvSpPr txBox="1">
            <a:spLocks/>
          </p:cNvSpPr>
          <p:nvPr/>
        </p:nvSpPr>
        <p:spPr>
          <a:xfrm>
            <a:off x="612648" y="4361081"/>
            <a:ext cx="10653578" cy="1427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Concurrencia estructurada (JEP 453)</a:t>
            </a:r>
          </a:p>
          <a:p>
            <a:pPr lvl="1"/>
            <a:r>
              <a:rPr lang="es-ES" dirty="0"/>
              <a:t>Manejo de subtareas como unidad lógica</a:t>
            </a:r>
          </a:p>
          <a:p>
            <a:pPr lvl="1"/>
            <a:r>
              <a:rPr lang="es-ES" dirty="0"/>
              <a:t>Si una falla → se cancelan todas</a:t>
            </a:r>
          </a:p>
        </p:txBody>
      </p:sp>
    </p:spTree>
    <p:extLst>
      <p:ext uri="{BB962C8B-B14F-4D97-AF65-F5344CB8AC3E}">
        <p14:creationId xmlns:p14="http://schemas.microsoft.com/office/powerpoint/2010/main" val="22639007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7EC00-5056-7567-71D9-A8D39F50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 de licenciamiento: Oracle JDK vs </a:t>
            </a:r>
            <a:r>
              <a:rPr lang="es-ES" dirty="0" err="1"/>
              <a:t>OpenJDK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8F0CAA-F7A0-41BD-2378-AD6A221DB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Antes de Java 11 (hasta Java 8)</a:t>
            </a:r>
          </a:p>
          <a:p>
            <a:pPr lvl="1"/>
            <a:r>
              <a:rPr lang="es-ES" dirty="0"/>
              <a:t>Oracle JDK gratuito para uso general (licencia Oracle </a:t>
            </a:r>
            <a:r>
              <a:rPr lang="es-ES" dirty="0" err="1"/>
              <a:t>Binary</a:t>
            </a:r>
            <a:r>
              <a:rPr lang="es-ES" dirty="0"/>
              <a:t> </a:t>
            </a:r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License</a:t>
            </a:r>
            <a:r>
              <a:rPr lang="es-ES" dirty="0"/>
              <a:t>).</a:t>
            </a:r>
          </a:p>
          <a:p>
            <a:r>
              <a:rPr lang="es-ES" dirty="0"/>
              <a:t>Cambio en Java 11 (2018)</a:t>
            </a:r>
          </a:p>
          <a:p>
            <a:pPr lvl="1"/>
            <a:r>
              <a:rPr lang="es-ES" dirty="0"/>
              <a:t>Oracle JDK requiere suscripción comercial para producción.</a:t>
            </a:r>
          </a:p>
          <a:p>
            <a:pPr lvl="1"/>
            <a:r>
              <a:rPr lang="es-ES" dirty="0"/>
              <a:t>Se impulsa el uso de </a:t>
            </a:r>
            <a:r>
              <a:rPr lang="es-ES" dirty="0" err="1"/>
              <a:t>OpenJDK</a:t>
            </a:r>
            <a:r>
              <a:rPr lang="es-ES" dirty="0"/>
              <a:t> (GPLv2).</a:t>
            </a:r>
          </a:p>
          <a:p>
            <a:pPr lvl="1"/>
            <a:r>
              <a:rPr lang="es-ES" dirty="0"/>
              <a:t>Surgen múltiples distribuciones alternativas (</a:t>
            </a:r>
            <a:r>
              <a:rPr lang="es-ES" dirty="0" err="1"/>
              <a:t>AdoptOpenJDK</a:t>
            </a:r>
            <a:r>
              <a:rPr lang="es-ES" dirty="0"/>
              <a:t>, Azul </a:t>
            </a:r>
            <a:r>
              <a:rPr lang="es-ES" dirty="0" err="1"/>
              <a:t>Zulu</a:t>
            </a:r>
            <a:r>
              <a:rPr lang="es-ES" dirty="0"/>
              <a:t>, Amazon </a:t>
            </a:r>
            <a:r>
              <a:rPr lang="es-ES" dirty="0" err="1"/>
              <a:t>Corretto</a:t>
            </a:r>
            <a:r>
              <a:rPr lang="es-ES" dirty="0"/>
              <a:t>…).</a:t>
            </a:r>
          </a:p>
          <a:p>
            <a:r>
              <a:rPr lang="es-ES" dirty="0"/>
              <a:t>Ajustes posteriores (2021–2023)</a:t>
            </a:r>
          </a:p>
          <a:p>
            <a:pPr lvl="1"/>
            <a:r>
              <a:rPr lang="es-ES" dirty="0"/>
              <a:t>Java 17 (2021): Licencia NFTC → uso gratuito hasta fin de soporte premier (ej. sept. 2024).</a:t>
            </a:r>
          </a:p>
          <a:p>
            <a:pPr lvl="1"/>
            <a:r>
              <a:rPr lang="es-ES" dirty="0"/>
              <a:t>Tras periodo NFTC: se necesita licencia comercial (OTN).</a:t>
            </a:r>
          </a:p>
          <a:p>
            <a:pPr lvl="1"/>
            <a:r>
              <a:rPr lang="es-ES" dirty="0"/>
              <a:t>2023: nuevo modelo Java SE Universal </a:t>
            </a:r>
            <a:r>
              <a:rPr lang="es-ES" dirty="0" err="1"/>
              <a:t>Subscription</a:t>
            </a:r>
            <a:r>
              <a:rPr lang="es-ES" dirty="0"/>
              <a:t> → pago por total de empleados, no por instalaciones.</a:t>
            </a:r>
          </a:p>
        </p:txBody>
      </p:sp>
    </p:spTree>
    <p:extLst>
      <p:ext uri="{BB962C8B-B14F-4D97-AF65-F5344CB8AC3E}">
        <p14:creationId xmlns:p14="http://schemas.microsoft.com/office/powerpoint/2010/main" val="317313474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3C86E-F624-304B-78F9-E7F10E2B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Ecosistema actual de </a:t>
            </a:r>
            <a:r>
              <a:rPr lang="es-ES" dirty="0" err="1"/>
              <a:t>JDKs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3A722F-989E-F038-E7E2-FC08C2721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OpenJDK</a:t>
            </a:r>
            <a:r>
              <a:rPr lang="es-ES" dirty="0"/>
              <a:t> gratuito siempre (código abierto, GPLv2).</a:t>
            </a:r>
          </a:p>
          <a:p>
            <a:r>
              <a:rPr lang="es-ES" dirty="0" err="1"/>
              <a:t>Builds</a:t>
            </a:r>
            <a:r>
              <a:rPr lang="es-ES" dirty="0"/>
              <a:t> alternativas con soporte prolongado:</a:t>
            </a:r>
          </a:p>
          <a:p>
            <a:pPr lvl="1"/>
            <a:r>
              <a:rPr lang="es-ES" dirty="0" err="1"/>
              <a:t>Adoptium</a:t>
            </a:r>
            <a:r>
              <a:rPr lang="es-ES" dirty="0"/>
              <a:t>/</a:t>
            </a:r>
            <a:r>
              <a:rPr lang="es-ES" dirty="0" err="1"/>
              <a:t>Temurin</a:t>
            </a:r>
            <a:r>
              <a:rPr lang="es-ES" dirty="0"/>
              <a:t> (Eclipse </a:t>
            </a:r>
            <a:r>
              <a:rPr lang="es-ES" dirty="0" err="1"/>
              <a:t>Foundation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Amazon </a:t>
            </a:r>
            <a:r>
              <a:rPr lang="es-ES" dirty="0" err="1"/>
              <a:t>Corretto</a:t>
            </a:r>
            <a:r>
              <a:rPr lang="es-ES" dirty="0"/>
              <a:t> (22% cuota empresarial).</a:t>
            </a:r>
          </a:p>
          <a:p>
            <a:pPr lvl="1"/>
            <a:r>
              <a:rPr lang="es-ES" dirty="0"/>
              <a:t>Azul </a:t>
            </a:r>
            <a:r>
              <a:rPr lang="es-ES" dirty="0" err="1"/>
              <a:t>Zulu</a:t>
            </a:r>
            <a:r>
              <a:rPr lang="es-ES" dirty="0"/>
              <a:t>, IBM </a:t>
            </a:r>
            <a:r>
              <a:rPr lang="es-ES" dirty="0" err="1"/>
              <a:t>Semeru</a:t>
            </a:r>
            <a:r>
              <a:rPr lang="es-ES" dirty="0"/>
              <a:t>, Microsoft </a:t>
            </a:r>
            <a:r>
              <a:rPr lang="es-ES" dirty="0" err="1"/>
              <a:t>OpenJDK</a:t>
            </a:r>
            <a:r>
              <a:rPr lang="es-ES" dirty="0"/>
              <a:t>, etc.</a:t>
            </a:r>
          </a:p>
          <a:p>
            <a:r>
              <a:rPr lang="es-ES" dirty="0"/>
              <a:t>Compatibles entre sí (todas pasan el Java </a:t>
            </a:r>
            <a:r>
              <a:rPr lang="es-ES" dirty="0" err="1"/>
              <a:t>Compatibility</a:t>
            </a:r>
            <a:r>
              <a:rPr lang="es-ES" dirty="0"/>
              <a:t> Kit).</a:t>
            </a:r>
          </a:p>
        </p:txBody>
      </p:sp>
    </p:spTree>
    <p:extLst>
      <p:ext uri="{BB962C8B-B14F-4D97-AF65-F5344CB8AC3E}">
        <p14:creationId xmlns:p14="http://schemas.microsoft.com/office/powerpoint/2010/main" val="32449620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2B08D6-1D0F-A149-DB94-5266E59E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Mantenimiento y soporte en Java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32F225-03CB-35FD-7E83-BEECA52E6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Nueva versión cada 6 meses.</a:t>
            </a:r>
          </a:p>
          <a:p>
            <a:r>
              <a:rPr lang="es-ES" dirty="0"/>
              <a:t>No LTS (Java 18, 19, 20…): soporte breve (~6 meses).</a:t>
            </a:r>
          </a:p>
          <a:p>
            <a:r>
              <a:rPr lang="es-ES" dirty="0"/>
              <a:t>LTS: soporte prolongado.</a:t>
            </a:r>
          </a:p>
          <a:p>
            <a:pPr lvl="1"/>
            <a:r>
              <a:rPr lang="es-ES" dirty="0"/>
              <a:t>Oracle: ≥ 8 años (clientes suscritos).</a:t>
            </a:r>
          </a:p>
          <a:p>
            <a:pPr lvl="1"/>
            <a:r>
              <a:rPr lang="es-ES" dirty="0"/>
              <a:t>Comunidad: ~4 años gratis (</a:t>
            </a:r>
            <a:r>
              <a:rPr lang="es-ES" dirty="0" err="1"/>
              <a:t>Adoptium</a:t>
            </a:r>
            <a:r>
              <a:rPr lang="es-ES" dirty="0"/>
              <a:t>, Red </a:t>
            </a:r>
            <a:r>
              <a:rPr lang="es-ES" dirty="0" err="1"/>
              <a:t>Hat</a:t>
            </a:r>
            <a:r>
              <a:rPr lang="es-ES" dirty="0"/>
              <a:t>…).</a:t>
            </a:r>
          </a:p>
          <a:p>
            <a:pPr lvl="1"/>
            <a:r>
              <a:rPr lang="es-ES" dirty="0"/>
              <a:t>Ej.: Java 17 → parches comunitarios hasta 2027.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030135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6DC18-0A97-9685-DA9A-CC14C0B6E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Funciones en </a:t>
            </a:r>
            <a:r>
              <a:rPr lang="es-ES" dirty="0" err="1"/>
              <a:t>preview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2834A9-DAA4-E1B8-D502-0F8984273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Desde Java 9: activar en compilador (--</a:t>
            </a:r>
            <a:r>
              <a:rPr lang="es-ES" dirty="0" err="1"/>
              <a:t>enable-preview</a:t>
            </a:r>
            <a:r>
              <a:rPr lang="es-ES" dirty="0"/>
              <a:t>).</a:t>
            </a:r>
          </a:p>
          <a:p>
            <a:r>
              <a:rPr lang="es-ES" dirty="0"/>
              <a:t>Permite probar nuevas capacidades antes de ser finales.</a:t>
            </a:r>
          </a:p>
          <a:p>
            <a:r>
              <a:rPr lang="es-ES" dirty="0"/>
              <a:t>Ejemplos:</a:t>
            </a:r>
          </a:p>
          <a:p>
            <a:pPr lvl="1"/>
            <a:r>
              <a:rPr lang="es-ES" dirty="0" err="1"/>
              <a:t>Records</a:t>
            </a:r>
            <a:r>
              <a:rPr lang="es-ES" dirty="0"/>
              <a:t> → </a:t>
            </a:r>
            <a:r>
              <a:rPr lang="es-ES" dirty="0" err="1"/>
              <a:t>preview</a:t>
            </a:r>
            <a:r>
              <a:rPr lang="es-ES" dirty="0"/>
              <a:t> en Java 14/15, final en 16.</a:t>
            </a:r>
          </a:p>
          <a:p>
            <a:pPr lvl="1"/>
            <a:r>
              <a:rPr lang="es-ES" dirty="0"/>
              <a:t>Virtual </a:t>
            </a:r>
            <a:r>
              <a:rPr lang="es-ES" dirty="0" err="1"/>
              <a:t>Threads</a:t>
            </a:r>
            <a:r>
              <a:rPr lang="es-ES" dirty="0"/>
              <a:t> → </a:t>
            </a:r>
            <a:r>
              <a:rPr lang="es-ES" dirty="0" err="1"/>
              <a:t>preview</a:t>
            </a:r>
            <a:r>
              <a:rPr lang="es-ES" dirty="0"/>
              <a:t> en 19/20, final en 21.</a:t>
            </a:r>
          </a:p>
        </p:txBody>
      </p:sp>
    </p:spTree>
    <p:extLst>
      <p:ext uri="{BB962C8B-B14F-4D97-AF65-F5344CB8AC3E}">
        <p14:creationId xmlns:p14="http://schemas.microsoft.com/office/powerpoint/2010/main" val="141941712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5B188-8778-EE31-EA4B-479EDE9C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Panorama Java en 2025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840B24-787D-ACAC-7C3C-2501FFAD8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Dos LTS recientes: Java 17 y Java 21.</a:t>
            </a:r>
          </a:p>
          <a:p>
            <a:r>
              <a:rPr lang="es-ES" dirty="0"/>
              <a:t>Flujo constante de mejoras en lenguaje y librerías.</a:t>
            </a:r>
          </a:p>
          <a:p>
            <a:r>
              <a:rPr lang="es-ES" dirty="0"/>
              <a:t>Ecosistema abierto con múltiples distribuidores del JDK.</a:t>
            </a:r>
          </a:p>
          <a:p>
            <a:r>
              <a:rPr lang="es-ES" dirty="0"/>
              <a:t>Oracle ya no es la opción por defecto → auge de </a:t>
            </a:r>
            <a:r>
              <a:rPr lang="es-ES" dirty="0" err="1"/>
              <a:t>OpenJDK</a:t>
            </a:r>
            <a:r>
              <a:rPr lang="es-ES" dirty="0"/>
              <a:t> y </a:t>
            </a:r>
            <a:r>
              <a:rPr lang="es-ES" dirty="0" err="1"/>
              <a:t>builds</a:t>
            </a:r>
            <a:r>
              <a:rPr lang="es-ES" dirty="0"/>
              <a:t> libres.</a:t>
            </a:r>
          </a:p>
        </p:txBody>
      </p:sp>
    </p:spTree>
    <p:extLst>
      <p:ext uri="{BB962C8B-B14F-4D97-AF65-F5344CB8AC3E}">
        <p14:creationId xmlns:p14="http://schemas.microsoft.com/office/powerpoint/2010/main" val="303696884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4738D-5E56-D942-E966-550B602CC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Distribución de Software Java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219D05-FCE8-1C54-E52E-9A5BE21C6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Java permitió distribuir apps independientes del SO mediante la JVM.</a:t>
            </a:r>
          </a:p>
          <a:p>
            <a:r>
              <a:rPr lang="es-ES" dirty="0"/>
              <a:t>Antiguos métodos:</a:t>
            </a:r>
          </a:p>
          <a:p>
            <a:pPr lvl="1"/>
            <a:r>
              <a:rPr lang="es-ES" dirty="0"/>
              <a:t>Applets en navegador (90s–2000s).</a:t>
            </a:r>
          </a:p>
          <a:p>
            <a:pPr lvl="1"/>
            <a:r>
              <a:rPr lang="es-ES" dirty="0"/>
              <a:t>Java Web </a:t>
            </a:r>
            <a:r>
              <a:rPr lang="es-ES" dirty="0" err="1"/>
              <a:t>Start</a:t>
            </a:r>
            <a:r>
              <a:rPr lang="es-ES" dirty="0"/>
              <a:t> (JWS) para lanzar apps de escritorio vía web.</a:t>
            </a:r>
          </a:p>
          <a:p>
            <a:r>
              <a:rPr lang="es-ES" dirty="0"/>
              <a:t>Nuevas formas: microservicios en contenedores, ejecutables nativos, despliegue en la nube.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957179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831312-68B7-F89A-EC40-8ECDC567F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Applets y JWS en la actualidad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0C395C-0B39-047A-69D9-25BCC1128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Fin de los Applets</a:t>
            </a:r>
          </a:p>
          <a:p>
            <a:pPr lvl="1"/>
            <a:r>
              <a:rPr lang="es-ES" dirty="0"/>
              <a:t>Ejecutaban código Java incrustado en páginas web vía plugin.</a:t>
            </a:r>
          </a:p>
          <a:p>
            <a:pPr lvl="1"/>
            <a:r>
              <a:rPr lang="es-ES" dirty="0"/>
              <a:t>Deprecados en JDK 9 (2017), eliminados en JDK 11.</a:t>
            </a:r>
          </a:p>
          <a:p>
            <a:pPr lvl="1"/>
            <a:r>
              <a:rPr lang="es-ES" dirty="0"/>
              <a:t>Navegadores eliminaron soporte NPAPI → incompatibles.</a:t>
            </a:r>
          </a:p>
          <a:p>
            <a:pPr lvl="1"/>
            <a:r>
              <a:rPr lang="es-ES" dirty="0"/>
              <a:t>Sustituidos por HTML5/JS, apps de escritorio o soluciones específicas (ej. </a:t>
            </a:r>
            <a:r>
              <a:rPr lang="es-ES" dirty="0" err="1"/>
              <a:t>AutoFirma</a:t>
            </a:r>
            <a:r>
              <a:rPr lang="es-ES" dirty="0"/>
              <a:t>).</a:t>
            </a:r>
          </a:p>
          <a:p>
            <a:r>
              <a:rPr lang="es-ES" dirty="0"/>
              <a:t>Fin de Java Web </a:t>
            </a:r>
            <a:r>
              <a:rPr lang="es-ES" dirty="0" err="1"/>
              <a:t>Start</a:t>
            </a:r>
            <a:endParaRPr lang="es-ES" dirty="0"/>
          </a:p>
          <a:p>
            <a:pPr lvl="1"/>
            <a:r>
              <a:rPr lang="es-ES" dirty="0"/>
              <a:t>Permitía instalar/actualizar apps Java con enlaces .</a:t>
            </a:r>
            <a:r>
              <a:rPr lang="es-ES" dirty="0" err="1"/>
              <a:t>jnlp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Deprecado en JDK 9, eliminado en JDK 11.</a:t>
            </a:r>
          </a:p>
          <a:p>
            <a:pPr lvl="1"/>
            <a:r>
              <a:rPr lang="es-ES" dirty="0"/>
              <a:t>Alternativa: </a:t>
            </a:r>
            <a:r>
              <a:rPr lang="es-ES" dirty="0" err="1"/>
              <a:t>OpenWebStart</a:t>
            </a:r>
            <a:r>
              <a:rPr lang="es-ES" dirty="0"/>
              <a:t> (open </a:t>
            </a:r>
            <a:r>
              <a:rPr lang="es-ES" dirty="0" err="1"/>
              <a:t>source</a:t>
            </a:r>
            <a:r>
              <a:rPr lang="es-ES" dirty="0"/>
              <a:t>, compatible JNLP).</a:t>
            </a:r>
          </a:p>
        </p:txBody>
      </p:sp>
    </p:spTree>
    <p:extLst>
      <p:ext uri="{BB962C8B-B14F-4D97-AF65-F5344CB8AC3E}">
        <p14:creationId xmlns:p14="http://schemas.microsoft.com/office/powerpoint/2010/main" val="38090615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2990D-A6CD-19B2-946A-72C4D37B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Modular (JPMS) y </a:t>
            </a:r>
            <a:r>
              <a:rPr lang="es-ES" dirty="0" err="1"/>
              <a:t>jlink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24E7E1-C391-E618-CBDA-C8D3B8846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Modularización</a:t>
            </a:r>
            <a:r>
              <a:rPr lang="es-ES" dirty="0"/>
              <a:t> (Java 9)</a:t>
            </a:r>
          </a:p>
          <a:p>
            <a:pPr lvl="1"/>
            <a:r>
              <a:rPr lang="es-ES" dirty="0"/>
              <a:t>Introduce JPMS (Java </a:t>
            </a:r>
            <a:r>
              <a:rPr lang="es-ES" dirty="0" err="1"/>
              <a:t>Platform</a:t>
            </a:r>
            <a:r>
              <a:rPr lang="es-ES" dirty="0"/>
              <a:t> Module </a:t>
            </a:r>
            <a:r>
              <a:rPr lang="es-ES" dirty="0" err="1"/>
              <a:t>System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Permite crear </a:t>
            </a:r>
            <a:r>
              <a:rPr lang="es-ES" dirty="0" err="1"/>
              <a:t>runtimes</a:t>
            </a:r>
            <a:r>
              <a:rPr lang="es-ES" dirty="0"/>
              <a:t> mínimos con solo los módulos necesarios.</a:t>
            </a:r>
          </a:p>
          <a:p>
            <a:pPr lvl="1"/>
            <a:r>
              <a:rPr lang="es-ES" dirty="0"/>
              <a:t>Objetivo: reducir tamaño, mejorar seguridad y encapsulación.</a:t>
            </a:r>
          </a:p>
          <a:p>
            <a:r>
              <a:rPr lang="es-ES" dirty="0" err="1"/>
              <a:t>Jlink</a:t>
            </a:r>
            <a:endParaRPr lang="es-ES" dirty="0"/>
          </a:p>
          <a:p>
            <a:pPr lvl="1"/>
            <a:r>
              <a:rPr lang="es-ES" dirty="0"/>
              <a:t>Genera imagen de </a:t>
            </a:r>
            <a:r>
              <a:rPr lang="es-ES" dirty="0" err="1"/>
              <a:t>runtime</a:t>
            </a:r>
            <a:r>
              <a:rPr lang="es-ES" dirty="0"/>
              <a:t> personalizada:</a:t>
            </a:r>
          </a:p>
          <a:p>
            <a:pPr lvl="2"/>
            <a:r>
              <a:rPr lang="es-ES" dirty="0"/>
              <a:t>JVM + librerías esenciales + clases de la app.</a:t>
            </a:r>
          </a:p>
          <a:p>
            <a:pPr lvl="2"/>
            <a:r>
              <a:rPr lang="es-ES" dirty="0"/>
              <a:t>Tamaños reducidos (ej. 30 MB vs 100 MB de un JRE completo).</a:t>
            </a:r>
          </a:p>
          <a:p>
            <a:pPr lvl="1"/>
            <a:r>
              <a:rPr lang="es-ES" dirty="0"/>
              <a:t>Ideal para contenedores Docker y entornos controlados.</a:t>
            </a:r>
          </a:p>
        </p:txBody>
      </p:sp>
    </p:spTree>
    <p:extLst>
      <p:ext uri="{BB962C8B-B14F-4D97-AF65-F5344CB8AC3E}">
        <p14:creationId xmlns:p14="http://schemas.microsoft.com/office/powerpoint/2010/main" val="93806928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69DD9-B955-22B2-2269-D42E32D8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jpackage</a:t>
            </a:r>
            <a:r>
              <a:rPr lang="fr-FR" dirty="0"/>
              <a:t> (Java 14 → </a:t>
            </a:r>
            <a:r>
              <a:rPr lang="fr-FR" dirty="0" err="1"/>
              <a:t>estable</a:t>
            </a:r>
            <a:r>
              <a:rPr lang="fr-FR" dirty="0"/>
              <a:t> en Java 16)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DA4915-94F4-D880-1CBF-81935E49E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Empaqueta el </a:t>
            </a:r>
            <a:r>
              <a:rPr lang="es-ES" dirty="0" err="1"/>
              <a:t>runtime</a:t>
            </a:r>
            <a:r>
              <a:rPr lang="es-ES" dirty="0"/>
              <a:t> modular + app en instaladores nativos:</a:t>
            </a:r>
          </a:p>
          <a:p>
            <a:pPr lvl="1"/>
            <a:r>
              <a:rPr lang="es-ES" dirty="0"/>
              <a:t>Windows: MSI / EXE</a:t>
            </a:r>
          </a:p>
          <a:p>
            <a:pPr lvl="1"/>
            <a:r>
              <a:rPr lang="es-ES" dirty="0"/>
              <a:t>macOS: PKG / DMG</a:t>
            </a:r>
          </a:p>
          <a:p>
            <a:pPr lvl="1"/>
            <a:r>
              <a:rPr lang="es-ES" dirty="0"/>
              <a:t>Linux: DEB / RPM</a:t>
            </a:r>
          </a:p>
          <a:p>
            <a:r>
              <a:rPr lang="es-ES" dirty="0"/>
              <a:t>Evita que el usuario tenga que instalar Java por separado.</a:t>
            </a:r>
          </a:p>
        </p:txBody>
      </p:sp>
    </p:spTree>
    <p:extLst>
      <p:ext uri="{BB962C8B-B14F-4D97-AF65-F5344CB8AC3E}">
        <p14:creationId xmlns:p14="http://schemas.microsoft.com/office/powerpoint/2010/main" val="28797468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A60A4-2E88-9235-0EF5-83A5B97E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Compilación Nativa con </a:t>
            </a:r>
            <a:r>
              <a:rPr lang="es-ES" dirty="0" err="1"/>
              <a:t>GraalVM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C42F4B-5824-4E53-5F72-2C30E92EC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Máquina virtual universal (Java, JavaScript, Python, R, C/C++ vía LLVM).</a:t>
            </a:r>
          </a:p>
          <a:p>
            <a:r>
              <a:rPr lang="es-ES" dirty="0"/>
              <a:t>Desarrollada por Oracle </a:t>
            </a:r>
            <a:r>
              <a:rPr lang="es-ES" dirty="0" err="1"/>
              <a:t>Labs</a:t>
            </a:r>
            <a:r>
              <a:rPr lang="es-ES" dirty="0"/>
              <a:t>.</a:t>
            </a:r>
          </a:p>
          <a:p>
            <a:r>
              <a:rPr lang="es-ES" dirty="0"/>
              <a:t>Puede ejecutar en modo JVM tradicional o generar binarios nativos (Native </a:t>
            </a:r>
            <a:r>
              <a:rPr lang="es-ES" dirty="0" err="1"/>
              <a:t>Image</a:t>
            </a:r>
            <a:r>
              <a:rPr lang="es-ES" dirty="0"/>
              <a:t>)</a:t>
            </a:r>
          </a:p>
          <a:p>
            <a:r>
              <a:rPr lang="es-ES" dirty="0"/>
              <a:t>Ventajas de la compilación nativa (AOT)</a:t>
            </a:r>
          </a:p>
          <a:p>
            <a:pPr lvl="1"/>
            <a:r>
              <a:rPr lang="es-ES" dirty="0"/>
              <a:t>Arranque ultrarrápido: ms frente a segundos de la JVM.</a:t>
            </a:r>
          </a:p>
          <a:p>
            <a:pPr lvl="1"/>
            <a:r>
              <a:rPr lang="es-ES" dirty="0"/>
              <a:t>Menor huella de memoria: decenas de MB en lugar de ~200 MB.</a:t>
            </a:r>
          </a:p>
          <a:p>
            <a:r>
              <a:rPr lang="es-ES" dirty="0"/>
              <a:t>Limitaciones</a:t>
            </a:r>
          </a:p>
          <a:p>
            <a:pPr lvl="1"/>
            <a:r>
              <a:rPr lang="es-ES" dirty="0"/>
              <a:t>Pérdida de portabilidad: binarios por plataforma.</a:t>
            </a:r>
          </a:p>
          <a:p>
            <a:pPr lvl="1"/>
            <a:r>
              <a:rPr lang="es-ES" dirty="0"/>
              <a:t>No soporta bien reflexión dinámica sin configuración.</a:t>
            </a:r>
          </a:p>
        </p:txBody>
      </p:sp>
    </p:spTree>
    <p:extLst>
      <p:ext uri="{BB962C8B-B14F-4D97-AF65-F5344CB8AC3E}">
        <p14:creationId xmlns:p14="http://schemas.microsoft.com/office/powerpoint/2010/main" val="84835688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8ECA4-EBBC-74E5-6787-2514DB29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Contenedores Docker en Java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F3A003-0B18-B13A-D7A4-0E73918C4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Docker en Java</a:t>
            </a:r>
          </a:p>
          <a:p>
            <a:pPr lvl="1"/>
            <a:r>
              <a:rPr lang="es-ES" dirty="0"/>
              <a:t>Contenedor = app + </a:t>
            </a:r>
            <a:r>
              <a:rPr lang="es-ES" dirty="0" err="1"/>
              <a:t>runtime</a:t>
            </a:r>
            <a:r>
              <a:rPr lang="es-ES" dirty="0"/>
              <a:t> + dependencias → ejecución aislada y portable.</a:t>
            </a:r>
          </a:p>
          <a:p>
            <a:pPr lvl="1"/>
            <a:r>
              <a:rPr lang="es-ES" dirty="0"/>
              <a:t>Ejemplo: amazoncorretto:17-alpine + app Spring </a:t>
            </a:r>
            <a:r>
              <a:rPr lang="es-ES" dirty="0" err="1"/>
              <a:t>Boot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Ventajas: aislamiento, portabilidad, escalado, microservicios independientes.</a:t>
            </a:r>
          </a:p>
          <a:p>
            <a:r>
              <a:rPr lang="es-ES" dirty="0"/>
              <a:t>Buenas prácticas:</a:t>
            </a:r>
          </a:p>
          <a:p>
            <a:pPr lvl="1"/>
            <a:r>
              <a:rPr lang="es-ES" dirty="0"/>
              <a:t>Imágenes base minimalistas (alpine, </a:t>
            </a:r>
            <a:r>
              <a:rPr lang="es-ES" dirty="0" err="1"/>
              <a:t>debian-slim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JPMS/</a:t>
            </a:r>
            <a:r>
              <a:rPr lang="es-ES" dirty="0" err="1"/>
              <a:t>jlink</a:t>
            </a:r>
            <a:r>
              <a:rPr lang="es-ES" dirty="0"/>
              <a:t> para JRE reducido.</a:t>
            </a:r>
          </a:p>
          <a:p>
            <a:pPr lvl="1"/>
            <a:r>
              <a:rPr lang="es-ES" dirty="0"/>
              <a:t>Construcción </a:t>
            </a:r>
            <a:r>
              <a:rPr lang="es-ES" dirty="0" err="1"/>
              <a:t>multi-fase</a:t>
            </a:r>
            <a:r>
              <a:rPr lang="es-ES" dirty="0"/>
              <a:t> (</a:t>
            </a:r>
            <a:r>
              <a:rPr lang="es-ES" dirty="0" err="1"/>
              <a:t>build</a:t>
            </a:r>
            <a:r>
              <a:rPr lang="es-ES" dirty="0"/>
              <a:t> → </a:t>
            </a:r>
            <a:r>
              <a:rPr lang="es-ES" dirty="0" err="1"/>
              <a:t>runtime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Uso de herramientas como </a:t>
            </a:r>
            <a:r>
              <a:rPr lang="es-ES" dirty="0" err="1"/>
              <a:t>Jib</a:t>
            </a:r>
            <a:r>
              <a:rPr lang="es-ES" dirty="0"/>
              <a:t> o </a:t>
            </a:r>
            <a:r>
              <a:rPr lang="es-ES" dirty="0" err="1"/>
              <a:t>Buildpacks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083937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8A930-E767-72C0-4FA4-F8527A938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Kubernetes</a:t>
            </a:r>
            <a:r>
              <a:rPr lang="es-ES" dirty="0"/>
              <a:t> en Java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2FBBDD-52D4-1724-E5A5-EC284C6B2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Orquestación de contenedores a gran escala.</a:t>
            </a:r>
          </a:p>
          <a:p>
            <a:r>
              <a:rPr lang="es-ES" dirty="0" err="1"/>
              <a:t>Pods</a:t>
            </a:r>
            <a:r>
              <a:rPr lang="es-ES" dirty="0"/>
              <a:t>, </a:t>
            </a:r>
            <a:r>
              <a:rPr lang="es-ES" dirty="0" err="1"/>
              <a:t>ConfigMaps</a:t>
            </a:r>
            <a:r>
              <a:rPr lang="es-ES" dirty="0"/>
              <a:t>/</a:t>
            </a:r>
            <a:r>
              <a:rPr lang="es-ES" dirty="0" err="1"/>
              <a:t>Secrets</a:t>
            </a:r>
            <a:r>
              <a:rPr lang="es-ES" dirty="0"/>
              <a:t>, balanceo, escalado automático (HPA).</a:t>
            </a:r>
          </a:p>
          <a:p>
            <a:r>
              <a:rPr lang="es-ES" dirty="0"/>
              <a:t>JVM adaptada para detectar límites de CPU/RAM en contenedores (Java ≥10).</a:t>
            </a:r>
          </a:p>
          <a:p>
            <a:r>
              <a:rPr lang="es-ES" dirty="0"/>
              <a:t>Integración con métricas y </a:t>
            </a:r>
            <a:r>
              <a:rPr lang="es-ES" dirty="0" err="1"/>
              <a:t>logging</a:t>
            </a:r>
            <a:r>
              <a:rPr lang="es-ES" dirty="0"/>
              <a:t> estructurado (</a:t>
            </a:r>
            <a:r>
              <a:rPr lang="es-ES" dirty="0" err="1"/>
              <a:t>Micrometer</a:t>
            </a:r>
            <a:r>
              <a:rPr lang="es-ES" dirty="0"/>
              <a:t>, </a:t>
            </a:r>
            <a:r>
              <a:rPr lang="es-ES" dirty="0" err="1"/>
              <a:t>Prometheus</a:t>
            </a:r>
            <a:r>
              <a:rPr lang="es-E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9362627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689E8-AFB5-6F89-1492-79282249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 Java EE a </a:t>
            </a:r>
            <a:r>
              <a:rPr lang="es-ES" dirty="0" err="1"/>
              <a:t>Jakarta</a:t>
            </a:r>
            <a:r>
              <a:rPr lang="es-ES" dirty="0"/>
              <a:t> EE y </a:t>
            </a:r>
            <a:r>
              <a:rPr lang="es-ES" dirty="0" err="1"/>
              <a:t>MicroProfile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326B1D-AE39-5E5F-8BA2-7B1F31738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Orígenes: Java EE</a:t>
            </a:r>
          </a:p>
          <a:p>
            <a:pPr lvl="1"/>
            <a:r>
              <a:rPr lang="es-ES" dirty="0"/>
              <a:t>Estándar empresarial desde finales de los 90 (J2EE → Java EE).</a:t>
            </a:r>
          </a:p>
          <a:p>
            <a:pPr lvl="1"/>
            <a:r>
              <a:rPr lang="es-ES" dirty="0" err="1"/>
              <a:t>APIs</a:t>
            </a:r>
            <a:r>
              <a:rPr lang="es-ES" dirty="0"/>
              <a:t> clave: </a:t>
            </a:r>
            <a:r>
              <a:rPr lang="es-ES" dirty="0" err="1"/>
              <a:t>Servlets</a:t>
            </a:r>
            <a:r>
              <a:rPr lang="es-ES" dirty="0"/>
              <a:t>, JSP/JSF, EJB, CDI, JPA, JDBC, JMS, JAX-WS.</a:t>
            </a:r>
          </a:p>
          <a:p>
            <a:pPr lvl="1"/>
            <a:r>
              <a:rPr lang="es-ES" dirty="0"/>
              <a:t>Servidores compatibles: </a:t>
            </a:r>
            <a:r>
              <a:rPr lang="es-ES" dirty="0" err="1"/>
              <a:t>GlassFish</a:t>
            </a:r>
            <a:r>
              <a:rPr lang="es-ES" dirty="0"/>
              <a:t>, WebSphere, </a:t>
            </a:r>
            <a:r>
              <a:rPr lang="es-ES" dirty="0" err="1"/>
              <a:t>JBoss</a:t>
            </a:r>
            <a:r>
              <a:rPr lang="es-ES" dirty="0"/>
              <a:t>/</a:t>
            </a:r>
            <a:r>
              <a:rPr lang="es-ES" dirty="0" err="1"/>
              <a:t>WildFly</a:t>
            </a:r>
            <a:r>
              <a:rPr lang="es-ES" dirty="0"/>
              <a:t>, </a:t>
            </a:r>
            <a:r>
              <a:rPr lang="es-ES" dirty="0" err="1"/>
              <a:t>TomEE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Desarrollo colaborativo bajo el Java </a:t>
            </a:r>
            <a:r>
              <a:rPr lang="es-ES" dirty="0" err="1"/>
              <a:t>Community</a:t>
            </a:r>
            <a:r>
              <a:rPr lang="es-ES" dirty="0"/>
              <a:t> </a:t>
            </a:r>
            <a:r>
              <a:rPr lang="es-ES" dirty="0" err="1"/>
              <a:t>Process</a:t>
            </a:r>
            <a:r>
              <a:rPr lang="es-ES" dirty="0"/>
              <a:t> (JCP).</a:t>
            </a:r>
          </a:p>
          <a:p>
            <a:r>
              <a:rPr lang="es-ES" dirty="0"/>
              <a:t>Transición a </a:t>
            </a:r>
            <a:r>
              <a:rPr lang="es-ES" dirty="0" err="1"/>
              <a:t>Jakarta</a:t>
            </a:r>
            <a:r>
              <a:rPr lang="es-ES" dirty="0"/>
              <a:t> EE (2018)</a:t>
            </a:r>
          </a:p>
          <a:p>
            <a:pPr lvl="1"/>
            <a:r>
              <a:rPr lang="es-ES" dirty="0"/>
              <a:t>Oracle dona Java EE a Eclipse </a:t>
            </a:r>
            <a:r>
              <a:rPr lang="es-ES" dirty="0" err="1"/>
              <a:t>Foundation</a:t>
            </a:r>
            <a:r>
              <a:rPr lang="es-ES" dirty="0"/>
              <a:t> para acelerar la innovación.</a:t>
            </a:r>
          </a:p>
          <a:p>
            <a:pPr lvl="1"/>
            <a:r>
              <a:rPr lang="es-ES" dirty="0"/>
              <a:t>Restricción legal: no usar el nombre “Java EE” → nuevo nombre </a:t>
            </a:r>
            <a:r>
              <a:rPr lang="es-ES" dirty="0" err="1"/>
              <a:t>Jakarta</a:t>
            </a:r>
            <a:r>
              <a:rPr lang="es-ES" dirty="0"/>
              <a:t> EE.</a:t>
            </a:r>
          </a:p>
          <a:p>
            <a:pPr lvl="1"/>
            <a:r>
              <a:rPr lang="es-ES" dirty="0"/>
              <a:t>Inspirado en Apache </a:t>
            </a:r>
            <a:r>
              <a:rPr lang="es-ES" dirty="0" err="1"/>
              <a:t>Jakarta</a:t>
            </a:r>
            <a:r>
              <a:rPr lang="es-ES" dirty="0"/>
              <a:t> y la referencia al café Java.</a:t>
            </a:r>
          </a:p>
        </p:txBody>
      </p:sp>
    </p:spTree>
    <p:extLst>
      <p:ext uri="{BB962C8B-B14F-4D97-AF65-F5344CB8AC3E}">
        <p14:creationId xmlns:p14="http://schemas.microsoft.com/office/powerpoint/2010/main" val="343033425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9BC5A-904E-4947-7298-3D6437EE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 Java EE a </a:t>
            </a:r>
            <a:r>
              <a:rPr lang="es-ES" dirty="0" err="1"/>
              <a:t>Jakarta</a:t>
            </a:r>
            <a:r>
              <a:rPr lang="es-ES" dirty="0"/>
              <a:t> EE y </a:t>
            </a:r>
            <a:r>
              <a:rPr lang="es-ES" dirty="0" err="1"/>
              <a:t>MicroProfile</a:t>
            </a:r>
            <a:r>
              <a:rPr lang="es-ES" dirty="0"/>
              <a:t>(II)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CDE757-50D7-1073-1BC4-42209D094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Principales hitos</a:t>
            </a:r>
          </a:p>
          <a:p>
            <a:pPr lvl="1"/>
            <a:r>
              <a:rPr lang="es-ES" dirty="0" err="1"/>
              <a:t>Jakarta</a:t>
            </a:r>
            <a:r>
              <a:rPr lang="es-ES" dirty="0"/>
              <a:t> EE 8 (2019) → igual que Java EE 8, cambio solo de gobernanza.</a:t>
            </a:r>
          </a:p>
          <a:p>
            <a:pPr lvl="1"/>
            <a:r>
              <a:rPr lang="es-ES" dirty="0" err="1"/>
              <a:t>Jakarta</a:t>
            </a:r>
            <a:r>
              <a:rPr lang="es-ES" dirty="0"/>
              <a:t> EE 9 (2020) → cambio de javax.* a </a:t>
            </a:r>
            <a:r>
              <a:rPr lang="es-ES" dirty="0" err="1"/>
              <a:t>jakarta</a:t>
            </a:r>
            <a:r>
              <a:rPr lang="es-ES" dirty="0"/>
              <a:t>.*.</a:t>
            </a:r>
          </a:p>
          <a:p>
            <a:pPr lvl="1"/>
            <a:r>
              <a:rPr lang="es-ES" dirty="0" err="1"/>
              <a:t>Jakarta</a:t>
            </a:r>
            <a:r>
              <a:rPr lang="es-ES" dirty="0"/>
              <a:t> EE 10 (2022) → mejoras en Servlet 6.0, JSF 4.0, JAX-RS 3.1, Core </a:t>
            </a:r>
            <a:r>
              <a:rPr lang="es-ES" dirty="0" err="1"/>
              <a:t>Profile</a:t>
            </a:r>
            <a:r>
              <a:rPr lang="es-ES" dirty="0"/>
              <a:t> para microservicios.</a:t>
            </a:r>
          </a:p>
          <a:p>
            <a:pPr lvl="1"/>
            <a:r>
              <a:rPr lang="es-ES" dirty="0" err="1"/>
              <a:t>Jakarta</a:t>
            </a:r>
            <a:r>
              <a:rPr lang="es-ES" dirty="0"/>
              <a:t> EE 11 (2024/25) → integración con Virtual </a:t>
            </a:r>
            <a:r>
              <a:rPr lang="es-ES" dirty="0" err="1"/>
              <a:t>Threads</a:t>
            </a:r>
            <a:r>
              <a:rPr lang="es-ES" dirty="0"/>
              <a:t> (Java 21), mejoras </a:t>
            </a:r>
            <a:r>
              <a:rPr lang="es-ES" dirty="0" err="1"/>
              <a:t>cloud</a:t>
            </a:r>
            <a:r>
              <a:rPr lang="es-ES" dirty="0"/>
              <a:t>-native y seguridad JWT/OAuth 2.1.</a:t>
            </a:r>
          </a:p>
        </p:txBody>
      </p:sp>
    </p:spTree>
    <p:extLst>
      <p:ext uri="{BB962C8B-B14F-4D97-AF65-F5344CB8AC3E}">
        <p14:creationId xmlns:p14="http://schemas.microsoft.com/office/powerpoint/2010/main" val="52274674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54D71-5BEA-386C-5228-C3FDCF3B0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Impacto y panorama actual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D40008-DFEC-5A7E-FB29-8B1C888BC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Jakarta</a:t>
            </a:r>
            <a:r>
              <a:rPr lang="es-ES" dirty="0"/>
              <a:t> EE hoy</a:t>
            </a:r>
          </a:p>
          <a:p>
            <a:pPr lvl="1"/>
            <a:r>
              <a:rPr lang="es-ES" dirty="0"/>
              <a:t>Mismo núcleo que Java EE: </a:t>
            </a:r>
            <a:r>
              <a:rPr lang="es-ES" dirty="0" err="1"/>
              <a:t>APIs</a:t>
            </a:r>
            <a:r>
              <a:rPr lang="es-ES" dirty="0"/>
              <a:t> renombradas (</a:t>
            </a:r>
            <a:r>
              <a:rPr lang="es-ES" dirty="0" err="1"/>
              <a:t>jakarta</a:t>
            </a:r>
            <a:r>
              <a:rPr lang="es-ES" dirty="0"/>
              <a:t>.*), mismas funcionalidades clave.</a:t>
            </a:r>
          </a:p>
          <a:p>
            <a:pPr lvl="1"/>
            <a:r>
              <a:rPr lang="es-ES" dirty="0"/>
              <a:t>Migración asistida por los principales servidores: </a:t>
            </a:r>
            <a:r>
              <a:rPr lang="es-ES" dirty="0" err="1"/>
              <a:t>GlassFish</a:t>
            </a:r>
            <a:r>
              <a:rPr lang="es-ES" dirty="0"/>
              <a:t>, </a:t>
            </a:r>
            <a:r>
              <a:rPr lang="es-ES" dirty="0" err="1"/>
              <a:t>WildFly</a:t>
            </a:r>
            <a:r>
              <a:rPr lang="es-ES" dirty="0"/>
              <a:t>, WebSphere Liberty, Payara, </a:t>
            </a:r>
            <a:r>
              <a:rPr lang="es-ES" dirty="0" err="1"/>
              <a:t>TomEE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Gobernanza abierta en Eclipse </a:t>
            </a:r>
            <a:r>
              <a:rPr lang="es-ES" dirty="0" err="1"/>
              <a:t>Foundation</a:t>
            </a:r>
            <a:r>
              <a:rPr lang="es-ES" dirty="0"/>
              <a:t> → colaboración de Oracle, IBM, Red </a:t>
            </a:r>
            <a:r>
              <a:rPr lang="es-ES" dirty="0" err="1"/>
              <a:t>Hat</a:t>
            </a:r>
            <a:r>
              <a:rPr lang="es-ES" dirty="0"/>
              <a:t>, Payara, </a:t>
            </a:r>
            <a:r>
              <a:rPr lang="es-ES" dirty="0" err="1"/>
              <a:t>Tomitribe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Adaptación a la nube: integración con Docker/</a:t>
            </a:r>
            <a:r>
              <a:rPr lang="es-ES" dirty="0" err="1"/>
              <a:t>Kubernetes</a:t>
            </a:r>
            <a:r>
              <a:rPr lang="es-ES" dirty="0"/>
              <a:t>, arquitecturas reactivas, seguridad moderna (JWT, OAuth).</a:t>
            </a:r>
          </a:p>
        </p:txBody>
      </p:sp>
    </p:spTree>
    <p:extLst>
      <p:ext uri="{BB962C8B-B14F-4D97-AF65-F5344CB8AC3E}">
        <p14:creationId xmlns:p14="http://schemas.microsoft.com/office/powerpoint/2010/main" val="60648922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E594D-65C5-1ED2-1842-93D181135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Eclipse </a:t>
            </a:r>
            <a:r>
              <a:rPr lang="es-ES" dirty="0" err="1"/>
              <a:t>MicroProfile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13C522-0301-9F7E-1CD5-443E2EA8E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Optimiza </a:t>
            </a:r>
            <a:r>
              <a:rPr lang="es-ES" dirty="0" err="1"/>
              <a:t>Jakarta</a:t>
            </a:r>
            <a:r>
              <a:rPr lang="es-ES" dirty="0"/>
              <a:t> EE para microservicios.</a:t>
            </a:r>
          </a:p>
          <a:p>
            <a:r>
              <a:rPr lang="es-ES" dirty="0"/>
              <a:t>Incluye:</a:t>
            </a:r>
          </a:p>
          <a:p>
            <a:pPr lvl="1"/>
            <a:r>
              <a:rPr lang="es-ES" dirty="0"/>
              <a:t>Configuración externa (</a:t>
            </a:r>
            <a:r>
              <a:rPr lang="es-ES" dirty="0" err="1"/>
              <a:t>MicroProfile</a:t>
            </a:r>
            <a:r>
              <a:rPr lang="es-ES" dirty="0"/>
              <a:t> </a:t>
            </a:r>
            <a:r>
              <a:rPr lang="es-ES" dirty="0" err="1"/>
              <a:t>Config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Tolerancia a fallos (</a:t>
            </a:r>
            <a:r>
              <a:rPr lang="es-ES" dirty="0" err="1"/>
              <a:t>Fault</a:t>
            </a:r>
            <a:r>
              <a:rPr lang="es-ES" dirty="0"/>
              <a:t> </a:t>
            </a:r>
            <a:r>
              <a:rPr lang="es-ES" dirty="0" err="1"/>
              <a:t>Tolerance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Métricas (</a:t>
            </a:r>
            <a:r>
              <a:rPr lang="es-ES" dirty="0" err="1"/>
              <a:t>Metrics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Cliente REST tipado.</a:t>
            </a:r>
          </a:p>
          <a:p>
            <a:pPr lvl="1"/>
            <a:r>
              <a:rPr lang="es-ES" dirty="0"/>
              <a:t>Seguridad JWT </a:t>
            </a:r>
            <a:r>
              <a:rPr lang="es-ES" dirty="0" err="1"/>
              <a:t>Propagation</a:t>
            </a:r>
            <a:r>
              <a:rPr lang="es-ES" dirty="0"/>
              <a:t>.</a:t>
            </a:r>
          </a:p>
          <a:p>
            <a:pPr lvl="1"/>
            <a:r>
              <a:rPr lang="es-ES" dirty="0" err="1"/>
              <a:t>OpenAPI</a:t>
            </a:r>
            <a:r>
              <a:rPr lang="es-ES" dirty="0"/>
              <a:t>.</a:t>
            </a:r>
          </a:p>
          <a:p>
            <a:r>
              <a:rPr lang="es-ES" dirty="0"/>
              <a:t>Implementaciones: Payara Micro, WebSphere Liberty, </a:t>
            </a:r>
            <a:r>
              <a:rPr lang="es-ES" dirty="0" err="1"/>
              <a:t>WildFly</a:t>
            </a:r>
            <a:r>
              <a:rPr lang="es-ES" dirty="0"/>
              <a:t> (modo </a:t>
            </a:r>
            <a:r>
              <a:rPr lang="es-ES" dirty="0" err="1"/>
              <a:t>MicroProfile</a:t>
            </a:r>
            <a:r>
              <a:rPr lang="es-ES" dirty="0"/>
              <a:t>), </a:t>
            </a:r>
            <a:r>
              <a:rPr lang="es-ES" dirty="0" err="1"/>
              <a:t>Thorntail</a:t>
            </a:r>
            <a:r>
              <a:rPr lang="es-ES" dirty="0"/>
              <a:t>, </a:t>
            </a:r>
            <a:r>
              <a:rPr lang="es-ES" dirty="0" err="1"/>
              <a:t>KumuluzE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5772859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F9F23F-C13C-BCA7-FB0D-3F96B9BA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Dos caminos en Java empresarial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14D4AB-DAAF-6143-F3D9-E178F1AF8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Jakarta</a:t>
            </a:r>
            <a:r>
              <a:rPr lang="es-ES" dirty="0"/>
              <a:t> EE tradicional</a:t>
            </a:r>
          </a:p>
          <a:p>
            <a:pPr lvl="1"/>
            <a:r>
              <a:rPr lang="es-ES" dirty="0"/>
              <a:t>Servidores certificados (</a:t>
            </a:r>
            <a:r>
              <a:rPr lang="es-ES" dirty="0" err="1"/>
              <a:t>GlassFish</a:t>
            </a:r>
            <a:r>
              <a:rPr lang="es-ES" dirty="0"/>
              <a:t>, </a:t>
            </a:r>
            <a:r>
              <a:rPr lang="es-ES" dirty="0" err="1"/>
              <a:t>WildFly</a:t>
            </a:r>
            <a:r>
              <a:rPr lang="es-ES" dirty="0"/>
              <a:t>, </a:t>
            </a:r>
            <a:r>
              <a:rPr lang="es-ES" dirty="0" err="1"/>
              <a:t>OpenLiberty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Despliegue WAR/EAR.</a:t>
            </a:r>
          </a:p>
          <a:p>
            <a:pPr lvl="1"/>
            <a:r>
              <a:rPr lang="es-ES" dirty="0"/>
              <a:t>Compatibilidad y estándares.</a:t>
            </a:r>
          </a:p>
          <a:p>
            <a:r>
              <a:rPr lang="es-ES" dirty="0" err="1"/>
              <a:t>Frameworks</a:t>
            </a:r>
            <a:r>
              <a:rPr lang="es-ES" dirty="0"/>
              <a:t> ligeros y </a:t>
            </a:r>
            <a:r>
              <a:rPr lang="es-ES" dirty="0" err="1"/>
              <a:t>cloud</a:t>
            </a:r>
            <a:r>
              <a:rPr lang="es-ES" dirty="0"/>
              <a:t>-native</a:t>
            </a:r>
          </a:p>
          <a:p>
            <a:pPr lvl="1"/>
            <a:r>
              <a:rPr lang="es-ES" dirty="0"/>
              <a:t>Spring </a:t>
            </a:r>
            <a:r>
              <a:rPr lang="es-ES" dirty="0" err="1"/>
              <a:t>Boot</a:t>
            </a:r>
            <a:r>
              <a:rPr lang="es-ES" dirty="0"/>
              <a:t>, </a:t>
            </a:r>
            <a:r>
              <a:rPr lang="es-ES" dirty="0" err="1"/>
              <a:t>Quarkus</a:t>
            </a:r>
            <a:r>
              <a:rPr lang="es-ES" dirty="0"/>
              <a:t>, </a:t>
            </a:r>
            <a:r>
              <a:rPr lang="es-ES" dirty="0" err="1"/>
              <a:t>Micronaut</a:t>
            </a:r>
            <a:r>
              <a:rPr lang="es-ES" dirty="0"/>
              <a:t>, </a:t>
            </a:r>
            <a:r>
              <a:rPr lang="es-ES" dirty="0" err="1"/>
              <a:t>Helidon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Servidores embebidos, arranque rápido, optimizados para contenedores y </a:t>
            </a:r>
            <a:r>
              <a:rPr lang="es-ES" dirty="0" err="1"/>
              <a:t>GraalVM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90924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48909-EFC2-56E5-F40B-6C477E8E7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Servidores de aplicaciones actuales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E82BD2-C11D-6CED-F447-DAD2B2C1A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71574"/>
            <a:ext cx="10653579" cy="5414963"/>
          </a:xfrm>
        </p:spPr>
        <p:txBody>
          <a:bodyPr>
            <a:normAutofit/>
          </a:bodyPr>
          <a:lstStyle/>
          <a:p>
            <a:r>
              <a:rPr lang="es-ES" dirty="0"/>
              <a:t>Clásicos </a:t>
            </a:r>
            <a:r>
              <a:rPr lang="es-ES" dirty="0" err="1"/>
              <a:t>Jakarta</a:t>
            </a:r>
            <a:r>
              <a:rPr lang="es-ES" dirty="0"/>
              <a:t> EE</a:t>
            </a:r>
          </a:p>
          <a:p>
            <a:pPr lvl="1"/>
            <a:r>
              <a:rPr lang="es-ES" dirty="0" err="1"/>
              <a:t>WildFly</a:t>
            </a:r>
            <a:r>
              <a:rPr lang="es-ES" dirty="0"/>
              <a:t> / </a:t>
            </a:r>
            <a:r>
              <a:rPr lang="es-ES" dirty="0" err="1"/>
              <a:t>JBoss</a:t>
            </a:r>
            <a:r>
              <a:rPr lang="es-ES" dirty="0"/>
              <a:t> (Red </a:t>
            </a:r>
            <a:r>
              <a:rPr lang="es-ES" dirty="0" err="1"/>
              <a:t>Hat</a:t>
            </a:r>
            <a:r>
              <a:rPr lang="es-ES" dirty="0"/>
              <a:t>)</a:t>
            </a:r>
          </a:p>
          <a:p>
            <a:pPr lvl="2"/>
            <a:r>
              <a:rPr lang="es-ES" dirty="0" err="1"/>
              <a:t>Jakarta</a:t>
            </a:r>
            <a:r>
              <a:rPr lang="es-ES" dirty="0"/>
              <a:t> EE 10, soporte </a:t>
            </a:r>
            <a:r>
              <a:rPr lang="es-ES" dirty="0" err="1"/>
              <a:t>MicroProfile</a:t>
            </a:r>
            <a:r>
              <a:rPr lang="es-ES" dirty="0"/>
              <a:t>.</a:t>
            </a:r>
          </a:p>
          <a:p>
            <a:pPr lvl="2"/>
            <a:r>
              <a:rPr lang="es-ES" dirty="0"/>
              <a:t>Modo modular y </a:t>
            </a:r>
            <a:r>
              <a:rPr lang="es-ES" dirty="0" err="1"/>
              <a:t>WildFly</a:t>
            </a:r>
            <a:r>
              <a:rPr lang="es-ES" dirty="0"/>
              <a:t> </a:t>
            </a:r>
            <a:r>
              <a:rPr lang="es-ES" dirty="0" err="1"/>
              <a:t>Bootable</a:t>
            </a:r>
            <a:r>
              <a:rPr lang="es-ES" dirty="0"/>
              <a:t> JAR.</a:t>
            </a:r>
          </a:p>
          <a:p>
            <a:pPr lvl="1"/>
            <a:r>
              <a:rPr lang="es-ES" dirty="0"/>
              <a:t>WebLogic (Oracle)</a:t>
            </a:r>
          </a:p>
          <a:p>
            <a:pPr lvl="2"/>
            <a:r>
              <a:rPr lang="es-ES" dirty="0"/>
              <a:t>Compatible Java EE 8 (</a:t>
            </a:r>
            <a:r>
              <a:rPr lang="es-ES" dirty="0" err="1"/>
              <a:t>javax</a:t>
            </a:r>
            <a:r>
              <a:rPr lang="es-ES" dirty="0"/>
              <a:t>) y </a:t>
            </a:r>
            <a:r>
              <a:rPr lang="es-ES" dirty="0" err="1"/>
              <a:t>Jakarta</a:t>
            </a:r>
            <a:r>
              <a:rPr lang="es-ES" dirty="0"/>
              <a:t> (</a:t>
            </a:r>
            <a:r>
              <a:rPr lang="es-ES" dirty="0" err="1"/>
              <a:t>jakarta</a:t>
            </a:r>
            <a:r>
              <a:rPr lang="es-ES" dirty="0"/>
              <a:t>) vía </a:t>
            </a:r>
            <a:r>
              <a:rPr lang="es-ES" dirty="0" err="1"/>
              <a:t>namespace</a:t>
            </a:r>
            <a:r>
              <a:rPr lang="es-ES" dirty="0"/>
              <a:t> switch.</a:t>
            </a:r>
          </a:p>
          <a:p>
            <a:pPr lvl="1"/>
            <a:r>
              <a:rPr lang="es-ES" dirty="0"/>
              <a:t>WebSphere / Open Liberty (IBM)</a:t>
            </a:r>
          </a:p>
          <a:p>
            <a:pPr lvl="2"/>
            <a:r>
              <a:rPr lang="es-ES" dirty="0"/>
              <a:t>Open </a:t>
            </a:r>
            <a:r>
              <a:rPr lang="es-ES" dirty="0" err="1"/>
              <a:t>source</a:t>
            </a:r>
            <a:r>
              <a:rPr lang="es-ES" dirty="0"/>
              <a:t> modular (Open Liberty) + versión comercial.</a:t>
            </a:r>
          </a:p>
          <a:p>
            <a:pPr lvl="2"/>
            <a:r>
              <a:rPr lang="es-ES" dirty="0" err="1"/>
              <a:t>Jakarta</a:t>
            </a:r>
            <a:r>
              <a:rPr lang="es-ES" dirty="0"/>
              <a:t> EE + </a:t>
            </a:r>
            <a:r>
              <a:rPr lang="es-ES" dirty="0" err="1"/>
              <a:t>MicroProfile</a:t>
            </a:r>
            <a:r>
              <a:rPr lang="es-ES" dirty="0"/>
              <a:t>, apto para contenedores.</a:t>
            </a:r>
          </a:p>
          <a:p>
            <a:pPr lvl="1"/>
            <a:r>
              <a:rPr lang="es-ES" dirty="0" err="1"/>
              <a:t>GlassFish</a:t>
            </a:r>
            <a:r>
              <a:rPr lang="es-ES" dirty="0"/>
              <a:t> / </a:t>
            </a:r>
            <a:r>
              <a:rPr lang="es-ES" dirty="0" err="1"/>
              <a:t>PayaraGlassFish</a:t>
            </a:r>
            <a:endParaRPr lang="es-ES" dirty="0"/>
          </a:p>
          <a:p>
            <a:pPr lvl="1"/>
            <a:r>
              <a:rPr lang="es-ES" dirty="0"/>
              <a:t>Apache Tomcat / </a:t>
            </a:r>
            <a:r>
              <a:rPr lang="es-ES" dirty="0" err="1"/>
              <a:t>Jetty</a:t>
            </a:r>
            <a:endParaRPr lang="es-ES" dirty="0"/>
          </a:p>
          <a:p>
            <a:pPr lvl="2"/>
            <a:r>
              <a:rPr lang="es-ES" dirty="0"/>
              <a:t>Contenedores Servlet (no full EE).</a:t>
            </a:r>
          </a:p>
          <a:p>
            <a:pPr lvl="2"/>
            <a:r>
              <a:rPr lang="es-ES" dirty="0"/>
              <a:t>Muy usados embebidos en Spring </a:t>
            </a:r>
            <a:r>
              <a:rPr lang="es-ES" dirty="0" err="1"/>
              <a:t>Boot</a:t>
            </a:r>
            <a:r>
              <a:rPr lang="es-ES" dirty="0"/>
              <a:t>.</a:t>
            </a:r>
          </a:p>
          <a:p>
            <a:pPr lvl="1"/>
            <a:r>
              <a:rPr lang="es-ES" dirty="0" err="1"/>
              <a:t>TomEE</a:t>
            </a:r>
            <a:r>
              <a:rPr lang="es-ES" dirty="0"/>
              <a:t> : Tomcat + </a:t>
            </a:r>
            <a:r>
              <a:rPr lang="es-ES" dirty="0" err="1"/>
              <a:t>APIs</a:t>
            </a:r>
            <a:r>
              <a:rPr lang="es-ES" dirty="0"/>
              <a:t> EE básicas (CDI, JAX-RS, JPA).</a:t>
            </a:r>
          </a:p>
          <a:p>
            <a:pPr lvl="2"/>
            <a:endParaRPr lang="es-ES" dirty="0"/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430808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E248B-B504-0683-7BC2-5E9BF511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Alternativas ligeras y </a:t>
            </a:r>
            <a:r>
              <a:rPr lang="es-ES" dirty="0" err="1"/>
              <a:t>cloud</a:t>
            </a:r>
            <a:r>
              <a:rPr lang="es-ES" dirty="0"/>
              <a:t>-native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BC728F-8A41-4717-CE04-995B180CF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Spring </a:t>
            </a:r>
            <a:r>
              <a:rPr lang="es-ES" dirty="0" err="1"/>
              <a:t>Boot</a:t>
            </a:r>
            <a:r>
              <a:rPr lang="es-ES" dirty="0"/>
              <a:t> → Tomcat/</a:t>
            </a:r>
            <a:r>
              <a:rPr lang="es-ES" dirty="0" err="1"/>
              <a:t>Jetty</a:t>
            </a:r>
            <a:r>
              <a:rPr lang="es-ES" dirty="0"/>
              <a:t>/</a:t>
            </a:r>
            <a:r>
              <a:rPr lang="es-ES" dirty="0" err="1"/>
              <a:t>Netty</a:t>
            </a:r>
            <a:r>
              <a:rPr lang="es-ES" dirty="0"/>
              <a:t> embebido.</a:t>
            </a:r>
          </a:p>
          <a:p>
            <a:r>
              <a:rPr lang="es-ES" dirty="0" err="1"/>
              <a:t>Quarkus</a:t>
            </a:r>
            <a:r>
              <a:rPr lang="es-ES" dirty="0"/>
              <a:t> (Red </a:t>
            </a:r>
            <a:r>
              <a:rPr lang="es-ES" dirty="0" err="1"/>
              <a:t>Hat</a:t>
            </a:r>
            <a:r>
              <a:rPr lang="es-ES" dirty="0"/>
              <a:t>) → optimizado para </a:t>
            </a:r>
            <a:r>
              <a:rPr lang="es-ES" dirty="0" err="1"/>
              <a:t>GraalVM</a:t>
            </a:r>
            <a:r>
              <a:rPr lang="es-ES" dirty="0"/>
              <a:t>, </a:t>
            </a:r>
            <a:r>
              <a:rPr lang="es-ES" dirty="0" err="1"/>
              <a:t>MicroProfile</a:t>
            </a:r>
            <a:r>
              <a:rPr lang="es-ES" dirty="0"/>
              <a:t>.</a:t>
            </a:r>
          </a:p>
          <a:p>
            <a:r>
              <a:rPr lang="es-ES" dirty="0" err="1"/>
              <a:t>Micronaut</a:t>
            </a:r>
            <a:r>
              <a:rPr lang="es-ES" dirty="0"/>
              <a:t> (Oracle) → compilación AOT, </a:t>
            </a:r>
            <a:r>
              <a:rPr lang="es-ES" dirty="0" err="1"/>
              <a:t>serverless-friendly</a:t>
            </a:r>
            <a:r>
              <a:rPr lang="es-ES" dirty="0"/>
              <a:t>.</a:t>
            </a:r>
          </a:p>
          <a:p>
            <a:r>
              <a:rPr lang="es-ES" dirty="0" err="1"/>
              <a:t>Helidon</a:t>
            </a:r>
            <a:r>
              <a:rPr lang="es-ES" dirty="0"/>
              <a:t> (Oracle)</a:t>
            </a:r>
          </a:p>
          <a:p>
            <a:pPr lvl="1"/>
            <a:r>
              <a:rPr lang="es-ES" dirty="0"/>
              <a:t>SE: estilo </a:t>
            </a:r>
            <a:r>
              <a:rPr lang="es-ES" dirty="0" err="1"/>
              <a:t>handler</a:t>
            </a:r>
            <a:r>
              <a:rPr lang="es-ES" dirty="0"/>
              <a:t> funcional.</a:t>
            </a:r>
          </a:p>
          <a:p>
            <a:pPr lvl="1"/>
            <a:r>
              <a:rPr lang="es-ES" dirty="0"/>
              <a:t>MP: implementación de </a:t>
            </a:r>
            <a:r>
              <a:rPr lang="es-ES" dirty="0" err="1"/>
              <a:t>MicroProfile</a:t>
            </a:r>
            <a:r>
              <a:rPr lang="es-ES" dirty="0"/>
              <a:t>.</a:t>
            </a:r>
          </a:p>
          <a:p>
            <a:r>
              <a:rPr lang="es-ES" dirty="0"/>
              <a:t>Akka → modelo de actores (nicho: </a:t>
            </a:r>
            <a:r>
              <a:rPr lang="es-ES" dirty="0" err="1"/>
              <a:t>telecom</a:t>
            </a:r>
            <a:r>
              <a:rPr lang="es-ES" dirty="0"/>
              <a:t>, finanzas).</a:t>
            </a:r>
          </a:p>
          <a:p>
            <a:r>
              <a:rPr lang="es-ES" dirty="0" err="1"/>
              <a:t>Serverless</a:t>
            </a:r>
            <a:r>
              <a:rPr lang="es-ES" dirty="0"/>
              <a:t> → </a:t>
            </a:r>
            <a:r>
              <a:rPr lang="es-ES" dirty="0" err="1"/>
              <a:t>Fn</a:t>
            </a:r>
            <a:r>
              <a:rPr lang="es-ES" dirty="0"/>
              <a:t> Project, AWS Lambda (Java con arranque optimizado).</a:t>
            </a:r>
          </a:p>
        </p:txBody>
      </p:sp>
    </p:spTree>
    <p:extLst>
      <p:ext uri="{BB962C8B-B14F-4D97-AF65-F5344CB8AC3E}">
        <p14:creationId xmlns:p14="http://schemas.microsoft.com/office/powerpoint/2010/main" val="122417806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5AE1E-2397-F3E3-23C3-64E506179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2767405"/>
            <a:ext cx="10653578" cy="1132258"/>
          </a:xfrm>
        </p:spPr>
        <p:txBody>
          <a:bodyPr/>
          <a:lstStyle/>
          <a:p>
            <a:pPr algn="ctr"/>
            <a:r>
              <a:rPr lang="es-ES" dirty="0"/>
              <a:t>¿Preguntas?</a:t>
            </a:r>
          </a:p>
        </p:txBody>
      </p:sp>
    </p:spTree>
    <p:extLst>
      <p:ext uri="{BB962C8B-B14F-4D97-AF65-F5344CB8AC3E}">
        <p14:creationId xmlns:p14="http://schemas.microsoft.com/office/powerpoint/2010/main" val="61853876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</TotalTime>
  <Words>7446</Words>
  <Application>Microsoft Office PowerPoint</Application>
  <PresentationFormat>Panorámica</PresentationFormat>
  <Paragraphs>920</Paragraphs>
  <Slides>106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106</vt:i4>
      </vt:variant>
    </vt:vector>
  </HeadingPairs>
  <TitlesOfParts>
    <vt:vector size="110" baseType="lpstr">
      <vt:lpstr>Arial</vt:lpstr>
      <vt:lpstr>Courier New</vt:lpstr>
      <vt:lpstr>Neue Haas Grotesk Text Pro</vt:lpstr>
      <vt:lpstr>VanillaVTI</vt:lpstr>
      <vt:lpstr>Tema 67 (I)</vt:lpstr>
      <vt:lpstr>Introducción a Java</vt:lpstr>
      <vt:lpstr>Gestión automática de memoria en Java (GC)</vt:lpstr>
      <vt:lpstr>Aparición de Java y primeras versiones (1.0 – 1.1)</vt:lpstr>
      <vt:lpstr>JavaBeans en java 1.1</vt:lpstr>
      <vt:lpstr>JDBC (Java Database Connectivity)</vt:lpstr>
      <vt:lpstr>Clases Internas (Inner Classes)</vt:lpstr>
      <vt:lpstr>RMI (Remote Method Invocation)</vt:lpstr>
      <vt:lpstr>Java 1.2 – 1.4 (I)</vt:lpstr>
      <vt:lpstr>Java 1.2 – 1.4 (II)</vt:lpstr>
      <vt:lpstr>Assertions (assert)</vt:lpstr>
      <vt:lpstr>Expresiones regulares (Regex)</vt:lpstr>
      <vt:lpstr>SSL/TLS (JSSE integrado)</vt:lpstr>
      <vt:lpstr>Kerberos</vt:lpstr>
      <vt:lpstr>NIO (New I/O)</vt:lpstr>
      <vt:lpstr>Sistema de logging estándar</vt:lpstr>
      <vt:lpstr>JNDI (Java Naming and Directory Interface)</vt:lpstr>
      <vt:lpstr>Procesamiento XML integrado</vt:lpstr>
      <vt:lpstr>Java Web Start (oficial en 1.4)</vt:lpstr>
      <vt:lpstr>Java 5</vt:lpstr>
      <vt:lpstr>Genéricos en Java 5</vt:lpstr>
      <vt:lpstr>Java 5 – Anotaciones</vt:lpstr>
      <vt:lpstr>Novedades de sintaxis en Java 5 (I):</vt:lpstr>
      <vt:lpstr>Novedades de sintaxis en Java 5 (II):</vt:lpstr>
      <vt:lpstr>Novedades de sintaxis en Java 5 (III):</vt:lpstr>
      <vt:lpstr>Novedades de sintaxis en Java 5 (IV):</vt:lpstr>
      <vt:lpstr>Java 5 – java.util.concurrent</vt:lpstr>
      <vt:lpstr>Java 6</vt:lpstr>
      <vt:lpstr>JAX-WS (SOAP Web Services)</vt:lpstr>
      <vt:lpstr>JAXB (XML Binding)</vt:lpstr>
      <vt:lpstr>Java 6 – JSR-199 (Java Compiler API)</vt:lpstr>
      <vt:lpstr>Scripting embebido (Rhino JS)</vt:lpstr>
      <vt:lpstr>Herramientas de Monitoring (JVisualVM)</vt:lpstr>
      <vt:lpstr>Era Oracle: Java 7 y Java 8 (I)</vt:lpstr>
      <vt:lpstr>Cambios switches</vt:lpstr>
      <vt:lpstr>Java 7 – Multi-catch</vt:lpstr>
      <vt:lpstr>Operador diamante &lt;&gt;</vt:lpstr>
      <vt:lpstr>Try-with-resources</vt:lpstr>
      <vt:lpstr>Java 7 – G1 Garbage Collector</vt:lpstr>
      <vt:lpstr>Java 7 – invokedynamic</vt:lpstr>
      <vt:lpstr>Era Oracle: Java 7 y Java 8 (II)</vt:lpstr>
      <vt:lpstr>Java 8 – Expresiones Lambda</vt:lpstr>
      <vt:lpstr>Java 8 – API Streams</vt:lpstr>
      <vt:lpstr>Métodos por defecto en interfaces</vt:lpstr>
      <vt:lpstr>Nueva API de Fecha/Hora (JSR-310)</vt:lpstr>
      <vt:lpstr>JavaFX integrado en el JDK</vt:lpstr>
      <vt:lpstr>Motor JavaScript Nashorn</vt:lpstr>
      <vt:lpstr>Referencias de método</vt:lpstr>
      <vt:lpstr>Nueva era de lanzamientos rápidos (Java 9 a Java 16)</vt:lpstr>
      <vt:lpstr>Java 9 – JPMS / Proyecto Jigsaw</vt:lpstr>
      <vt:lpstr>Java 9 – jlink, colecciones inmutables y JShell</vt:lpstr>
      <vt:lpstr>Java 9 – API HTTP/2</vt:lpstr>
      <vt:lpstr>Java 9 – Fin de los Applets</vt:lpstr>
      <vt:lpstr>Java 10 – var</vt:lpstr>
      <vt:lpstr>Java 10 – JVM container-aware</vt:lpstr>
      <vt:lpstr>Nueva era de lanzamientos rápidos (Java 9 a Java 16) (II)</vt:lpstr>
      <vt:lpstr>Nueva API HTTP (estándar en Java 11)</vt:lpstr>
      <vt:lpstr>var en lambdas</vt:lpstr>
      <vt:lpstr>Mejoras en string – java 12</vt:lpstr>
      <vt:lpstr>Mejoras en manejo ficheros – java 12</vt:lpstr>
      <vt:lpstr>Java 12 – Switch Expressions (preview)</vt:lpstr>
      <vt:lpstr>Java 12 – Shenandoah GC (experimental)</vt:lpstr>
      <vt:lpstr>Java 13 – Text Blocks (preview)</vt:lpstr>
      <vt:lpstr>Java 14/16 – Pattern Matching con instanceof</vt:lpstr>
      <vt:lpstr>Records (preview en Java 14, estándar en 16)</vt:lpstr>
      <vt:lpstr>Sealed Classes (preview en Java 15, estándar en 17)</vt:lpstr>
      <vt:lpstr>ZGC (Z Garbage Collector, Java 15 estable)</vt:lpstr>
      <vt:lpstr>Nueva era de lanzamientos rápidos (Java 9 a Java 16) (III)</vt:lpstr>
      <vt:lpstr>Stream.toList()</vt:lpstr>
      <vt:lpstr>Herramientas y ejecución en la plataforma Java(I)</vt:lpstr>
      <vt:lpstr>Herramientas y ejecución en la plataforma Java(II)</vt:lpstr>
      <vt:lpstr>Entorno empresarial (Java EE / Jakarta EE)</vt:lpstr>
      <vt:lpstr>Aplicaciones de escritorio</vt:lpstr>
      <vt:lpstr>Dispositivos móviles</vt:lpstr>
      <vt:lpstr>Sistemas embebidos e IoT</vt:lpstr>
      <vt:lpstr>Ecosistema Java(I)</vt:lpstr>
      <vt:lpstr>Ecosistema Java(II)</vt:lpstr>
      <vt:lpstr>Licenciamiento y disputas legales</vt:lpstr>
      <vt:lpstr>Evolución de versiones: de Java 8 a Java 17 y 21</vt:lpstr>
      <vt:lpstr>Java 17 (LTS – 2021)</vt:lpstr>
      <vt:lpstr>Java 21 (LTS – 2023)</vt:lpstr>
      <vt:lpstr>Hilos virtuales (Project Loom) – Java 21</vt:lpstr>
      <vt:lpstr>Nuevas interfaces en Java 21</vt:lpstr>
      <vt:lpstr>Pattern Matching en Java 21</vt:lpstr>
      <vt:lpstr>API HTTP mejorada – Java 21</vt:lpstr>
      <vt:lpstr>String Templates + Concurrencia estructurada</vt:lpstr>
      <vt:lpstr>Modelo de licenciamiento: Oracle JDK vs OpenJDK</vt:lpstr>
      <vt:lpstr>Ecosistema actual de JDKs</vt:lpstr>
      <vt:lpstr>Mantenimiento y soporte en Java</vt:lpstr>
      <vt:lpstr>Funciones en preview</vt:lpstr>
      <vt:lpstr>Panorama Java en 2025</vt:lpstr>
      <vt:lpstr>Distribución de Software Java</vt:lpstr>
      <vt:lpstr>Applets y JWS en la actualidad</vt:lpstr>
      <vt:lpstr>Java Modular (JPMS) y jlink</vt:lpstr>
      <vt:lpstr>jpackage (Java 14 → estable en Java 16)</vt:lpstr>
      <vt:lpstr>Compilación Nativa con GraalVM</vt:lpstr>
      <vt:lpstr>Contenedores Docker en Java</vt:lpstr>
      <vt:lpstr>Kubernetes en Java</vt:lpstr>
      <vt:lpstr>De Java EE a Jakarta EE y MicroProfile</vt:lpstr>
      <vt:lpstr>De Java EE a Jakarta EE y MicroProfile(II)</vt:lpstr>
      <vt:lpstr>Impacto y panorama actual</vt:lpstr>
      <vt:lpstr>Eclipse MicroProfile</vt:lpstr>
      <vt:lpstr>Dos caminos en Java empresarial</vt:lpstr>
      <vt:lpstr>Servidores de aplicaciones actuales</vt:lpstr>
      <vt:lpstr>Alternativas ligeras y cloud-native</vt:lpstr>
      <vt:lpstr>¿Preguntas?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Gálvez</dc:creator>
  <cp:lastModifiedBy>Pablo Gálvez</cp:lastModifiedBy>
  <cp:revision>45</cp:revision>
  <dcterms:created xsi:type="dcterms:W3CDTF">2025-08-14T17:51:55Z</dcterms:created>
  <dcterms:modified xsi:type="dcterms:W3CDTF">2025-08-23T07:50:36Z</dcterms:modified>
</cp:coreProperties>
</file>