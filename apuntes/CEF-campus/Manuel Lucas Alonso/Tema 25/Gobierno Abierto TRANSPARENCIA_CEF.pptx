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ink/ink1.xml" ContentType="application/inkml+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ink/ink2.xml" ContentType="application/inkml+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ink/ink3.xml" ContentType="application/inkml+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76" r:id="rId2"/>
    <p:sldId id="312" r:id="rId3"/>
    <p:sldId id="311" r:id="rId4"/>
    <p:sldId id="313" r:id="rId5"/>
    <p:sldId id="314" r:id="rId6"/>
    <p:sldId id="315" r:id="rId7"/>
    <p:sldId id="317" r:id="rId8"/>
    <p:sldId id="316" r:id="rId9"/>
    <p:sldId id="318" r:id="rId10"/>
    <p:sldId id="300" r:id="rId11"/>
    <p:sldId id="299" r:id="rId12"/>
    <p:sldId id="319" r:id="rId13"/>
    <p:sldId id="301" r:id="rId14"/>
    <p:sldId id="302" r:id="rId15"/>
    <p:sldId id="303" r:id="rId16"/>
    <p:sldId id="320" r:id="rId17"/>
    <p:sldId id="308" r:id="rId18"/>
    <p:sldId id="263" r:id="rId19"/>
    <p:sldId id="290" r:id="rId20"/>
    <p:sldId id="285" r:id="rId21"/>
    <p:sldId id="289" r:id="rId22"/>
    <p:sldId id="305" r:id="rId23"/>
    <p:sldId id="297" r:id="rId24"/>
    <p:sldId id="295" r:id="rId25"/>
    <p:sldId id="294" r:id="rId26"/>
    <p:sldId id="306" r:id="rId27"/>
    <p:sldId id="293" r:id="rId28"/>
    <p:sldId id="292" r:id="rId29"/>
    <p:sldId id="298" r:id="rId30"/>
    <p:sldId id="307" r:id="rId31"/>
    <p:sldId id="291" r:id="rId32"/>
    <p:sldId id="288" r:id="rId33"/>
    <p:sldId id="287" r:id="rId34"/>
    <p:sldId id="324" r:id="rId35"/>
    <p:sldId id="286" r:id="rId36"/>
    <p:sldId id="321" r:id="rId37"/>
    <p:sldId id="322" r:id="rId38"/>
    <p:sldId id="277" r:id="rId39"/>
    <p:sldId id="323" r:id="rId40"/>
    <p:sldId id="278" r:id="rId41"/>
    <p:sldId id="279" r:id="rId42"/>
    <p:sldId id="281" r:id="rId43"/>
    <p:sldId id="275" r:id="rId44"/>
  </p:sldIdLst>
  <p:sldSz cx="9144000" cy="6858000" type="screen4x3"/>
  <p:notesSz cx="6858000" cy="9144000"/>
  <p:defaultTex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554"/>
    <p:restoredTop sz="94690"/>
  </p:normalViewPr>
  <p:slideViewPr>
    <p:cSldViewPr>
      <p:cViewPr varScale="1">
        <p:scale>
          <a:sx n="59" d="100"/>
          <a:sy n="59" d="100"/>
        </p:scale>
        <p:origin x="1692"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6" units="cm"/>
          <inkml:channel name="T" type="integer" max="2.14748E9" units="dev"/>
        </inkml:traceFormat>
        <inkml:channelProperties>
          <inkml:channelProperty channel="X" name="resolution" value="1000.21368" units="1/cm"/>
          <inkml:channelProperty channel="Y" name="resolution" value="1000.21368" units="1/cm"/>
          <inkml:channelProperty channel="F" name="resolution" value="125.00381" units="1/cm"/>
          <inkml:channelProperty channel="T" name="resolution" value="1" units="1/dev"/>
        </inkml:channelProperties>
      </inkml:inkSource>
      <inkml:timestamp xml:id="ts0" timeString="2026-07-11T07:19:56.099"/>
    </inkml:context>
    <inkml:brush xml:id="br0">
      <inkml:brushProperty name="width" value="0.05292" units="cm"/>
      <inkml:brushProperty name="height" value="0.05292" units="cm"/>
      <inkml:brushProperty name="color" value="#FF0000"/>
    </inkml:brush>
  </inkml:definitions>
  <inkml:trace contextRef="#ctx0" brushRef="#br0">11401 10190 0 0,'0'0'0'16,"-3"0"0"-16,3 0 0 0,1 2 0 0,-1-2 0 0,7 11 0 0,-7-11 0 0,0 0 0 0,0 0 0 0,5 8 0 0,-5-8 0 0,0 0 0 0,0 0 0 0,0 0 0 0,0 0 0 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6" units="cm"/>
          <inkml:channel name="T" type="integer" max="2.14748E9" units="dev"/>
        </inkml:traceFormat>
        <inkml:channelProperties>
          <inkml:channelProperty channel="X" name="resolution" value="1000.21368" units="1/cm"/>
          <inkml:channelProperty channel="Y" name="resolution" value="1000.21368" units="1/cm"/>
          <inkml:channelProperty channel="F" name="resolution" value="125.00381" units="1/cm"/>
          <inkml:channelProperty channel="T" name="resolution" value="1" units="1/dev"/>
        </inkml:channelProperties>
      </inkml:inkSource>
      <inkml:timestamp xml:id="ts0" timeString="2026-07-11T07:32:09.057"/>
    </inkml:context>
    <inkml:brush xml:id="br0">
      <inkml:brushProperty name="width" value="0.05292" units="cm"/>
      <inkml:brushProperty name="height" value="0.05292" units="cm"/>
      <inkml:brushProperty name="color" value="#FF0000"/>
    </inkml:brush>
  </inkml:definitions>
  <inkml:trace contextRef="#ctx0" brushRef="#br0">20943 8778 0 0,'0'0'0'0,"-31"8"0"0,31-8 0 0,-44 10 0 0,44-10 0 0,-54 8 0 16,54-8 0-16,-66-4 0 0,66 4 0 0,-62-11 0 0,62 11 0 0,-59-14 48 16,59 14-48-16,-58-17 200 15,58 17-200-15,-50-26 200 0,50 26-200 0,0 0-448 16,0 0 448-16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1000.21368" units="1/cm"/>
          <inkml:channelProperty channel="Y" name="resolution" value="1000.21368" units="1/cm"/>
          <inkml:channelProperty channel="T" name="resolution" value="1" units="1/dev"/>
        </inkml:channelProperties>
      </inkml:inkSource>
      <inkml:timestamp xml:id="ts0" timeString="2026-07-11T07:46:22.754"/>
    </inkml:context>
    <inkml:brush xml:id="br0">
      <inkml:brushProperty name="width" value="0.05292" units="cm"/>
      <inkml:brushProperty name="height" value="0.05292" units="cm"/>
      <inkml:brushProperty name="color" value="#FF0000"/>
    </inkml:brush>
  </inkml:definitions>
  <inkml:trace contextRef="#ctx0" brushRef="#br0">12415 5506 0,'0'0'0,"0"0"0,0 0 0,4 7 15,-4-7-15,3 27 16,-3-27-16,0 0 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9AEAB87D-0611-4229-E8F6-5C288604365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s-ES"/>
          </a:p>
        </p:txBody>
      </p:sp>
      <p:sp>
        <p:nvSpPr>
          <p:cNvPr id="22531" name="Rectangle 3">
            <a:extLst>
              <a:ext uri="{FF2B5EF4-FFF2-40B4-BE49-F238E27FC236}">
                <a16:creationId xmlns:a16="http://schemas.microsoft.com/office/drawing/2014/main" id="{A71EFE5A-1BB2-2D73-D3BF-E892267CF290}"/>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s-ES"/>
          </a:p>
        </p:txBody>
      </p:sp>
      <p:sp>
        <p:nvSpPr>
          <p:cNvPr id="2052" name="Rectangle 4">
            <a:extLst>
              <a:ext uri="{FF2B5EF4-FFF2-40B4-BE49-F238E27FC236}">
                <a16:creationId xmlns:a16="http://schemas.microsoft.com/office/drawing/2014/main" id="{D17C412B-4561-EA31-38A4-7AF855A2A501}"/>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Rectangle 5">
            <a:extLst>
              <a:ext uri="{FF2B5EF4-FFF2-40B4-BE49-F238E27FC236}">
                <a16:creationId xmlns:a16="http://schemas.microsoft.com/office/drawing/2014/main" id="{0E557232-D2AC-6CF1-1935-CE8420AF5E2A}"/>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22534" name="Rectangle 6">
            <a:extLst>
              <a:ext uri="{FF2B5EF4-FFF2-40B4-BE49-F238E27FC236}">
                <a16:creationId xmlns:a16="http://schemas.microsoft.com/office/drawing/2014/main" id="{3C8C21C4-8D81-CAE3-0CF2-D33D0347C874}"/>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s-ES"/>
          </a:p>
        </p:txBody>
      </p:sp>
      <p:sp>
        <p:nvSpPr>
          <p:cNvPr id="22535" name="Rectangle 7">
            <a:extLst>
              <a:ext uri="{FF2B5EF4-FFF2-40B4-BE49-F238E27FC236}">
                <a16:creationId xmlns:a16="http://schemas.microsoft.com/office/drawing/2014/main" id="{9A0DEC23-7574-2C1C-75A8-C68ADE3FA8DF}"/>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2E60E14F-F13C-2B46-AF94-1337F1667072}" type="slidenum">
              <a:rPr lang="es-ES" altLang="es-ES"/>
              <a:pPr>
                <a:defRPr/>
              </a:pPr>
              <a:t>‹Nº›</a:t>
            </a:fld>
            <a:endParaRPr lang="es-ES" altLang="es-E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1 Marcador de imagen de diapositiva">
            <a:extLst>
              <a:ext uri="{FF2B5EF4-FFF2-40B4-BE49-F238E27FC236}">
                <a16:creationId xmlns:a16="http://schemas.microsoft.com/office/drawing/2014/main" id="{8DF02C0C-B1BD-38B0-715C-679593600E2D}"/>
              </a:ext>
            </a:extLst>
          </p:cNvPr>
          <p:cNvSpPr>
            <a:spLocks noGrp="1" noRot="1" noChangeAspect="1" noChangeArrowheads="1" noTextEdit="1"/>
          </p:cNvSpPr>
          <p:nvPr>
            <p:ph type="sldImg"/>
          </p:nvPr>
        </p:nvSpPr>
        <p:spPr>
          <a:ln/>
        </p:spPr>
      </p:sp>
      <p:sp>
        <p:nvSpPr>
          <p:cNvPr id="4099" name="2 Marcador de notas">
            <a:extLst>
              <a:ext uri="{FF2B5EF4-FFF2-40B4-BE49-F238E27FC236}">
                <a16:creationId xmlns:a16="http://schemas.microsoft.com/office/drawing/2014/main" id="{A9A1AC17-AF64-68D7-3F1C-55E08DCF180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4100" name="3 Marcador de número de diapositiva">
            <a:extLst>
              <a:ext uri="{FF2B5EF4-FFF2-40B4-BE49-F238E27FC236}">
                <a16:creationId xmlns:a16="http://schemas.microsoft.com/office/drawing/2014/main" id="{35191237-B438-602B-9D01-798E5EFF8B2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BFD1BE6-E76B-7C4D-B27C-BFCCA07B0A64}" type="slidenum">
              <a:rPr lang="es-ES" altLang="es-ES" smtClean="0"/>
              <a:pPr>
                <a:spcBef>
                  <a:spcPct val="0"/>
                </a:spcBef>
              </a:pPr>
              <a:t>1</a:t>
            </a:fld>
            <a:endParaRPr lang="es-ES" altLang="es-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1 Marcador de imagen de diapositiva">
            <a:extLst>
              <a:ext uri="{FF2B5EF4-FFF2-40B4-BE49-F238E27FC236}">
                <a16:creationId xmlns:a16="http://schemas.microsoft.com/office/drawing/2014/main" id="{7627A78A-E832-538A-F526-F8AFA59AA8A1}"/>
              </a:ext>
            </a:extLst>
          </p:cNvPr>
          <p:cNvSpPr>
            <a:spLocks noGrp="1" noRot="1" noChangeAspect="1" noChangeArrowheads="1" noTextEdit="1"/>
          </p:cNvSpPr>
          <p:nvPr>
            <p:ph type="sldImg"/>
          </p:nvPr>
        </p:nvSpPr>
        <p:spPr>
          <a:ln/>
        </p:spPr>
      </p:sp>
      <p:sp>
        <p:nvSpPr>
          <p:cNvPr id="6147" name="2 Marcador de notas">
            <a:extLst>
              <a:ext uri="{FF2B5EF4-FFF2-40B4-BE49-F238E27FC236}">
                <a16:creationId xmlns:a16="http://schemas.microsoft.com/office/drawing/2014/main" id="{08618E23-9860-8AC6-A388-D3FAB53552B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6148" name="3 Marcador de número de diapositiva">
            <a:extLst>
              <a:ext uri="{FF2B5EF4-FFF2-40B4-BE49-F238E27FC236}">
                <a16:creationId xmlns:a16="http://schemas.microsoft.com/office/drawing/2014/main" id="{1FC4602F-0FFD-8D7B-9B5C-BF4DD9CFEE3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93673EF-4013-FE4E-98E3-D6CEBE00635F}" type="slidenum">
              <a:rPr lang="es-ES" altLang="es-ES" smtClean="0"/>
              <a:pPr>
                <a:spcBef>
                  <a:spcPct val="0"/>
                </a:spcBef>
              </a:pPr>
              <a:t>2</a:t>
            </a:fld>
            <a:endParaRPr lang="es-ES" altLang="es-E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1 Marcador de imagen de diapositiva">
            <a:extLst>
              <a:ext uri="{FF2B5EF4-FFF2-40B4-BE49-F238E27FC236}">
                <a16:creationId xmlns:a16="http://schemas.microsoft.com/office/drawing/2014/main" id="{9CEC1D41-6ACF-5371-1F58-30B131944637}"/>
              </a:ext>
            </a:extLst>
          </p:cNvPr>
          <p:cNvSpPr>
            <a:spLocks noGrp="1" noRot="1" noChangeAspect="1" noChangeArrowheads="1" noTextEdit="1"/>
          </p:cNvSpPr>
          <p:nvPr>
            <p:ph type="sldImg"/>
          </p:nvPr>
        </p:nvSpPr>
        <p:spPr>
          <a:ln/>
        </p:spPr>
      </p:sp>
      <p:sp>
        <p:nvSpPr>
          <p:cNvPr id="8195" name="2 Marcador de notas">
            <a:extLst>
              <a:ext uri="{FF2B5EF4-FFF2-40B4-BE49-F238E27FC236}">
                <a16:creationId xmlns:a16="http://schemas.microsoft.com/office/drawing/2014/main" id="{0E4B047D-8B5F-3E0E-3E87-8A9D159B4EC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8196" name="3 Marcador de número de diapositiva">
            <a:extLst>
              <a:ext uri="{FF2B5EF4-FFF2-40B4-BE49-F238E27FC236}">
                <a16:creationId xmlns:a16="http://schemas.microsoft.com/office/drawing/2014/main" id="{506D7EE1-F40E-AD42-180B-837E5108F6F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4A7B4E1-E150-F241-A8F8-76A048C253DC}" type="slidenum">
              <a:rPr lang="es-ES" altLang="es-ES" smtClean="0"/>
              <a:pPr>
                <a:spcBef>
                  <a:spcPct val="0"/>
                </a:spcBef>
              </a:pPr>
              <a:t>3</a:t>
            </a:fld>
            <a:endParaRPr lang="es-ES" altLang="es-E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1 Marcador de imagen de diapositiva">
            <a:extLst>
              <a:ext uri="{FF2B5EF4-FFF2-40B4-BE49-F238E27FC236}">
                <a16:creationId xmlns:a16="http://schemas.microsoft.com/office/drawing/2014/main" id="{2A3CA711-1779-FECB-F195-8CC204EB5EEA}"/>
              </a:ext>
            </a:extLst>
          </p:cNvPr>
          <p:cNvSpPr>
            <a:spLocks noGrp="1" noRot="1" noChangeAspect="1" noChangeArrowheads="1" noTextEdit="1"/>
          </p:cNvSpPr>
          <p:nvPr>
            <p:ph type="sldImg"/>
          </p:nvPr>
        </p:nvSpPr>
        <p:spPr>
          <a:ln/>
        </p:spPr>
      </p:sp>
      <p:sp>
        <p:nvSpPr>
          <p:cNvPr id="10243" name="2 Marcador de notas">
            <a:extLst>
              <a:ext uri="{FF2B5EF4-FFF2-40B4-BE49-F238E27FC236}">
                <a16:creationId xmlns:a16="http://schemas.microsoft.com/office/drawing/2014/main" id="{1A24AB94-AD63-60A3-C210-359F7575059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10244" name="3 Marcador de número de diapositiva">
            <a:extLst>
              <a:ext uri="{FF2B5EF4-FFF2-40B4-BE49-F238E27FC236}">
                <a16:creationId xmlns:a16="http://schemas.microsoft.com/office/drawing/2014/main" id="{010FE0BC-7186-29D1-3298-1EC1638F833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70A3CC5-51D5-A148-A343-8FA7B326B93A}" type="slidenum">
              <a:rPr lang="es-ES" altLang="es-ES" smtClean="0"/>
              <a:pPr>
                <a:spcBef>
                  <a:spcPct val="0"/>
                </a:spcBef>
              </a:pPr>
              <a:t>4</a:t>
            </a:fld>
            <a:endParaRPr lang="es-ES" altLang="es-E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1 Marcador de imagen de diapositiva">
            <a:extLst>
              <a:ext uri="{FF2B5EF4-FFF2-40B4-BE49-F238E27FC236}">
                <a16:creationId xmlns:a16="http://schemas.microsoft.com/office/drawing/2014/main" id="{782318C4-6684-5642-AF37-93A92169B941}"/>
              </a:ext>
            </a:extLst>
          </p:cNvPr>
          <p:cNvSpPr>
            <a:spLocks noGrp="1" noRot="1" noChangeAspect="1" noChangeArrowheads="1" noTextEdit="1"/>
          </p:cNvSpPr>
          <p:nvPr>
            <p:ph type="sldImg"/>
          </p:nvPr>
        </p:nvSpPr>
        <p:spPr>
          <a:ln/>
        </p:spPr>
      </p:sp>
      <p:sp>
        <p:nvSpPr>
          <p:cNvPr id="12291" name="2 Marcador de notas">
            <a:extLst>
              <a:ext uri="{FF2B5EF4-FFF2-40B4-BE49-F238E27FC236}">
                <a16:creationId xmlns:a16="http://schemas.microsoft.com/office/drawing/2014/main" id="{5B379A7B-BB10-FFA8-C0D1-EBC5DA9F792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12292" name="3 Marcador de número de diapositiva">
            <a:extLst>
              <a:ext uri="{FF2B5EF4-FFF2-40B4-BE49-F238E27FC236}">
                <a16:creationId xmlns:a16="http://schemas.microsoft.com/office/drawing/2014/main" id="{AD94D6CD-9C7E-AA7F-ABFE-4C6224749C0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0F1CF0E-C4C9-6F47-869E-7D92E1A1D2E8}" type="slidenum">
              <a:rPr lang="es-ES" altLang="es-ES" smtClean="0"/>
              <a:pPr>
                <a:spcBef>
                  <a:spcPct val="0"/>
                </a:spcBef>
              </a:pPr>
              <a:t>5</a:t>
            </a:fld>
            <a:endParaRPr lang="es-ES" altLang="es-E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1 Marcador de imagen de diapositiva">
            <a:extLst>
              <a:ext uri="{FF2B5EF4-FFF2-40B4-BE49-F238E27FC236}">
                <a16:creationId xmlns:a16="http://schemas.microsoft.com/office/drawing/2014/main" id="{359BECF9-5DAA-87FC-3CB2-B5621B0F6873}"/>
              </a:ext>
            </a:extLst>
          </p:cNvPr>
          <p:cNvSpPr>
            <a:spLocks noGrp="1" noRot="1" noChangeAspect="1" noChangeArrowheads="1" noTextEdit="1"/>
          </p:cNvSpPr>
          <p:nvPr>
            <p:ph type="sldImg"/>
          </p:nvPr>
        </p:nvSpPr>
        <p:spPr>
          <a:ln/>
        </p:spPr>
      </p:sp>
      <p:sp>
        <p:nvSpPr>
          <p:cNvPr id="14339" name="2 Marcador de notas">
            <a:extLst>
              <a:ext uri="{FF2B5EF4-FFF2-40B4-BE49-F238E27FC236}">
                <a16:creationId xmlns:a16="http://schemas.microsoft.com/office/drawing/2014/main" id="{CB05E292-BA0C-8F9E-15F2-4F414B7CBEB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14340" name="3 Marcador de número de diapositiva">
            <a:extLst>
              <a:ext uri="{FF2B5EF4-FFF2-40B4-BE49-F238E27FC236}">
                <a16:creationId xmlns:a16="http://schemas.microsoft.com/office/drawing/2014/main" id="{6F6DD9E5-7FED-3300-6895-3A9165D5B84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5F1BDB8-5DC6-4F40-977D-DCB518CA47B3}" type="slidenum">
              <a:rPr lang="es-ES" altLang="es-ES" smtClean="0"/>
              <a:pPr>
                <a:spcBef>
                  <a:spcPct val="0"/>
                </a:spcBef>
              </a:pPr>
              <a:t>6</a:t>
            </a:fld>
            <a:endParaRPr lang="es-ES" altLang="es-E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1 Marcador de imagen de diapositiva">
            <a:extLst>
              <a:ext uri="{FF2B5EF4-FFF2-40B4-BE49-F238E27FC236}">
                <a16:creationId xmlns:a16="http://schemas.microsoft.com/office/drawing/2014/main" id="{3EFB25FA-7629-F34E-19E9-A9D25E8BB2ED}"/>
              </a:ext>
            </a:extLst>
          </p:cNvPr>
          <p:cNvSpPr>
            <a:spLocks noGrp="1" noRot="1" noChangeAspect="1" noChangeArrowheads="1" noTextEdit="1"/>
          </p:cNvSpPr>
          <p:nvPr>
            <p:ph type="sldImg"/>
          </p:nvPr>
        </p:nvSpPr>
        <p:spPr>
          <a:ln/>
        </p:spPr>
      </p:sp>
      <p:sp>
        <p:nvSpPr>
          <p:cNvPr id="16387" name="2 Marcador de notas">
            <a:extLst>
              <a:ext uri="{FF2B5EF4-FFF2-40B4-BE49-F238E27FC236}">
                <a16:creationId xmlns:a16="http://schemas.microsoft.com/office/drawing/2014/main" id="{B0DA12C4-04A6-5E6F-8AD0-71B0ACE7857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16388" name="3 Marcador de número de diapositiva">
            <a:extLst>
              <a:ext uri="{FF2B5EF4-FFF2-40B4-BE49-F238E27FC236}">
                <a16:creationId xmlns:a16="http://schemas.microsoft.com/office/drawing/2014/main" id="{FA58F608-03F7-4FAF-59ED-3BF6AD1C03C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A45A8EE-C217-8941-83EA-73D75D316D9A}" type="slidenum">
              <a:rPr lang="es-ES" altLang="es-ES" smtClean="0"/>
              <a:pPr>
                <a:spcBef>
                  <a:spcPct val="0"/>
                </a:spcBef>
              </a:pPr>
              <a:t>7</a:t>
            </a:fld>
            <a:endParaRPr lang="es-ES" altLang="es-E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1 Marcador de imagen de diapositiva">
            <a:extLst>
              <a:ext uri="{FF2B5EF4-FFF2-40B4-BE49-F238E27FC236}">
                <a16:creationId xmlns:a16="http://schemas.microsoft.com/office/drawing/2014/main" id="{C258DA32-6586-6043-868B-FA76F004D623}"/>
              </a:ext>
            </a:extLst>
          </p:cNvPr>
          <p:cNvSpPr>
            <a:spLocks noGrp="1" noRot="1" noChangeAspect="1" noChangeArrowheads="1" noTextEdit="1"/>
          </p:cNvSpPr>
          <p:nvPr>
            <p:ph type="sldImg"/>
          </p:nvPr>
        </p:nvSpPr>
        <p:spPr>
          <a:ln/>
        </p:spPr>
      </p:sp>
      <p:sp>
        <p:nvSpPr>
          <p:cNvPr id="18435" name="2 Marcador de notas">
            <a:extLst>
              <a:ext uri="{FF2B5EF4-FFF2-40B4-BE49-F238E27FC236}">
                <a16:creationId xmlns:a16="http://schemas.microsoft.com/office/drawing/2014/main" id="{22903A25-4D9C-9F39-363B-267755F31B0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18436" name="3 Marcador de número de diapositiva">
            <a:extLst>
              <a:ext uri="{FF2B5EF4-FFF2-40B4-BE49-F238E27FC236}">
                <a16:creationId xmlns:a16="http://schemas.microsoft.com/office/drawing/2014/main" id="{438766E1-8EE7-39E0-2223-D5540045BC0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9202FAB-0C20-D64A-97C0-BD36A93C50FA}" type="slidenum">
              <a:rPr lang="es-ES" altLang="es-ES" smtClean="0"/>
              <a:pPr>
                <a:spcBef>
                  <a:spcPct val="0"/>
                </a:spcBef>
              </a:pPr>
              <a:t>8</a:t>
            </a:fld>
            <a:endParaRPr lang="es-ES" altLang="es-E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1 Marcador de imagen de diapositiva">
            <a:extLst>
              <a:ext uri="{FF2B5EF4-FFF2-40B4-BE49-F238E27FC236}">
                <a16:creationId xmlns:a16="http://schemas.microsoft.com/office/drawing/2014/main" id="{64A4DDE5-0396-C355-2861-3DB4EECEC718}"/>
              </a:ext>
            </a:extLst>
          </p:cNvPr>
          <p:cNvSpPr>
            <a:spLocks noGrp="1" noRot="1" noChangeAspect="1" noChangeArrowheads="1" noTextEdit="1"/>
          </p:cNvSpPr>
          <p:nvPr>
            <p:ph type="sldImg"/>
          </p:nvPr>
        </p:nvSpPr>
        <p:spPr>
          <a:ln/>
        </p:spPr>
      </p:sp>
      <p:sp>
        <p:nvSpPr>
          <p:cNvPr id="20483" name="2 Marcador de notas">
            <a:extLst>
              <a:ext uri="{FF2B5EF4-FFF2-40B4-BE49-F238E27FC236}">
                <a16:creationId xmlns:a16="http://schemas.microsoft.com/office/drawing/2014/main" id="{14B42321-1611-56C3-3A82-C814920B91B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20484" name="3 Marcador de número de diapositiva">
            <a:extLst>
              <a:ext uri="{FF2B5EF4-FFF2-40B4-BE49-F238E27FC236}">
                <a16:creationId xmlns:a16="http://schemas.microsoft.com/office/drawing/2014/main" id="{FAFDFE7B-07EA-8BD7-9AC1-8A6B29AF137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293AA26-1423-7145-BEC5-C646C30B8AB9}" type="slidenum">
              <a:rPr lang="es-ES" altLang="es-ES" smtClean="0"/>
              <a:pPr>
                <a:spcBef>
                  <a:spcPct val="0"/>
                </a:spcBef>
              </a:pPr>
              <a:t>9</a:t>
            </a:fld>
            <a:endParaRPr lang="es-ES" altLang="es-E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1 Marcador de imagen de diapositiva">
            <a:extLst>
              <a:ext uri="{FF2B5EF4-FFF2-40B4-BE49-F238E27FC236}">
                <a16:creationId xmlns:a16="http://schemas.microsoft.com/office/drawing/2014/main" id="{9BCDC239-5B36-50B4-3527-E8DEFA8C4513}"/>
              </a:ext>
            </a:extLst>
          </p:cNvPr>
          <p:cNvSpPr>
            <a:spLocks noGrp="1" noRot="1" noChangeAspect="1" noChangeArrowheads="1" noTextEdit="1"/>
          </p:cNvSpPr>
          <p:nvPr>
            <p:ph type="sldImg"/>
          </p:nvPr>
        </p:nvSpPr>
        <p:spPr>
          <a:ln/>
        </p:spPr>
      </p:sp>
      <p:sp>
        <p:nvSpPr>
          <p:cNvPr id="22531" name="2 Marcador de notas">
            <a:extLst>
              <a:ext uri="{FF2B5EF4-FFF2-40B4-BE49-F238E27FC236}">
                <a16:creationId xmlns:a16="http://schemas.microsoft.com/office/drawing/2014/main" id="{77CCEB87-9F8F-92AD-090E-EDB94C245D9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22532" name="3 Marcador de número de diapositiva">
            <a:extLst>
              <a:ext uri="{FF2B5EF4-FFF2-40B4-BE49-F238E27FC236}">
                <a16:creationId xmlns:a16="http://schemas.microsoft.com/office/drawing/2014/main" id="{EEED3D89-A202-7F6C-5D1B-DD949F24EE8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1B2545C-7972-CF4B-91A9-C70037808371}" type="slidenum">
              <a:rPr lang="es-ES" altLang="es-ES" smtClean="0"/>
              <a:pPr>
                <a:spcBef>
                  <a:spcPct val="0"/>
                </a:spcBef>
              </a:pPr>
              <a:t>10</a:t>
            </a:fld>
            <a:endParaRPr lang="es-ES" altLang="es-E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1 Marcador de imagen de diapositiva">
            <a:extLst>
              <a:ext uri="{FF2B5EF4-FFF2-40B4-BE49-F238E27FC236}">
                <a16:creationId xmlns:a16="http://schemas.microsoft.com/office/drawing/2014/main" id="{15A7F764-8C83-F9A7-60DE-56F551017555}"/>
              </a:ext>
            </a:extLst>
          </p:cNvPr>
          <p:cNvSpPr>
            <a:spLocks noGrp="1" noRot="1" noChangeAspect="1" noChangeArrowheads="1" noTextEdit="1"/>
          </p:cNvSpPr>
          <p:nvPr>
            <p:ph type="sldImg"/>
          </p:nvPr>
        </p:nvSpPr>
        <p:spPr>
          <a:ln/>
        </p:spPr>
      </p:sp>
      <p:sp>
        <p:nvSpPr>
          <p:cNvPr id="24579" name="2 Marcador de notas">
            <a:extLst>
              <a:ext uri="{FF2B5EF4-FFF2-40B4-BE49-F238E27FC236}">
                <a16:creationId xmlns:a16="http://schemas.microsoft.com/office/drawing/2014/main" id="{25BEF454-E50D-7329-F39B-0436CE91199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24580" name="3 Marcador de número de diapositiva">
            <a:extLst>
              <a:ext uri="{FF2B5EF4-FFF2-40B4-BE49-F238E27FC236}">
                <a16:creationId xmlns:a16="http://schemas.microsoft.com/office/drawing/2014/main" id="{B227160F-3D44-85C6-785E-B1405F96E2A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88881D6-19A4-9B4F-A758-5696B754FBD2}" type="slidenum">
              <a:rPr lang="es-ES" altLang="es-ES" smtClean="0"/>
              <a:pPr>
                <a:spcBef>
                  <a:spcPct val="0"/>
                </a:spcBef>
              </a:pPr>
              <a:t>11</a:t>
            </a:fld>
            <a:endParaRPr lang="es-ES" altLang="es-E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1 Marcador de imagen de diapositiva">
            <a:extLst>
              <a:ext uri="{FF2B5EF4-FFF2-40B4-BE49-F238E27FC236}">
                <a16:creationId xmlns:a16="http://schemas.microsoft.com/office/drawing/2014/main" id="{A4983F6E-E152-A848-737C-8CD460CE3B15}"/>
              </a:ext>
            </a:extLst>
          </p:cNvPr>
          <p:cNvSpPr>
            <a:spLocks noGrp="1" noRot="1" noChangeAspect="1" noChangeArrowheads="1" noTextEdit="1"/>
          </p:cNvSpPr>
          <p:nvPr>
            <p:ph type="sldImg"/>
          </p:nvPr>
        </p:nvSpPr>
        <p:spPr>
          <a:ln/>
        </p:spPr>
      </p:sp>
      <p:sp>
        <p:nvSpPr>
          <p:cNvPr id="26627" name="2 Marcador de notas">
            <a:extLst>
              <a:ext uri="{FF2B5EF4-FFF2-40B4-BE49-F238E27FC236}">
                <a16:creationId xmlns:a16="http://schemas.microsoft.com/office/drawing/2014/main" id="{837DB45D-5F51-9F57-0EAA-D6DA3E67C57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26628" name="3 Marcador de número de diapositiva">
            <a:extLst>
              <a:ext uri="{FF2B5EF4-FFF2-40B4-BE49-F238E27FC236}">
                <a16:creationId xmlns:a16="http://schemas.microsoft.com/office/drawing/2014/main" id="{4C05367D-30ED-07FB-B9A7-428EE970F48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9697D6A-74C7-6D44-BC37-7791F148541D}" type="slidenum">
              <a:rPr lang="es-ES" altLang="es-ES" smtClean="0"/>
              <a:pPr>
                <a:spcBef>
                  <a:spcPct val="0"/>
                </a:spcBef>
              </a:pPr>
              <a:t>12</a:t>
            </a:fld>
            <a:endParaRPr lang="es-ES" altLang="es-E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1 Marcador de imagen de diapositiva">
            <a:extLst>
              <a:ext uri="{FF2B5EF4-FFF2-40B4-BE49-F238E27FC236}">
                <a16:creationId xmlns:a16="http://schemas.microsoft.com/office/drawing/2014/main" id="{10DEA554-5824-32B9-DB43-038DCDCB2215}"/>
              </a:ext>
            </a:extLst>
          </p:cNvPr>
          <p:cNvSpPr>
            <a:spLocks noGrp="1" noRot="1" noChangeAspect="1" noChangeArrowheads="1" noTextEdit="1"/>
          </p:cNvSpPr>
          <p:nvPr>
            <p:ph type="sldImg"/>
          </p:nvPr>
        </p:nvSpPr>
        <p:spPr>
          <a:ln/>
        </p:spPr>
      </p:sp>
      <p:sp>
        <p:nvSpPr>
          <p:cNvPr id="28675" name="2 Marcador de notas">
            <a:extLst>
              <a:ext uri="{FF2B5EF4-FFF2-40B4-BE49-F238E27FC236}">
                <a16:creationId xmlns:a16="http://schemas.microsoft.com/office/drawing/2014/main" id="{5787F5BF-8BFE-E478-DB32-25A69C40E3D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28676" name="3 Marcador de número de diapositiva">
            <a:extLst>
              <a:ext uri="{FF2B5EF4-FFF2-40B4-BE49-F238E27FC236}">
                <a16:creationId xmlns:a16="http://schemas.microsoft.com/office/drawing/2014/main" id="{35F414AD-EB27-E97A-3ACB-4AF27F893A9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FD45C8B-513F-7C4B-BDEA-15E653492A17}" type="slidenum">
              <a:rPr lang="es-ES" altLang="es-ES" smtClean="0"/>
              <a:pPr>
                <a:spcBef>
                  <a:spcPct val="0"/>
                </a:spcBef>
              </a:pPr>
              <a:t>13</a:t>
            </a:fld>
            <a:endParaRPr lang="es-ES" altLang="es-E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1 Marcador de imagen de diapositiva">
            <a:extLst>
              <a:ext uri="{FF2B5EF4-FFF2-40B4-BE49-F238E27FC236}">
                <a16:creationId xmlns:a16="http://schemas.microsoft.com/office/drawing/2014/main" id="{D046FB06-4CBE-466C-0BBF-3CA04666BC61}"/>
              </a:ext>
            </a:extLst>
          </p:cNvPr>
          <p:cNvSpPr>
            <a:spLocks noGrp="1" noRot="1" noChangeAspect="1" noChangeArrowheads="1" noTextEdit="1"/>
          </p:cNvSpPr>
          <p:nvPr>
            <p:ph type="sldImg"/>
          </p:nvPr>
        </p:nvSpPr>
        <p:spPr>
          <a:ln/>
        </p:spPr>
      </p:sp>
      <p:sp>
        <p:nvSpPr>
          <p:cNvPr id="30723" name="2 Marcador de notas">
            <a:extLst>
              <a:ext uri="{FF2B5EF4-FFF2-40B4-BE49-F238E27FC236}">
                <a16:creationId xmlns:a16="http://schemas.microsoft.com/office/drawing/2014/main" id="{3D2AA087-C9D3-0924-7A4F-8C970A6999F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30724" name="3 Marcador de número de diapositiva">
            <a:extLst>
              <a:ext uri="{FF2B5EF4-FFF2-40B4-BE49-F238E27FC236}">
                <a16:creationId xmlns:a16="http://schemas.microsoft.com/office/drawing/2014/main" id="{063A96F5-5841-9AE1-0FB7-2F7ABF886D3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629763B-91AD-124E-8363-E2BA9555FC78}" type="slidenum">
              <a:rPr lang="es-ES" altLang="es-ES" smtClean="0"/>
              <a:pPr>
                <a:spcBef>
                  <a:spcPct val="0"/>
                </a:spcBef>
              </a:pPr>
              <a:t>14</a:t>
            </a:fld>
            <a:endParaRPr lang="es-ES" altLang="es-E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1 Marcador de imagen de diapositiva">
            <a:extLst>
              <a:ext uri="{FF2B5EF4-FFF2-40B4-BE49-F238E27FC236}">
                <a16:creationId xmlns:a16="http://schemas.microsoft.com/office/drawing/2014/main" id="{7079495B-EDF1-F7BA-C795-24DBB565FAE0}"/>
              </a:ext>
            </a:extLst>
          </p:cNvPr>
          <p:cNvSpPr>
            <a:spLocks noGrp="1" noRot="1" noChangeAspect="1" noChangeArrowheads="1" noTextEdit="1"/>
          </p:cNvSpPr>
          <p:nvPr>
            <p:ph type="sldImg"/>
          </p:nvPr>
        </p:nvSpPr>
        <p:spPr>
          <a:ln/>
        </p:spPr>
      </p:sp>
      <p:sp>
        <p:nvSpPr>
          <p:cNvPr id="32771" name="2 Marcador de notas">
            <a:extLst>
              <a:ext uri="{FF2B5EF4-FFF2-40B4-BE49-F238E27FC236}">
                <a16:creationId xmlns:a16="http://schemas.microsoft.com/office/drawing/2014/main" id="{3FAFB4E0-170F-FCF3-3CD3-5A9F24D9F1E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32772" name="3 Marcador de número de diapositiva">
            <a:extLst>
              <a:ext uri="{FF2B5EF4-FFF2-40B4-BE49-F238E27FC236}">
                <a16:creationId xmlns:a16="http://schemas.microsoft.com/office/drawing/2014/main" id="{2FD939DD-8692-BD35-5B3D-A53B96960A5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0B1CC16-DBAD-D245-BAB9-49CA3F93CA62}" type="slidenum">
              <a:rPr lang="es-ES" altLang="es-ES" smtClean="0"/>
              <a:pPr>
                <a:spcBef>
                  <a:spcPct val="0"/>
                </a:spcBef>
              </a:pPr>
              <a:t>15</a:t>
            </a:fld>
            <a:endParaRPr lang="es-ES" altLang="es-E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1 Marcador de imagen de diapositiva">
            <a:extLst>
              <a:ext uri="{FF2B5EF4-FFF2-40B4-BE49-F238E27FC236}">
                <a16:creationId xmlns:a16="http://schemas.microsoft.com/office/drawing/2014/main" id="{6084D02D-B786-4060-5493-33B555671800}"/>
              </a:ext>
            </a:extLst>
          </p:cNvPr>
          <p:cNvSpPr>
            <a:spLocks noGrp="1" noRot="1" noChangeAspect="1" noChangeArrowheads="1" noTextEdit="1"/>
          </p:cNvSpPr>
          <p:nvPr>
            <p:ph type="sldImg"/>
          </p:nvPr>
        </p:nvSpPr>
        <p:spPr>
          <a:ln/>
        </p:spPr>
      </p:sp>
      <p:sp>
        <p:nvSpPr>
          <p:cNvPr id="34819" name="2 Marcador de notas">
            <a:extLst>
              <a:ext uri="{FF2B5EF4-FFF2-40B4-BE49-F238E27FC236}">
                <a16:creationId xmlns:a16="http://schemas.microsoft.com/office/drawing/2014/main" id="{F0BA87B3-F3D0-2AD6-2693-50818D5BCA8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34820" name="3 Marcador de número de diapositiva">
            <a:extLst>
              <a:ext uri="{FF2B5EF4-FFF2-40B4-BE49-F238E27FC236}">
                <a16:creationId xmlns:a16="http://schemas.microsoft.com/office/drawing/2014/main" id="{4F5B0F0F-BF5E-892C-9D95-582A2663101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5E4522E-7D25-3542-B09E-C72BCB55494E}" type="slidenum">
              <a:rPr lang="es-ES" altLang="es-ES" smtClean="0"/>
              <a:pPr>
                <a:spcBef>
                  <a:spcPct val="0"/>
                </a:spcBef>
              </a:pPr>
              <a:t>16</a:t>
            </a:fld>
            <a:endParaRPr lang="es-ES" altLang="es-E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1 Marcador de imagen de diapositiva">
            <a:extLst>
              <a:ext uri="{FF2B5EF4-FFF2-40B4-BE49-F238E27FC236}">
                <a16:creationId xmlns:a16="http://schemas.microsoft.com/office/drawing/2014/main" id="{F73549FA-9CA7-F36B-BF3A-7420FAF9C12C}"/>
              </a:ext>
            </a:extLst>
          </p:cNvPr>
          <p:cNvSpPr>
            <a:spLocks noGrp="1" noRot="1" noChangeAspect="1" noChangeArrowheads="1" noTextEdit="1"/>
          </p:cNvSpPr>
          <p:nvPr>
            <p:ph type="sldImg"/>
          </p:nvPr>
        </p:nvSpPr>
        <p:spPr>
          <a:ln/>
        </p:spPr>
      </p:sp>
      <p:sp>
        <p:nvSpPr>
          <p:cNvPr id="36867" name="2 Marcador de notas">
            <a:extLst>
              <a:ext uri="{FF2B5EF4-FFF2-40B4-BE49-F238E27FC236}">
                <a16:creationId xmlns:a16="http://schemas.microsoft.com/office/drawing/2014/main" id="{A885AA25-5F6D-C72C-F488-DAEF6717FBE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36868" name="3 Marcador de número de diapositiva">
            <a:extLst>
              <a:ext uri="{FF2B5EF4-FFF2-40B4-BE49-F238E27FC236}">
                <a16:creationId xmlns:a16="http://schemas.microsoft.com/office/drawing/2014/main" id="{2A88DD53-5F39-9BF8-5B7E-043045B460B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01204B5-4EA2-F846-9C15-C0AB77A98CA7}" type="slidenum">
              <a:rPr lang="es-ES" altLang="es-ES" smtClean="0"/>
              <a:pPr>
                <a:spcBef>
                  <a:spcPct val="0"/>
                </a:spcBef>
              </a:pPr>
              <a:t>17</a:t>
            </a:fld>
            <a:endParaRPr lang="es-ES" altLang="es-E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1 Marcador de imagen de diapositiva">
            <a:extLst>
              <a:ext uri="{FF2B5EF4-FFF2-40B4-BE49-F238E27FC236}">
                <a16:creationId xmlns:a16="http://schemas.microsoft.com/office/drawing/2014/main" id="{4E620BC5-4E54-3C97-2926-190394D12F18}"/>
              </a:ext>
            </a:extLst>
          </p:cNvPr>
          <p:cNvSpPr>
            <a:spLocks noGrp="1" noRot="1" noChangeAspect="1" noChangeArrowheads="1" noTextEdit="1"/>
          </p:cNvSpPr>
          <p:nvPr>
            <p:ph type="sldImg"/>
          </p:nvPr>
        </p:nvSpPr>
        <p:spPr>
          <a:ln/>
        </p:spPr>
      </p:sp>
      <p:sp>
        <p:nvSpPr>
          <p:cNvPr id="38915" name="2 Marcador de notas">
            <a:extLst>
              <a:ext uri="{FF2B5EF4-FFF2-40B4-BE49-F238E27FC236}">
                <a16:creationId xmlns:a16="http://schemas.microsoft.com/office/drawing/2014/main" id="{D9C9B663-3A53-EB27-BB27-97250C3455E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38916" name="3 Marcador de número de diapositiva">
            <a:extLst>
              <a:ext uri="{FF2B5EF4-FFF2-40B4-BE49-F238E27FC236}">
                <a16:creationId xmlns:a16="http://schemas.microsoft.com/office/drawing/2014/main" id="{35DF9465-3859-F483-2EFA-2AFBF8DAC56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DE84410-BA61-DA4F-8B9A-EBCB70F9D586}" type="slidenum">
              <a:rPr lang="es-ES" altLang="es-ES" smtClean="0"/>
              <a:pPr>
                <a:spcBef>
                  <a:spcPct val="0"/>
                </a:spcBef>
              </a:pPr>
              <a:t>18</a:t>
            </a:fld>
            <a:endParaRPr lang="es-ES" altLang="es-E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1 Marcador de imagen de diapositiva">
            <a:extLst>
              <a:ext uri="{FF2B5EF4-FFF2-40B4-BE49-F238E27FC236}">
                <a16:creationId xmlns:a16="http://schemas.microsoft.com/office/drawing/2014/main" id="{15FC5372-4684-6925-B1EC-A9DB0B1D70AE}"/>
              </a:ext>
            </a:extLst>
          </p:cNvPr>
          <p:cNvSpPr>
            <a:spLocks noGrp="1" noRot="1" noChangeAspect="1" noChangeArrowheads="1" noTextEdit="1"/>
          </p:cNvSpPr>
          <p:nvPr>
            <p:ph type="sldImg"/>
          </p:nvPr>
        </p:nvSpPr>
        <p:spPr>
          <a:ln/>
        </p:spPr>
      </p:sp>
      <p:sp>
        <p:nvSpPr>
          <p:cNvPr id="40963" name="2 Marcador de notas">
            <a:extLst>
              <a:ext uri="{FF2B5EF4-FFF2-40B4-BE49-F238E27FC236}">
                <a16:creationId xmlns:a16="http://schemas.microsoft.com/office/drawing/2014/main" id="{0E45078E-B1D8-4F91-B8FA-67376EFF594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40964" name="3 Marcador de número de diapositiva">
            <a:extLst>
              <a:ext uri="{FF2B5EF4-FFF2-40B4-BE49-F238E27FC236}">
                <a16:creationId xmlns:a16="http://schemas.microsoft.com/office/drawing/2014/main" id="{23B3554A-213B-6A30-49D5-03B79F1A802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82F07A8-9FE8-1546-9306-AED371917250}" type="slidenum">
              <a:rPr lang="es-ES" altLang="es-ES" smtClean="0"/>
              <a:pPr>
                <a:spcBef>
                  <a:spcPct val="0"/>
                </a:spcBef>
              </a:pPr>
              <a:t>19</a:t>
            </a:fld>
            <a:endParaRPr lang="es-ES" altLang="es-E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1 Marcador de imagen de diapositiva">
            <a:extLst>
              <a:ext uri="{FF2B5EF4-FFF2-40B4-BE49-F238E27FC236}">
                <a16:creationId xmlns:a16="http://schemas.microsoft.com/office/drawing/2014/main" id="{FC817083-F013-0380-ADAA-4C0DDBED0938}"/>
              </a:ext>
            </a:extLst>
          </p:cNvPr>
          <p:cNvSpPr>
            <a:spLocks noGrp="1" noRot="1" noChangeAspect="1" noChangeArrowheads="1" noTextEdit="1"/>
          </p:cNvSpPr>
          <p:nvPr>
            <p:ph type="sldImg"/>
          </p:nvPr>
        </p:nvSpPr>
        <p:spPr>
          <a:ln/>
        </p:spPr>
      </p:sp>
      <p:sp>
        <p:nvSpPr>
          <p:cNvPr id="43011" name="2 Marcador de notas">
            <a:extLst>
              <a:ext uri="{FF2B5EF4-FFF2-40B4-BE49-F238E27FC236}">
                <a16:creationId xmlns:a16="http://schemas.microsoft.com/office/drawing/2014/main" id="{DE15B31A-670D-C3D4-40DD-B52CE6F42FB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43012" name="3 Marcador de número de diapositiva">
            <a:extLst>
              <a:ext uri="{FF2B5EF4-FFF2-40B4-BE49-F238E27FC236}">
                <a16:creationId xmlns:a16="http://schemas.microsoft.com/office/drawing/2014/main" id="{86E6C923-03E2-C874-6A57-EEB1FF3CC54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635239B-2C5A-C84E-9728-19FED4CBDDEA}" type="slidenum">
              <a:rPr lang="es-ES" altLang="es-ES" smtClean="0"/>
              <a:pPr>
                <a:spcBef>
                  <a:spcPct val="0"/>
                </a:spcBef>
              </a:pPr>
              <a:t>20</a:t>
            </a:fld>
            <a:endParaRPr lang="es-ES" altLang="es-E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1 Marcador de imagen de diapositiva">
            <a:extLst>
              <a:ext uri="{FF2B5EF4-FFF2-40B4-BE49-F238E27FC236}">
                <a16:creationId xmlns:a16="http://schemas.microsoft.com/office/drawing/2014/main" id="{620F4905-6FD6-62C4-48F7-FC1E9A5F5CC6}"/>
              </a:ext>
            </a:extLst>
          </p:cNvPr>
          <p:cNvSpPr>
            <a:spLocks noGrp="1" noRot="1" noChangeAspect="1" noChangeArrowheads="1" noTextEdit="1"/>
          </p:cNvSpPr>
          <p:nvPr>
            <p:ph type="sldImg"/>
          </p:nvPr>
        </p:nvSpPr>
        <p:spPr>
          <a:ln/>
        </p:spPr>
      </p:sp>
      <p:sp>
        <p:nvSpPr>
          <p:cNvPr id="45059" name="2 Marcador de notas">
            <a:extLst>
              <a:ext uri="{FF2B5EF4-FFF2-40B4-BE49-F238E27FC236}">
                <a16:creationId xmlns:a16="http://schemas.microsoft.com/office/drawing/2014/main" id="{65A459BD-942E-F340-76B9-92CF73A0634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45060" name="3 Marcador de número de diapositiva">
            <a:extLst>
              <a:ext uri="{FF2B5EF4-FFF2-40B4-BE49-F238E27FC236}">
                <a16:creationId xmlns:a16="http://schemas.microsoft.com/office/drawing/2014/main" id="{40110B70-597A-5F0C-C0FC-6A5ED4761D7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5CCDE53-2841-F248-B1BD-9F21FF04853F}" type="slidenum">
              <a:rPr lang="es-ES" altLang="es-ES" smtClean="0"/>
              <a:pPr>
                <a:spcBef>
                  <a:spcPct val="0"/>
                </a:spcBef>
              </a:pPr>
              <a:t>21</a:t>
            </a:fld>
            <a:endParaRPr lang="es-ES" altLang="es-E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1 Marcador de imagen de diapositiva">
            <a:extLst>
              <a:ext uri="{FF2B5EF4-FFF2-40B4-BE49-F238E27FC236}">
                <a16:creationId xmlns:a16="http://schemas.microsoft.com/office/drawing/2014/main" id="{CCCB67E0-B695-FB93-55D9-EED72F63F8AA}"/>
              </a:ext>
            </a:extLst>
          </p:cNvPr>
          <p:cNvSpPr>
            <a:spLocks noGrp="1" noRot="1" noChangeAspect="1" noChangeArrowheads="1" noTextEdit="1"/>
          </p:cNvSpPr>
          <p:nvPr>
            <p:ph type="sldImg"/>
          </p:nvPr>
        </p:nvSpPr>
        <p:spPr>
          <a:ln/>
        </p:spPr>
      </p:sp>
      <p:sp>
        <p:nvSpPr>
          <p:cNvPr id="47107" name="2 Marcador de notas">
            <a:extLst>
              <a:ext uri="{FF2B5EF4-FFF2-40B4-BE49-F238E27FC236}">
                <a16:creationId xmlns:a16="http://schemas.microsoft.com/office/drawing/2014/main" id="{43A200EE-F7EC-6965-7B95-9CF28358695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47108" name="3 Marcador de número de diapositiva">
            <a:extLst>
              <a:ext uri="{FF2B5EF4-FFF2-40B4-BE49-F238E27FC236}">
                <a16:creationId xmlns:a16="http://schemas.microsoft.com/office/drawing/2014/main" id="{EA63F994-55FA-701D-6F3D-2BAB7BE4C81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617417A-D394-EB40-9861-1834A26E5276}" type="slidenum">
              <a:rPr lang="es-ES" altLang="es-ES" smtClean="0"/>
              <a:pPr>
                <a:spcBef>
                  <a:spcPct val="0"/>
                </a:spcBef>
              </a:pPr>
              <a:t>22</a:t>
            </a:fld>
            <a:endParaRPr lang="es-ES" altLang="es-E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1 Marcador de imagen de diapositiva">
            <a:extLst>
              <a:ext uri="{FF2B5EF4-FFF2-40B4-BE49-F238E27FC236}">
                <a16:creationId xmlns:a16="http://schemas.microsoft.com/office/drawing/2014/main" id="{128D14C3-8DC4-5EFD-DAA9-DF71CF81E62D}"/>
              </a:ext>
            </a:extLst>
          </p:cNvPr>
          <p:cNvSpPr>
            <a:spLocks noGrp="1" noRot="1" noChangeAspect="1" noChangeArrowheads="1" noTextEdit="1"/>
          </p:cNvSpPr>
          <p:nvPr>
            <p:ph type="sldImg"/>
          </p:nvPr>
        </p:nvSpPr>
        <p:spPr>
          <a:ln/>
        </p:spPr>
      </p:sp>
      <p:sp>
        <p:nvSpPr>
          <p:cNvPr id="49155" name="2 Marcador de notas">
            <a:extLst>
              <a:ext uri="{FF2B5EF4-FFF2-40B4-BE49-F238E27FC236}">
                <a16:creationId xmlns:a16="http://schemas.microsoft.com/office/drawing/2014/main" id="{741D27B5-CFFC-7A9E-8CCA-E40BD68542A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49156" name="3 Marcador de número de diapositiva">
            <a:extLst>
              <a:ext uri="{FF2B5EF4-FFF2-40B4-BE49-F238E27FC236}">
                <a16:creationId xmlns:a16="http://schemas.microsoft.com/office/drawing/2014/main" id="{CF75C9C8-6A19-8A19-2A03-299680D65D1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79D7C9A-148C-474D-A69E-422A28508864}" type="slidenum">
              <a:rPr lang="es-ES" altLang="es-ES" smtClean="0"/>
              <a:pPr>
                <a:spcBef>
                  <a:spcPct val="0"/>
                </a:spcBef>
              </a:pPr>
              <a:t>23</a:t>
            </a:fld>
            <a:endParaRPr lang="es-ES" altLang="es-E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1 Marcador de imagen de diapositiva">
            <a:extLst>
              <a:ext uri="{FF2B5EF4-FFF2-40B4-BE49-F238E27FC236}">
                <a16:creationId xmlns:a16="http://schemas.microsoft.com/office/drawing/2014/main" id="{F8A74EE5-C326-6E4C-D1C5-2ECC4BBC5FDD}"/>
              </a:ext>
            </a:extLst>
          </p:cNvPr>
          <p:cNvSpPr>
            <a:spLocks noGrp="1" noRot="1" noChangeAspect="1" noChangeArrowheads="1" noTextEdit="1"/>
          </p:cNvSpPr>
          <p:nvPr>
            <p:ph type="sldImg"/>
          </p:nvPr>
        </p:nvSpPr>
        <p:spPr>
          <a:ln/>
        </p:spPr>
      </p:sp>
      <p:sp>
        <p:nvSpPr>
          <p:cNvPr id="51203" name="2 Marcador de notas">
            <a:extLst>
              <a:ext uri="{FF2B5EF4-FFF2-40B4-BE49-F238E27FC236}">
                <a16:creationId xmlns:a16="http://schemas.microsoft.com/office/drawing/2014/main" id="{63612FF6-3C4D-CF49-19AA-5019D33D5F4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51204" name="3 Marcador de número de diapositiva">
            <a:extLst>
              <a:ext uri="{FF2B5EF4-FFF2-40B4-BE49-F238E27FC236}">
                <a16:creationId xmlns:a16="http://schemas.microsoft.com/office/drawing/2014/main" id="{7C0F5697-3540-CB84-6C95-6A8805EAB28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2D8F326-E2A3-6747-8D31-083C24DA7F2F}" type="slidenum">
              <a:rPr lang="es-ES" altLang="es-ES" smtClean="0"/>
              <a:pPr>
                <a:spcBef>
                  <a:spcPct val="0"/>
                </a:spcBef>
              </a:pPr>
              <a:t>24</a:t>
            </a:fld>
            <a:endParaRPr lang="es-ES" altLang="es-E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1 Marcador de imagen de diapositiva">
            <a:extLst>
              <a:ext uri="{FF2B5EF4-FFF2-40B4-BE49-F238E27FC236}">
                <a16:creationId xmlns:a16="http://schemas.microsoft.com/office/drawing/2014/main" id="{B5CF446C-E728-05E2-B1B2-50982A037F8F}"/>
              </a:ext>
            </a:extLst>
          </p:cNvPr>
          <p:cNvSpPr>
            <a:spLocks noGrp="1" noRot="1" noChangeAspect="1" noChangeArrowheads="1" noTextEdit="1"/>
          </p:cNvSpPr>
          <p:nvPr>
            <p:ph type="sldImg"/>
          </p:nvPr>
        </p:nvSpPr>
        <p:spPr>
          <a:ln/>
        </p:spPr>
      </p:sp>
      <p:sp>
        <p:nvSpPr>
          <p:cNvPr id="53251" name="2 Marcador de notas">
            <a:extLst>
              <a:ext uri="{FF2B5EF4-FFF2-40B4-BE49-F238E27FC236}">
                <a16:creationId xmlns:a16="http://schemas.microsoft.com/office/drawing/2014/main" id="{F6A80CE9-6B0A-350B-6C03-F93ABB72938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53252" name="3 Marcador de número de diapositiva">
            <a:extLst>
              <a:ext uri="{FF2B5EF4-FFF2-40B4-BE49-F238E27FC236}">
                <a16:creationId xmlns:a16="http://schemas.microsoft.com/office/drawing/2014/main" id="{C0E66913-98EC-1DBD-3615-079D6A78DB4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B062AB8-6B10-8049-A91C-2F1572B1D30D}" type="slidenum">
              <a:rPr lang="es-ES" altLang="es-ES" smtClean="0"/>
              <a:pPr>
                <a:spcBef>
                  <a:spcPct val="0"/>
                </a:spcBef>
              </a:pPr>
              <a:t>25</a:t>
            </a:fld>
            <a:endParaRPr lang="es-ES" altLang="es-E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1 Marcador de imagen de diapositiva">
            <a:extLst>
              <a:ext uri="{FF2B5EF4-FFF2-40B4-BE49-F238E27FC236}">
                <a16:creationId xmlns:a16="http://schemas.microsoft.com/office/drawing/2014/main" id="{4ED35DDC-3527-30E7-FA19-1C1916AA311C}"/>
              </a:ext>
            </a:extLst>
          </p:cNvPr>
          <p:cNvSpPr>
            <a:spLocks noGrp="1" noRot="1" noChangeAspect="1" noChangeArrowheads="1" noTextEdit="1"/>
          </p:cNvSpPr>
          <p:nvPr>
            <p:ph type="sldImg"/>
          </p:nvPr>
        </p:nvSpPr>
        <p:spPr>
          <a:ln/>
        </p:spPr>
      </p:sp>
      <p:sp>
        <p:nvSpPr>
          <p:cNvPr id="55299" name="2 Marcador de notas">
            <a:extLst>
              <a:ext uri="{FF2B5EF4-FFF2-40B4-BE49-F238E27FC236}">
                <a16:creationId xmlns:a16="http://schemas.microsoft.com/office/drawing/2014/main" id="{35255491-0FA1-EA8E-A705-20BF48461B4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55300" name="3 Marcador de número de diapositiva">
            <a:extLst>
              <a:ext uri="{FF2B5EF4-FFF2-40B4-BE49-F238E27FC236}">
                <a16:creationId xmlns:a16="http://schemas.microsoft.com/office/drawing/2014/main" id="{168A75BC-4548-C069-5ABB-49B1E45C773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2BBCDCF-D426-F24D-981D-E0C478BC90E2}" type="slidenum">
              <a:rPr lang="es-ES" altLang="es-ES" smtClean="0"/>
              <a:pPr>
                <a:spcBef>
                  <a:spcPct val="0"/>
                </a:spcBef>
              </a:pPr>
              <a:t>26</a:t>
            </a:fld>
            <a:endParaRPr lang="es-ES" altLang="es-E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Marcador de imagen de diapositiva">
            <a:extLst>
              <a:ext uri="{FF2B5EF4-FFF2-40B4-BE49-F238E27FC236}">
                <a16:creationId xmlns:a16="http://schemas.microsoft.com/office/drawing/2014/main" id="{D9060056-91C3-165E-40CF-BC191FDE3E44}"/>
              </a:ext>
            </a:extLst>
          </p:cNvPr>
          <p:cNvSpPr>
            <a:spLocks noGrp="1" noRot="1" noChangeAspect="1" noChangeArrowheads="1" noTextEdit="1"/>
          </p:cNvSpPr>
          <p:nvPr>
            <p:ph type="sldImg"/>
          </p:nvPr>
        </p:nvSpPr>
        <p:spPr>
          <a:ln/>
        </p:spPr>
      </p:sp>
      <p:sp>
        <p:nvSpPr>
          <p:cNvPr id="57347" name="2 Marcador de notas">
            <a:extLst>
              <a:ext uri="{FF2B5EF4-FFF2-40B4-BE49-F238E27FC236}">
                <a16:creationId xmlns:a16="http://schemas.microsoft.com/office/drawing/2014/main" id="{BD4442EC-52E1-93D3-C137-8ACEAFF8B00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57348" name="3 Marcador de número de diapositiva">
            <a:extLst>
              <a:ext uri="{FF2B5EF4-FFF2-40B4-BE49-F238E27FC236}">
                <a16:creationId xmlns:a16="http://schemas.microsoft.com/office/drawing/2014/main" id="{65139BE0-492B-1321-7AE1-A6EAC115E60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9D24BFD-9FB1-EF43-B712-B7A218AC4663}" type="slidenum">
              <a:rPr lang="es-ES" altLang="es-ES" smtClean="0"/>
              <a:pPr>
                <a:spcBef>
                  <a:spcPct val="0"/>
                </a:spcBef>
              </a:pPr>
              <a:t>27</a:t>
            </a:fld>
            <a:endParaRPr lang="es-ES" altLang="es-E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1 Marcador de imagen de diapositiva">
            <a:extLst>
              <a:ext uri="{FF2B5EF4-FFF2-40B4-BE49-F238E27FC236}">
                <a16:creationId xmlns:a16="http://schemas.microsoft.com/office/drawing/2014/main" id="{36527644-5742-1A5D-2027-0E1CA16A95AB}"/>
              </a:ext>
            </a:extLst>
          </p:cNvPr>
          <p:cNvSpPr>
            <a:spLocks noGrp="1" noRot="1" noChangeAspect="1" noChangeArrowheads="1" noTextEdit="1"/>
          </p:cNvSpPr>
          <p:nvPr>
            <p:ph type="sldImg"/>
          </p:nvPr>
        </p:nvSpPr>
        <p:spPr>
          <a:ln/>
        </p:spPr>
      </p:sp>
      <p:sp>
        <p:nvSpPr>
          <p:cNvPr id="59395" name="2 Marcador de notas">
            <a:extLst>
              <a:ext uri="{FF2B5EF4-FFF2-40B4-BE49-F238E27FC236}">
                <a16:creationId xmlns:a16="http://schemas.microsoft.com/office/drawing/2014/main" id="{50412FBD-FBD8-88D5-F647-F228602E1B0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59396" name="3 Marcador de número de diapositiva">
            <a:extLst>
              <a:ext uri="{FF2B5EF4-FFF2-40B4-BE49-F238E27FC236}">
                <a16:creationId xmlns:a16="http://schemas.microsoft.com/office/drawing/2014/main" id="{101EBB39-775C-ACFA-8820-39D583CA2E3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41BF422-0A32-594D-AB83-863545F1080B}" type="slidenum">
              <a:rPr lang="es-ES" altLang="es-ES" smtClean="0"/>
              <a:pPr>
                <a:spcBef>
                  <a:spcPct val="0"/>
                </a:spcBef>
              </a:pPr>
              <a:t>28</a:t>
            </a:fld>
            <a:endParaRPr lang="es-ES" altLang="es-E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1 Marcador de imagen de diapositiva">
            <a:extLst>
              <a:ext uri="{FF2B5EF4-FFF2-40B4-BE49-F238E27FC236}">
                <a16:creationId xmlns:a16="http://schemas.microsoft.com/office/drawing/2014/main" id="{C95ACA3B-BB23-ECF8-98B5-04DE184B966C}"/>
              </a:ext>
            </a:extLst>
          </p:cNvPr>
          <p:cNvSpPr>
            <a:spLocks noGrp="1" noRot="1" noChangeAspect="1" noChangeArrowheads="1" noTextEdit="1"/>
          </p:cNvSpPr>
          <p:nvPr>
            <p:ph type="sldImg"/>
          </p:nvPr>
        </p:nvSpPr>
        <p:spPr>
          <a:ln/>
        </p:spPr>
      </p:sp>
      <p:sp>
        <p:nvSpPr>
          <p:cNvPr id="61443" name="2 Marcador de notas">
            <a:extLst>
              <a:ext uri="{FF2B5EF4-FFF2-40B4-BE49-F238E27FC236}">
                <a16:creationId xmlns:a16="http://schemas.microsoft.com/office/drawing/2014/main" id="{F68A7F37-C782-3041-2A29-5472A7F0AF0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61444" name="3 Marcador de número de diapositiva">
            <a:extLst>
              <a:ext uri="{FF2B5EF4-FFF2-40B4-BE49-F238E27FC236}">
                <a16:creationId xmlns:a16="http://schemas.microsoft.com/office/drawing/2014/main" id="{B812A93B-012B-8FD5-FC0F-208B44866E3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AB7E077-F27E-8849-81D9-C7B9C897E3B9}" type="slidenum">
              <a:rPr lang="es-ES" altLang="es-ES" smtClean="0"/>
              <a:pPr>
                <a:spcBef>
                  <a:spcPct val="0"/>
                </a:spcBef>
              </a:pPr>
              <a:t>29</a:t>
            </a:fld>
            <a:endParaRPr lang="es-ES" altLang="es-E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1 Marcador de imagen de diapositiva">
            <a:extLst>
              <a:ext uri="{FF2B5EF4-FFF2-40B4-BE49-F238E27FC236}">
                <a16:creationId xmlns:a16="http://schemas.microsoft.com/office/drawing/2014/main" id="{C0EE6F67-8999-D107-ADFC-6DB208AE73DE}"/>
              </a:ext>
            </a:extLst>
          </p:cNvPr>
          <p:cNvSpPr>
            <a:spLocks noGrp="1" noRot="1" noChangeAspect="1" noChangeArrowheads="1" noTextEdit="1"/>
          </p:cNvSpPr>
          <p:nvPr>
            <p:ph type="sldImg"/>
          </p:nvPr>
        </p:nvSpPr>
        <p:spPr>
          <a:ln/>
        </p:spPr>
      </p:sp>
      <p:sp>
        <p:nvSpPr>
          <p:cNvPr id="63491" name="2 Marcador de notas">
            <a:extLst>
              <a:ext uri="{FF2B5EF4-FFF2-40B4-BE49-F238E27FC236}">
                <a16:creationId xmlns:a16="http://schemas.microsoft.com/office/drawing/2014/main" id="{40C052D3-4977-170F-7675-250AEAC73E3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63492" name="3 Marcador de número de diapositiva">
            <a:extLst>
              <a:ext uri="{FF2B5EF4-FFF2-40B4-BE49-F238E27FC236}">
                <a16:creationId xmlns:a16="http://schemas.microsoft.com/office/drawing/2014/main" id="{74EFFC6A-B534-01AC-2DF1-BFEA190FCB7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FF7BCF4-4724-134D-8B3B-009C4F914E13}" type="slidenum">
              <a:rPr lang="es-ES" altLang="es-ES" smtClean="0"/>
              <a:pPr>
                <a:spcBef>
                  <a:spcPct val="0"/>
                </a:spcBef>
              </a:pPr>
              <a:t>30</a:t>
            </a:fld>
            <a:endParaRPr lang="es-ES" altLang="es-E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1 Marcador de imagen de diapositiva">
            <a:extLst>
              <a:ext uri="{FF2B5EF4-FFF2-40B4-BE49-F238E27FC236}">
                <a16:creationId xmlns:a16="http://schemas.microsoft.com/office/drawing/2014/main" id="{6A1E417F-4220-FB3E-AA3F-E151CE18EC6F}"/>
              </a:ext>
            </a:extLst>
          </p:cNvPr>
          <p:cNvSpPr>
            <a:spLocks noGrp="1" noRot="1" noChangeAspect="1" noChangeArrowheads="1" noTextEdit="1"/>
          </p:cNvSpPr>
          <p:nvPr>
            <p:ph type="sldImg"/>
          </p:nvPr>
        </p:nvSpPr>
        <p:spPr>
          <a:ln/>
        </p:spPr>
      </p:sp>
      <p:sp>
        <p:nvSpPr>
          <p:cNvPr id="65539" name="2 Marcador de notas">
            <a:extLst>
              <a:ext uri="{FF2B5EF4-FFF2-40B4-BE49-F238E27FC236}">
                <a16:creationId xmlns:a16="http://schemas.microsoft.com/office/drawing/2014/main" id="{18A8F042-766B-AD31-028D-E82BE596D18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65540" name="3 Marcador de número de diapositiva">
            <a:extLst>
              <a:ext uri="{FF2B5EF4-FFF2-40B4-BE49-F238E27FC236}">
                <a16:creationId xmlns:a16="http://schemas.microsoft.com/office/drawing/2014/main" id="{1E551A89-C4ED-AC61-1607-323B20F0657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A93B6A7-7559-DD40-8C13-6F2A52B6B307}" type="slidenum">
              <a:rPr lang="es-ES" altLang="es-ES" smtClean="0"/>
              <a:pPr>
                <a:spcBef>
                  <a:spcPct val="0"/>
                </a:spcBef>
              </a:pPr>
              <a:t>31</a:t>
            </a:fld>
            <a:endParaRPr lang="es-ES" altLang="es-E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1 Marcador de imagen de diapositiva">
            <a:extLst>
              <a:ext uri="{FF2B5EF4-FFF2-40B4-BE49-F238E27FC236}">
                <a16:creationId xmlns:a16="http://schemas.microsoft.com/office/drawing/2014/main" id="{A10F191B-19D7-50B0-2FA1-78AAA3A8428B}"/>
              </a:ext>
            </a:extLst>
          </p:cNvPr>
          <p:cNvSpPr>
            <a:spLocks noGrp="1" noRot="1" noChangeAspect="1" noChangeArrowheads="1" noTextEdit="1"/>
          </p:cNvSpPr>
          <p:nvPr>
            <p:ph type="sldImg"/>
          </p:nvPr>
        </p:nvSpPr>
        <p:spPr>
          <a:ln/>
        </p:spPr>
      </p:sp>
      <p:sp>
        <p:nvSpPr>
          <p:cNvPr id="67587" name="2 Marcador de notas">
            <a:extLst>
              <a:ext uri="{FF2B5EF4-FFF2-40B4-BE49-F238E27FC236}">
                <a16:creationId xmlns:a16="http://schemas.microsoft.com/office/drawing/2014/main" id="{A96A9C6E-677D-3476-E1C3-9FC71857306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67588" name="3 Marcador de número de diapositiva">
            <a:extLst>
              <a:ext uri="{FF2B5EF4-FFF2-40B4-BE49-F238E27FC236}">
                <a16:creationId xmlns:a16="http://schemas.microsoft.com/office/drawing/2014/main" id="{29BAF2A2-60B9-F845-BF18-DFE2600A05B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9A55059-B052-0449-93D2-6212CF70FB81}" type="slidenum">
              <a:rPr lang="es-ES" altLang="es-ES" smtClean="0"/>
              <a:pPr>
                <a:spcBef>
                  <a:spcPct val="0"/>
                </a:spcBef>
              </a:pPr>
              <a:t>32</a:t>
            </a:fld>
            <a:endParaRPr lang="es-ES" altLang="es-E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1 Marcador de imagen de diapositiva">
            <a:extLst>
              <a:ext uri="{FF2B5EF4-FFF2-40B4-BE49-F238E27FC236}">
                <a16:creationId xmlns:a16="http://schemas.microsoft.com/office/drawing/2014/main" id="{348DC3E2-F1A8-7C49-ECE0-376405B676FD}"/>
              </a:ext>
            </a:extLst>
          </p:cNvPr>
          <p:cNvSpPr>
            <a:spLocks noGrp="1" noRot="1" noChangeAspect="1" noChangeArrowheads="1" noTextEdit="1"/>
          </p:cNvSpPr>
          <p:nvPr>
            <p:ph type="sldImg"/>
          </p:nvPr>
        </p:nvSpPr>
        <p:spPr>
          <a:ln/>
        </p:spPr>
      </p:sp>
      <p:sp>
        <p:nvSpPr>
          <p:cNvPr id="69635" name="2 Marcador de notas">
            <a:extLst>
              <a:ext uri="{FF2B5EF4-FFF2-40B4-BE49-F238E27FC236}">
                <a16:creationId xmlns:a16="http://schemas.microsoft.com/office/drawing/2014/main" id="{3B48F57D-ED0C-309E-E29A-4A84973EDB8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69636" name="3 Marcador de número de diapositiva">
            <a:extLst>
              <a:ext uri="{FF2B5EF4-FFF2-40B4-BE49-F238E27FC236}">
                <a16:creationId xmlns:a16="http://schemas.microsoft.com/office/drawing/2014/main" id="{60B97A17-55F1-E017-2062-ABCE470C6A0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FD4957E-C06B-8246-8364-71B3B29704EB}" type="slidenum">
              <a:rPr lang="es-ES" altLang="es-ES" smtClean="0"/>
              <a:pPr>
                <a:spcBef>
                  <a:spcPct val="0"/>
                </a:spcBef>
              </a:pPr>
              <a:t>33</a:t>
            </a:fld>
            <a:endParaRPr lang="es-ES" altLang="es-E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1 Marcador de imagen de diapositiva">
            <a:extLst>
              <a:ext uri="{FF2B5EF4-FFF2-40B4-BE49-F238E27FC236}">
                <a16:creationId xmlns:a16="http://schemas.microsoft.com/office/drawing/2014/main" id="{CB67A7B0-44F4-AD55-068E-C87F8385C24B}"/>
              </a:ext>
            </a:extLst>
          </p:cNvPr>
          <p:cNvSpPr>
            <a:spLocks noGrp="1" noRot="1" noChangeAspect="1" noChangeArrowheads="1" noTextEdit="1"/>
          </p:cNvSpPr>
          <p:nvPr>
            <p:ph type="sldImg"/>
          </p:nvPr>
        </p:nvSpPr>
        <p:spPr>
          <a:ln/>
        </p:spPr>
      </p:sp>
      <p:sp>
        <p:nvSpPr>
          <p:cNvPr id="71683" name="2 Marcador de notas">
            <a:extLst>
              <a:ext uri="{FF2B5EF4-FFF2-40B4-BE49-F238E27FC236}">
                <a16:creationId xmlns:a16="http://schemas.microsoft.com/office/drawing/2014/main" id="{17DAD914-4BF4-9134-4E1C-B6E38E9237E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71684" name="3 Marcador de número de diapositiva">
            <a:extLst>
              <a:ext uri="{FF2B5EF4-FFF2-40B4-BE49-F238E27FC236}">
                <a16:creationId xmlns:a16="http://schemas.microsoft.com/office/drawing/2014/main" id="{57F844BD-B41D-C0A4-27F3-CF1E566703A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CD4F108-7E9C-DE4B-8936-20D4C2071DE0}" type="slidenum">
              <a:rPr lang="es-ES" altLang="es-ES" smtClean="0"/>
              <a:pPr>
                <a:spcBef>
                  <a:spcPct val="0"/>
                </a:spcBef>
              </a:pPr>
              <a:t>34</a:t>
            </a:fld>
            <a:endParaRPr lang="es-ES" altLang="es-E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1 Marcador de imagen de diapositiva">
            <a:extLst>
              <a:ext uri="{FF2B5EF4-FFF2-40B4-BE49-F238E27FC236}">
                <a16:creationId xmlns:a16="http://schemas.microsoft.com/office/drawing/2014/main" id="{9D5EE83E-0AF2-9EE6-4EB2-EF40366BBC55}"/>
              </a:ext>
            </a:extLst>
          </p:cNvPr>
          <p:cNvSpPr>
            <a:spLocks noGrp="1" noRot="1" noChangeAspect="1" noChangeArrowheads="1" noTextEdit="1"/>
          </p:cNvSpPr>
          <p:nvPr>
            <p:ph type="sldImg"/>
          </p:nvPr>
        </p:nvSpPr>
        <p:spPr>
          <a:ln/>
        </p:spPr>
      </p:sp>
      <p:sp>
        <p:nvSpPr>
          <p:cNvPr id="73731" name="2 Marcador de notas">
            <a:extLst>
              <a:ext uri="{FF2B5EF4-FFF2-40B4-BE49-F238E27FC236}">
                <a16:creationId xmlns:a16="http://schemas.microsoft.com/office/drawing/2014/main" id="{98A8D2EB-BFBE-3C77-948D-03E6C9A7A52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73732" name="3 Marcador de número de diapositiva">
            <a:extLst>
              <a:ext uri="{FF2B5EF4-FFF2-40B4-BE49-F238E27FC236}">
                <a16:creationId xmlns:a16="http://schemas.microsoft.com/office/drawing/2014/main" id="{5DB338FC-2174-3169-1444-D71CB2B311B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A07BDAF-B055-514A-8466-B36BDEB3ACD3}" type="slidenum">
              <a:rPr lang="es-ES" altLang="es-ES" smtClean="0"/>
              <a:pPr>
                <a:spcBef>
                  <a:spcPct val="0"/>
                </a:spcBef>
              </a:pPr>
              <a:t>35</a:t>
            </a:fld>
            <a:endParaRPr lang="es-ES" altLang="es-E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1 Marcador de imagen de diapositiva">
            <a:extLst>
              <a:ext uri="{FF2B5EF4-FFF2-40B4-BE49-F238E27FC236}">
                <a16:creationId xmlns:a16="http://schemas.microsoft.com/office/drawing/2014/main" id="{1A712406-8A34-ED62-34FF-8ED84ADE5F48}"/>
              </a:ext>
            </a:extLst>
          </p:cNvPr>
          <p:cNvSpPr>
            <a:spLocks noGrp="1" noRot="1" noChangeAspect="1" noChangeArrowheads="1" noTextEdit="1"/>
          </p:cNvSpPr>
          <p:nvPr>
            <p:ph type="sldImg"/>
          </p:nvPr>
        </p:nvSpPr>
        <p:spPr>
          <a:ln/>
        </p:spPr>
      </p:sp>
      <p:sp>
        <p:nvSpPr>
          <p:cNvPr id="75779" name="2 Marcador de notas">
            <a:extLst>
              <a:ext uri="{FF2B5EF4-FFF2-40B4-BE49-F238E27FC236}">
                <a16:creationId xmlns:a16="http://schemas.microsoft.com/office/drawing/2014/main" id="{907B9C80-2C00-E61D-367A-DA2D8B8D54D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75780" name="3 Marcador de número de diapositiva">
            <a:extLst>
              <a:ext uri="{FF2B5EF4-FFF2-40B4-BE49-F238E27FC236}">
                <a16:creationId xmlns:a16="http://schemas.microsoft.com/office/drawing/2014/main" id="{5D6B3FB2-4611-E933-87A1-59B21374132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B7B8300-E782-C04B-8ADF-5FEAB25FF2D8}" type="slidenum">
              <a:rPr lang="es-ES" altLang="es-ES" smtClean="0"/>
              <a:pPr>
                <a:spcBef>
                  <a:spcPct val="0"/>
                </a:spcBef>
              </a:pPr>
              <a:t>36</a:t>
            </a:fld>
            <a:endParaRPr lang="es-ES" altLang="es-E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1 Marcador de imagen de diapositiva">
            <a:extLst>
              <a:ext uri="{FF2B5EF4-FFF2-40B4-BE49-F238E27FC236}">
                <a16:creationId xmlns:a16="http://schemas.microsoft.com/office/drawing/2014/main" id="{0135BD82-8B8C-6B9C-99E4-6954AEFCB9CA}"/>
              </a:ext>
            </a:extLst>
          </p:cNvPr>
          <p:cNvSpPr>
            <a:spLocks noGrp="1" noRot="1" noChangeAspect="1" noChangeArrowheads="1" noTextEdit="1"/>
          </p:cNvSpPr>
          <p:nvPr>
            <p:ph type="sldImg"/>
          </p:nvPr>
        </p:nvSpPr>
        <p:spPr>
          <a:ln/>
        </p:spPr>
      </p:sp>
      <p:sp>
        <p:nvSpPr>
          <p:cNvPr id="77827" name="2 Marcador de notas">
            <a:extLst>
              <a:ext uri="{FF2B5EF4-FFF2-40B4-BE49-F238E27FC236}">
                <a16:creationId xmlns:a16="http://schemas.microsoft.com/office/drawing/2014/main" id="{21A3078D-6474-66ED-9793-F503C0A5094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77828" name="3 Marcador de número de diapositiva">
            <a:extLst>
              <a:ext uri="{FF2B5EF4-FFF2-40B4-BE49-F238E27FC236}">
                <a16:creationId xmlns:a16="http://schemas.microsoft.com/office/drawing/2014/main" id="{DDD2FD31-B565-9258-C1A0-4C451DB6084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C179C7F-E3BA-BD49-95D6-ADCDAEED3705}" type="slidenum">
              <a:rPr lang="es-ES" altLang="es-ES" smtClean="0"/>
              <a:pPr>
                <a:spcBef>
                  <a:spcPct val="0"/>
                </a:spcBef>
              </a:pPr>
              <a:t>37</a:t>
            </a:fld>
            <a:endParaRPr lang="es-ES" altLang="es-E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1 Marcador de imagen de diapositiva">
            <a:extLst>
              <a:ext uri="{FF2B5EF4-FFF2-40B4-BE49-F238E27FC236}">
                <a16:creationId xmlns:a16="http://schemas.microsoft.com/office/drawing/2014/main" id="{EE5DED8A-B6A4-E121-82A8-E9D070488D54}"/>
              </a:ext>
            </a:extLst>
          </p:cNvPr>
          <p:cNvSpPr>
            <a:spLocks noGrp="1" noRot="1" noChangeAspect="1" noChangeArrowheads="1" noTextEdit="1"/>
          </p:cNvSpPr>
          <p:nvPr>
            <p:ph type="sldImg"/>
          </p:nvPr>
        </p:nvSpPr>
        <p:spPr>
          <a:ln/>
        </p:spPr>
      </p:sp>
      <p:sp>
        <p:nvSpPr>
          <p:cNvPr id="79875" name="2 Marcador de notas">
            <a:extLst>
              <a:ext uri="{FF2B5EF4-FFF2-40B4-BE49-F238E27FC236}">
                <a16:creationId xmlns:a16="http://schemas.microsoft.com/office/drawing/2014/main" id="{A04CEB22-AE44-507E-A404-D4CD2AF424D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79876" name="3 Marcador de número de diapositiva">
            <a:extLst>
              <a:ext uri="{FF2B5EF4-FFF2-40B4-BE49-F238E27FC236}">
                <a16:creationId xmlns:a16="http://schemas.microsoft.com/office/drawing/2014/main" id="{DB9410A4-5C7B-4FA7-2DB9-648024165FC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4BC8DB7-1FCD-8142-9F5F-4E71266DA19E}" type="slidenum">
              <a:rPr lang="es-ES" altLang="es-ES" smtClean="0"/>
              <a:pPr>
                <a:spcBef>
                  <a:spcPct val="0"/>
                </a:spcBef>
              </a:pPr>
              <a:t>38</a:t>
            </a:fld>
            <a:endParaRPr lang="es-ES" altLang="es-E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1 Marcador de imagen de diapositiva">
            <a:extLst>
              <a:ext uri="{FF2B5EF4-FFF2-40B4-BE49-F238E27FC236}">
                <a16:creationId xmlns:a16="http://schemas.microsoft.com/office/drawing/2014/main" id="{9258DE63-6A46-37DB-894B-5D2199F8024D}"/>
              </a:ext>
            </a:extLst>
          </p:cNvPr>
          <p:cNvSpPr>
            <a:spLocks noGrp="1" noRot="1" noChangeAspect="1" noChangeArrowheads="1" noTextEdit="1"/>
          </p:cNvSpPr>
          <p:nvPr>
            <p:ph type="sldImg"/>
          </p:nvPr>
        </p:nvSpPr>
        <p:spPr>
          <a:ln/>
        </p:spPr>
      </p:sp>
      <p:sp>
        <p:nvSpPr>
          <p:cNvPr id="81923" name="2 Marcador de notas">
            <a:extLst>
              <a:ext uri="{FF2B5EF4-FFF2-40B4-BE49-F238E27FC236}">
                <a16:creationId xmlns:a16="http://schemas.microsoft.com/office/drawing/2014/main" id="{959E1DF2-E288-F55B-3BE4-29198C4D96B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81924" name="3 Marcador de número de diapositiva">
            <a:extLst>
              <a:ext uri="{FF2B5EF4-FFF2-40B4-BE49-F238E27FC236}">
                <a16:creationId xmlns:a16="http://schemas.microsoft.com/office/drawing/2014/main" id="{05368E97-340C-C6AC-9989-5CBF71F83C5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BE51D73-BB86-C946-87C0-A5BB47247F6A}" type="slidenum">
              <a:rPr lang="es-ES" altLang="es-ES" smtClean="0"/>
              <a:pPr>
                <a:spcBef>
                  <a:spcPct val="0"/>
                </a:spcBef>
              </a:pPr>
              <a:t>39</a:t>
            </a:fld>
            <a:endParaRPr lang="es-ES" altLang="es-E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1 Marcador de imagen de diapositiva">
            <a:extLst>
              <a:ext uri="{FF2B5EF4-FFF2-40B4-BE49-F238E27FC236}">
                <a16:creationId xmlns:a16="http://schemas.microsoft.com/office/drawing/2014/main" id="{9DCD98A7-A66C-D2AD-9493-9EA5ADDD7AC4}"/>
              </a:ext>
            </a:extLst>
          </p:cNvPr>
          <p:cNvSpPr>
            <a:spLocks noGrp="1" noRot="1" noChangeAspect="1" noChangeArrowheads="1" noTextEdit="1"/>
          </p:cNvSpPr>
          <p:nvPr>
            <p:ph type="sldImg"/>
          </p:nvPr>
        </p:nvSpPr>
        <p:spPr>
          <a:ln/>
        </p:spPr>
      </p:sp>
      <p:sp>
        <p:nvSpPr>
          <p:cNvPr id="83971" name="2 Marcador de notas">
            <a:extLst>
              <a:ext uri="{FF2B5EF4-FFF2-40B4-BE49-F238E27FC236}">
                <a16:creationId xmlns:a16="http://schemas.microsoft.com/office/drawing/2014/main" id="{575FE307-44DA-6CD1-9495-7163F2F5CA0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83972" name="3 Marcador de número de diapositiva">
            <a:extLst>
              <a:ext uri="{FF2B5EF4-FFF2-40B4-BE49-F238E27FC236}">
                <a16:creationId xmlns:a16="http://schemas.microsoft.com/office/drawing/2014/main" id="{7BA10229-41AC-4CC9-A0CC-6A0DFB6CA9D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41E671F-7D36-284B-8461-2E1AF685E31F}" type="slidenum">
              <a:rPr lang="es-ES" altLang="es-ES" smtClean="0"/>
              <a:pPr>
                <a:spcBef>
                  <a:spcPct val="0"/>
                </a:spcBef>
              </a:pPr>
              <a:t>40</a:t>
            </a:fld>
            <a:endParaRPr lang="es-ES" altLang="es-E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1 Marcador de imagen de diapositiva">
            <a:extLst>
              <a:ext uri="{FF2B5EF4-FFF2-40B4-BE49-F238E27FC236}">
                <a16:creationId xmlns:a16="http://schemas.microsoft.com/office/drawing/2014/main" id="{A0237318-925C-D4A9-BC76-3D1976C28EC3}"/>
              </a:ext>
            </a:extLst>
          </p:cNvPr>
          <p:cNvSpPr>
            <a:spLocks noGrp="1" noRot="1" noChangeAspect="1" noChangeArrowheads="1" noTextEdit="1"/>
          </p:cNvSpPr>
          <p:nvPr>
            <p:ph type="sldImg"/>
          </p:nvPr>
        </p:nvSpPr>
        <p:spPr>
          <a:ln/>
        </p:spPr>
      </p:sp>
      <p:sp>
        <p:nvSpPr>
          <p:cNvPr id="86019" name="2 Marcador de notas">
            <a:extLst>
              <a:ext uri="{FF2B5EF4-FFF2-40B4-BE49-F238E27FC236}">
                <a16:creationId xmlns:a16="http://schemas.microsoft.com/office/drawing/2014/main" id="{13CF95B1-A6B1-5069-6D5F-FE759E5B52F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86020" name="3 Marcador de número de diapositiva">
            <a:extLst>
              <a:ext uri="{FF2B5EF4-FFF2-40B4-BE49-F238E27FC236}">
                <a16:creationId xmlns:a16="http://schemas.microsoft.com/office/drawing/2014/main" id="{1F9078DD-32E4-0C4F-3EA6-130C7DB090B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16F8F37-A44A-3D48-A8F7-626EAC7D78C3}" type="slidenum">
              <a:rPr lang="es-ES" altLang="es-ES" smtClean="0"/>
              <a:pPr>
                <a:spcBef>
                  <a:spcPct val="0"/>
                </a:spcBef>
              </a:pPr>
              <a:t>41</a:t>
            </a:fld>
            <a:endParaRPr lang="es-ES" altLang="es-E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1 Marcador de imagen de diapositiva">
            <a:extLst>
              <a:ext uri="{FF2B5EF4-FFF2-40B4-BE49-F238E27FC236}">
                <a16:creationId xmlns:a16="http://schemas.microsoft.com/office/drawing/2014/main" id="{F4A9C87C-EF43-8484-19E1-8B697BA31DD0}"/>
              </a:ext>
            </a:extLst>
          </p:cNvPr>
          <p:cNvSpPr>
            <a:spLocks noGrp="1" noRot="1" noChangeAspect="1" noChangeArrowheads="1" noTextEdit="1"/>
          </p:cNvSpPr>
          <p:nvPr>
            <p:ph type="sldImg"/>
          </p:nvPr>
        </p:nvSpPr>
        <p:spPr>
          <a:ln/>
        </p:spPr>
      </p:sp>
      <p:sp>
        <p:nvSpPr>
          <p:cNvPr id="88067" name="2 Marcador de notas">
            <a:extLst>
              <a:ext uri="{FF2B5EF4-FFF2-40B4-BE49-F238E27FC236}">
                <a16:creationId xmlns:a16="http://schemas.microsoft.com/office/drawing/2014/main" id="{0DACA080-63DE-1D3C-5E5F-9FA6652EB27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88068" name="3 Marcador de número de diapositiva">
            <a:extLst>
              <a:ext uri="{FF2B5EF4-FFF2-40B4-BE49-F238E27FC236}">
                <a16:creationId xmlns:a16="http://schemas.microsoft.com/office/drawing/2014/main" id="{FDBEBAB2-D1DA-4DAE-CA6B-C33E4974E30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DDB25C9-B715-3140-A418-F020506B5066}" type="slidenum">
              <a:rPr lang="es-ES" altLang="es-ES" smtClean="0"/>
              <a:pPr>
                <a:spcBef>
                  <a:spcPct val="0"/>
                </a:spcBef>
              </a:pPr>
              <a:t>42</a:t>
            </a:fld>
            <a:endParaRPr lang="es-ES" altLang="es-E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6A41606F-4DEB-AC44-70C5-3CED24B8A9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C7A005B-2782-9F4F-A719-64E126444EA6}" type="slidenum">
              <a:rPr lang="es-ES" altLang="es-ES" smtClean="0"/>
              <a:pPr>
                <a:spcBef>
                  <a:spcPct val="0"/>
                </a:spcBef>
              </a:pPr>
              <a:t>43</a:t>
            </a:fld>
            <a:endParaRPr lang="es-ES" altLang="es-ES"/>
          </a:p>
        </p:txBody>
      </p:sp>
      <p:sp>
        <p:nvSpPr>
          <p:cNvPr id="90115" name="Rectangle 7">
            <a:extLst>
              <a:ext uri="{FF2B5EF4-FFF2-40B4-BE49-F238E27FC236}">
                <a16:creationId xmlns:a16="http://schemas.microsoft.com/office/drawing/2014/main" id="{D5E19A24-D1FE-432D-BBF6-2A5428AB0932}"/>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51D75CF5-F301-1B46-BBE4-545079E27125}" type="slidenum">
              <a:rPr lang="es-ES" altLang="es-ES">
                <a:cs typeface="Arial" panose="020B0604020202020204" pitchFamily="34" charset="0"/>
              </a:rPr>
              <a:pPr algn="r" eaLnBrk="1" hangingPunct="1">
                <a:spcBef>
                  <a:spcPct val="0"/>
                </a:spcBef>
              </a:pPr>
              <a:t>43</a:t>
            </a:fld>
            <a:endParaRPr lang="es-ES" altLang="es-ES">
              <a:cs typeface="Arial" panose="020B0604020202020204" pitchFamily="34" charset="0"/>
            </a:endParaRPr>
          </a:p>
        </p:txBody>
      </p:sp>
      <p:sp>
        <p:nvSpPr>
          <p:cNvPr id="90116" name="Rectangle 2">
            <a:extLst>
              <a:ext uri="{FF2B5EF4-FFF2-40B4-BE49-F238E27FC236}">
                <a16:creationId xmlns:a16="http://schemas.microsoft.com/office/drawing/2014/main" id="{615C19AF-DFD9-4F4C-153F-0036BC2DC6D7}"/>
              </a:ext>
            </a:extLst>
          </p:cNvPr>
          <p:cNvSpPr>
            <a:spLocks noGrp="1" noRot="1" noChangeAspect="1" noChangeArrowheads="1" noTextEdit="1"/>
          </p:cNvSpPr>
          <p:nvPr>
            <p:ph type="sldImg"/>
          </p:nvPr>
        </p:nvSpPr>
        <p:spPr>
          <a:ln/>
        </p:spPr>
      </p:sp>
      <p:sp>
        <p:nvSpPr>
          <p:cNvPr id="90117" name="Rectangle 3">
            <a:extLst>
              <a:ext uri="{FF2B5EF4-FFF2-40B4-BE49-F238E27FC236}">
                <a16:creationId xmlns:a16="http://schemas.microsoft.com/office/drawing/2014/main" id="{FE21DBA2-BF86-6107-59FA-4BAC577EEBE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a:t>Haga clic para modificar el estilo de subtítulo del patrón</a:t>
            </a:r>
          </a:p>
        </p:txBody>
      </p:sp>
      <p:sp>
        <p:nvSpPr>
          <p:cNvPr id="4" name="Rectangle 4">
            <a:extLst>
              <a:ext uri="{FF2B5EF4-FFF2-40B4-BE49-F238E27FC236}">
                <a16:creationId xmlns:a16="http://schemas.microsoft.com/office/drawing/2014/main" id="{F80E6791-B331-2034-2C26-5E7DCC8429CE}"/>
              </a:ext>
            </a:extLst>
          </p:cNvPr>
          <p:cNvSpPr>
            <a:spLocks noGrp="1" noChangeArrowheads="1"/>
          </p:cNvSpPr>
          <p:nvPr>
            <p:ph type="dt" sz="half" idx="10"/>
          </p:nvPr>
        </p:nvSpPr>
        <p:spPr>
          <a:ln/>
        </p:spPr>
        <p:txBody>
          <a:bodyPr/>
          <a:lstStyle>
            <a:lvl1pPr>
              <a:defRPr/>
            </a:lvl1pPr>
          </a:lstStyle>
          <a:p>
            <a:pPr>
              <a:defRPr/>
            </a:pPr>
            <a:endParaRPr lang="es-ES"/>
          </a:p>
        </p:txBody>
      </p:sp>
      <p:sp>
        <p:nvSpPr>
          <p:cNvPr id="5" name="Rectangle 5">
            <a:extLst>
              <a:ext uri="{FF2B5EF4-FFF2-40B4-BE49-F238E27FC236}">
                <a16:creationId xmlns:a16="http://schemas.microsoft.com/office/drawing/2014/main" id="{C0314FE7-D92B-3C38-895F-359B6168578B}"/>
              </a:ext>
            </a:extLst>
          </p:cNvPr>
          <p:cNvSpPr>
            <a:spLocks noGrp="1" noChangeArrowheads="1"/>
          </p:cNvSpPr>
          <p:nvPr>
            <p:ph type="ftr" sz="quarter" idx="11"/>
          </p:nvPr>
        </p:nvSpPr>
        <p:spPr>
          <a:ln/>
        </p:spPr>
        <p:txBody>
          <a:bodyPr/>
          <a:lstStyle>
            <a:lvl1pPr>
              <a:defRPr/>
            </a:lvl1pPr>
          </a:lstStyle>
          <a:p>
            <a:pPr>
              <a:defRPr/>
            </a:pPr>
            <a:endParaRPr lang="es-ES"/>
          </a:p>
        </p:txBody>
      </p:sp>
      <p:sp>
        <p:nvSpPr>
          <p:cNvPr id="6" name="Rectangle 6">
            <a:extLst>
              <a:ext uri="{FF2B5EF4-FFF2-40B4-BE49-F238E27FC236}">
                <a16:creationId xmlns:a16="http://schemas.microsoft.com/office/drawing/2014/main" id="{C8E34948-32ED-1662-FD33-E8D744E9EAB8}"/>
              </a:ext>
            </a:extLst>
          </p:cNvPr>
          <p:cNvSpPr>
            <a:spLocks noGrp="1" noChangeArrowheads="1"/>
          </p:cNvSpPr>
          <p:nvPr>
            <p:ph type="sldNum" sz="quarter" idx="12"/>
          </p:nvPr>
        </p:nvSpPr>
        <p:spPr>
          <a:ln/>
        </p:spPr>
        <p:txBody>
          <a:bodyPr/>
          <a:lstStyle>
            <a:lvl1pPr>
              <a:defRPr/>
            </a:lvl1pPr>
          </a:lstStyle>
          <a:p>
            <a:pPr>
              <a:defRPr/>
            </a:pPr>
            <a:fld id="{10F9EB6B-0734-694B-9CED-2884F543F949}" type="slidenum">
              <a:rPr lang="es-ES" altLang="es-ES"/>
              <a:pPr>
                <a:defRPr/>
              </a:pPr>
              <a:t>‹Nº›</a:t>
            </a:fld>
            <a:endParaRPr lang="es-ES" altLang="es-ES"/>
          </a:p>
        </p:txBody>
      </p:sp>
    </p:spTree>
    <p:extLst>
      <p:ext uri="{BB962C8B-B14F-4D97-AF65-F5344CB8AC3E}">
        <p14:creationId xmlns:p14="http://schemas.microsoft.com/office/powerpoint/2010/main" val="110582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4">
            <a:extLst>
              <a:ext uri="{FF2B5EF4-FFF2-40B4-BE49-F238E27FC236}">
                <a16:creationId xmlns:a16="http://schemas.microsoft.com/office/drawing/2014/main" id="{EA2EDE9F-6A1B-7572-0727-443F30BA00BE}"/>
              </a:ext>
            </a:extLst>
          </p:cNvPr>
          <p:cNvSpPr>
            <a:spLocks noGrp="1" noChangeArrowheads="1"/>
          </p:cNvSpPr>
          <p:nvPr>
            <p:ph type="dt" sz="half" idx="10"/>
          </p:nvPr>
        </p:nvSpPr>
        <p:spPr>
          <a:ln/>
        </p:spPr>
        <p:txBody>
          <a:bodyPr/>
          <a:lstStyle>
            <a:lvl1pPr>
              <a:defRPr/>
            </a:lvl1pPr>
          </a:lstStyle>
          <a:p>
            <a:pPr>
              <a:defRPr/>
            </a:pPr>
            <a:endParaRPr lang="es-ES"/>
          </a:p>
        </p:txBody>
      </p:sp>
      <p:sp>
        <p:nvSpPr>
          <p:cNvPr id="5" name="Rectangle 5">
            <a:extLst>
              <a:ext uri="{FF2B5EF4-FFF2-40B4-BE49-F238E27FC236}">
                <a16:creationId xmlns:a16="http://schemas.microsoft.com/office/drawing/2014/main" id="{A83AE591-AE2E-6AA4-DFF3-4399E283883B}"/>
              </a:ext>
            </a:extLst>
          </p:cNvPr>
          <p:cNvSpPr>
            <a:spLocks noGrp="1" noChangeArrowheads="1"/>
          </p:cNvSpPr>
          <p:nvPr>
            <p:ph type="ftr" sz="quarter" idx="11"/>
          </p:nvPr>
        </p:nvSpPr>
        <p:spPr>
          <a:ln/>
        </p:spPr>
        <p:txBody>
          <a:bodyPr/>
          <a:lstStyle>
            <a:lvl1pPr>
              <a:defRPr/>
            </a:lvl1pPr>
          </a:lstStyle>
          <a:p>
            <a:pPr>
              <a:defRPr/>
            </a:pPr>
            <a:endParaRPr lang="es-ES"/>
          </a:p>
        </p:txBody>
      </p:sp>
      <p:sp>
        <p:nvSpPr>
          <p:cNvPr id="6" name="Rectangle 6">
            <a:extLst>
              <a:ext uri="{FF2B5EF4-FFF2-40B4-BE49-F238E27FC236}">
                <a16:creationId xmlns:a16="http://schemas.microsoft.com/office/drawing/2014/main" id="{B67F2EA5-1243-8FCA-B693-51F0659AC899}"/>
              </a:ext>
            </a:extLst>
          </p:cNvPr>
          <p:cNvSpPr>
            <a:spLocks noGrp="1" noChangeArrowheads="1"/>
          </p:cNvSpPr>
          <p:nvPr>
            <p:ph type="sldNum" sz="quarter" idx="12"/>
          </p:nvPr>
        </p:nvSpPr>
        <p:spPr>
          <a:ln/>
        </p:spPr>
        <p:txBody>
          <a:bodyPr/>
          <a:lstStyle>
            <a:lvl1pPr>
              <a:defRPr/>
            </a:lvl1pPr>
          </a:lstStyle>
          <a:p>
            <a:pPr>
              <a:defRPr/>
            </a:pPr>
            <a:fld id="{6977A306-5EB5-2D42-8788-02A345D2DCCA}" type="slidenum">
              <a:rPr lang="es-ES" altLang="es-ES"/>
              <a:pPr>
                <a:defRPr/>
              </a:pPr>
              <a:t>‹Nº›</a:t>
            </a:fld>
            <a:endParaRPr lang="es-ES" altLang="es-ES"/>
          </a:p>
        </p:txBody>
      </p:sp>
    </p:spTree>
    <p:extLst>
      <p:ext uri="{BB962C8B-B14F-4D97-AF65-F5344CB8AC3E}">
        <p14:creationId xmlns:p14="http://schemas.microsoft.com/office/powerpoint/2010/main" val="1654221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4">
            <a:extLst>
              <a:ext uri="{FF2B5EF4-FFF2-40B4-BE49-F238E27FC236}">
                <a16:creationId xmlns:a16="http://schemas.microsoft.com/office/drawing/2014/main" id="{7AC4238F-E2BC-FC8E-77B1-3DC6A3E0CCB3}"/>
              </a:ext>
            </a:extLst>
          </p:cNvPr>
          <p:cNvSpPr>
            <a:spLocks noGrp="1" noChangeArrowheads="1"/>
          </p:cNvSpPr>
          <p:nvPr>
            <p:ph type="dt" sz="half" idx="10"/>
          </p:nvPr>
        </p:nvSpPr>
        <p:spPr>
          <a:ln/>
        </p:spPr>
        <p:txBody>
          <a:bodyPr/>
          <a:lstStyle>
            <a:lvl1pPr>
              <a:defRPr/>
            </a:lvl1pPr>
          </a:lstStyle>
          <a:p>
            <a:pPr>
              <a:defRPr/>
            </a:pPr>
            <a:endParaRPr lang="es-ES"/>
          </a:p>
        </p:txBody>
      </p:sp>
      <p:sp>
        <p:nvSpPr>
          <p:cNvPr id="5" name="Rectangle 5">
            <a:extLst>
              <a:ext uri="{FF2B5EF4-FFF2-40B4-BE49-F238E27FC236}">
                <a16:creationId xmlns:a16="http://schemas.microsoft.com/office/drawing/2014/main" id="{742E0ADC-140E-7A6F-5A67-FD890ACDBF09}"/>
              </a:ext>
            </a:extLst>
          </p:cNvPr>
          <p:cNvSpPr>
            <a:spLocks noGrp="1" noChangeArrowheads="1"/>
          </p:cNvSpPr>
          <p:nvPr>
            <p:ph type="ftr" sz="quarter" idx="11"/>
          </p:nvPr>
        </p:nvSpPr>
        <p:spPr>
          <a:ln/>
        </p:spPr>
        <p:txBody>
          <a:bodyPr/>
          <a:lstStyle>
            <a:lvl1pPr>
              <a:defRPr/>
            </a:lvl1pPr>
          </a:lstStyle>
          <a:p>
            <a:pPr>
              <a:defRPr/>
            </a:pPr>
            <a:endParaRPr lang="es-ES"/>
          </a:p>
        </p:txBody>
      </p:sp>
      <p:sp>
        <p:nvSpPr>
          <p:cNvPr id="6" name="Rectangle 6">
            <a:extLst>
              <a:ext uri="{FF2B5EF4-FFF2-40B4-BE49-F238E27FC236}">
                <a16:creationId xmlns:a16="http://schemas.microsoft.com/office/drawing/2014/main" id="{88D54F24-CA11-523F-EB99-37C5FC8BC560}"/>
              </a:ext>
            </a:extLst>
          </p:cNvPr>
          <p:cNvSpPr>
            <a:spLocks noGrp="1" noChangeArrowheads="1"/>
          </p:cNvSpPr>
          <p:nvPr>
            <p:ph type="sldNum" sz="quarter" idx="12"/>
          </p:nvPr>
        </p:nvSpPr>
        <p:spPr>
          <a:ln/>
        </p:spPr>
        <p:txBody>
          <a:bodyPr/>
          <a:lstStyle>
            <a:lvl1pPr>
              <a:defRPr/>
            </a:lvl1pPr>
          </a:lstStyle>
          <a:p>
            <a:pPr>
              <a:defRPr/>
            </a:pPr>
            <a:fld id="{63B94575-0CE8-3745-BD4B-45A0D09A2A68}" type="slidenum">
              <a:rPr lang="es-ES" altLang="es-ES"/>
              <a:pPr>
                <a:defRPr/>
              </a:pPr>
              <a:t>‹Nº›</a:t>
            </a:fld>
            <a:endParaRPr lang="es-ES" altLang="es-ES"/>
          </a:p>
        </p:txBody>
      </p:sp>
    </p:spTree>
    <p:extLst>
      <p:ext uri="{BB962C8B-B14F-4D97-AF65-F5344CB8AC3E}">
        <p14:creationId xmlns:p14="http://schemas.microsoft.com/office/powerpoint/2010/main" val="56616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Rectangle 4">
            <a:extLst>
              <a:ext uri="{FF2B5EF4-FFF2-40B4-BE49-F238E27FC236}">
                <a16:creationId xmlns:a16="http://schemas.microsoft.com/office/drawing/2014/main" id="{24CB34CF-8FD6-55FA-A457-D4A4939C9712}"/>
              </a:ext>
            </a:extLst>
          </p:cNvPr>
          <p:cNvSpPr>
            <a:spLocks noGrp="1" noChangeArrowheads="1"/>
          </p:cNvSpPr>
          <p:nvPr>
            <p:ph type="dt" sz="half" idx="10"/>
          </p:nvPr>
        </p:nvSpPr>
        <p:spPr>
          <a:ln/>
        </p:spPr>
        <p:txBody>
          <a:bodyPr/>
          <a:lstStyle>
            <a:lvl1pPr>
              <a:defRPr/>
            </a:lvl1pPr>
          </a:lstStyle>
          <a:p>
            <a:pPr>
              <a:defRPr/>
            </a:pPr>
            <a:endParaRPr lang="es-ES"/>
          </a:p>
        </p:txBody>
      </p:sp>
      <p:sp>
        <p:nvSpPr>
          <p:cNvPr id="6" name="Rectangle 5">
            <a:extLst>
              <a:ext uri="{FF2B5EF4-FFF2-40B4-BE49-F238E27FC236}">
                <a16:creationId xmlns:a16="http://schemas.microsoft.com/office/drawing/2014/main" id="{3F97B312-D694-03D3-EFDB-FBE3C8DF0FFC}"/>
              </a:ext>
            </a:extLst>
          </p:cNvPr>
          <p:cNvSpPr>
            <a:spLocks noGrp="1" noChangeArrowheads="1"/>
          </p:cNvSpPr>
          <p:nvPr>
            <p:ph type="ftr" sz="quarter" idx="11"/>
          </p:nvPr>
        </p:nvSpPr>
        <p:spPr>
          <a:ln/>
        </p:spPr>
        <p:txBody>
          <a:bodyPr/>
          <a:lstStyle>
            <a:lvl1pPr>
              <a:defRPr/>
            </a:lvl1pPr>
          </a:lstStyle>
          <a:p>
            <a:pPr>
              <a:defRPr/>
            </a:pPr>
            <a:endParaRPr lang="es-ES"/>
          </a:p>
        </p:txBody>
      </p:sp>
      <p:sp>
        <p:nvSpPr>
          <p:cNvPr id="7" name="Rectangle 6">
            <a:extLst>
              <a:ext uri="{FF2B5EF4-FFF2-40B4-BE49-F238E27FC236}">
                <a16:creationId xmlns:a16="http://schemas.microsoft.com/office/drawing/2014/main" id="{F9E180A0-EBB7-58B6-5125-DB81D80073C0}"/>
              </a:ext>
            </a:extLst>
          </p:cNvPr>
          <p:cNvSpPr>
            <a:spLocks noGrp="1" noChangeArrowheads="1"/>
          </p:cNvSpPr>
          <p:nvPr>
            <p:ph type="sldNum" sz="quarter" idx="12"/>
          </p:nvPr>
        </p:nvSpPr>
        <p:spPr>
          <a:ln/>
        </p:spPr>
        <p:txBody>
          <a:bodyPr/>
          <a:lstStyle>
            <a:lvl1pPr>
              <a:defRPr/>
            </a:lvl1pPr>
          </a:lstStyle>
          <a:p>
            <a:pPr>
              <a:defRPr/>
            </a:pPr>
            <a:fld id="{E3D40179-5CB5-834C-8EE8-DB80A9978933}" type="slidenum">
              <a:rPr lang="es-ES" altLang="es-ES"/>
              <a:pPr>
                <a:defRPr/>
              </a:pPr>
              <a:t>‹Nº›</a:t>
            </a:fld>
            <a:endParaRPr lang="es-ES" altLang="es-ES"/>
          </a:p>
        </p:txBody>
      </p:sp>
    </p:spTree>
    <p:extLst>
      <p:ext uri="{BB962C8B-B14F-4D97-AF65-F5344CB8AC3E}">
        <p14:creationId xmlns:p14="http://schemas.microsoft.com/office/powerpoint/2010/main" val="1712682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Rectangle 4">
            <a:extLst>
              <a:ext uri="{FF2B5EF4-FFF2-40B4-BE49-F238E27FC236}">
                <a16:creationId xmlns:a16="http://schemas.microsoft.com/office/drawing/2014/main" id="{FEE5DD4F-C579-9F9A-12C8-7E025B092041}"/>
              </a:ext>
            </a:extLst>
          </p:cNvPr>
          <p:cNvSpPr>
            <a:spLocks noGrp="1" noChangeArrowheads="1"/>
          </p:cNvSpPr>
          <p:nvPr>
            <p:ph type="dt" sz="half" idx="10"/>
          </p:nvPr>
        </p:nvSpPr>
        <p:spPr>
          <a:ln/>
        </p:spPr>
        <p:txBody>
          <a:bodyPr/>
          <a:lstStyle>
            <a:lvl1pPr>
              <a:defRPr/>
            </a:lvl1pPr>
          </a:lstStyle>
          <a:p>
            <a:pPr>
              <a:defRPr/>
            </a:pPr>
            <a:endParaRPr lang="es-ES"/>
          </a:p>
        </p:txBody>
      </p:sp>
      <p:sp>
        <p:nvSpPr>
          <p:cNvPr id="8" name="Rectangle 5">
            <a:extLst>
              <a:ext uri="{FF2B5EF4-FFF2-40B4-BE49-F238E27FC236}">
                <a16:creationId xmlns:a16="http://schemas.microsoft.com/office/drawing/2014/main" id="{319C4A27-BE32-E3BD-0F3B-553ECCE0CDE7}"/>
              </a:ext>
            </a:extLst>
          </p:cNvPr>
          <p:cNvSpPr>
            <a:spLocks noGrp="1" noChangeArrowheads="1"/>
          </p:cNvSpPr>
          <p:nvPr>
            <p:ph type="ftr" sz="quarter" idx="11"/>
          </p:nvPr>
        </p:nvSpPr>
        <p:spPr>
          <a:ln/>
        </p:spPr>
        <p:txBody>
          <a:bodyPr/>
          <a:lstStyle>
            <a:lvl1pPr>
              <a:defRPr/>
            </a:lvl1pPr>
          </a:lstStyle>
          <a:p>
            <a:pPr>
              <a:defRPr/>
            </a:pPr>
            <a:endParaRPr lang="es-ES"/>
          </a:p>
        </p:txBody>
      </p:sp>
      <p:sp>
        <p:nvSpPr>
          <p:cNvPr id="9" name="Rectangle 6">
            <a:extLst>
              <a:ext uri="{FF2B5EF4-FFF2-40B4-BE49-F238E27FC236}">
                <a16:creationId xmlns:a16="http://schemas.microsoft.com/office/drawing/2014/main" id="{7CAB1D2B-1F32-DF1E-164B-8CC83CDA6DA6}"/>
              </a:ext>
            </a:extLst>
          </p:cNvPr>
          <p:cNvSpPr>
            <a:spLocks noGrp="1" noChangeArrowheads="1"/>
          </p:cNvSpPr>
          <p:nvPr>
            <p:ph type="sldNum" sz="quarter" idx="12"/>
          </p:nvPr>
        </p:nvSpPr>
        <p:spPr>
          <a:ln/>
        </p:spPr>
        <p:txBody>
          <a:bodyPr/>
          <a:lstStyle>
            <a:lvl1pPr>
              <a:defRPr/>
            </a:lvl1pPr>
          </a:lstStyle>
          <a:p>
            <a:pPr>
              <a:defRPr/>
            </a:pPr>
            <a:fld id="{F41BC15F-8C29-2041-BD2E-C775C674D588}" type="slidenum">
              <a:rPr lang="es-ES" altLang="es-ES"/>
              <a:pPr>
                <a:defRPr/>
              </a:pPr>
              <a:t>‹Nº›</a:t>
            </a:fld>
            <a:endParaRPr lang="es-ES" altLang="es-ES"/>
          </a:p>
        </p:txBody>
      </p:sp>
    </p:spTree>
    <p:extLst>
      <p:ext uri="{BB962C8B-B14F-4D97-AF65-F5344CB8AC3E}">
        <p14:creationId xmlns:p14="http://schemas.microsoft.com/office/powerpoint/2010/main" val="2355624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Rectangle 4">
            <a:extLst>
              <a:ext uri="{FF2B5EF4-FFF2-40B4-BE49-F238E27FC236}">
                <a16:creationId xmlns:a16="http://schemas.microsoft.com/office/drawing/2014/main" id="{F1B6648F-C158-8261-733D-208B1C242572}"/>
              </a:ext>
            </a:extLst>
          </p:cNvPr>
          <p:cNvSpPr>
            <a:spLocks noGrp="1" noChangeArrowheads="1"/>
          </p:cNvSpPr>
          <p:nvPr>
            <p:ph type="dt" sz="half" idx="10"/>
          </p:nvPr>
        </p:nvSpPr>
        <p:spPr>
          <a:ln/>
        </p:spPr>
        <p:txBody>
          <a:bodyPr/>
          <a:lstStyle>
            <a:lvl1pPr>
              <a:defRPr/>
            </a:lvl1pPr>
          </a:lstStyle>
          <a:p>
            <a:pPr>
              <a:defRPr/>
            </a:pPr>
            <a:endParaRPr lang="es-ES"/>
          </a:p>
        </p:txBody>
      </p:sp>
      <p:sp>
        <p:nvSpPr>
          <p:cNvPr id="4" name="Rectangle 5">
            <a:extLst>
              <a:ext uri="{FF2B5EF4-FFF2-40B4-BE49-F238E27FC236}">
                <a16:creationId xmlns:a16="http://schemas.microsoft.com/office/drawing/2014/main" id="{3C681ECD-3635-BD1B-6F13-909F92F411FA}"/>
              </a:ext>
            </a:extLst>
          </p:cNvPr>
          <p:cNvSpPr>
            <a:spLocks noGrp="1" noChangeArrowheads="1"/>
          </p:cNvSpPr>
          <p:nvPr>
            <p:ph type="ftr" sz="quarter" idx="11"/>
          </p:nvPr>
        </p:nvSpPr>
        <p:spPr>
          <a:ln/>
        </p:spPr>
        <p:txBody>
          <a:bodyPr/>
          <a:lstStyle>
            <a:lvl1pPr>
              <a:defRPr/>
            </a:lvl1pPr>
          </a:lstStyle>
          <a:p>
            <a:pPr>
              <a:defRPr/>
            </a:pPr>
            <a:endParaRPr lang="es-ES"/>
          </a:p>
        </p:txBody>
      </p:sp>
      <p:sp>
        <p:nvSpPr>
          <p:cNvPr id="5" name="Rectangle 6">
            <a:extLst>
              <a:ext uri="{FF2B5EF4-FFF2-40B4-BE49-F238E27FC236}">
                <a16:creationId xmlns:a16="http://schemas.microsoft.com/office/drawing/2014/main" id="{D56DA8D7-A712-ED0D-4156-7A29CB40930E}"/>
              </a:ext>
            </a:extLst>
          </p:cNvPr>
          <p:cNvSpPr>
            <a:spLocks noGrp="1" noChangeArrowheads="1"/>
          </p:cNvSpPr>
          <p:nvPr>
            <p:ph type="sldNum" sz="quarter" idx="12"/>
          </p:nvPr>
        </p:nvSpPr>
        <p:spPr>
          <a:ln/>
        </p:spPr>
        <p:txBody>
          <a:bodyPr/>
          <a:lstStyle>
            <a:lvl1pPr>
              <a:defRPr/>
            </a:lvl1pPr>
          </a:lstStyle>
          <a:p>
            <a:pPr>
              <a:defRPr/>
            </a:pPr>
            <a:fld id="{B6883E6F-ACD1-3441-B896-DA06795692EE}" type="slidenum">
              <a:rPr lang="es-ES" altLang="es-ES"/>
              <a:pPr>
                <a:defRPr/>
              </a:pPr>
              <a:t>‹Nº›</a:t>
            </a:fld>
            <a:endParaRPr lang="es-ES" altLang="es-ES"/>
          </a:p>
        </p:txBody>
      </p:sp>
    </p:spTree>
    <p:extLst>
      <p:ext uri="{BB962C8B-B14F-4D97-AF65-F5344CB8AC3E}">
        <p14:creationId xmlns:p14="http://schemas.microsoft.com/office/powerpoint/2010/main" val="2246169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8AD21B8-16D6-4D20-54ED-83D0C3D9525D}"/>
              </a:ext>
            </a:extLst>
          </p:cNvPr>
          <p:cNvSpPr>
            <a:spLocks noGrp="1" noChangeArrowheads="1"/>
          </p:cNvSpPr>
          <p:nvPr>
            <p:ph type="dt" sz="half" idx="10"/>
          </p:nvPr>
        </p:nvSpPr>
        <p:spPr>
          <a:ln/>
        </p:spPr>
        <p:txBody>
          <a:bodyPr/>
          <a:lstStyle>
            <a:lvl1pPr>
              <a:defRPr/>
            </a:lvl1pPr>
          </a:lstStyle>
          <a:p>
            <a:pPr>
              <a:defRPr/>
            </a:pPr>
            <a:endParaRPr lang="es-ES"/>
          </a:p>
        </p:txBody>
      </p:sp>
      <p:sp>
        <p:nvSpPr>
          <p:cNvPr id="3" name="Rectangle 5">
            <a:extLst>
              <a:ext uri="{FF2B5EF4-FFF2-40B4-BE49-F238E27FC236}">
                <a16:creationId xmlns:a16="http://schemas.microsoft.com/office/drawing/2014/main" id="{505EE781-D4E0-000A-B8BC-B63636A4E903}"/>
              </a:ext>
            </a:extLst>
          </p:cNvPr>
          <p:cNvSpPr>
            <a:spLocks noGrp="1" noChangeArrowheads="1"/>
          </p:cNvSpPr>
          <p:nvPr>
            <p:ph type="ftr" sz="quarter" idx="11"/>
          </p:nvPr>
        </p:nvSpPr>
        <p:spPr>
          <a:ln/>
        </p:spPr>
        <p:txBody>
          <a:bodyPr/>
          <a:lstStyle>
            <a:lvl1pPr>
              <a:defRPr/>
            </a:lvl1pPr>
          </a:lstStyle>
          <a:p>
            <a:pPr>
              <a:defRPr/>
            </a:pPr>
            <a:endParaRPr lang="es-ES"/>
          </a:p>
        </p:txBody>
      </p:sp>
      <p:sp>
        <p:nvSpPr>
          <p:cNvPr id="4" name="Rectangle 6">
            <a:extLst>
              <a:ext uri="{FF2B5EF4-FFF2-40B4-BE49-F238E27FC236}">
                <a16:creationId xmlns:a16="http://schemas.microsoft.com/office/drawing/2014/main" id="{3686F07F-4BA2-B5FD-CA4E-A505122BD5DE}"/>
              </a:ext>
            </a:extLst>
          </p:cNvPr>
          <p:cNvSpPr>
            <a:spLocks noGrp="1" noChangeArrowheads="1"/>
          </p:cNvSpPr>
          <p:nvPr>
            <p:ph type="sldNum" sz="quarter" idx="12"/>
          </p:nvPr>
        </p:nvSpPr>
        <p:spPr>
          <a:ln/>
        </p:spPr>
        <p:txBody>
          <a:bodyPr/>
          <a:lstStyle>
            <a:lvl1pPr>
              <a:defRPr/>
            </a:lvl1pPr>
          </a:lstStyle>
          <a:p>
            <a:pPr>
              <a:defRPr/>
            </a:pPr>
            <a:fld id="{907BDDE5-5451-154B-BA2D-94DBFBA2125A}" type="slidenum">
              <a:rPr lang="es-ES" altLang="es-ES"/>
              <a:pPr>
                <a:defRPr/>
              </a:pPr>
              <a:t>‹Nº›</a:t>
            </a:fld>
            <a:endParaRPr lang="es-ES" altLang="es-ES"/>
          </a:p>
        </p:txBody>
      </p:sp>
    </p:spTree>
    <p:extLst>
      <p:ext uri="{BB962C8B-B14F-4D97-AF65-F5344CB8AC3E}">
        <p14:creationId xmlns:p14="http://schemas.microsoft.com/office/powerpoint/2010/main" val="38362389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4">
            <a:extLst>
              <a:ext uri="{FF2B5EF4-FFF2-40B4-BE49-F238E27FC236}">
                <a16:creationId xmlns:a16="http://schemas.microsoft.com/office/drawing/2014/main" id="{C9C55A54-5605-F8BE-59CD-E67897A24E10}"/>
              </a:ext>
            </a:extLst>
          </p:cNvPr>
          <p:cNvSpPr>
            <a:spLocks noGrp="1" noChangeArrowheads="1"/>
          </p:cNvSpPr>
          <p:nvPr>
            <p:ph type="dt" sz="half" idx="10"/>
          </p:nvPr>
        </p:nvSpPr>
        <p:spPr>
          <a:ln/>
        </p:spPr>
        <p:txBody>
          <a:bodyPr/>
          <a:lstStyle>
            <a:lvl1pPr>
              <a:defRPr/>
            </a:lvl1pPr>
          </a:lstStyle>
          <a:p>
            <a:pPr>
              <a:defRPr/>
            </a:pPr>
            <a:endParaRPr lang="es-ES"/>
          </a:p>
        </p:txBody>
      </p:sp>
      <p:sp>
        <p:nvSpPr>
          <p:cNvPr id="6" name="Rectangle 5">
            <a:extLst>
              <a:ext uri="{FF2B5EF4-FFF2-40B4-BE49-F238E27FC236}">
                <a16:creationId xmlns:a16="http://schemas.microsoft.com/office/drawing/2014/main" id="{943836F6-C078-EE0F-F115-183230874C2E}"/>
              </a:ext>
            </a:extLst>
          </p:cNvPr>
          <p:cNvSpPr>
            <a:spLocks noGrp="1" noChangeArrowheads="1"/>
          </p:cNvSpPr>
          <p:nvPr>
            <p:ph type="ftr" sz="quarter" idx="11"/>
          </p:nvPr>
        </p:nvSpPr>
        <p:spPr>
          <a:ln/>
        </p:spPr>
        <p:txBody>
          <a:bodyPr/>
          <a:lstStyle>
            <a:lvl1pPr>
              <a:defRPr/>
            </a:lvl1pPr>
          </a:lstStyle>
          <a:p>
            <a:pPr>
              <a:defRPr/>
            </a:pPr>
            <a:endParaRPr lang="es-ES"/>
          </a:p>
        </p:txBody>
      </p:sp>
      <p:sp>
        <p:nvSpPr>
          <p:cNvPr id="7" name="Rectangle 6">
            <a:extLst>
              <a:ext uri="{FF2B5EF4-FFF2-40B4-BE49-F238E27FC236}">
                <a16:creationId xmlns:a16="http://schemas.microsoft.com/office/drawing/2014/main" id="{152F902E-9B54-ACE8-4B73-5BD52D72EA0F}"/>
              </a:ext>
            </a:extLst>
          </p:cNvPr>
          <p:cNvSpPr>
            <a:spLocks noGrp="1" noChangeArrowheads="1"/>
          </p:cNvSpPr>
          <p:nvPr>
            <p:ph type="sldNum" sz="quarter" idx="12"/>
          </p:nvPr>
        </p:nvSpPr>
        <p:spPr>
          <a:ln/>
        </p:spPr>
        <p:txBody>
          <a:bodyPr/>
          <a:lstStyle>
            <a:lvl1pPr>
              <a:defRPr/>
            </a:lvl1pPr>
          </a:lstStyle>
          <a:p>
            <a:pPr>
              <a:defRPr/>
            </a:pPr>
            <a:fld id="{74F98AD2-8C95-DF46-9927-D5A2011DC8D3}" type="slidenum">
              <a:rPr lang="es-ES" altLang="es-ES"/>
              <a:pPr>
                <a:defRPr/>
              </a:pPr>
              <a:t>‹Nº›</a:t>
            </a:fld>
            <a:endParaRPr lang="es-ES" altLang="es-ES"/>
          </a:p>
        </p:txBody>
      </p:sp>
    </p:spTree>
    <p:extLst>
      <p:ext uri="{BB962C8B-B14F-4D97-AF65-F5344CB8AC3E}">
        <p14:creationId xmlns:p14="http://schemas.microsoft.com/office/powerpoint/2010/main" val="2195595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4">
            <a:extLst>
              <a:ext uri="{FF2B5EF4-FFF2-40B4-BE49-F238E27FC236}">
                <a16:creationId xmlns:a16="http://schemas.microsoft.com/office/drawing/2014/main" id="{F43C0087-DAA8-50C1-FA34-68BBBE36F458}"/>
              </a:ext>
            </a:extLst>
          </p:cNvPr>
          <p:cNvSpPr>
            <a:spLocks noGrp="1" noChangeArrowheads="1"/>
          </p:cNvSpPr>
          <p:nvPr>
            <p:ph type="dt" sz="half" idx="10"/>
          </p:nvPr>
        </p:nvSpPr>
        <p:spPr>
          <a:ln/>
        </p:spPr>
        <p:txBody>
          <a:bodyPr/>
          <a:lstStyle>
            <a:lvl1pPr>
              <a:defRPr/>
            </a:lvl1pPr>
          </a:lstStyle>
          <a:p>
            <a:pPr>
              <a:defRPr/>
            </a:pPr>
            <a:endParaRPr lang="es-ES"/>
          </a:p>
        </p:txBody>
      </p:sp>
      <p:sp>
        <p:nvSpPr>
          <p:cNvPr id="6" name="Rectangle 5">
            <a:extLst>
              <a:ext uri="{FF2B5EF4-FFF2-40B4-BE49-F238E27FC236}">
                <a16:creationId xmlns:a16="http://schemas.microsoft.com/office/drawing/2014/main" id="{52D31C47-AC1C-C9EF-1DDE-124C13D2463D}"/>
              </a:ext>
            </a:extLst>
          </p:cNvPr>
          <p:cNvSpPr>
            <a:spLocks noGrp="1" noChangeArrowheads="1"/>
          </p:cNvSpPr>
          <p:nvPr>
            <p:ph type="ftr" sz="quarter" idx="11"/>
          </p:nvPr>
        </p:nvSpPr>
        <p:spPr>
          <a:ln/>
        </p:spPr>
        <p:txBody>
          <a:bodyPr/>
          <a:lstStyle>
            <a:lvl1pPr>
              <a:defRPr/>
            </a:lvl1pPr>
          </a:lstStyle>
          <a:p>
            <a:pPr>
              <a:defRPr/>
            </a:pPr>
            <a:endParaRPr lang="es-ES"/>
          </a:p>
        </p:txBody>
      </p:sp>
      <p:sp>
        <p:nvSpPr>
          <p:cNvPr id="7" name="Rectangle 6">
            <a:extLst>
              <a:ext uri="{FF2B5EF4-FFF2-40B4-BE49-F238E27FC236}">
                <a16:creationId xmlns:a16="http://schemas.microsoft.com/office/drawing/2014/main" id="{DE3958E2-B424-5151-EBC9-14CC49093C54}"/>
              </a:ext>
            </a:extLst>
          </p:cNvPr>
          <p:cNvSpPr>
            <a:spLocks noGrp="1" noChangeArrowheads="1"/>
          </p:cNvSpPr>
          <p:nvPr>
            <p:ph type="sldNum" sz="quarter" idx="12"/>
          </p:nvPr>
        </p:nvSpPr>
        <p:spPr>
          <a:ln/>
        </p:spPr>
        <p:txBody>
          <a:bodyPr/>
          <a:lstStyle>
            <a:lvl1pPr>
              <a:defRPr/>
            </a:lvl1pPr>
          </a:lstStyle>
          <a:p>
            <a:pPr>
              <a:defRPr/>
            </a:pPr>
            <a:fld id="{22FC4B59-F6F1-BB48-AE32-035205783565}" type="slidenum">
              <a:rPr lang="es-ES" altLang="es-ES"/>
              <a:pPr>
                <a:defRPr/>
              </a:pPr>
              <a:t>‹Nº›</a:t>
            </a:fld>
            <a:endParaRPr lang="es-ES" altLang="es-ES"/>
          </a:p>
        </p:txBody>
      </p:sp>
    </p:spTree>
    <p:extLst>
      <p:ext uri="{BB962C8B-B14F-4D97-AF65-F5344CB8AC3E}">
        <p14:creationId xmlns:p14="http://schemas.microsoft.com/office/powerpoint/2010/main" val="34751170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4">
            <a:extLst>
              <a:ext uri="{FF2B5EF4-FFF2-40B4-BE49-F238E27FC236}">
                <a16:creationId xmlns:a16="http://schemas.microsoft.com/office/drawing/2014/main" id="{F4892D94-BF58-F046-7079-7D9BE887F380}"/>
              </a:ext>
            </a:extLst>
          </p:cNvPr>
          <p:cNvSpPr>
            <a:spLocks noGrp="1" noChangeArrowheads="1"/>
          </p:cNvSpPr>
          <p:nvPr>
            <p:ph type="dt" sz="half" idx="10"/>
          </p:nvPr>
        </p:nvSpPr>
        <p:spPr>
          <a:ln/>
        </p:spPr>
        <p:txBody>
          <a:bodyPr/>
          <a:lstStyle>
            <a:lvl1pPr>
              <a:defRPr/>
            </a:lvl1pPr>
          </a:lstStyle>
          <a:p>
            <a:pPr>
              <a:defRPr/>
            </a:pPr>
            <a:endParaRPr lang="es-ES"/>
          </a:p>
        </p:txBody>
      </p:sp>
      <p:sp>
        <p:nvSpPr>
          <p:cNvPr id="5" name="Rectangle 5">
            <a:extLst>
              <a:ext uri="{FF2B5EF4-FFF2-40B4-BE49-F238E27FC236}">
                <a16:creationId xmlns:a16="http://schemas.microsoft.com/office/drawing/2014/main" id="{947CD41C-4C39-F5FC-ECC0-09524167629E}"/>
              </a:ext>
            </a:extLst>
          </p:cNvPr>
          <p:cNvSpPr>
            <a:spLocks noGrp="1" noChangeArrowheads="1"/>
          </p:cNvSpPr>
          <p:nvPr>
            <p:ph type="ftr" sz="quarter" idx="11"/>
          </p:nvPr>
        </p:nvSpPr>
        <p:spPr>
          <a:ln/>
        </p:spPr>
        <p:txBody>
          <a:bodyPr/>
          <a:lstStyle>
            <a:lvl1pPr>
              <a:defRPr/>
            </a:lvl1pPr>
          </a:lstStyle>
          <a:p>
            <a:pPr>
              <a:defRPr/>
            </a:pPr>
            <a:endParaRPr lang="es-ES"/>
          </a:p>
        </p:txBody>
      </p:sp>
      <p:sp>
        <p:nvSpPr>
          <p:cNvPr id="6" name="Rectangle 6">
            <a:extLst>
              <a:ext uri="{FF2B5EF4-FFF2-40B4-BE49-F238E27FC236}">
                <a16:creationId xmlns:a16="http://schemas.microsoft.com/office/drawing/2014/main" id="{FBC63255-6AA6-6B53-3396-E93F7F2051D6}"/>
              </a:ext>
            </a:extLst>
          </p:cNvPr>
          <p:cNvSpPr>
            <a:spLocks noGrp="1" noChangeArrowheads="1"/>
          </p:cNvSpPr>
          <p:nvPr>
            <p:ph type="sldNum" sz="quarter" idx="12"/>
          </p:nvPr>
        </p:nvSpPr>
        <p:spPr>
          <a:ln/>
        </p:spPr>
        <p:txBody>
          <a:bodyPr/>
          <a:lstStyle>
            <a:lvl1pPr>
              <a:defRPr/>
            </a:lvl1pPr>
          </a:lstStyle>
          <a:p>
            <a:pPr>
              <a:defRPr/>
            </a:pPr>
            <a:fld id="{7F2DD40D-6D34-DF4B-82E8-8D62361ADEA9}" type="slidenum">
              <a:rPr lang="es-ES" altLang="es-ES"/>
              <a:pPr>
                <a:defRPr/>
              </a:pPr>
              <a:t>‹Nº›</a:t>
            </a:fld>
            <a:endParaRPr lang="es-ES" altLang="es-ES"/>
          </a:p>
        </p:txBody>
      </p:sp>
    </p:spTree>
    <p:extLst>
      <p:ext uri="{BB962C8B-B14F-4D97-AF65-F5344CB8AC3E}">
        <p14:creationId xmlns:p14="http://schemas.microsoft.com/office/powerpoint/2010/main" val="40086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4">
            <a:extLst>
              <a:ext uri="{FF2B5EF4-FFF2-40B4-BE49-F238E27FC236}">
                <a16:creationId xmlns:a16="http://schemas.microsoft.com/office/drawing/2014/main" id="{1AC3C805-E3F4-243D-2A1F-4593E41ED86E}"/>
              </a:ext>
            </a:extLst>
          </p:cNvPr>
          <p:cNvSpPr>
            <a:spLocks noGrp="1" noChangeArrowheads="1"/>
          </p:cNvSpPr>
          <p:nvPr>
            <p:ph type="dt" sz="half" idx="10"/>
          </p:nvPr>
        </p:nvSpPr>
        <p:spPr>
          <a:ln/>
        </p:spPr>
        <p:txBody>
          <a:bodyPr/>
          <a:lstStyle>
            <a:lvl1pPr>
              <a:defRPr/>
            </a:lvl1pPr>
          </a:lstStyle>
          <a:p>
            <a:pPr>
              <a:defRPr/>
            </a:pPr>
            <a:endParaRPr lang="es-ES"/>
          </a:p>
        </p:txBody>
      </p:sp>
      <p:sp>
        <p:nvSpPr>
          <p:cNvPr id="5" name="Rectangle 5">
            <a:extLst>
              <a:ext uri="{FF2B5EF4-FFF2-40B4-BE49-F238E27FC236}">
                <a16:creationId xmlns:a16="http://schemas.microsoft.com/office/drawing/2014/main" id="{14B6702C-D332-AAC2-C7EB-875F5DEC887A}"/>
              </a:ext>
            </a:extLst>
          </p:cNvPr>
          <p:cNvSpPr>
            <a:spLocks noGrp="1" noChangeArrowheads="1"/>
          </p:cNvSpPr>
          <p:nvPr>
            <p:ph type="ftr" sz="quarter" idx="11"/>
          </p:nvPr>
        </p:nvSpPr>
        <p:spPr>
          <a:ln/>
        </p:spPr>
        <p:txBody>
          <a:bodyPr/>
          <a:lstStyle>
            <a:lvl1pPr>
              <a:defRPr/>
            </a:lvl1pPr>
          </a:lstStyle>
          <a:p>
            <a:pPr>
              <a:defRPr/>
            </a:pPr>
            <a:endParaRPr lang="es-ES"/>
          </a:p>
        </p:txBody>
      </p:sp>
      <p:sp>
        <p:nvSpPr>
          <p:cNvPr id="6" name="Rectangle 6">
            <a:extLst>
              <a:ext uri="{FF2B5EF4-FFF2-40B4-BE49-F238E27FC236}">
                <a16:creationId xmlns:a16="http://schemas.microsoft.com/office/drawing/2014/main" id="{251E886C-529D-82B8-E046-7F4E1AAA6AE6}"/>
              </a:ext>
            </a:extLst>
          </p:cNvPr>
          <p:cNvSpPr>
            <a:spLocks noGrp="1" noChangeArrowheads="1"/>
          </p:cNvSpPr>
          <p:nvPr>
            <p:ph type="sldNum" sz="quarter" idx="12"/>
          </p:nvPr>
        </p:nvSpPr>
        <p:spPr>
          <a:ln/>
        </p:spPr>
        <p:txBody>
          <a:bodyPr/>
          <a:lstStyle>
            <a:lvl1pPr>
              <a:defRPr/>
            </a:lvl1pPr>
          </a:lstStyle>
          <a:p>
            <a:pPr>
              <a:defRPr/>
            </a:pPr>
            <a:fld id="{33749BCF-7358-A44A-B16A-A8B8A0C854D0}" type="slidenum">
              <a:rPr lang="es-ES" altLang="es-ES"/>
              <a:pPr>
                <a:defRPr/>
              </a:pPr>
              <a:t>‹Nº›</a:t>
            </a:fld>
            <a:endParaRPr lang="es-ES" altLang="es-ES"/>
          </a:p>
        </p:txBody>
      </p:sp>
    </p:spTree>
    <p:extLst>
      <p:ext uri="{BB962C8B-B14F-4D97-AF65-F5344CB8AC3E}">
        <p14:creationId xmlns:p14="http://schemas.microsoft.com/office/powerpoint/2010/main" val="853958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E741F8A-5189-DD50-10CB-5428633E8CB4}"/>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s-ES"/>
              <a:t>Haga clic para cambiar el estilo de título	</a:t>
            </a:r>
          </a:p>
        </p:txBody>
      </p:sp>
      <p:sp>
        <p:nvSpPr>
          <p:cNvPr id="1027" name="Rectangle 3">
            <a:extLst>
              <a:ext uri="{FF2B5EF4-FFF2-40B4-BE49-F238E27FC236}">
                <a16:creationId xmlns:a16="http://schemas.microsoft.com/office/drawing/2014/main" id="{99AC0DD8-1421-CC28-A624-3B239E92B060}"/>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s-ES"/>
              <a:t>Haga clic para modificar el estilo de texto del patrón</a:t>
            </a:r>
          </a:p>
          <a:p>
            <a:pPr lvl="1"/>
            <a:r>
              <a:rPr lang="es-ES" altLang="es-ES"/>
              <a:t>Segundo nivel</a:t>
            </a:r>
          </a:p>
          <a:p>
            <a:pPr lvl="2"/>
            <a:r>
              <a:rPr lang="es-ES" altLang="es-ES"/>
              <a:t>Tercer nivel</a:t>
            </a:r>
          </a:p>
          <a:p>
            <a:pPr lvl="3"/>
            <a:r>
              <a:rPr lang="es-ES" altLang="es-ES"/>
              <a:t>Cuarto nivel</a:t>
            </a:r>
          </a:p>
          <a:p>
            <a:pPr lvl="4"/>
            <a:r>
              <a:rPr lang="es-ES" altLang="es-ES"/>
              <a:t>Quinto nivel</a:t>
            </a:r>
          </a:p>
        </p:txBody>
      </p:sp>
      <p:sp>
        <p:nvSpPr>
          <p:cNvPr id="1028" name="Rectangle 4">
            <a:extLst>
              <a:ext uri="{FF2B5EF4-FFF2-40B4-BE49-F238E27FC236}">
                <a16:creationId xmlns:a16="http://schemas.microsoft.com/office/drawing/2014/main" id="{79C7E3D7-1A99-6861-6000-D6E3810A26B5}"/>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es-ES"/>
          </a:p>
        </p:txBody>
      </p:sp>
      <p:sp>
        <p:nvSpPr>
          <p:cNvPr id="1029" name="Rectangle 5">
            <a:extLst>
              <a:ext uri="{FF2B5EF4-FFF2-40B4-BE49-F238E27FC236}">
                <a16:creationId xmlns:a16="http://schemas.microsoft.com/office/drawing/2014/main" id="{A0B4A33E-C19C-2F06-A05D-885DC6E04F00}"/>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es-ES"/>
          </a:p>
        </p:txBody>
      </p:sp>
      <p:sp>
        <p:nvSpPr>
          <p:cNvPr id="1030" name="Rectangle 6">
            <a:extLst>
              <a:ext uri="{FF2B5EF4-FFF2-40B4-BE49-F238E27FC236}">
                <a16:creationId xmlns:a16="http://schemas.microsoft.com/office/drawing/2014/main" id="{436BF46A-2625-2D31-BCBA-A7506A847666}"/>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61E8A049-39F7-684B-BA33-841D342BF34E}" type="slidenum">
              <a:rPr lang="es-ES" altLang="es-ES"/>
              <a:pPr>
                <a:defRPr/>
              </a:pPr>
              <a:t>‹Nº›</a:t>
            </a:fld>
            <a:endParaRPr lang="es-ES" alt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hyperlink" Target="http://www.administraci&#243;n.gob.es/" TargetMode="Externa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8" Type="http://schemas.openxmlformats.org/officeDocument/2006/relationships/hyperlink" Target="https://es.wikipedia.org/wiki/Datos_abiertos#cite_note-1" TargetMode="External"/><Relationship Id="rId13" Type="http://schemas.openxmlformats.org/officeDocument/2006/relationships/hyperlink" Target="https://es.wikipedia.org/wiki/Acceso_abierto" TargetMode="External"/><Relationship Id="rId3" Type="http://schemas.openxmlformats.org/officeDocument/2006/relationships/image" Target="../media/image1.png"/><Relationship Id="rId7" Type="http://schemas.openxmlformats.org/officeDocument/2006/relationships/hyperlink" Target="https://es.wikipedia.org/wiki/Patente" TargetMode="External"/><Relationship Id="rId12" Type="http://schemas.openxmlformats.org/officeDocument/2006/relationships/hyperlink" Target="https://es.wikipedia.org/wiki/Acceso_libre"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es.wikipedia.org/wiki/Derechos_de_autor" TargetMode="External"/><Relationship Id="rId11" Type="http://schemas.openxmlformats.org/officeDocument/2006/relationships/hyperlink" Target="https://es.wikipedia.org/wiki/Open_source" TargetMode="External"/><Relationship Id="rId5" Type="http://schemas.openxmlformats.org/officeDocument/2006/relationships/hyperlink" Target="https://es.wikipedia.org/wiki/Filosof%C3%ADa" TargetMode="External"/><Relationship Id="rId10" Type="http://schemas.openxmlformats.org/officeDocument/2006/relationships/hyperlink" Target="https://es.wikipedia.org/wiki/C%C3%B3digo_abierto" TargetMode="External"/><Relationship Id="rId4" Type="http://schemas.openxmlformats.org/officeDocument/2006/relationships/image" Target="../media/image2.jpeg"/><Relationship Id="rId9" Type="http://schemas.openxmlformats.org/officeDocument/2006/relationships/hyperlink" Target="https://es.wikipedia.org/wiki/Software_libre"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customXml" Target="../ink/ink1.xml"/><Relationship Id="rId4" Type="http://schemas.openxmlformats.org/officeDocument/2006/relationships/image" Target="../media/image2.jpe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hyperlink" Target="http://www.transparencia.gob.es/" TargetMode="External"/><Relationship Id="rId4" Type="http://schemas.openxmlformats.org/officeDocument/2006/relationships/image" Target="../media/image2.jpe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customXml" Target="../ink/ink2.xml"/><Relationship Id="rId4" Type="http://schemas.openxmlformats.org/officeDocument/2006/relationships/image" Target="../media/image2.jpe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jpe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jpe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jpe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2.jpe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customXml" Target="../ink/ink3.xml"/><Relationship Id="rId5" Type="http://schemas.openxmlformats.org/officeDocument/2006/relationships/hyperlink" Target="http://boe.es/buscar/act.php?id=BOE-A-2013-12887" TargetMode="External"/><Relationship Id="rId4" Type="http://schemas.openxmlformats.org/officeDocument/2006/relationships/image" Target="../media/image2.jpe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7.xml"/><Relationship Id="rId5" Type="http://schemas.openxmlformats.org/officeDocument/2006/relationships/image" Target="../media/image2.jpe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7">
            <a:extLst>
              <a:ext uri="{FF2B5EF4-FFF2-40B4-BE49-F238E27FC236}">
                <a16:creationId xmlns:a16="http://schemas.microsoft.com/office/drawing/2014/main" id="{CF9662AB-13D9-4301-B244-14F1DECA291C}"/>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3075" name="Rectangle 5">
            <a:extLst>
              <a:ext uri="{FF2B5EF4-FFF2-40B4-BE49-F238E27FC236}">
                <a16:creationId xmlns:a16="http://schemas.microsoft.com/office/drawing/2014/main" id="{82E94505-2771-66A5-6123-DC3A199EB9A2}"/>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3076" name="Picture 6" descr="cefcorp_logo">
            <a:extLst>
              <a:ext uri="{FF2B5EF4-FFF2-40B4-BE49-F238E27FC236}">
                <a16:creationId xmlns:a16="http://schemas.microsoft.com/office/drawing/2014/main" id="{B94E4F58-5968-1CC8-4037-C87DD026D3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7" name="Picture 18" descr="logo-udima-horizontal-COLOR">
            <a:extLst>
              <a:ext uri="{FF2B5EF4-FFF2-40B4-BE49-F238E27FC236}">
                <a16:creationId xmlns:a16="http://schemas.microsoft.com/office/drawing/2014/main" id="{31B3E529-B50A-493C-A5BD-0F49C4DDFB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Imagen 3">
            <a:extLst>
              <a:ext uri="{FF2B5EF4-FFF2-40B4-BE49-F238E27FC236}">
                <a16:creationId xmlns:a16="http://schemas.microsoft.com/office/drawing/2014/main" id="{9367B3D9-B110-13A0-7D80-FE84A2AA82D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84213" y="1081088"/>
            <a:ext cx="8459787" cy="530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9" name="CuadroTexto 1">
            <a:extLst>
              <a:ext uri="{FF2B5EF4-FFF2-40B4-BE49-F238E27FC236}">
                <a16:creationId xmlns:a16="http://schemas.microsoft.com/office/drawing/2014/main" id="{BC8E911E-4FE8-4D26-64CA-EF357983B105}"/>
              </a:ext>
            </a:extLst>
          </p:cNvPr>
          <p:cNvSpPr txBox="1">
            <a:spLocks noChangeArrowheads="1"/>
          </p:cNvSpPr>
          <p:nvPr/>
        </p:nvSpPr>
        <p:spPr bwMode="auto">
          <a:xfrm>
            <a:off x="2700338" y="5373688"/>
            <a:ext cx="3959225"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400" b="1">
                <a:solidFill>
                  <a:srgbClr val="006600"/>
                </a:solidFill>
              </a:rPr>
              <a:t>Gobernanza pública, gobierno abierto y ley de transparencia, acceso a la información y buen gobierno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5DC41180-14B7-05C1-AB7C-97FC1FB88F1E}"/>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5123" name="Picture 5" descr="cefcorp_logo">
            <a:extLst>
              <a:ext uri="{FF2B5EF4-FFF2-40B4-BE49-F238E27FC236}">
                <a16:creationId xmlns:a16="http://schemas.microsoft.com/office/drawing/2014/main" id="{F922AA7A-6E82-044E-1F6B-3041275A93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Rectangle 6">
            <a:extLst>
              <a:ext uri="{FF2B5EF4-FFF2-40B4-BE49-F238E27FC236}">
                <a16:creationId xmlns:a16="http://schemas.microsoft.com/office/drawing/2014/main" id="{62158306-4E29-BEDF-6491-F1FD8FF44D28}"/>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5125" name="Text Box 21">
            <a:extLst>
              <a:ext uri="{FF2B5EF4-FFF2-40B4-BE49-F238E27FC236}">
                <a16:creationId xmlns:a16="http://schemas.microsoft.com/office/drawing/2014/main" id="{7FEE74F3-ACFB-D843-89CD-A8A1A3EE35B9}"/>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5126" name="Text Box 22">
            <a:extLst>
              <a:ext uri="{FF2B5EF4-FFF2-40B4-BE49-F238E27FC236}">
                <a16:creationId xmlns:a16="http://schemas.microsoft.com/office/drawing/2014/main" id="{F536C8AD-4C72-B726-E561-7911257F885D}"/>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5127" name="Picture 26" descr="logo-udima-horizontal-COLOR">
            <a:extLst>
              <a:ext uri="{FF2B5EF4-FFF2-40B4-BE49-F238E27FC236}">
                <a16:creationId xmlns:a16="http://schemas.microsoft.com/office/drawing/2014/main" id="{60AF1183-5DF7-AD97-DF9E-F993300C26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8" name="Rectángulo 1">
            <a:extLst>
              <a:ext uri="{FF2B5EF4-FFF2-40B4-BE49-F238E27FC236}">
                <a16:creationId xmlns:a16="http://schemas.microsoft.com/office/drawing/2014/main" id="{D42DBBBB-282F-CAD6-FB81-C1D8A8052515}"/>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5129" name="CuadroTexto 3">
            <a:extLst>
              <a:ext uri="{FF2B5EF4-FFF2-40B4-BE49-F238E27FC236}">
                <a16:creationId xmlns:a16="http://schemas.microsoft.com/office/drawing/2014/main" id="{BE1826FC-C419-C50F-7154-44012E056E51}"/>
              </a:ext>
            </a:extLst>
          </p:cNvPr>
          <p:cNvSpPr txBox="1">
            <a:spLocks noChangeArrowheads="1"/>
          </p:cNvSpPr>
          <p:nvPr/>
        </p:nvSpPr>
        <p:spPr bwMode="auto">
          <a:xfrm>
            <a:off x="2011363"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Gobernanza pública</a:t>
            </a:r>
          </a:p>
        </p:txBody>
      </p:sp>
      <p:sp>
        <p:nvSpPr>
          <p:cNvPr id="5130" name="CuadroTexto 2">
            <a:extLst>
              <a:ext uri="{FF2B5EF4-FFF2-40B4-BE49-F238E27FC236}">
                <a16:creationId xmlns:a16="http://schemas.microsoft.com/office/drawing/2014/main" id="{6F86534F-0B00-9308-268B-223B35E6E096}"/>
              </a:ext>
            </a:extLst>
          </p:cNvPr>
          <p:cNvSpPr txBox="1">
            <a:spLocks noChangeArrowheads="1"/>
          </p:cNvSpPr>
          <p:nvPr/>
        </p:nvSpPr>
        <p:spPr bwMode="auto">
          <a:xfrm>
            <a:off x="1547813" y="2822575"/>
            <a:ext cx="63357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b="1">
                <a:solidFill>
                  <a:srgbClr val="008000"/>
                </a:solidFill>
              </a:rPr>
              <a:t>Gobernanza pública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7E8CF06F-FBDA-28D3-8B15-978F0E7CC544}"/>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7171" name="Picture 5" descr="cefcorp_logo">
            <a:extLst>
              <a:ext uri="{FF2B5EF4-FFF2-40B4-BE49-F238E27FC236}">
                <a16:creationId xmlns:a16="http://schemas.microsoft.com/office/drawing/2014/main" id="{90E83444-4076-871A-5008-9951636BA4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2" name="Rectangle 6">
            <a:extLst>
              <a:ext uri="{FF2B5EF4-FFF2-40B4-BE49-F238E27FC236}">
                <a16:creationId xmlns:a16="http://schemas.microsoft.com/office/drawing/2014/main" id="{CEBDD8A5-B99F-423A-DE9E-BC88B09C9769}"/>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7173" name="Text Box 21">
            <a:extLst>
              <a:ext uri="{FF2B5EF4-FFF2-40B4-BE49-F238E27FC236}">
                <a16:creationId xmlns:a16="http://schemas.microsoft.com/office/drawing/2014/main" id="{4BF8EB61-C109-3825-0A49-7D6C5686519C}"/>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7174" name="Text Box 22">
            <a:extLst>
              <a:ext uri="{FF2B5EF4-FFF2-40B4-BE49-F238E27FC236}">
                <a16:creationId xmlns:a16="http://schemas.microsoft.com/office/drawing/2014/main" id="{29A2C818-9F11-AE0D-E227-BC9479CC9F67}"/>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7175" name="Picture 26" descr="logo-udima-horizontal-COLOR">
            <a:extLst>
              <a:ext uri="{FF2B5EF4-FFF2-40B4-BE49-F238E27FC236}">
                <a16:creationId xmlns:a16="http://schemas.microsoft.com/office/drawing/2014/main" id="{BB3B7032-32A7-73E3-91C8-C33842943C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6" name="Rectángulo 1">
            <a:extLst>
              <a:ext uri="{FF2B5EF4-FFF2-40B4-BE49-F238E27FC236}">
                <a16:creationId xmlns:a16="http://schemas.microsoft.com/office/drawing/2014/main" id="{1250A920-8EF1-1639-AB54-31E80A3F2CD1}"/>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7177" name="CuadroTexto 3">
            <a:extLst>
              <a:ext uri="{FF2B5EF4-FFF2-40B4-BE49-F238E27FC236}">
                <a16:creationId xmlns:a16="http://schemas.microsoft.com/office/drawing/2014/main" id="{7E56A2F4-83A4-6B66-EB59-783741B4E15E}"/>
              </a:ext>
            </a:extLst>
          </p:cNvPr>
          <p:cNvSpPr txBox="1">
            <a:spLocks noChangeArrowheads="1"/>
          </p:cNvSpPr>
          <p:nvPr/>
        </p:nvSpPr>
        <p:spPr bwMode="auto">
          <a:xfrm>
            <a:off x="2011363"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Gobernanza pública</a:t>
            </a:r>
          </a:p>
        </p:txBody>
      </p:sp>
      <p:sp>
        <p:nvSpPr>
          <p:cNvPr id="7178" name="CuadroTexto 2">
            <a:extLst>
              <a:ext uri="{FF2B5EF4-FFF2-40B4-BE49-F238E27FC236}">
                <a16:creationId xmlns:a16="http://schemas.microsoft.com/office/drawing/2014/main" id="{7472F874-2B5F-3A4D-D82B-D7633FEF6C1D}"/>
              </a:ext>
            </a:extLst>
          </p:cNvPr>
          <p:cNvSpPr txBox="1">
            <a:spLocks noChangeArrowheads="1"/>
          </p:cNvSpPr>
          <p:nvPr/>
        </p:nvSpPr>
        <p:spPr bwMode="auto">
          <a:xfrm>
            <a:off x="827088" y="890588"/>
            <a:ext cx="69850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r>
              <a:rPr lang="es-ES" altLang="es-ES" sz="1600">
                <a:solidFill>
                  <a:srgbClr val="C00000"/>
                </a:solidFill>
              </a:rPr>
              <a:t>Gobernanza pública</a:t>
            </a:r>
          </a:p>
          <a:p>
            <a:pPr algn="just">
              <a:spcBef>
                <a:spcPct val="0"/>
              </a:spcBef>
              <a:buFontTx/>
              <a:buNone/>
            </a:pPr>
            <a:endParaRPr lang="es-ES" altLang="es-ES" sz="1600"/>
          </a:p>
          <a:p>
            <a:pPr algn="just">
              <a:spcBef>
                <a:spcPct val="0"/>
              </a:spcBef>
              <a:buFontTx/>
              <a:buNone/>
            </a:pPr>
            <a:r>
              <a:rPr lang="es-ES" altLang="es-ES" sz="1600">
                <a:solidFill>
                  <a:srgbClr val="008000"/>
                </a:solidFill>
              </a:rPr>
              <a:t>Las Administraciones Públicas deben asegurar un marco normativo estable y adaptado a las necesidades de los ciudadanos y empresas, que contribuya a </a:t>
            </a:r>
            <a:r>
              <a:rPr lang="es-ES" altLang="es-ES" sz="1600" u="sng">
                <a:solidFill>
                  <a:srgbClr val="008000"/>
                </a:solidFill>
              </a:rPr>
              <a:t>simplificar sus relaciones </a:t>
            </a:r>
            <a:r>
              <a:rPr lang="es-ES" altLang="es-ES" sz="1600">
                <a:solidFill>
                  <a:srgbClr val="008000"/>
                </a:solidFill>
              </a:rPr>
              <a:t>con las distintas Administraciones Públicas, a </a:t>
            </a:r>
            <a:r>
              <a:rPr lang="es-ES" altLang="es-ES" sz="1600" u="sng">
                <a:solidFill>
                  <a:srgbClr val="008000"/>
                </a:solidFill>
              </a:rPr>
              <a:t>mejorar la competitividad de las empresas </a:t>
            </a:r>
            <a:r>
              <a:rPr lang="es-ES" altLang="es-ES" sz="1600">
                <a:solidFill>
                  <a:srgbClr val="008000"/>
                </a:solidFill>
              </a:rPr>
              <a:t>y a </a:t>
            </a:r>
            <a:r>
              <a:rPr lang="es-ES" altLang="es-ES" sz="1600" u="sng">
                <a:solidFill>
                  <a:srgbClr val="008000"/>
                </a:solidFill>
              </a:rPr>
              <a:t>fortalecer la confianza en las instituciones </a:t>
            </a:r>
            <a:r>
              <a:rPr lang="es-ES" altLang="es-ES" sz="1600">
                <a:solidFill>
                  <a:srgbClr val="008000"/>
                </a:solidFill>
              </a:rPr>
              <a:t>y en la </a:t>
            </a:r>
            <a:r>
              <a:rPr lang="es-ES" altLang="es-ES" sz="1600" u="sng">
                <a:solidFill>
                  <a:srgbClr val="008000"/>
                </a:solidFill>
              </a:rPr>
              <a:t>calidad de los servicios y decisiones</a:t>
            </a:r>
            <a:r>
              <a:rPr lang="es-ES" altLang="es-ES" sz="1600">
                <a:solidFill>
                  <a:srgbClr val="008000"/>
                </a:solidFill>
              </a:rPr>
              <a:t>.</a:t>
            </a:r>
          </a:p>
          <a:p>
            <a:pPr algn="just">
              <a:spcBef>
                <a:spcPct val="0"/>
              </a:spcBef>
              <a:buFontTx/>
              <a:buNone/>
            </a:pPr>
            <a:r>
              <a:rPr lang="es-ES" altLang="es-ES" sz="1600" b="1">
                <a:solidFill>
                  <a:srgbClr val="008000"/>
                </a:solidFill>
              </a:rPr>
              <a:t> </a:t>
            </a:r>
          </a:p>
          <a:p>
            <a:pPr algn="just">
              <a:spcBef>
                <a:spcPct val="0"/>
              </a:spcBef>
              <a:buFontTx/>
              <a:buNone/>
            </a:pPr>
            <a:r>
              <a:rPr lang="es-ES" altLang="es-ES" sz="1600">
                <a:solidFill>
                  <a:srgbClr val="008000"/>
                </a:solidFill>
              </a:rPr>
              <a:t>La gobernanza supone un cambio de paradigma en las relaciones administrativas, propiciando la adopción de políticas públicas con la participación de distintos sectores públicos y privados. </a:t>
            </a:r>
          </a:p>
          <a:p>
            <a:pPr algn="just">
              <a:spcBef>
                <a:spcPct val="0"/>
              </a:spcBef>
              <a:buFontTx/>
              <a:buNone/>
            </a:pPr>
            <a:endParaRPr lang="es-ES" altLang="es-ES" sz="1600" b="1">
              <a:solidFill>
                <a:srgbClr val="008000"/>
              </a:solidFill>
            </a:endParaRPr>
          </a:p>
          <a:p>
            <a:pPr algn="just">
              <a:spcBef>
                <a:spcPct val="0"/>
              </a:spcBef>
              <a:buFontTx/>
              <a:buNone/>
            </a:pPr>
            <a:r>
              <a:rPr lang="es-ES" altLang="es-ES" sz="1600">
                <a:solidFill>
                  <a:srgbClr val="008000"/>
                </a:solidFill>
              </a:rPr>
              <a:t>En el ámbito de la Administración General del Estado, la Dirección General de Gobernanza Pública (Mº de Transformación Digital  y de la Función Pública) que es la encargada de gestionar esta competencia.</a:t>
            </a:r>
          </a:p>
          <a:p>
            <a:pPr algn="just">
              <a:spcBef>
                <a:spcPct val="0"/>
              </a:spcBef>
              <a:buFontTx/>
              <a:buNone/>
            </a:pPr>
            <a:endParaRPr lang="es-ES" altLang="es-ES" sz="1600">
              <a:solidFill>
                <a:srgbClr val="008000"/>
              </a:solidFill>
            </a:endParaRPr>
          </a:p>
          <a:p>
            <a:pPr algn="just">
              <a:spcBef>
                <a:spcPct val="0"/>
              </a:spcBef>
              <a:buFontTx/>
              <a:buNone/>
            </a:pPr>
            <a:r>
              <a:rPr lang="es-ES" altLang="es-ES" sz="1600">
                <a:solidFill>
                  <a:srgbClr val="008000"/>
                </a:solidFill>
              </a:rPr>
              <a:t>La Gobernanza Pública se articula en torno a las siguientes funciones e iniciativas: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A2A7E220-1A43-270A-6B25-68BA2405AC64}"/>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9219" name="Picture 5" descr="cefcorp_logo">
            <a:extLst>
              <a:ext uri="{FF2B5EF4-FFF2-40B4-BE49-F238E27FC236}">
                <a16:creationId xmlns:a16="http://schemas.microsoft.com/office/drawing/2014/main" id="{4A5B291E-8964-A49A-87A1-D9E59E8778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0" name="Rectangle 6">
            <a:extLst>
              <a:ext uri="{FF2B5EF4-FFF2-40B4-BE49-F238E27FC236}">
                <a16:creationId xmlns:a16="http://schemas.microsoft.com/office/drawing/2014/main" id="{0DE4321D-D156-CCAF-4F6D-BB995076C444}"/>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9221" name="Text Box 21">
            <a:extLst>
              <a:ext uri="{FF2B5EF4-FFF2-40B4-BE49-F238E27FC236}">
                <a16:creationId xmlns:a16="http://schemas.microsoft.com/office/drawing/2014/main" id="{115F59AB-01B2-9C21-A52E-18F63CD0FF9F}"/>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9222" name="Text Box 22">
            <a:extLst>
              <a:ext uri="{FF2B5EF4-FFF2-40B4-BE49-F238E27FC236}">
                <a16:creationId xmlns:a16="http://schemas.microsoft.com/office/drawing/2014/main" id="{9227A892-A15D-A430-E5E1-37A031515BE9}"/>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9223" name="Picture 26" descr="logo-udima-horizontal-COLOR">
            <a:extLst>
              <a:ext uri="{FF2B5EF4-FFF2-40B4-BE49-F238E27FC236}">
                <a16:creationId xmlns:a16="http://schemas.microsoft.com/office/drawing/2014/main" id="{62C51AF1-ED40-96F0-F191-16C3184147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4" name="Rectángulo 1">
            <a:extLst>
              <a:ext uri="{FF2B5EF4-FFF2-40B4-BE49-F238E27FC236}">
                <a16:creationId xmlns:a16="http://schemas.microsoft.com/office/drawing/2014/main" id="{50DE18D9-5E72-93BA-D8DF-48559D0BD927}"/>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9225" name="CuadroTexto 3">
            <a:extLst>
              <a:ext uri="{FF2B5EF4-FFF2-40B4-BE49-F238E27FC236}">
                <a16:creationId xmlns:a16="http://schemas.microsoft.com/office/drawing/2014/main" id="{7052FC93-B252-0CFE-384F-FFC256E2BFE7}"/>
              </a:ext>
            </a:extLst>
          </p:cNvPr>
          <p:cNvSpPr txBox="1">
            <a:spLocks noChangeArrowheads="1"/>
          </p:cNvSpPr>
          <p:nvPr/>
        </p:nvSpPr>
        <p:spPr bwMode="auto">
          <a:xfrm>
            <a:off x="2011363"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Gobernanza pública</a:t>
            </a:r>
          </a:p>
        </p:txBody>
      </p:sp>
      <p:sp>
        <p:nvSpPr>
          <p:cNvPr id="5130" name="CuadroTexto 2">
            <a:extLst>
              <a:ext uri="{FF2B5EF4-FFF2-40B4-BE49-F238E27FC236}">
                <a16:creationId xmlns:a16="http://schemas.microsoft.com/office/drawing/2014/main" id="{92CBF58E-9545-2250-0BF8-6F14720971B3}"/>
              </a:ext>
            </a:extLst>
          </p:cNvPr>
          <p:cNvSpPr txBox="1">
            <a:spLocks noChangeArrowheads="1"/>
          </p:cNvSpPr>
          <p:nvPr/>
        </p:nvSpPr>
        <p:spPr bwMode="auto">
          <a:xfrm>
            <a:off x="827088" y="890588"/>
            <a:ext cx="6985000" cy="5508625"/>
          </a:xfrm>
          <a:prstGeom prst="rect">
            <a:avLst/>
          </a:prstGeom>
          <a:noFill/>
          <a:ln w="28575">
            <a:noFill/>
            <a:miter lim="800000"/>
            <a:headEnd/>
            <a:tailEnd/>
          </a:ln>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indent="-342900" algn="just">
              <a:spcBef>
                <a:spcPct val="0"/>
              </a:spcBef>
              <a:buFontTx/>
              <a:buAutoNum type="alphaLcParenR"/>
              <a:defRPr/>
            </a:pPr>
            <a:r>
              <a:rPr lang="es-ES" sz="1600" dirty="0">
                <a:solidFill>
                  <a:srgbClr val="C00000"/>
                </a:solidFill>
              </a:rPr>
              <a:t>Simplificación administrativa y reducción de cargas: </a:t>
            </a:r>
          </a:p>
          <a:p>
            <a:pPr algn="just">
              <a:spcBef>
                <a:spcPct val="0"/>
              </a:spcBef>
              <a:buFontTx/>
              <a:buNone/>
              <a:defRPr/>
            </a:pPr>
            <a:endParaRPr lang="es-ES" sz="1600" dirty="0"/>
          </a:p>
          <a:p>
            <a:pPr>
              <a:spcBef>
                <a:spcPct val="0"/>
              </a:spcBef>
              <a:buFontTx/>
              <a:buNone/>
              <a:defRPr/>
            </a:pPr>
            <a:r>
              <a:rPr lang="es-ES" sz="1600" u="sng" dirty="0">
                <a:solidFill>
                  <a:srgbClr val="008000"/>
                </a:solidFill>
              </a:rPr>
              <a:t>Es toda actividad de naturaleza administrativa que debe llevar a cabo una empresa o un ciudadano para cumplir con las obligaciones derivadas de la normativa. </a:t>
            </a:r>
          </a:p>
          <a:p>
            <a:pPr>
              <a:spcBef>
                <a:spcPct val="0"/>
              </a:spcBef>
              <a:buFontTx/>
              <a:buNone/>
              <a:defRPr/>
            </a:pPr>
            <a:endParaRPr lang="es-ES" sz="1600" dirty="0">
              <a:solidFill>
                <a:srgbClr val="008000"/>
              </a:solidFill>
            </a:endParaRPr>
          </a:p>
          <a:p>
            <a:pPr algn="just">
              <a:spcBef>
                <a:spcPct val="0"/>
              </a:spcBef>
              <a:buFontTx/>
              <a:buNone/>
              <a:defRPr/>
            </a:pPr>
            <a:r>
              <a:rPr lang="es-ES" sz="1600" dirty="0">
                <a:solidFill>
                  <a:srgbClr val="008000"/>
                </a:solidFill>
              </a:rPr>
              <a:t>La reducción de cargas administrativas permite disminuir los costes de constitución o funcionamiento de las empresas y dedicar estos recursos liberados a otras actividades, mejorando así la productividad y la competitividad de la economía. </a:t>
            </a:r>
            <a:r>
              <a:rPr lang="es-ES" sz="1600" u="sng" dirty="0">
                <a:solidFill>
                  <a:srgbClr val="008000"/>
                </a:solidFill>
              </a:rPr>
              <a:t>Las técnicas utilizadas consisten por ejemplo en la eliminación de obligaciones innecesarias, en no requerir documentos o datos que obren en poder de las Administraciones, en reducir la frecuencia de petición de datos, en reducir los plazos de tramitación de los procedimientos o en posibilitar la presentación electrónica de solicitudes, comunicaciones y demás documentos.</a:t>
            </a:r>
          </a:p>
          <a:p>
            <a:pPr algn="just">
              <a:spcBef>
                <a:spcPct val="0"/>
              </a:spcBef>
              <a:buFontTx/>
              <a:buNone/>
              <a:defRPr/>
            </a:pPr>
            <a:endParaRPr lang="es-ES" sz="1600" dirty="0">
              <a:solidFill>
                <a:srgbClr val="008000"/>
              </a:solidFill>
            </a:endParaRPr>
          </a:p>
          <a:p>
            <a:pPr algn="just">
              <a:spcBef>
                <a:spcPct val="0"/>
              </a:spcBef>
              <a:buFontTx/>
              <a:buNone/>
              <a:defRPr/>
            </a:pPr>
            <a:r>
              <a:rPr lang="es-ES" sz="1600" dirty="0">
                <a:solidFill>
                  <a:srgbClr val="008000"/>
                </a:solidFill>
              </a:rPr>
              <a:t>En relación con la simplificación administrativa y la reducción de cargas el </a:t>
            </a:r>
            <a:r>
              <a:rPr lang="es-ES" sz="1600" u="sng" dirty="0">
                <a:solidFill>
                  <a:srgbClr val="008000"/>
                </a:solidFill>
              </a:rPr>
              <a:t>Real Decreto 931/2017, de 27 de octubre, por el que se regula la Memoria del Análisis de Impacto Normativo </a:t>
            </a:r>
            <a:r>
              <a:rPr lang="es-ES" sz="1600" dirty="0">
                <a:solidFill>
                  <a:srgbClr val="008000"/>
                </a:solidFill>
              </a:rPr>
              <a:t>tiene por objeto garantizar que, a la hora de elaborar y aprobar un proyecto de norma, se cuenta con la toda la información necesaria para estimar el impacto que dicha norma supondrá para sus destinatarios y agentes.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995C22B1-44BA-F09A-F23D-4ACEB8064246}"/>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11267" name="Picture 5" descr="cefcorp_logo">
            <a:extLst>
              <a:ext uri="{FF2B5EF4-FFF2-40B4-BE49-F238E27FC236}">
                <a16:creationId xmlns:a16="http://schemas.microsoft.com/office/drawing/2014/main" id="{4A6DDA10-80DF-A2BB-A7BE-E6648F42DA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8" name="Rectangle 6">
            <a:extLst>
              <a:ext uri="{FF2B5EF4-FFF2-40B4-BE49-F238E27FC236}">
                <a16:creationId xmlns:a16="http://schemas.microsoft.com/office/drawing/2014/main" id="{37C8EF18-A31C-6904-CF93-D9315469E126}"/>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11269" name="Text Box 21">
            <a:extLst>
              <a:ext uri="{FF2B5EF4-FFF2-40B4-BE49-F238E27FC236}">
                <a16:creationId xmlns:a16="http://schemas.microsoft.com/office/drawing/2014/main" id="{4FB756C6-9318-1168-072C-EE913738FF3C}"/>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11270" name="Text Box 22">
            <a:extLst>
              <a:ext uri="{FF2B5EF4-FFF2-40B4-BE49-F238E27FC236}">
                <a16:creationId xmlns:a16="http://schemas.microsoft.com/office/drawing/2014/main" id="{BD166D2D-5BB2-7542-1182-49BC1DFF7DA2}"/>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11271" name="Picture 26" descr="logo-udima-horizontal-COLOR">
            <a:extLst>
              <a:ext uri="{FF2B5EF4-FFF2-40B4-BE49-F238E27FC236}">
                <a16:creationId xmlns:a16="http://schemas.microsoft.com/office/drawing/2014/main" id="{20E95F16-EAB4-8DCE-12D1-B4FC68BD9C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2" name="Rectángulo 1">
            <a:extLst>
              <a:ext uri="{FF2B5EF4-FFF2-40B4-BE49-F238E27FC236}">
                <a16:creationId xmlns:a16="http://schemas.microsoft.com/office/drawing/2014/main" id="{83904320-D93E-1F79-4A98-D6E95090EB78}"/>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11273" name="CuadroTexto 3">
            <a:extLst>
              <a:ext uri="{FF2B5EF4-FFF2-40B4-BE49-F238E27FC236}">
                <a16:creationId xmlns:a16="http://schemas.microsoft.com/office/drawing/2014/main" id="{562D93EE-C67D-7E15-BC75-C1A357FADECC}"/>
              </a:ext>
            </a:extLst>
          </p:cNvPr>
          <p:cNvSpPr txBox="1">
            <a:spLocks noChangeArrowheads="1"/>
          </p:cNvSpPr>
          <p:nvPr/>
        </p:nvSpPr>
        <p:spPr bwMode="auto">
          <a:xfrm>
            <a:off x="2011363"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Gobernanza pública</a:t>
            </a:r>
          </a:p>
        </p:txBody>
      </p:sp>
      <p:sp>
        <p:nvSpPr>
          <p:cNvPr id="11274" name="CuadroTexto 2">
            <a:extLst>
              <a:ext uri="{FF2B5EF4-FFF2-40B4-BE49-F238E27FC236}">
                <a16:creationId xmlns:a16="http://schemas.microsoft.com/office/drawing/2014/main" id="{CC08D9E7-C0F9-80BB-11B9-84A2C202CDE2}"/>
              </a:ext>
            </a:extLst>
          </p:cNvPr>
          <p:cNvSpPr txBox="1">
            <a:spLocks noChangeArrowheads="1"/>
          </p:cNvSpPr>
          <p:nvPr/>
        </p:nvSpPr>
        <p:spPr bwMode="auto">
          <a:xfrm>
            <a:off x="827088" y="890588"/>
            <a:ext cx="6985000" cy="526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r>
              <a:rPr lang="es-ES" altLang="es-ES" sz="1600">
                <a:solidFill>
                  <a:srgbClr val="C00000"/>
                </a:solidFill>
              </a:rPr>
              <a:t>b) La inspección de los servicios</a:t>
            </a:r>
          </a:p>
          <a:p>
            <a:pPr algn="just">
              <a:spcBef>
                <a:spcPct val="0"/>
              </a:spcBef>
              <a:buFontTx/>
              <a:buNone/>
            </a:pPr>
            <a:endParaRPr lang="es-ES" altLang="es-ES" sz="1600"/>
          </a:p>
          <a:p>
            <a:pPr algn="just">
              <a:spcBef>
                <a:spcPct val="0"/>
              </a:spcBef>
              <a:buFontTx/>
              <a:buNone/>
            </a:pPr>
            <a:r>
              <a:rPr lang="es-ES" altLang="es-ES" sz="1600">
                <a:solidFill>
                  <a:srgbClr val="008000"/>
                </a:solidFill>
              </a:rPr>
              <a:t>Las inspecciones generales de servicios de los diferentes Ministerios se configuran como </a:t>
            </a:r>
            <a:r>
              <a:rPr lang="es-ES" altLang="es-ES" sz="1600" u="sng">
                <a:solidFill>
                  <a:srgbClr val="008000"/>
                </a:solidFill>
              </a:rPr>
              <a:t>los órganos especializados en el control interno y en la evaluación de los servicios, tanto de los propios departamentos como de sus organismos públicos dependientes</a:t>
            </a:r>
            <a:r>
              <a:rPr lang="es-ES" altLang="es-ES" sz="1600">
                <a:solidFill>
                  <a:srgbClr val="008000"/>
                </a:solidFill>
              </a:rPr>
              <a:t>. </a:t>
            </a:r>
            <a:r>
              <a:rPr lang="es-ES" altLang="es-ES" sz="1600" u="sng">
                <a:solidFill>
                  <a:srgbClr val="008000"/>
                </a:solidFill>
              </a:rPr>
              <a:t>Las inspecciones generales de servicios dependen normalmente de la Subsecretaría de un ministerio.</a:t>
            </a:r>
          </a:p>
          <a:p>
            <a:pPr algn="just">
              <a:spcBef>
                <a:spcPct val="0"/>
              </a:spcBef>
              <a:buFontTx/>
              <a:buNone/>
            </a:pPr>
            <a:endParaRPr lang="es-ES" altLang="es-ES" sz="1600">
              <a:solidFill>
                <a:srgbClr val="008000"/>
              </a:solidFill>
            </a:endParaRPr>
          </a:p>
          <a:p>
            <a:pPr algn="just">
              <a:spcBef>
                <a:spcPct val="0"/>
              </a:spcBef>
              <a:buFontTx/>
              <a:buNone/>
            </a:pPr>
            <a:r>
              <a:rPr lang="es-ES" altLang="es-ES" sz="1600">
                <a:solidFill>
                  <a:srgbClr val="008000"/>
                </a:solidFill>
              </a:rPr>
              <a:t>La Gobernanza conlleva la inspección y mejora de los servicios públicos y de los organismos públicos vinculados; </a:t>
            </a:r>
            <a:r>
              <a:rPr lang="es-ES" altLang="es-ES" sz="1600" u="sng">
                <a:solidFill>
                  <a:srgbClr val="008000"/>
                </a:solidFill>
              </a:rPr>
              <a:t>fijación de criterios que faciliten la atención a los ciudadanos mediante</a:t>
            </a:r>
            <a:r>
              <a:rPr lang="es-ES" altLang="es-ES" sz="1600">
                <a:solidFill>
                  <a:srgbClr val="008000"/>
                </a:solidFill>
              </a:rPr>
              <a:t> el </a:t>
            </a:r>
            <a:r>
              <a:rPr lang="es-ES" altLang="es-ES" sz="1600" u="sng">
                <a:solidFill>
                  <a:srgbClr val="008000"/>
                </a:solidFill>
              </a:rPr>
              <a:t>análisis integral de quejas y sugerencias</a:t>
            </a:r>
            <a:r>
              <a:rPr lang="es-ES" altLang="es-ES" sz="1600">
                <a:solidFill>
                  <a:srgbClr val="008000"/>
                </a:solidFill>
              </a:rPr>
              <a:t>; determinación de criterios generales para la definición de programas ministeriales de las Inspecciones Generales de Servicios departamentales y seguimiento de su implantación; promoción, dirección y coordinación de planes de inspección específicos para evaluar la eficacia y eficiencia de los servicios; y promoción de programas de formación especializada e intercambio de las metodologías y técnicas aplicadas.</a:t>
            </a:r>
          </a:p>
          <a:p>
            <a:pPr algn="just">
              <a:spcBef>
                <a:spcPct val="0"/>
              </a:spcBef>
              <a:buFontTx/>
              <a:buNone/>
            </a:pPr>
            <a:endParaRPr lang="es-ES" altLang="es-ES" sz="1600">
              <a:solidFill>
                <a:srgbClr val="008000"/>
              </a:solidFill>
            </a:endParaRPr>
          </a:p>
          <a:p>
            <a:pPr algn="just">
              <a:spcBef>
                <a:spcPct val="0"/>
              </a:spcBef>
              <a:buFontTx/>
              <a:buNone/>
            </a:pPr>
            <a:r>
              <a:rPr lang="es-ES" altLang="es-ES" sz="1600" u="sng">
                <a:solidFill>
                  <a:srgbClr val="008000"/>
                </a:solidFill>
              </a:rPr>
              <a:t>La norma que sistematiza las inspecciones con carácter general es el Real Decreto 799/2005</a:t>
            </a:r>
            <a:r>
              <a:rPr lang="es-ES" altLang="es-ES" sz="1600">
                <a:solidFill>
                  <a:srgbClr val="008000"/>
                </a:solidFill>
              </a:rPr>
              <a:t>, de 1 de julio, por el que se regulan las inspecciones generales de servicios de los departamentos ministeriales.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E0C53121-DC3C-62A2-DE38-114D5BCC9FCF}"/>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13315" name="Picture 5" descr="cefcorp_logo">
            <a:extLst>
              <a:ext uri="{FF2B5EF4-FFF2-40B4-BE49-F238E27FC236}">
                <a16:creationId xmlns:a16="http://schemas.microsoft.com/office/drawing/2014/main" id="{3C152476-0BF9-8D67-E689-4E077E5DCD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6" name="Rectangle 6">
            <a:extLst>
              <a:ext uri="{FF2B5EF4-FFF2-40B4-BE49-F238E27FC236}">
                <a16:creationId xmlns:a16="http://schemas.microsoft.com/office/drawing/2014/main" id="{F36BA1D7-F167-23AC-CFC1-E80685A06D6C}"/>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13317" name="Text Box 21">
            <a:extLst>
              <a:ext uri="{FF2B5EF4-FFF2-40B4-BE49-F238E27FC236}">
                <a16:creationId xmlns:a16="http://schemas.microsoft.com/office/drawing/2014/main" id="{FCA0E497-32E1-35DB-2145-09AD29846161}"/>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13318" name="Text Box 22">
            <a:extLst>
              <a:ext uri="{FF2B5EF4-FFF2-40B4-BE49-F238E27FC236}">
                <a16:creationId xmlns:a16="http://schemas.microsoft.com/office/drawing/2014/main" id="{FF881F25-BB1C-E49F-30E7-8EA78645CDD8}"/>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13319" name="Picture 26" descr="logo-udima-horizontal-COLOR">
            <a:extLst>
              <a:ext uri="{FF2B5EF4-FFF2-40B4-BE49-F238E27FC236}">
                <a16:creationId xmlns:a16="http://schemas.microsoft.com/office/drawing/2014/main" id="{8BB1560C-52DE-6A83-A905-827F58DA18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0" name="Rectángulo 1">
            <a:extLst>
              <a:ext uri="{FF2B5EF4-FFF2-40B4-BE49-F238E27FC236}">
                <a16:creationId xmlns:a16="http://schemas.microsoft.com/office/drawing/2014/main" id="{4E0AD320-69BD-1C80-F856-DD3C1EDABDAA}"/>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13321" name="CuadroTexto 3">
            <a:extLst>
              <a:ext uri="{FF2B5EF4-FFF2-40B4-BE49-F238E27FC236}">
                <a16:creationId xmlns:a16="http://schemas.microsoft.com/office/drawing/2014/main" id="{6CDC10C9-BEB0-67E6-39F3-32C388541ACC}"/>
              </a:ext>
            </a:extLst>
          </p:cNvPr>
          <p:cNvSpPr txBox="1">
            <a:spLocks noChangeArrowheads="1"/>
          </p:cNvSpPr>
          <p:nvPr/>
        </p:nvSpPr>
        <p:spPr bwMode="auto">
          <a:xfrm>
            <a:off x="2011363"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Gobernanza pública</a:t>
            </a:r>
          </a:p>
        </p:txBody>
      </p:sp>
      <p:sp>
        <p:nvSpPr>
          <p:cNvPr id="13322" name="CuadroTexto 2">
            <a:extLst>
              <a:ext uri="{FF2B5EF4-FFF2-40B4-BE49-F238E27FC236}">
                <a16:creationId xmlns:a16="http://schemas.microsoft.com/office/drawing/2014/main" id="{FF212FC8-A240-2EF8-6DC2-FE93BC28F3B8}"/>
              </a:ext>
            </a:extLst>
          </p:cNvPr>
          <p:cNvSpPr txBox="1">
            <a:spLocks noChangeArrowheads="1"/>
          </p:cNvSpPr>
          <p:nvPr/>
        </p:nvSpPr>
        <p:spPr bwMode="auto">
          <a:xfrm>
            <a:off x="827088" y="890588"/>
            <a:ext cx="6985000" cy="427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r>
              <a:rPr lang="es-ES" altLang="es-ES" sz="1600">
                <a:solidFill>
                  <a:srgbClr val="C00000"/>
                </a:solidFill>
              </a:rPr>
              <a:t>c) Atención a la ciudadanía:</a:t>
            </a:r>
          </a:p>
          <a:p>
            <a:pPr algn="just">
              <a:spcBef>
                <a:spcPct val="0"/>
              </a:spcBef>
              <a:buFontTx/>
              <a:buNone/>
            </a:pPr>
            <a:endParaRPr lang="es-ES" altLang="es-ES" sz="1600"/>
          </a:p>
          <a:p>
            <a:pPr algn="just">
              <a:spcBef>
                <a:spcPct val="0"/>
              </a:spcBef>
              <a:buFontTx/>
              <a:buNone/>
            </a:pPr>
            <a:r>
              <a:rPr lang="es-ES" altLang="es-ES" sz="1600">
                <a:solidFill>
                  <a:srgbClr val="008000"/>
                </a:solidFill>
              </a:rPr>
              <a:t>Otra de las iniciativas relativas a la Gobernanza Pública es el </a:t>
            </a:r>
            <a:r>
              <a:rPr lang="es-ES" altLang="es-ES" sz="1600" u="sng">
                <a:solidFill>
                  <a:srgbClr val="008000"/>
                </a:solidFill>
              </a:rPr>
              <a:t>diseño e impulso de programas y proyectos para facilitar el acceso de los ciudadanos y empresas a los servicios públicos, a través de los distintos canales disponibles, en coordinación con los departamentos ministeriales</a:t>
            </a:r>
            <a:r>
              <a:rPr lang="es-ES" altLang="es-ES" sz="1600">
                <a:solidFill>
                  <a:srgbClr val="008000"/>
                </a:solidFill>
              </a:rPr>
              <a:t>. Para ello, se normalizan servicios, procedimientos, documentos y el uso de la imagen institucional; se coordinan los programas de atención e información al ciudadano y se gestiona el Punto de Acceso General para la difusión de contenidos y servicios públicos.</a:t>
            </a:r>
          </a:p>
          <a:p>
            <a:pPr algn="just">
              <a:spcBef>
                <a:spcPct val="0"/>
              </a:spcBef>
              <a:buFontTx/>
              <a:buNone/>
            </a:pPr>
            <a:endParaRPr lang="es-ES" altLang="es-ES" sz="1600">
              <a:solidFill>
                <a:srgbClr val="008000"/>
              </a:solidFill>
            </a:endParaRPr>
          </a:p>
          <a:p>
            <a:pPr algn="just">
              <a:spcBef>
                <a:spcPct val="0"/>
              </a:spcBef>
              <a:buFontTx/>
              <a:buNone/>
            </a:pPr>
            <a:r>
              <a:rPr lang="es-ES" altLang="es-ES" sz="1600" u="sng">
                <a:solidFill>
                  <a:srgbClr val="008000"/>
                </a:solidFill>
              </a:rPr>
              <a:t>En la actualidad este punto de acceso general es el PAGe (punto de acceso general electrónico) que cada administración pública tiene la obligación de ofrecer a sus ciudadanos. </a:t>
            </a:r>
          </a:p>
          <a:p>
            <a:pPr algn="just">
              <a:spcBef>
                <a:spcPct val="0"/>
              </a:spcBef>
              <a:buFontTx/>
              <a:buNone/>
            </a:pPr>
            <a:endParaRPr lang="es-ES" altLang="es-ES" sz="1600">
              <a:solidFill>
                <a:srgbClr val="008000"/>
              </a:solidFill>
            </a:endParaRPr>
          </a:p>
          <a:p>
            <a:pPr algn="just">
              <a:spcBef>
                <a:spcPct val="0"/>
              </a:spcBef>
              <a:buFontTx/>
              <a:buNone/>
            </a:pPr>
            <a:r>
              <a:rPr lang="es-ES" altLang="es-ES" sz="1600">
                <a:solidFill>
                  <a:srgbClr val="008000"/>
                </a:solidFill>
              </a:rPr>
              <a:t>En el ámbito estatal la dirección del PAGe es: </a:t>
            </a:r>
            <a:r>
              <a:rPr lang="es-ES" altLang="es-ES" sz="1600">
                <a:solidFill>
                  <a:srgbClr val="008000"/>
                </a:solidFill>
                <a:hlinkClick r:id="rId5"/>
              </a:rPr>
              <a:t>www.administración.gob.es</a:t>
            </a:r>
            <a:endParaRPr lang="es-ES" altLang="es-ES" sz="1600">
              <a:solidFill>
                <a:srgbClr val="008000"/>
              </a:solidFill>
            </a:endParaRPr>
          </a:p>
          <a:p>
            <a:pPr algn="just">
              <a:spcBef>
                <a:spcPct val="0"/>
              </a:spcBef>
              <a:buFontTx/>
              <a:buNone/>
            </a:pPr>
            <a:endParaRPr lang="es-ES" altLang="es-ES" sz="16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E7C9261E-FFE1-FDBD-A16B-1484F4109F8E}"/>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15363" name="Picture 5" descr="cefcorp_logo">
            <a:extLst>
              <a:ext uri="{FF2B5EF4-FFF2-40B4-BE49-F238E27FC236}">
                <a16:creationId xmlns:a16="http://schemas.microsoft.com/office/drawing/2014/main" id="{4301759F-CCBE-B5BF-6460-DD420E6297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4" name="Rectangle 6">
            <a:extLst>
              <a:ext uri="{FF2B5EF4-FFF2-40B4-BE49-F238E27FC236}">
                <a16:creationId xmlns:a16="http://schemas.microsoft.com/office/drawing/2014/main" id="{1DE4D3EA-4175-0198-DC0E-206C42C30CDE}"/>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15365" name="Text Box 21">
            <a:extLst>
              <a:ext uri="{FF2B5EF4-FFF2-40B4-BE49-F238E27FC236}">
                <a16:creationId xmlns:a16="http://schemas.microsoft.com/office/drawing/2014/main" id="{4513CBFC-DF94-8FEF-CC01-5617D45951EB}"/>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15366" name="Text Box 22">
            <a:extLst>
              <a:ext uri="{FF2B5EF4-FFF2-40B4-BE49-F238E27FC236}">
                <a16:creationId xmlns:a16="http://schemas.microsoft.com/office/drawing/2014/main" id="{CB6F4C41-555E-244A-CC1F-5F14FC0E71A3}"/>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15367" name="Picture 26" descr="logo-udima-horizontal-COLOR">
            <a:extLst>
              <a:ext uri="{FF2B5EF4-FFF2-40B4-BE49-F238E27FC236}">
                <a16:creationId xmlns:a16="http://schemas.microsoft.com/office/drawing/2014/main" id="{94E917E2-1017-CCD4-0E1C-B44F88E5E0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8" name="Rectángulo 1">
            <a:extLst>
              <a:ext uri="{FF2B5EF4-FFF2-40B4-BE49-F238E27FC236}">
                <a16:creationId xmlns:a16="http://schemas.microsoft.com/office/drawing/2014/main" id="{B0C71DEC-AA7A-2D9D-4068-ACD6FDCC53A7}"/>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15369" name="CuadroTexto 3">
            <a:extLst>
              <a:ext uri="{FF2B5EF4-FFF2-40B4-BE49-F238E27FC236}">
                <a16:creationId xmlns:a16="http://schemas.microsoft.com/office/drawing/2014/main" id="{4EA13ACE-B05D-7256-3B07-36E97D08C866}"/>
              </a:ext>
            </a:extLst>
          </p:cNvPr>
          <p:cNvSpPr txBox="1">
            <a:spLocks noChangeArrowheads="1"/>
          </p:cNvSpPr>
          <p:nvPr/>
        </p:nvSpPr>
        <p:spPr bwMode="auto">
          <a:xfrm>
            <a:off x="2011363"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Gobernanza pública</a:t>
            </a:r>
          </a:p>
        </p:txBody>
      </p:sp>
      <p:sp>
        <p:nvSpPr>
          <p:cNvPr id="15370" name="CuadroTexto 2">
            <a:extLst>
              <a:ext uri="{FF2B5EF4-FFF2-40B4-BE49-F238E27FC236}">
                <a16:creationId xmlns:a16="http://schemas.microsoft.com/office/drawing/2014/main" id="{8929686F-F42E-EA25-D307-D6B073B3391F}"/>
              </a:ext>
            </a:extLst>
          </p:cNvPr>
          <p:cNvSpPr txBox="1">
            <a:spLocks noChangeArrowheads="1"/>
          </p:cNvSpPr>
          <p:nvPr/>
        </p:nvSpPr>
        <p:spPr bwMode="auto">
          <a:xfrm>
            <a:off x="827088" y="890588"/>
            <a:ext cx="6985000" cy="550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r>
              <a:rPr lang="es-ES" altLang="es-ES" sz="1600">
                <a:solidFill>
                  <a:srgbClr val="C00000"/>
                </a:solidFill>
              </a:rPr>
              <a:t>d) Calidad de las administraciones públicas</a:t>
            </a:r>
          </a:p>
          <a:p>
            <a:pPr algn="just">
              <a:spcBef>
                <a:spcPct val="0"/>
              </a:spcBef>
              <a:buFontTx/>
              <a:buNone/>
            </a:pPr>
            <a:endParaRPr lang="es-ES" altLang="es-ES" sz="1600"/>
          </a:p>
          <a:p>
            <a:pPr algn="just">
              <a:spcBef>
                <a:spcPct val="0"/>
              </a:spcBef>
              <a:buFontTx/>
              <a:buNone/>
            </a:pPr>
            <a:r>
              <a:rPr lang="es-ES" altLang="es-ES" sz="1600">
                <a:solidFill>
                  <a:srgbClr val="008000"/>
                </a:solidFill>
              </a:rPr>
              <a:t>El objetivo en el marco de la Gobernanza Pública es favorecer la mejora continua de la gestión de las Administraciones Públicas mediante el impulso, desarrollo y seguimiento de los programas de calidad en los servicios públicos, basados en la búsqueda de la excelencia y el fomento de la innovación. </a:t>
            </a:r>
            <a:r>
              <a:rPr lang="es-ES" altLang="es-ES" sz="1600" u="sng">
                <a:solidFill>
                  <a:srgbClr val="008000"/>
                </a:solidFill>
              </a:rPr>
              <a:t>En particular se gestionan e impulsan los programas de calidad previstos en el Real Decreto 951/2005, de 29 de julio, por el que se establece el marco general para la mejora de la calidad en la Administración General del Estado.</a:t>
            </a:r>
          </a:p>
          <a:p>
            <a:pPr algn="just">
              <a:spcBef>
                <a:spcPct val="0"/>
              </a:spcBef>
              <a:buFontTx/>
              <a:buNone/>
            </a:pPr>
            <a:endParaRPr lang="es-ES" altLang="es-ES" sz="1600">
              <a:solidFill>
                <a:srgbClr val="008000"/>
              </a:solidFill>
            </a:endParaRPr>
          </a:p>
          <a:p>
            <a:pPr algn="just">
              <a:spcBef>
                <a:spcPct val="0"/>
              </a:spcBef>
              <a:buFontTx/>
              <a:buNone/>
            </a:pPr>
            <a:r>
              <a:rPr lang="es-ES" altLang="es-ES" sz="1600">
                <a:solidFill>
                  <a:srgbClr val="008000"/>
                </a:solidFill>
              </a:rPr>
              <a:t>En el marco de la Administración General del Estado, estas funciones se despliegan fundamentalmente a través de las siguientes actividades y servicios: </a:t>
            </a:r>
          </a:p>
          <a:p>
            <a:pPr algn="just">
              <a:spcBef>
                <a:spcPct val="0"/>
              </a:spcBef>
              <a:buFontTx/>
              <a:buNone/>
            </a:pPr>
            <a:endParaRPr lang="es-ES" altLang="es-ES" sz="1600">
              <a:solidFill>
                <a:srgbClr val="008000"/>
              </a:solidFill>
            </a:endParaRPr>
          </a:p>
          <a:p>
            <a:pPr algn="just">
              <a:spcBef>
                <a:spcPct val="0"/>
              </a:spcBef>
              <a:buFontTx/>
              <a:buAutoNum type="arabicPeriod"/>
            </a:pPr>
            <a:r>
              <a:rPr lang="es-ES" altLang="es-ES" sz="1600">
                <a:solidFill>
                  <a:srgbClr val="008000"/>
                </a:solidFill>
              </a:rPr>
              <a:t>Gestión de Cartas de Servicio. </a:t>
            </a:r>
          </a:p>
          <a:p>
            <a:pPr algn="just">
              <a:spcBef>
                <a:spcPct val="0"/>
              </a:spcBef>
              <a:buFontTx/>
              <a:buAutoNum type="arabicPeriod"/>
            </a:pPr>
            <a:r>
              <a:rPr lang="es-ES" altLang="es-ES" sz="1600">
                <a:solidFill>
                  <a:srgbClr val="008000"/>
                </a:solidFill>
              </a:rPr>
              <a:t>Metodologías y guías.</a:t>
            </a:r>
          </a:p>
          <a:p>
            <a:pPr algn="just">
              <a:spcBef>
                <a:spcPct val="0"/>
              </a:spcBef>
              <a:buFontTx/>
              <a:buAutoNum type="arabicPeriod"/>
            </a:pPr>
            <a:r>
              <a:rPr lang="es-ES" altLang="es-ES" sz="1600">
                <a:solidFill>
                  <a:srgbClr val="008000"/>
                </a:solidFill>
              </a:rPr>
              <a:t>Reconocimiento: certificados y premios.</a:t>
            </a:r>
          </a:p>
          <a:p>
            <a:pPr algn="just">
              <a:spcBef>
                <a:spcPct val="0"/>
              </a:spcBef>
              <a:buFontTx/>
              <a:buAutoNum type="arabicPeriod"/>
            </a:pPr>
            <a:r>
              <a:rPr lang="es-ES" altLang="es-ES" sz="1600">
                <a:solidFill>
                  <a:srgbClr val="008000"/>
                </a:solidFill>
              </a:rPr>
              <a:t>Informes de evaluación de la calidad de los servicios.</a:t>
            </a:r>
          </a:p>
          <a:p>
            <a:pPr algn="just">
              <a:spcBef>
                <a:spcPct val="0"/>
              </a:spcBef>
              <a:buFontTx/>
              <a:buAutoNum type="arabicPeriod"/>
            </a:pPr>
            <a:r>
              <a:rPr lang="es-ES" altLang="es-ES" sz="1600">
                <a:solidFill>
                  <a:srgbClr val="008000"/>
                </a:solidFill>
              </a:rPr>
              <a:t>Gestión del conocimiento y difusión de buenas prácticas.</a:t>
            </a:r>
          </a:p>
          <a:p>
            <a:pPr algn="just">
              <a:spcBef>
                <a:spcPct val="0"/>
              </a:spcBef>
              <a:buFontTx/>
              <a:buAutoNum type="arabicPeriod"/>
            </a:pPr>
            <a:r>
              <a:rPr lang="es-ES" altLang="es-ES" sz="1600">
                <a:solidFill>
                  <a:srgbClr val="008000"/>
                </a:solidFill>
              </a:rPr>
              <a:t>Asesoramiento, consultoría, asistencia técnica y formación.</a:t>
            </a:r>
          </a:p>
          <a:p>
            <a:pPr algn="just">
              <a:spcBef>
                <a:spcPct val="0"/>
              </a:spcBef>
              <a:buFontTx/>
              <a:buAutoNum type="arabicPeriod"/>
            </a:pPr>
            <a:r>
              <a:rPr lang="es-ES" altLang="es-ES" sz="1600">
                <a:solidFill>
                  <a:srgbClr val="008000"/>
                </a:solidFill>
              </a:rPr>
              <a:t>Actividades de cooperación.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4FCEB0A0-A579-4E20-4261-2DF42231BF14}"/>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17411" name="Picture 5" descr="cefcorp_logo">
            <a:extLst>
              <a:ext uri="{FF2B5EF4-FFF2-40B4-BE49-F238E27FC236}">
                <a16:creationId xmlns:a16="http://schemas.microsoft.com/office/drawing/2014/main" id="{220A707F-5F62-62D3-75A6-BCF35968BA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2" name="Rectangle 6">
            <a:extLst>
              <a:ext uri="{FF2B5EF4-FFF2-40B4-BE49-F238E27FC236}">
                <a16:creationId xmlns:a16="http://schemas.microsoft.com/office/drawing/2014/main" id="{ED054435-16C9-BC11-06B7-5B51F9A71B76}"/>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17413" name="Text Box 21">
            <a:extLst>
              <a:ext uri="{FF2B5EF4-FFF2-40B4-BE49-F238E27FC236}">
                <a16:creationId xmlns:a16="http://schemas.microsoft.com/office/drawing/2014/main" id="{64ACDD6D-EDFD-0840-EB2D-7C233F2EAE75}"/>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17414" name="Text Box 22">
            <a:extLst>
              <a:ext uri="{FF2B5EF4-FFF2-40B4-BE49-F238E27FC236}">
                <a16:creationId xmlns:a16="http://schemas.microsoft.com/office/drawing/2014/main" id="{9A6B554D-7F34-FAEF-5E94-636162EAB181}"/>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17415" name="Picture 26" descr="logo-udima-horizontal-COLOR">
            <a:extLst>
              <a:ext uri="{FF2B5EF4-FFF2-40B4-BE49-F238E27FC236}">
                <a16:creationId xmlns:a16="http://schemas.microsoft.com/office/drawing/2014/main" id="{05782DAC-2974-856F-94B4-F37D0E309E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6" name="Rectángulo 1">
            <a:extLst>
              <a:ext uri="{FF2B5EF4-FFF2-40B4-BE49-F238E27FC236}">
                <a16:creationId xmlns:a16="http://schemas.microsoft.com/office/drawing/2014/main" id="{F8DD6145-F54B-F825-FC1B-357A8236183E}"/>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17417" name="CuadroTexto 3">
            <a:extLst>
              <a:ext uri="{FF2B5EF4-FFF2-40B4-BE49-F238E27FC236}">
                <a16:creationId xmlns:a16="http://schemas.microsoft.com/office/drawing/2014/main" id="{DD333214-BE69-7585-736E-07FEC49583BA}"/>
              </a:ext>
            </a:extLst>
          </p:cNvPr>
          <p:cNvSpPr txBox="1">
            <a:spLocks noChangeArrowheads="1"/>
          </p:cNvSpPr>
          <p:nvPr/>
        </p:nvSpPr>
        <p:spPr bwMode="auto">
          <a:xfrm>
            <a:off x="2011363"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Gobernanza pública</a:t>
            </a:r>
          </a:p>
        </p:txBody>
      </p:sp>
      <p:sp>
        <p:nvSpPr>
          <p:cNvPr id="17418" name="CuadroTexto 2">
            <a:extLst>
              <a:ext uri="{FF2B5EF4-FFF2-40B4-BE49-F238E27FC236}">
                <a16:creationId xmlns:a16="http://schemas.microsoft.com/office/drawing/2014/main" id="{CB5BF2B6-DFBD-1441-CAB9-4B72A5217B32}"/>
              </a:ext>
            </a:extLst>
          </p:cNvPr>
          <p:cNvSpPr txBox="1">
            <a:spLocks noChangeArrowheads="1"/>
          </p:cNvSpPr>
          <p:nvPr/>
        </p:nvSpPr>
        <p:spPr bwMode="auto">
          <a:xfrm>
            <a:off x="827088" y="890588"/>
            <a:ext cx="6985000" cy="427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r>
              <a:rPr lang="es-ES" altLang="es-ES" sz="1600">
                <a:solidFill>
                  <a:srgbClr val="C00000"/>
                </a:solidFill>
              </a:rPr>
              <a:t>e) Transparencia</a:t>
            </a:r>
          </a:p>
          <a:p>
            <a:pPr algn="just">
              <a:spcBef>
                <a:spcPct val="0"/>
              </a:spcBef>
              <a:buFontTx/>
              <a:buNone/>
            </a:pPr>
            <a:endParaRPr lang="es-ES" altLang="es-ES" sz="1600"/>
          </a:p>
          <a:p>
            <a:pPr algn="just">
              <a:spcBef>
                <a:spcPct val="0"/>
              </a:spcBef>
              <a:buFontTx/>
              <a:buNone/>
            </a:pPr>
            <a:r>
              <a:rPr lang="es-ES" altLang="es-ES" sz="1600">
                <a:solidFill>
                  <a:srgbClr val="008000"/>
                </a:solidFill>
              </a:rPr>
              <a:t>Las Administraciones Públicas promueven la transparencia mediante el </a:t>
            </a:r>
            <a:r>
              <a:rPr lang="es-ES" altLang="es-ES" sz="1600" u="sng">
                <a:solidFill>
                  <a:srgbClr val="008000"/>
                </a:solidFill>
              </a:rPr>
              <a:t>impulso de los planes de acción (hasta la fecha se han desarrollado 4 planes de acción) y programas de transparencia, incluyendo la atención e información a los ciudadanos en esta materia y la gestión del Portal de Transparencia de la Administración General del Estado, así como el apoyo en la coordinación de las Unidades de Información de la Administración General del Estado.</a:t>
            </a:r>
          </a:p>
          <a:p>
            <a:pPr algn="just">
              <a:spcBef>
                <a:spcPct val="0"/>
              </a:spcBef>
              <a:buFontTx/>
              <a:buNone/>
            </a:pPr>
            <a:endParaRPr lang="es-ES" altLang="es-ES" sz="1600">
              <a:solidFill>
                <a:srgbClr val="008000"/>
              </a:solidFill>
            </a:endParaRPr>
          </a:p>
          <a:p>
            <a:pPr algn="just">
              <a:spcBef>
                <a:spcPct val="0"/>
              </a:spcBef>
              <a:buFontTx/>
              <a:buNone/>
            </a:pPr>
            <a:r>
              <a:rPr lang="es-ES" altLang="es-ES" sz="1600">
                <a:solidFill>
                  <a:srgbClr val="008000"/>
                </a:solidFill>
              </a:rPr>
              <a:t>Todas las Administraciones públicas desarrollarán la transparencia de sus actividades tomando como referencia la Ley 19/2013 de Transparencia, acceso a la información pública y buen gobierno.</a:t>
            </a:r>
          </a:p>
          <a:p>
            <a:pPr algn="just">
              <a:spcBef>
                <a:spcPct val="0"/>
              </a:spcBef>
              <a:buFontTx/>
              <a:buNone/>
            </a:pPr>
            <a:endParaRPr lang="es-ES" altLang="es-ES" sz="1600">
              <a:solidFill>
                <a:srgbClr val="008000"/>
              </a:solidFill>
            </a:endParaRPr>
          </a:p>
          <a:p>
            <a:pPr algn="just">
              <a:spcBef>
                <a:spcPct val="0"/>
              </a:spcBef>
              <a:buFontTx/>
              <a:buNone/>
            </a:pPr>
            <a:r>
              <a:rPr lang="es-ES" altLang="es-ES" sz="1600">
                <a:solidFill>
                  <a:srgbClr val="008000"/>
                </a:solidFill>
              </a:rPr>
              <a:t>Las comunidades autónomas pueden adaptar esta ley a circunstancias y características específicas de cada comunidad.</a:t>
            </a:r>
          </a:p>
          <a:p>
            <a:pPr algn="just">
              <a:spcBef>
                <a:spcPct val="0"/>
              </a:spcBef>
              <a:buFontTx/>
              <a:buNone/>
            </a:pPr>
            <a:r>
              <a:rPr lang="es-ES" altLang="es-ES" sz="1600"/>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DE72D405-EB24-0FFF-A94B-D338117BC558}"/>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19459" name="Picture 5" descr="cefcorp_logo">
            <a:extLst>
              <a:ext uri="{FF2B5EF4-FFF2-40B4-BE49-F238E27FC236}">
                <a16:creationId xmlns:a16="http://schemas.microsoft.com/office/drawing/2014/main" id="{24FF34D8-256D-0B67-7090-982D282F86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Rectangle 6">
            <a:extLst>
              <a:ext uri="{FF2B5EF4-FFF2-40B4-BE49-F238E27FC236}">
                <a16:creationId xmlns:a16="http://schemas.microsoft.com/office/drawing/2014/main" id="{3B85A89C-0E5D-64BC-F423-BA2C8436E64F}"/>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19461" name="Text Box 21">
            <a:extLst>
              <a:ext uri="{FF2B5EF4-FFF2-40B4-BE49-F238E27FC236}">
                <a16:creationId xmlns:a16="http://schemas.microsoft.com/office/drawing/2014/main" id="{0744EAFB-7B21-4D41-AA92-54CD5FC88E68}"/>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19462" name="Text Box 22">
            <a:extLst>
              <a:ext uri="{FF2B5EF4-FFF2-40B4-BE49-F238E27FC236}">
                <a16:creationId xmlns:a16="http://schemas.microsoft.com/office/drawing/2014/main" id="{DE8E236D-6C0C-6CAA-0E5A-6A944388BD5A}"/>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19463" name="Picture 26" descr="logo-udima-horizontal-COLOR">
            <a:extLst>
              <a:ext uri="{FF2B5EF4-FFF2-40B4-BE49-F238E27FC236}">
                <a16:creationId xmlns:a16="http://schemas.microsoft.com/office/drawing/2014/main" id="{5C8D032C-1B75-A56C-D64B-A465797690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4" name="Rectángulo 1">
            <a:extLst>
              <a:ext uri="{FF2B5EF4-FFF2-40B4-BE49-F238E27FC236}">
                <a16:creationId xmlns:a16="http://schemas.microsoft.com/office/drawing/2014/main" id="{1D8989D6-0DFD-C4D4-BC56-919A81B3866C}"/>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19465" name="CuadroTexto 3">
            <a:extLst>
              <a:ext uri="{FF2B5EF4-FFF2-40B4-BE49-F238E27FC236}">
                <a16:creationId xmlns:a16="http://schemas.microsoft.com/office/drawing/2014/main" id="{D2768E70-9785-CC2E-A28C-355A9A198C0D}"/>
              </a:ext>
            </a:extLst>
          </p:cNvPr>
          <p:cNvSpPr txBox="1">
            <a:spLocks noChangeArrowheads="1"/>
          </p:cNvSpPr>
          <p:nvPr/>
        </p:nvSpPr>
        <p:spPr bwMode="auto">
          <a:xfrm>
            <a:off x="2011363"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Gobierno abierto</a:t>
            </a:r>
          </a:p>
        </p:txBody>
      </p:sp>
      <p:sp>
        <p:nvSpPr>
          <p:cNvPr id="19466" name="CuadroTexto 2">
            <a:extLst>
              <a:ext uri="{FF2B5EF4-FFF2-40B4-BE49-F238E27FC236}">
                <a16:creationId xmlns:a16="http://schemas.microsoft.com/office/drawing/2014/main" id="{B01C9979-9D0A-6CBE-65C1-AE81478531D6}"/>
              </a:ext>
            </a:extLst>
          </p:cNvPr>
          <p:cNvSpPr txBox="1">
            <a:spLocks noChangeArrowheads="1"/>
          </p:cNvSpPr>
          <p:nvPr/>
        </p:nvSpPr>
        <p:spPr bwMode="auto">
          <a:xfrm>
            <a:off x="1547813" y="2822575"/>
            <a:ext cx="63357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b="1">
                <a:solidFill>
                  <a:srgbClr val="008000"/>
                </a:solidFill>
              </a:rPr>
              <a:t>Gobierno abierto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109C3007-76C5-DF1A-5F5A-1C57E304FC89}"/>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21507" name="Picture 5" descr="cefcorp_logo">
            <a:extLst>
              <a:ext uri="{FF2B5EF4-FFF2-40B4-BE49-F238E27FC236}">
                <a16:creationId xmlns:a16="http://schemas.microsoft.com/office/drawing/2014/main" id="{62633015-C454-54BB-8021-0F1498A38C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Rectangle 6">
            <a:extLst>
              <a:ext uri="{FF2B5EF4-FFF2-40B4-BE49-F238E27FC236}">
                <a16:creationId xmlns:a16="http://schemas.microsoft.com/office/drawing/2014/main" id="{02D5E488-CE12-31AA-47E7-27CABCEB9543}"/>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21509" name="Text Box 21">
            <a:extLst>
              <a:ext uri="{FF2B5EF4-FFF2-40B4-BE49-F238E27FC236}">
                <a16:creationId xmlns:a16="http://schemas.microsoft.com/office/drawing/2014/main" id="{D91C1069-8198-8786-4C9F-60B71622049A}"/>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21510" name="Text Box 22">
            <a:extLst>
              <a:ext uri="{FF2B5EF4-FFF2-40B4-BE49-F238E27FC236}">
                <a16:creationId xmlns:a16="http://schemas.microsoft.com/office/drawing/2014/main" id="{A7958CDD-5445-A602-4156-93738A1C4BE8}"/>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21511" name="Picture 26" descr="logo-udima-horizontal-COLOR">
            <a:extLst>
              <a:ext uri="{FF2B5EF4-FFF2-40B4-BE49-F238E27FC236}">
                <a16:creationId xmlns:a16="http://schemas.microsoft.com/office/drawing/2014/main" id="{6AAB1BCB-B9FC-FB35-4FEB-D12C9386CD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2" name="Rectángulo 1">
            <a:extLst>
              <a:ext uri="{FF2B5EF4-FFF2-40B4-BE49-F238E27FC236}">
                <a16:creationId xmlns:a16="http://schemas.microsoft.com/office/drawing/2014/main" id="{8D1EA88C-CC9A-50CC-5C22-4B38EF6E8665}"/>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21513" name="CuadroTexto 3">
            <a:extLst>
              <a:ext uri="{FF2B5EF4-FFF2-40B4-BE49-F238E27FC236}">
                <a16:creationId xmlns:a16="http://schemas.microsoft.com/office/drawing/2014/main" id="{A6FD67DC-4B51-8905-D12D-64D7365B0341}"/>
              </a:ext>
            </a:extLst>
          </p:cNvPr>
          <p:cNvSpPr txBox="1">
            <a:spLocks noChangeArrowheads="1"/>
          </p:cNvSpPr>
          <p:nvPr/>
        </p:nvSpPr>
        <p:spPr bwMode="auto">
          <a:xfrm>
            <a:off x="2011363"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Gobierno abierto</a:t>
            </a:r>
          </a:p>
        </p:txBody>
      </p:sp>
      <p:sp>
        <p:nvSpPr>
          <p:cNvPr id="21514" name="Rectángulo 1">
            <a:extLst>
              <a:ext uri="{FF2B5EF4-FFF2-40B4-BE49-F238E27FC236}">
                <a16:creationId xmlns:a16="http://schemas.microsoft.com/office/drawing/2014/main" id="{C107E48E-40EF-B935-7B5B-9D389B216AB9}"/>
              </a:ext>
            </a:extLst>
          </p:cNvPr>
          <p:cNvSpPr>
            <a:spLocks noChangeArrowheads="1"/>
          </p:cNvSpPr>
          <p:nvPr/>
        </p:nvSpPr>
        <p:spPr bwMode="auto">
          <a:xfrm>
            <a:off x="331788" y="896938"/>
            <a:ext cx="8208962" cy="532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397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ts val="750"/>
              </a:spcBef>
              <a:buFontTx/>
              <a:buNone/>
            </a:pPr>
            <a:r>
              <a:rPr lang="en-US" altLang="es-ES" sz="1500" b="1" i="1">
                <a:solidFill>
                  <a:srgbClr val="C00000"/>
                </a:solidFill>
                <a:ea typeface="Arial" panose="020B0604020202020204" pitchFamily="34" charset="0"/>
                <a:cs typeface="Times New Roman" panose="02020603050405020304" pitchFamily="18" charset="0"/>
              </a:rPr>
              <a:t>Concepto de gobierno abierto</a:t>
            </a:r>
            <a:r>
              <a:rPr lang="en-US" altLang="es-ES" sz="1500" b="1" i="1">
                <a:ea typeface="Arial" panose="020B0604020202020204" pitchFamily="34" charset="0"/>
                <a:cs typeface="Times New Roman" panose="02020603050405020304" pitchFamily="18" charset="0"/>
              </a:rPr>
              <a:t>.</a:t>
            </a:r>
            <a:endParaRPr lang="es-ES" altLang="es-ES" sz="1500" b="1" i="1">
              <a:ea typeface="Arial" panose="020B0604020202020204" pitchFamily="34" charset="0"/>
              <a:cs typeface="Times New Roman" panose="02020603050405020304" pitchFamily="18" charset="0"/>
            </a:endParaRPr>
          </a:p>
          <a:p>
            <a:pPr>
              <a:spcBef>
                <a:spcPts val="50"/>
              </a:spcBef>
              <a:buFontTx/>
              <a:buNone/>
            </a:pPr>
            <a:r>
              <a:rPr lang="en-US" altLang="es-ES" sz="1500" b="1" i="1">
                <a:ea typeface="Arial" panose="020B0604020202020204" pitchFamily="34" charset="0"/>
                <a:cs typeface="Times New Roman" panose="02020603050405020304" pitchFamily="18" charset="0"/>
              </a:rPr>
              <a:t> </a:t>
            </a:r>
            <a:endParaRPr lang="es-ES" altLang="es-ES" sz="1500">
              <a:ea typeface="Calibri" panose="020F0502020204030204" pitchFamily="34" charset="0"/>
              <a:cs typeface="Times New Roman" panose="02020603050405020304" pitchFamily="18" charset="0"/>
            </a:endParaRPr>
          </a:p>
          <a:p>
            <a:pPr algn="just">
              <a:lnSpc>
                <a:spcPct val="115000"/>
              </a:lnSpc>
              <a:spcBef>
                <a:spcPct val="0"/>
              </a:spcBef>
              <a:buFontTx/>
              <a:buNone/>
            </a:pPr>
            <a:r>
              <a:rPr lang="es-ES" altLang="es-ES" sz="1500">
                <a:solidFill>
                  <a:srgbClr val="008000"/>
                </a:solidFill>
              </a:rPr>
              <a:t>El Gobierno Abierto es una cultura de gobernanza que promueve los principios de transparencia, integridad, rendición de cuentas y participación de las partes interesadas en apoyo de la democracia y el crecimiento inclusivo (definición recogida en la Recomendación del Consejo de la OCDE sobre Gobierno Abierto de 14/12/2017).</a:t>
            </a:r>
            <a:endParaRPr lang="es-ES" altLang="es-ES" sz="1500">
              <a:solidFill>
                <a:srgbClr val="008000"/>
              </a:solidFill>
              <a:cs typeface="Calibri" panose="020F0502020204030204" pitchFamily="34" charset="0"/>
            </a:endParaRPr>
          </a:p>
          <a:p>
            <a:pPr algn="just">
              <a:lnSpc>
                <a:spcPct val="115000"/>
              </a:lnSpc>
              <a:spcBef>
                <a:spcPct val="0"/>
              </a:spcBef>
              <a:buFontTx/>
              <a:buNone/>
            </a:pPr>
            <a:endParaRPr lang="en-US" altLang="es-ES" sz="1500">
              <a:solidFill>
                <a:srgbClr val="008000"/>
              </a:solidFill>
              <a:cs typeface="Arial" panose="020B0604020202020204" pitchFamily="34" charset="0"/>
            </a:endParaRPr>
          </a:p>
          <a:p>
            <a:pPr algn="just">
              <a:lnSpc>
                <a:spcPct val="115000"/>
              </a:lnSpc>
              <a:spcBef>
                <a:spcPct val="0"/>
              </a:spcBef>
              <a:buFontTx/>
              <a:buNone/>
            </a:pPr>
            <a:r>
              <a:rPr lang="en-US" altLang="es-ES" sz="1500">
                <a:solidFill>
                  <a:srgbClr val="008000"/>
                </a:solidFill>
                <a:cs typeface="Arial" panose="020B0604020202020204" pitchFamily="34" charset="0"/>
              </a:rPr>
              <a:t>El origen del movimiento del Gobierno Abierto, tal y como se entiende en la actualidad (esto es, como </a:t>
            </a:r>
            <a:r>
              <a:rPr lang="en-US" altLang="es-ES" sz="1500" b="1" i="1">
                <a:solidFill>
                  <a:srgbClr val="008000"/>
                </a:solidFill>
                <a:cs typeface="Arial" panose="020B0604020202020204" pitchFamily="34" charset="0"/>
              </a:rPr>
              <a:t>las TIC al servicio de la Gobernanza</a:t>
            </a:r>
            <a:r>
              <a:rPr lang="en-US" altLang="es-ES" sz="1500">
                <a:solidFill>
                  <a:srgbClr val="008000"/>
                </a:solidFill>
                <a:cs typeface="Arial" panose="020B0604020202020204" pitchFamily="34" charset="0"/>
              </a:rPr>
              <a:t>), se sitúa en Estados Unidos cuándo en enero de 2009, el Presidente Barack Obama aprobó un Memorando Ejecutivo en el que se comprometió a </a:t>
            </a:r>
            <a:r>
              <a:rPr lang="en-US" altLang="es-ES" sz="1500" i="1">
                <a:solidFill>
                  <a:srgbClr val="008000"/>
                </a:solidFill>
                <a:cs typeface="Arial" panose="020B0604020202020204" pitchFamily="34" charset="0"/>
              </a:rPr>
              <a:t>«crear un nivel de apertura en el gobierno sin precedentes y un sistema de transparencia, participación pública y colaboración que reforzara la confianza pública y promoviera la eficacia y la eficiencia gubernamental».</a:t>
            </a:r>
            <a:r>
              <a:rPr lang="en-US" altLang="es-ES" sz="1500">
                <a:solidFill>
                  <a:srgbClr val="008000"/>
                </a:solidFill>
                <a:cs typeface="Arial" panose="020B0604020202020204" pitchFamily="34" charset="0"/>
              </a:rPr>
              <a:t> Desde entonces, este nuevo paradigma se ha desarrollado en diferentes países del mundo, incluido España.</a:t>
            </a:r>
            <a:endParaRPr lang="es-ES" altLang="es-ES" sz="1500">
              <a:solidFill>
                <a:srgbClr val="008000"/>
              </a:solidFill>
              <a:cs typeface="Arial" panose="020B0604020202020204" pitchFamily="34" charset="0"/>
            </a:endParaRPr>
          </a:p>
          <a:p>
            <a:pPr>
              <a:spcBef>
                <a:spcPct val="0"/>
              </a:spcBef>
              <a:buFontTx/>
              <a:buNone/>
            </a:pPr>
            <a:r>
              <a:rPr lang="en-US" altLang="es-ES" sz="1500">
                <a:solidFill>
                  <a:srgbClr val="008000"/>
                </a:solidFill>
                <a:cs typeface="Arial" panose="020B0604020202020204" pitchFamily="34" charset="0"/>
              </a:rPr>
              <a:t> </a:t>
            </a:r>
            <a:endParaRPr lang="es-ES" altLang="es-ES" sz="1500">
              <a:solidFill>
                <a:srgbClr val="008000"/>
              </a:solidFill>
              <a:cs typeface="Calibri" panose="020F0502020204030204" pitchFamily="34" charset="0"/>
            </a:endParaRPr>
          </a:p>
          <a:p>
            <a:pPr algn="just">
              <a:lnSpc>
                <a:spcPct val="112000"/>
              </a:lnSpc>
              <a:spcBef>
                <a:spcPts val="575"/>
              </a:spcBef>
              <a:buFontTx/>
              <a:buNone/>
            </a:pPr>
            <a:r>
              <a:rPr lang="en-US" altLang="es-ES" sz="1500">
                <a:solidFill>
                  <a:srgbClr val="008000"/>
                </a:solidFill>
                <a:cs typeface="Arial" panose="020B0604020202020204" pitchFamily="34" charset="0"/>
              </a:rPr>
              <a:t>El Gobierno Abierto supone una nueva forma de entender la gobernanza  desde las nuevas tecnologías de la información y la comunicación que han puesto a disposición de la sociedad herramientas que favorecen la generación de conocimiento, interacción, organización, participación y colaboración entre los individuos y las organizaciones.</a:t>
            </a:r>
            <a:endParaRPr lang="es-ES" altLang="es-ES" sz="1500">
              <a:solidFill>
                <a:srgbClr val="008000"/>
              </a:solidFill>
              <a:cs typeface="Arial" panose="020B0604020202020204" pitchFamily="34" charset="0"/>
            </a:endParaRPr>
          </a:p>
          <a:p>
            <a:pPr>
              <a:spcBef>
                <a:spcPts val="38"/>
              </a:spcBef>
              <a:buFontTx/>
              <a:buNone/>
            </a:pPr>
            <a:r>
              <a:rPr lang="en-US" altLang="es-ES" sz="1500">
                <a:solidFill>
                  <a:srgbClr val="008000"/>
                </a:solidFill>
                <a:cs typeface="Arial" panose="020B0604020202020204" pitchFamily="34" charset="0"/>
              </a:rPr>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6E046BCD-1548-0FB8-6BDF-6D2FAF5F7F06}"/>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23555" name="Picture 5" descr="cefcorp_logo">
            <a:extLst>
              <a:ext uri="{FF2B5EF4-FFF2-40B4-BE49-F238E27FC236}">
                <a16:creationId xmlns:a16="http://schemas.microsoft.com/office/drawing/2014/main" id="{974EE7FE-8D07-A660-1CF1-8ECC639E0B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6" name="Rectangle 6">
            <a:extLst>
              <a:ext uri="{FF2B5EF4-FFF2-40B4-BE49-F238E27FC236}">
                <a16:creationId xmlns:a16="http://schemas.microsoft.com/office/drawing/2014/main" id="{05F4341F-6864-49F9-D1FA-B93904229FAF}"/>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23557" name="Text Box 21">
            <a:extLst>
              <a:ext uri="{FF2B5EF4-FFF2-40B4-BE49-F238E27FC236}">
                <a16:creationId xmlns:a16="http://schemas.microsoft.com/office/drawing/2014/main" id="{A8726265-0483-549C-0A05-834A505A9E5D}"/>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23558" name="Text Box 22">
            <a:extLst>
              <a:ext uri="{FF2B5EF4-FFF2-40B4-BE49-F238E27FC236}">
                <a16:creationId xmlns:a16="http://schemas.microsoft.com/office/drawing/2014/main" id="{5F2914A6-9B4F-FC43-352E-94E1C8FBF8BD}"/>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23559" name="Picture 26" descr="logo-udima-horizontal-COLOR">
            <a:extLst>
              <a:ext uri="{FF2B5EF4-FFF2-40B4-BE49-F238E27FC236}">
                <a16:creationId xmlns:a16="http://schemas.microsoft.com/office/drawing/2014/main" id="{71E81A29-0697-04E3-EAF9-2E12A87112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0" name="Rectángulo 1">
            <a:extLst>
              <a:ext uri="{FF2B5EF4-FFF2-40B4-BE49-F238E27FC236}">
                <a16:creationId xmlns:a16="http://schemas.microsoft.com/office/drawing/2014/main" id="{04B4DD9E-4A76-2CD3-F674-D330F175096D}"/>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23561" name="CuadroTexto 3">
            <a:extLst>
              <a:ext uri="{FF2B5EF4-FFF2-40B4-BE49-F238E27FC236}">
                <a16:creationId xmlns:a16="http://schemas.microsoft.com/office/drawing/2014/main" id="{65E8F1BA-3E54-BC4C-DDC2-3990289BDEC6}"/>
              </a:ext>
            </a:extLst>
          </p:cNvPr>
          <p:cNvSpPr txBox="1">
            <a:spLocks noChangeArrowheads="1"/>
          </p:cNvSpPr>
          <p:nvPr/>
        </p:nvSpPr>
        <p:spPr bwMode="auto">
          <a:xfrm>
            <a:off x="2011363"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Gobierno abierto</a:t>
            </a:r>
          </a:p>
        </p:txBody>
      </p:sp>
      <p:sp>
        <p:nvSpPr>
          <p:cNvPr id="23562" name="Rectángulo 1">
            <a:extLst>
              <a:ext uri="{FF2B5EF4-FFF2-40B4-BE49-F238E27FC236}">
                <a16:creationId xmlns:a16="http://schemas.microsoft.com/office/drawing/2014/main" id="{97A49EC3-B712-6D44-E7B9-7B182ABC5DB5}"/>
              </a:ext>
            </a:extLst>
          </p:cNvPr>
          <p:cNvSpPr>
            <a:spLocks noChangeArrowheads="1"/>
          </p:cNvSpPr>
          <p:nvPr/>
        </p:nvSpPr>
        <p:spPr bwMode="auto">
          <a:xfrm>
            <a:off x="287338" y="903288"/>
            <a:ext cx="8496300" cy="541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397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r>
              <a:rPr lang="en-US" altLang="es-ES" sz="1600" b="1">
                <a:solidFill>
                  <a:srgbClr val="C00000"/>
                </a:solidFill>
                <a:ea typeface="Calibri" panose="020F0502020204030204" pitchFamily="34" charset="0"/>
                <a:cs typeface="Times New Roman" panose="02020603050405020304" pitchFamily="18" charset="0"/>
              </a:rPr>
              <a:t>Conviene no confundir el Gobierno Abierto con otras nociones afines    como    Administración    Electrónica,    Política    2.0 y «open data».</a:t>
            </a:r>
            <a:endParaRPr lang="es-ES" altLang="es-ES" sz="1600">
              <a:solidFill>
                <a:srgbClr val="C00000"/>
              </a:solidFill>
              <a:ea typeface="Calibri" panose="020F0502020204030204" pitchFamily="34" charset="0"/>
              <a:cs typeface="Times New Roman" panose="02020603050405020304" pitchFamily="18" charset="0"/>
            </a:endParaRPr>
          </a:p>
          <a:p>
            <a:pPr>
              <a:spcBef>
                <a:spcPts val="13"/>
              </a:spcBef>
              <a:buFontTx/>
              <a:buNone/>
            </a:pPr>
            <a:r>
              <a:rPr lang="en-US" altLang="es-ES" sz="1600" b="1">
                <a:ea typeface="Arial" panose="020B0604020202020204" pitchFamily="34" charset="0"/>
                <a:cs typeface="Times New Roman" panose="02020603050405020304" pitchFamily="18" charset="0"/>
              </a:rPr>
              <a:t> </a:t>
            </a:r>
            <a:endParaRPr lang="es-ES" altLang="es-ES" sz="1400">
              <a:latin typeface="Calibri" panose="020F0502020204030204" pitchFamily="34" charset="0"/>
              <a:ea typeface="Calibri" panose="020F0502020204030204" pitchFamily="34" charset="0"/>
              <a:cs typeface="Times New Roman" panose="02020603050405020304" pitchFamily="18" charset="0"/>
            </a:endParaRPr>
          </a:p>
          <a:p>
            <a:pPr algn="just">
              <a:lnSpc>
                <a:spcPct val="110000"/>
              </a:lnSpc>
              <a:spcBef>
                <a:spcPts val="325"/>
              </a:spcBef>
              <a:buFontTx/>
              <a:buNone/>
            </a:pPr>
            <a:r>
              <a:rPr lang="en-US" altLang="es-ES" sz="1800" b="1">
                <a:solidFill>
                  <a:srgbClr val="008000"/>
                </a:solidFill>
                <a:ea typeface="Arial" panose="020B0604020202020204" pitchFamily="34" charset="0"/>
                <a:cs typeface="Times New Roman" panose="02020603050405020304" pitchFamily="18" charset="0"/>
              </a:rPr>
              <a:t>El Gobierno abierto no es sinónimo de Administración Electrónica</a:t>
            </a:r>
            <a:r>
              <a:rPr lang="en-US" altLang="es-ES" sz="1100">
                <a:solidFill>
                  <a:srgbClr val="008000"/>
                </a:solidFill>
                <a:ea typeface="Arial" panose="020B0604020202020204" pitchFamily="34" charset="0"/>
                <a:cs typeface="Times New Roman" panose="02020603050405020304" pitchFamily="18" charset="0"/>
              </a:rPr>
              <a:t>. Este último concepto implica, al igual que el Gobierno Abierto, la utilización de las TIC para lograr una mayor eficiencia en la actuación de la Administración Pública pero no tiene por qué estar asociado a los valores de mayor transparencia y participación de la ciudadanía. Un régimen autoritario podría implantar una Administración Electrónica pero nunca sería considerado como un Gobierno Abierto.</a:t>
            </a:r>
            <a:endParaRPr lang="es-ES" altLang="es-ES" sz="1100">
              <a:solidFill>
                <a:srgbClr val="008000"/>
              </a:solidFill>
              <a:ea typeface="Arial" panose="020B0604020202020204" pitchFamily="34" charset="0"/>
              <a:cs typeface="Times New Roman" panose="02020603050405020304" pitchFamily="18" charset="0"/>
            </a:endParaRPr>
          </a:p>
          <a:p>
            <a:pPr>
              <a:spcBef>
                <a:spcPts val="13"/>
              </a:spcBef>
              <a:buFontTx/>
              <a:buNone/>
            </a:pPr>
            <a:r>
              <a:rPr lang="en-US" altLang="es-ES" sz="1800">
                <a:solidFill>
                  <a:srgbClr val="008000"/>
                </a:solidFill>
                <a:ea typeface="Arial" panose="020B0604020202020204" pitchFamily="34" charset="0"/>
                <a:cs typeface="Times New Roman" panose="02020603050405020304" pitchFamily="18" charset="0"/>
              </a:rPr>
              <a:t> </a:t>
            </a:r>
            <a:endParaRPr lang="es-ES" altLang="es-ES" sz="1400">
              <a:solidFill>
                <a:srgbClr val="008000"/>
              </a:solidFill>
              <a:latin typeface="Calibri" panose="020F0502020204030204" pitchFamily="34" charset="0"/>
              <a:ea typeface="Calibri" panose="020F0502020204030204" pitchFamily="34" charset="0"/>
              <a:cs typeface="Times New Roman" panose="02020603050405020304" pitchFamily="18" charset="0"/>
            </a:endParaRPr>
          </a:p>
          <a:p>
            <a:pPr algn="just">
              <a:lnSpc>
                <a:spcPct val="105000"/>
              </a:lnSpc>
              <a:spcBef>
                <a:spcPct val="0"/>
              </a:spcBef>
              <a:buFontTx/>
              <a:buNone/>
            </a:pPr>
            <a:r>
              <a:rPr lang="en-US" altLang="es-ES" sz="1800" b="1">
                <a:solidFill>
                  <a:srgbClr val="008000"/>
                </a:solidFill>
                <a:ea typeface="Calibri" panose="020F0502020204030204" pitchFamily="34" charset="0"/>
                <a:cs typeface="Times New Roman" panose="02020603050405020304" pitchFamily="18" charset="0"/>
              </a:rPr>
              <a:t>La política 2.0, al igual que el Gobierno Abierto, se basa en la utilización de la Web 2.0 pero no está ceñida al ámbito del gobierno y la Administración Pública</a:t>
            </a:r>
            <a:r>
              <a:rPr lang="en-US" altLang="es-ES" sz="1100">
                <a:solidFill>
                  <a:srgbClr val="008000"/>
                </a:solidFill>
                <a:ea typeface="Calibri" panose="020F0502020204030204" pitchFamily="34" charset="0"/>
                <a:cs typeface="Times New Roman" panose="02020603050405020304" pitchFamily="18" charset="0"/>
              </a:rPr>
              <a:t>. La utilización de un blog o twitter por parte de candidatos a las elecciones refleja, por ejemplo, un fenómeno de política 2.0 pero no de Gobierno Abierto.</a:t>
            </a:r>
            <a:endParaRPr lang="es-ES" altLang="es-ES" sz="1400">
              <a:solidFill>
                <a:srgbClr val="008000"/>
              </a:solidFill>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s-ES" sz="1800">
                <a:solidFill>
                  <a:srgbClr val="008000"/>
                </a:solidFill>
                <a:ea typeface="Arial" panose="020B0604020202020204" pitchFamily="34" charset="0"/>
                <a:cs typeface="Times New Roman" panose="02020603050405020304" pitchFamily="18" charset="0"/>
              </a:rPr>
              <a:t> </a:t>
            </a:r>
            <a:endParaRPr lang="es-ES" altLang="es-ES" sz="1400">
              <a:solidFill>
                <a:srgbClr val="008000"/>
              </a:solidFill>
              <a:latin typeface="Calibri" panose="020F0502020204030204" pitchFamily="34" charset="0"/>
              <a:ea typeface="Calibri" panose="020F0502020204030204" pitchFamily="34" charset="0"/>
              <a:cs typeface="Times New Roman" panose="02020603050405020304" pitchFamily="18" charset="0"/>
            </a:endParaRPr>
          </a:p>
          <a:p>
            <a:pPr algn="just">
              <a:lnSpc>
                <a:spcPct val="105000"/>
              </a:lnSpc>
              <a:spcBef>
                <a:spcPct val="0"/>
              </a:spcBef>
              <a:buFontTx/>
              <a:buNone/>
            </a:pPr>
            <a:r>
              <a:rPr lang="en-US" altLang="es-ES" sz="1800" b="1">
                <a:solidFill>
                  <a:srgbClr val="008000"/>
                </a:solidFill>
                <a:ea typeface="Calibri" panose="020F0502020204030204" pitchFamily="34" charset="0"/>
                <a:cs typeface="Times New Roman" panose="02020603050405020304" pitchFamily="18" charset="0"/>
              </a:rPr>
              <a:t>Por último el movimiento del «open data» persigue la apertura de los datos de la Administración para que sean accesibles y reutilizables. </a:t>
            </a:r>
            <a:r>
              <a:rPr lang="en-US" altLang="es-ES" sz="1100">
                <a:solidFill>
                  <a:srgbClr val="008000"/>
                </a:solidFill>
                <a:ea typeface="Calibri" panose="020F0502020204030204" pitchFamily="34" charset="0"/>
                <a:cs typeface="Times New Roman" panose="02020603050405020304" pitchFamily="18" charset="0"/>
              </a:rPr>
              <a:t>El Gobierno Abierto se basa asimismo en los datos abiertos, pero incluye otros valores como la participación y la colaboración, y constituye un nuevo modelo para la Administración Pública.</a:t>
            </a:r>
            <a:endParaRPr lang="es-ES" altLang="es-ES" sz="1400">
              <a:solidFill>
                <a:srgbClr val="008000"/>
              </a:solidFill>
              <a:latin typeface="Calibri" panose="020F0502020204030204" pitchFamily="34" charset="0"/>
              <a:ea typeface="Calibri" panose="020F0502020204030204" pitchFamily="34" charset="0"/>
              <a:cs typeface="Times New Roman" panose="02020603050405020304" pitchFamily="18" charset="0"/>
            </a:endParaRPr>
          </a:p>
          <a:p>
            <a:pPr algn="just">
              <a:lnSpc>
                <a:spcPct val="105000"/>
              </a:lnSpc>
              <a:spcBef>
                <a:spcPct val="0"/>
              </a:spcBef>
              <a:buFontTx/>
              <a:buNone/>
            </a:pPr>
            <a:r>
              <a:rPr lang="en-US" altLang="es-ES" sz="1100">
                <a:solidFill>
                  <a:srgbClr val="008000"/>
                </a:solidFill>
                <a:ea typeface="Arial" panose="020B0604020202020204" pitchFamily="34" charset="0"/>
                <a:cs typeface="Times New Roman" panose="02020603050405020304" pitchFamily="18" charset="0"/>
              </a:rPr>
              <a:t> </a:t>
            </a:r>
            <a:endParaRPr lang="es-ES" altLang="es-ES" sz="1400">
              <a:solidFill>
                <a:srgbClr val="008000"/>
              </a:solidFill>
              <a:latin typeface="Calibri" panose="020F0502020204030204" pitchFamily="34" charset="0"/>
              <a:ea typeface="Calibri" panose="020F0502020204030204" pitchFamily="34" charset="0"/>
              <a:cs typeface="Times New Roman" panose="02020603050405020304" pitchFamily="18" charset="0"/>
            </a:endParaRPr>
          </a:p>
          <a:p>
            <a:pPr algn="just">
              <a:lnSpc>
                <a:spcPct val="105000"/>
              </a:lnSpc>
              <a:spcBef>
                <a:spcPct val="0"/>
              </a:spcBef>
              <a:buFontTx/>
              <a:buNone/>
            </a:pPr>
            <a:r>
              <a:rPr lang="en-US" altLang="es-ES" sz="1100">
                <a:solidFill>
                  <a:srgbClr val="008000"/>
                </a:solidFill>
                <a:ea typeface="Calibri" panose="020F0502020204030204" pitchFamily="34" charset="0"/>
                <a:cs typeface="Times New Roman" panose="02020603050405020304" pitchFamily="18" charset="0"/>
              </a:rPr>
              <a:t>El concepto </a:t>
            </a:r>
            <a:r>
              <a:rPr lang="en-US" altLang="es-ES" sz="1100" b="1">
                <a:solidFill>
                  <a:srgbClr val="008000"/>
                </a:solidFill>
                <a:ea typeface="Calibri" panose="020F0502020204030204" pitchFamily="34" charset="0"/>
                <a:cs typeface="Times New Roman" panose="02020603050405020304" pitchFamily="18" charset="0"/>
              </a:rPr>
              <a:t>datos abiertos</a:t>
            </a:r>
            <a:r>
              <a:rPr lang="en-US" altLang="es-ES" sz="1100">
                <a:solidFill>
                  <a:srgbClr val="008000"/>
                </a:solidFill>
                <a:ea typeface="Calibri" panose="020F0502020204030204" pitchFamily="34" charset="0"/>
                <a:cs typeface="Times New Roman" panose="02020603050405020304" pitchFamily="18" charset="0"/>
              </a:rPr>
              <a:t> es una </a:t>
            </a:r>
            <a:r>
              <a:rPr lang="en-US" altLang="es-ES" sz="1100" u="sng">
                <a:solidFill>
                  <a:srgbClr val="008000"/>
                </a:solidFill>
                <a:ea typeface="Calibri" panose="020F0502020204030204" pitchFamily="34" charset="0"/>
                <a:cs typeface="Times New Roman" panose="02020603050405020304" pitchFamily="18" charset="0"/>
                <a:hlinkClick r:id="rId5" tooltip="Filosofía"/>
              </a:rPr>
              <a:t>filosofía</a:t>
            </a:r>
            <a:r>
              <a:rPr lang="en-US" altLang="es-ES" sz="1100">
                <a:solidFill>
                  <a:srgbClr val="008000"/>
                </a:solidFill>
                <a:ea typeface="Calibri" panose="020F0502020204030204" pitchFamily="34" charset="0"/>
                <a:cs typeface="Times New Roman" panose="02020603050405020304" pitchFamily="18" charset="0"/>
              </a:rPr>
              <a:t> y práctica que persigue que determinados tipos de datos estén disponibles de forma libre para todo el mundo, sin restricciones de </a:t>
            </a:r>
            <a:r>
              <a:rPr lang="en-US" altLang="es-ES" sz="1100" u="sng">
                <a:solidFill>
                  <a:srgbClr val="008000"/>
                </a:solidFill>
                <a:ea typeface="Calibri" panose="020F0502020204030204" pitchFamily="34" charset="0"/>
                <a:cs typeface="Times New Roman" panose="02020603050405020304" pitchFamily="18" charset="0"/>
                <a:hlinkClick r:id="rId6" tooltip="Derechos de autor"/>
              </a:rPr>
              <a:t>derechos de autor</a:t>
            </a:r>
            <a:r>
              <a:rPr lang="en-US" altLang="es-ES" sz="1100">
                <a:solidFill>
                  <a:srgbClr val="008000"/>
                </a:solidFill>
                <a:ea typeface="Calibri" panose="020F0502020204030204" pitchFamily="34" charset="0"/>
                <a:cs typeface="Times New Roman" panose="02020603050405020304" pitchFamily="18" charset="0"/>
              </a:rPr>
              <a:t>, de </a:t>
            </a:r>
            <a:r>
              <a:rPr lang="en-US" altLang="es-ES" sz="1100" u="sng">
                <a:solidFill>
                  <a:srgbClr val="008000"/>
                </a:solidFill>
                <a:ea typeface="Calibri" panose="020F0502020204030204" pitchFamily="34" charset="0"/>
                <a:cs typeface="Times New Roman" panose="02020603050405020304" pitchFamily="18" charset="0"/>
                <a:hlinkClick r:id="rId7" tooltip="Patente"/>
              </a:rPr>
              <a:t>patentes</a:t>
            </a:r>
            <a:r>
              <a:rPr lang="en-US" altLang="es-ES" sz="1100">
                <a:solidFill>
                  <a:srgbClr val="008000"/>
                </a:solidFill>
                <a:ea typeface="Calibri" panose="020F0502020204030204" pitchFamily="34" charset="0"/>
                <a:cs typeface="Times New Roman" panose="02020603050405020304" pitchFamily="18" charset="0"/>
              </a:rPr>
              <a:t> o de otros mecanismos de control.</a:t>
            </a:r>
            <a:r>
              <a:rPr lang="en-US" altLang="es-ES" sz="1100" u="sng" baseline="30000">
                <a:solidFill>
                  <a:srgbClr val="008000"/>
                </a:solidFill>
                <a:ea typeface="Calibri" panose="020F0502020204030204" pitchFamily="34" charset="0"/>
                <a:cs typeface="Times New Roman" panose="02020603050405020304" pitchFamily="18" charset="0"/>
                <a:hlinkClick r:id="rId8"/>
              </a:rPr>
              <a:t>1</a:t>
            </a:r>
            <a:r>
              <a:rPr lang="en-US" altLang="es-ES" sz="1100">
                <a:solidFill>
                  <a:srgbClr val="008000"/>
                </a:solidFill>
                <a:ea typeface="Calibri" panose="020F0502020204030204" pitchFamily="34" charset="0"/>
                <a:cs typeface="Times New Roman" panose="02020603050405020304" pitchFamily="18" charset="0"/>
              </a:rPr>
              <a:t>​ Tiene una ética similar a otros movimientos y comunidades abiertos, como el </a:t>
            </a:r>
            <a:r>
              <a:rPr lang="en-US" altLang="es-ES" sz="1100" u="sng">
                <a:solidFill>
                  <a:srgbClr val="008000"/>
                </a:solidFill>
                <a:ea typeface="Calibri" panose="020F0502020204030204" pitchFamily="34" charset="0"/>
                <a:cs typeface="Times New Roman" panose="02020603050405020304" pitchFamily="18" charset="0"/>
                <a:hlinkClick r:id="rId9" tooltip="Software libre"/>
              </a:rPr>
              <a:t>software libre</a:t>
            </a:r>
            <a:r>
              <a:rPr lang="en-US" altLang="es-ES" sz="1100">
                <a:solidFill>
                  <a:srgbClr val="008000"/>
                </a:solidFill>
                <a:ea typeface="Calibri" panose="020F0502020204030204" pitchFamily="34" charset="0"/>
                <a:cs typeface="Times New Roman" panose="02020603050405020304" pitchFamily="18" charset="0"/>
              </a:rPr>
              <a:t>, el </a:t>
            </a:r>
            <a:r>
              <a:rPr lang="en-US" altLang="es-ES" sz="1100" u="sng">
                <a:solidFill>
                  <a:srgbClr val="008000"/>
                </a:solidFill>
                <a:ea typeface="Calibri" panose="020F0502020204030204" pitchFamily="34" charset="0"/>
                <a:cs typeface="Times New Roman" panose="02020603050405020304" pitchFamily="18" charset="0"/>
                <a:hlinkClick r:id="rId10" tooltip="Código abierto"/>
              </a:rPr>
              <a:t>código abierto</a:t>
            </a:r>
            <a:r>
              <a:rPr lang="en-US" altLang="es-ES" sz="1100">
                <a:solidFill>
                  <a:srgbClr val="008000"/>
                </a:solidFill>
                <a:ea typeface="Calibri" panose="020F0502020204030204" pitchFamily="34" charset="0"/>
                <a:cs typeface="Times New Roman" panose="02020603050405020304" pitchFamily="18" charset="0"/>
              </a:rPr>
              <a:t> (</a:t>
            </a:r>
            <a:r>
              <a:rPr lang="en-US" altLang="es-ES" sz="1100" i="1" u="sng">
                <a:solidFill>
                  <a:srgbClr val="008000"/>
                </a:solidFill>
                <a:ea typeface="Calibri" panose="020F0502020204030204" pitchFamily="34" charset="0"/>
                <a:cs typeface="Times New Roman" panose="02020603050405020304" pitchFamily="18" charset="0"/>
                <a:hlinkClick r:id="rId11" tooltip="Open source"/>
              </a:rPr>
              <a:t>open source</a:t>
            </a:r>
            <a:r>
              <a:rPr lang="en-US" altLang="es-ES" sz="1100">
                <a:solidFill>
                  <a:srgbClr val="008000"/>
                </a:solidFill>
                <a:ea typeface="Calibri" panose="020F0502020204030204" pitchFamily="34" charset="0"/>
                <a:cs typeface="Times New Roman" panose="02020603050405020304" pitchFamily="18" charset="0"/>
              </a:rPr>
              <a:t>, en inglés) y el </a:t>
            </a:r>
            <a:r>
              <a:rPr lang="en-US" altLang="es-ES" sz="1100" u="sng">
                <a:solidFill>
                  <a:srgbClr val="008000"/>
                </a:solidFill>
                <a:ea typeface="Calibri" panose="020F0502020204030204" pitchFamily="34" charset="0"/>
                <a:cs typeface="Times New Roman" panose="02020603050405020304" pitchFamily="18" charset="0"/>
                <a:hlinkClick r:id="rId12" tooltip="Acceso libre"/>
              </a:rPr>
              <a:t>acceso libre</a:t>
            </a:r>
            <a:r>
              <a:rPr lang="en-US" altLang="es-ES" sz="1100">
                <a:solidFill>
                  <a:srgbClr val="008000"/>
                </a:solidFill>
                <a:ea typeface="Calibri" panose="020F0502020204030204" pitchFamily="34" charset="0"/>
                <a:cs typeface="Times New Roman" panose="02020603050405020304" pitchFamily="18" charset="0"/>
              </a:rPr>
              <a:t> (</a:t>
            </a:r>
            <a:r>
              <a:rPr lang="en-US" altLang="es-ES" sz="1100" i="1" u="sng">
                <a:solidFill>
                  <a:srgbClr val="008000"/>
                </a:solidFill>
                <a:ea typeface="Calibri" panose="020F0502020204030204" pitchFamily="34" charset="0"/>
                <a:cs typeface="Times New Roman" panose="02020603050405020304" pitchFamily="18" charset="0"/>
                <a:hlinkClick r:id="rId13" tooltip="Acceso abierto"/>
              </a:rPr>
              <a:t>open access</a:t>
            </a:r>
            <a:r>
              <a:rPr lang="en-US" altLang="es-ES" sz="1100">
                <a:solidFill>
                  <a:srgbClr val="008000"/>
                </a:solidFill>
                <a:ea typeface="Calibri" panose="020F0502020204030204" pitchFamily="34" charset="0"/>
                <a:cs typeface="Times New Roman" panose="02020603050405020304" pitchFamily="18" charset="0"/>
              </a:rPr>
              <a:t>, en inglés).</a:t>
            </a:r>
            <a:endParaRPr lang="es-ES" altLang="es-ES" sz="1400">
              <a:solidFill>
                <a:srgbClr val="008000"/>
              </a:solidFill>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8D20ED74-9590-4C47-9F02-BCEB75E9E611}"/>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25603" name="Picture 5" descr="cefcorp_logo">
            <a:extLst>
              <a:ext uri="{FF2B5EF4-FFF2-40B4-BE49-F238E27FC236}">
                <a16:creationId xmlns:a16="http://schemas.microsoft.com/office/drawing/2014/main" id="{AAC5C5F8-7F12-A286-5A40-55F1868D6E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4" name="Rectangle 6">
            <a:extLst>
              <a:ext uri="{FF2B5EF4-FFF2-40B4-BE49-F238E27FC236}">
                <a16:creationId xmlns:a16="http://schemas.microsoft.com/office/drawing/2014/main" id="{73554FA2-14E2-D2EA-303E-42065EFECDB9}"/>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25605" name="Text Box 21">
            <a:extLst>
              <a:ext uri="{FF2B5EF4-FFF2-40B4-BE49-F238E27FC236}">
                <a16:creationId xmlns:a16="http://schemas.microsoft.com/office/drawing/2014/main" id="{E4A19B29-E665-6E22-45F3-AF397EE99DE9}"/>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25606" name="Text Box 22">
            <a:extLst>
              <a:ext uri="{FF2B5EF4-FFF2-40B4-BE49-F238E27FC236}">
                <a16:creationId xmlns:a16="http://schemas.microsoft.com/office/drawing/2014/main" id="{F9AA2C8D-12E0-7F8C-417D-A8FF58EDEC70}"/>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25607" name="Picture 26" descr="logo-udima-horizontal-COLOR">
            <a:extLst>
              <a:ext uri="{FF2B5EF4-FFF2-40B4-BE49-F238E27FC236}">
                <a16:creationId xmlns:a16="http://schemas.microsoft.com/office/drawing/2014/main" id="{CEA0871A-5812-2E7B-0515-F92CF1038C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8" name="Rectángulo 1">
            <a:extLst>
              <a:ext uri="{FF2B5EF4-FFF2-40B4-BE49-F238E27FC236}">
                <a16:creationId xmlns:a16="http://schemas.microsoft.com/office/drawing/2014/main" id="{DE562439-0ED4-C311-C51A-553AFA99238A}"/>
              </a:ext>
            </a:extLst>
          </p:cNvPr>
          <p:cNvSpPr>
            <a:spLocks noChangeArrowheads="1"/>
          </p:cNvSpPr>
          <p:nvPr/>
        </p:nvSpPr>
        <p:spPr bwMode="auto">
          <a:xfrm>
            <a:off x="611188" y="841375"/>
            <a:ext cx="8208962" cy="458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r>
              <a:rPr lang="es-ES" altLang="es-ES" sz="1800">
                <a:solidFill>
                  <a:srgbClr val="C00000"/>
                </a:solidFill>
              </a:rPr>
              <a:t>El Gobierno Abierto pretende:</a:t>
            </a:r>
          </a:p>
          <a:p>
            <a:pPr algn="just">
              <a:spcBef>
                <a:spcPct val="0"/>
              </a:spcBef>
              <a:buFontTx/>
              <a:buNone/>
            </a:pPr>
            <a:endParaRPr lang="es-ES" altLang="es-ES" sz="1800" b="1"/>
          </a:p>
          <a:p>
            <a:pPr algn="just">
              <a:spcBef>
                <a:spcPct val="0"/>
              </a:spcBef>
              <a:buFontTx/>
              <a:buAutoNum type="arabicPeriod"/>
            </a:pPr>
            <a:r>
              <a:rPr lang="es-ES" altLang="es-ES" sz="1600">
                <a:solidFill>
                  <a:srgbClr val="008000"/>
                </a:solidFill>
              </a:rPr>
              <a:t>Profundizar en la </a:t>
            </a:r>
            <a:r>
              <a:rPr lang="es-ES" altLang="es-ES" sz="1600" u="sng">
                <a:solidFill>
                  <a:srgbClr val="008000"/>
                </a:solidFill>
              </a:rPr>
              <a:t>transparencia</a:t>
            </a:r>
            <a:r>
              <a:rPr lang="es-ES" altLang="es-ES" sz="1600">
                <a:solidFill>
                  <a:srgbClr val="008000"/>
                </a:solidFill>
              </a:rPr>
              <a:t>, en los datos abiertos, y en la rendición de cuentas de las Administraciones Públicas.</a:t>
            </a:r>
          </a:p>
          <a:p>
            <a:pPr algn="just">
              <a:spcBef>
                <a:spcPct val="0"/>
              </a:spcBef>
              <a:buFontTx/>
              <a:buAutoNum type="arabicPeriod"/>
            </a:pPr>
            <a:r>
              <a:rPr lang="es-ES" altLang="es-ES" sz="1600">
                <a:solidFill>
                  <a:srgbClr val="008000"/>
                </a:solidFill>
              </a:rPr>
              <a:t>Impulsar, fortalecer y mejorar la calidad de la </a:t>
            </a:r>
            <a:r>
              <a:rPr lang="es-ES" altLang="es-ES" sz="1600" u="sng">
                <a:solidFill>
                  <a:srgbClr val="008000"/>
                </a:solidFill>
              </a:rPr>
              <a:t>participación</a:t>
            </a:r>
            <a:r>
              <a:rPr lang="es-ES" altLang="es-ES" sz="1600">
                <a:solidFill>
                  <a:srgbClr val="008000"/>
                </a:solidFill>
              </a:rPr>
              <a:t> en la gestión pública. </a:t>
            </a:r>
          </a:p>
          <a:p>
            <a:pPr algn="just">
              <a:spcBef>
                <a:spcPct val="0"/>
              </a:spcBef>
              <a:buFontTx/>
              <a:buAutoNum type="arabicPeriod"/>
            </a:pPr>
            <a:r>
              <a:rPr lang="es-ES" altLang="es-ES" sz="1600">
                <a:solidFill>
                  <a:srgbClr val="008000"/>
                </a:solidFill>
              </a:rPr>
              <a:t>Favorecer la generación de espacios de </a:t>
            </a:r>
            <a:r>
              <a:rPr lang="es-ES" altLang="es-ES" sz="1600" u="sng">
                <a:solidFill>
                  <a:srgbClr val="008000"/>
                </a:solidFill>
              </a:rPr>
              <a:t>colaboración</a:t>
            </a:r>
            <a:r>
              <a:rPr lang="es-ES" altLang="es-ES" sz="1600">
                <a:solidFill>
                  <a:srgbClr val="008000"/>
                </a:solidFill>
              </a:rPr>
              <a:t> entre los diversos actores, particularmente entre las administraciones públicas, la sociedad civil y el sector privado, para codiseñar y/o coproducir valor público. </a:t>
            </a:r>
          </a:p>
          <a:p>
            <a:pPr algn="just">
              <a:spcBef>
                <a:spcPct val="0"/>
              </a:spcBef>
              <a:buFontTx/>
              <a:buAutoNum type="arabicPeriod"/>
            </a:pPr>
            <a:r>
              <a:rPr lang="es-ES" altLang="es-ES" sz="1600">
                <a:solidFill>
                  <a:srgbClr val="008000"/>
                </a:solidFill>
              </a:rPr>
              <a:t>Fortalecer valores éticos y mecanismos para afianzar la integridad de las instituciones públicas. </a:t>
            </a:r>
          </a:p>
          <a:p>
            <a:pPr algn="just">
              <a:spcBef>
                <a:spcPct val="0"/>
              </a:spcBef>
              <a:buFontTx/>
              <a:buAutoNum type="arabicPeriod"/>
            </a:pPr>
            <a:r>
              <a:rPr lang="es-ES" altLang="es-ES" sz="1600">
                <a:solidFill>
                  <a:srgbClr val="008000"/>
                </a:solidFill>
              </a:rPr>
              <a:t>Sensibilizar a la sociedad y a las empleadas y los empleados públicos sobre los valores del Gobierno Abierto. </a:t>
            </a:r>
          </a:p>
          <a:p>
            <a:pPr algn="just">
              <a:spcBef>
                <a:spcPct val="0"/>
              </a:spcBef>
              <a:buFontTx/>
              <a:buAutoNum type="arabicPeriod"/>
            </a:pPr>
            <a:r>
              <a:rPr lang="es-ES" altLang="es-ES" sz="1600">
                <a:solidFill>
                  <a:srgbClr val="008000"/>
                </a:solidFill>
              </a:rPr>
              <a:t>El cumplimiento de los Objetivos de Desarrollo Sostenible (ODS), en particular el objetivo dieciséis relativo a la promoción de sociedades justas, pacíficas e inclusivas que rindan cuentas. </a:t>
            </a:r>
          </a:p>
          <a:p>
            <a:pPr algn="just">
              <a:spcBef>
                <a:spcPct val="0"/>
              </a:spcBef>
              <a:buFontTx/>
              <a:buAutoNum type="arabicPeriod"/>
            </a:pPr>
            <a:r>
              <a:rPr lang="es-ES" altLang="es-ES" sz="1600">
                <a:solidFill>
                  <a:srgbClr val="008000"/>
                </a:solidFill>
              </a:rPr>
              <a:t>La promoción de acciones que favorezcan la inclusión social, la igualdad y la accesibilidad universal enfocadas a colectivos que se encuentran en situación de pobreza, en riesgo de exclusión social o vulnerabilidad.</a:t>
            </a:r>
            <a:endParaRPr lang="es-ES" altLang="es-ES" sz="1600" b="1">
              <a:solidFill>
                <a:srgbClr val="008000"/>
              </a:solidFill>
            </a:endParaRPr>
          </a:p>
        </p:txBody>
      </p:sp>
      <p:sp>
        <p:nvSpPr>
          <p:cNvPr id="25609" name="CuadroTexto 3">
            <a:extLst>
              <a:ext uri="{FF2B5EF4-FFF2-40B4-BE49-F238E27FC236}">
                <a16:creationId xmlns:a16="http://schemas.microsoft.com/office/drawing/2014/main" id="{007274B4-19BA-90B6-8AB1-01DBFF930BCE}"/>
              </a:ext>
            </a:extLst>
          </p:cNvPr>
          <p:cNvSpPr txBox="1">
            <a:spLocks noChangeArrowheads="1"/>
          </p:cNvSpPr>
          <p:nvPr/>
        </p:nvSpPr>
        <p:spPr bwMode="auto">
          <a:xfrm>
            <a:off x="2011363"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Gobierno abierto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D4B731A9-1DED-DB9E-ABB1-9018C0ABC11D}"/>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27651" name="Picture 5" descr="cefcorp_logo">
            <a:extLst>
              <a:ext uri="{FF2B5EF4-FFF2-40B4-BE49-F238E27FC236}">
                <a16:creationId xmlns:a16="http://schemas.microsoft.com/office/drawing/2014/main" id="{35AA63B6-AFB2-820B-C0A5-F7735816FB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2" name="Rectangle 6">
            <a:extLst>
              <a:ext uri="{FF2B5EF4-FFF2-40B4-BE49-F238E27FC236}">
                <a16:creationId xmlns:a16="http://schemas.microsoft.com/office/drawing/2014/main" id="{A7CEFDAB-C6A2-ACBE-E4B0-C08E78DB895A}"/>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27653" name="Text Box 21">
            <a:extLst>
              <a:ext uri="{FF2B5EF4-FFF2-40B4-BE49-F238E27FC236}">
                <a16:creationId xmlns:a16="http://schemas.microsoft.com/office/drawing/2014/main" id="{DB2C2304-169B-46A8-1BAB-DBD8844965EC}"/>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27654" name="Text Box 22">
            <a:extLst>
              <a:ext uri="{FF2B5EF4-FFF2-40B4-BE49-F238E27FC236}">
                <a16:creationId xmlns:a16="http://schemas.microsoft.com/office/drawing/2014/main" id="{BBF1110B-0390-411C-F0D5-33B0C5E6A334}"/>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27655" name="Picture 26" descr="logo-udima-horizontal-COLOR">
            <a:extLst>
              <a:ext uri="{FF2B5EF4-FFF2-40B4-BE49-F238E27FC236}">
                <a16:creationId xmlns:a16="http://schemas.microsoft.com/office/drawing/2014/main" id="{5AEDD92F-736E-C4B0-8F61-91EDF54BB3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6" name="Rectángulo 1">
            <a:extLst>
              <a:ext uri="{FF2B5EF4-FFF2-40B4-BE49-F238E27FC236}">
                <a16:creationId xmlns:a16="http://schemas.microsoft.com/office/drawing/2014/main" id="{A85E2E5D-FD6D-8CD4-56FA-A5D98A00F7C5}"/>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27657" name="CuadroTexto 3">
            <a:extLst>
              <a:ext uri="{FF2B5EF4-FFF2-40B4-BE49-F238E27FC236}">
                <a16:creationId xmlns:a16="http://schemas.microsoft.com/office/drawing/2014/main" id="{F38DD71A-C773-54B6-A450-89186FE9E9E3}"/>
              </a:ext>
            </a:extLst>
          </p:cNvPr>
          <p:cNvSpPr txBox="1">
            <a:spLocks noChangeArrowheads="1"/>
          </p:cNvSpPr>
          <p:nvPr/>
        </p:nvSpPr>
        <p:spPr bwMode="auto">
          <a:xfrm>
            <a:off x="2011363"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Gobierno abierto</a:t>
            </a:r>
          </a:p>
        </p:txBody>
      </p:sp>
      <p:sp>
        <p:nvSpPr>
          <p:cNvPr id="27658" name="Rectángulo 1">
            <a:extLst>
              <a:ext uri="{FF2B5EF4-FFF2-40B4-BE49-F238E27FC236}">
                <a16:creationId xmlns:a16="http://schemas.microsoft.com/office/drawing/2014/main" id="{FFACBAA1-4EEE-B980-B480-A2EA8FD0D687}"/>
              </a:ext>
            </a:extLst>
          </p:cNvPr>
          <p:cNvSpPr>
            <a:spLocks noChangeArrowheads="1"/>
          </p:cNvSpPr>
          <p:nvPr/>
        </p:nvSpPr>
        <p:spPr bwMode="auto">
          <a:xfrm>
            <a:off x="323850" y="1149350"/>
            <a:ext cx="8496300" cy="483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397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r>
              <a:rPr lang="en-US" altLang="es-ES" sz="1600" b="1">
                <a:solidFill>
                  <a:srgbClr val="C00000"/>
                </a:solidFill>
                <a:ea typeface="Arial" panose="020B0604020202020204" pitchFamily="34" charset="0"/>
                <a:cs typeface="Times New Roman" panose="02020603050405020304" pitchFamily="18" charset="0"/>
              </a:rPr>
              <a:t>Principios del gobierno abierto.</a:t>
            </a:r>
            <a:endParaRPr lang="es-ES" altLang="es-ES" sz="1600" b="1">
              <a:solidFill>
                <a:srgbClr val="C00000"/>
              </a:solidFill>
              <a:ea typeface="Arial" panose="020B0604020202020204" pitchFamily="34" charset="0"/>
              <a:cs typeface="Times New Roman" panose="02020603050405020304" pitchFamily="18" charset="0"/>
            </a:endParaRPr>
          </a:p>
          <a:p>
            <a:pPr>
              <a:spcBef>
                <a:spcPts val="50"/>
              </a:spcBef>
              <a:buFontTx/>
              <a:buNone/>
            </a:pPr>
            <a:r>
              <a:rPr lang="en-US" altLang="es-ES" sz="1600" b="1" i="1">
                <a:ea typeface="Arial" panose="020B0604020202020204" pitchFamily="34" charset="0"/>
                <a:cs typeface="Times New Roman" panose="02020603050405020304" pitchFamily="18" charset="0"/>
              </a:rPr>
              <a:t> </a:t>
            </a:r>
            <a:endParaRPr lang="es-ES" altLang="es-ES" sz="1600">
              <a:ea typeface="Calibri" panose="020F0502020204030204" pitchFamily="34" charset="0"/>
              <a:cs typeface="Times New Roman" panose="02020603050405020304" pitchFamily="18" charset="0"/>
            </a:endParaRPr>
          </a:p>
          <a:p>
            <a:pPr algn="just">
              <a:spcBef>
                <a:spcPct val="0"/>
              </a:spcBef>
              <a:buFontTx/>
              <a:buNone/>
            </a:pPr>
            <a:r>
              <a:rPr lang="en-US" altLang="es-ES" sz="1600">
                <a:solidFill>
                  <a:srgbClr val="008000"/>
                </a:solidFill>
                <a:ea typeface="Arial" panose="020B0604020202020204" pitchFamily="34" charset="0"/>
                <a:cs typeface="Times New Roman" panose="02020603050405020304" pitchFamily="18" charset="0"/>
              </a:rPr>
              <a:t>Los principios del Gobierno abierto son los siguientes:</a:t>
            </a:r>
            <a:endParaRPr lang="es-ES" altLang="es-ES" sz="1600">
              <a:solidFill>
                <a:srgbClr val="008000"/>
              </a:solidFill>
              <a:ea typeface="Arial" panose="020B0604020202020204" pitchFamily="34" charset="0"/>
              <a:cs typeface="Times New Roman" panose="02020603050405020304" pitchFamily="18" charset="0"/>
            </a:endParaRPr>
          </a:p>
          <a:p>
            <a:pPr>
              <a:spcBef>
                <a:spcPts val="13"/>
              </a:spcBef>
              <a:buFontTx/>
              <a:buNone/>
            </a:pPr>
            <a:r>
              <a:rPr lang="en-US" altLang="es-ES" sz="1600">
                <a:solidFill>
                  <a:srgbClr val="008000"/>
                </a:solidFill>
                <a:ea typeface="Arial" panose="020B0604020202020204" pitchFamily="34" charset="0"/>
                <a:cs typeface="Times New Roman" panose="02020603050405020304" pitchFamily="18" charset="0"/>
              </a:rPr>
              <a:t> </a:t>
            </a:r>
            <a:endParaRPr lang="es-ES" altLang="es-ES" sz="1600">
              <a:solidFill>
                <a:srgbClr val="008000"/>
              </a:solidFill>
              <a:ea typeface="Calibri" panose="020F0502020204030204" pitchFamily="34" charset="0"/>
              <a:cs typeface="Times New Roman" panose="02020603050405020304" pitchFamily="18" charset="0"/>
            </a:endParaRPr>
          </a:p>
          <a:p>
            <a:pPr algn="just">
              <a:lnSpc>
                <a:spcPct val="111000"/>
              </a:lnSpc>
              <a:spcBef>
                <a:spcPts val="213"/>
              </a:spcBef>
              <a:buSzPts val="1400"/>
              <a:buFontTx/>
              <a:buAutoNum type="arabicPeriod"/>
            </a:pPr>
            <a:r>
              <a:rPr lang="en-US" altLang="es-ES" sz="1600" b="1">
                <a:solidFill>
                  <a:srgbClr val="008000"/>
                </a:solidFill>
                <a:ea typeface="Calibri" panose="020F0502020204030204" pitchFamily="34" charset="0"/>
                <a:cs typeface="Times New Roman" panose="02020603050405020304" pitchFamily="18" charset="0"/>
              </a:rPr>
              <a:t>Transparencia. </a:t>
            </a:r>
            <a:r>
              <a:rPr lang="en-US" altLang="es-ES" sz="1600">
                <a:solidFill>
                  <a:srgbClr val="008000"/>
                </a:solidFill>
                <a:ea typeface="Calibri" panose="020F0502020204030204" pitchFamily="34" charset="0"/>
                <a:cs typeface="Times New Roman" panose="02020603050405020304" pitchFamily="18" charset="0"/>
              </a:rPr>
              <a:t>Se considera que la información pública es propiedad de los ciudadanos, por lo que estos deben poder acceder de manera transparente, fácil y gratuita a la acción del gobierno. Asimismo los ciudadanos han de poder evaluar la actuación de los responsables públicas de forma que se consolide la rendición de cuentas. El Gobierno abierto se basa en el movimiento del «open data» que considera que los datos han de estar disponibles para toda la sociedad sin ningún tipo de limitaciones. La filosofía de este movimiento es que </a:t>
            </a:r>
            <a:r>
              <a:rPr lang="en-US" altLang="es-ES" sz="1600" b="1">
                <a:solidFill>
                  <a:srgbClr val="008000"/>
                </a:solidFill>
                <a:ea typeface="Calibri" panose="020F0502020204030204" pitchFamily="34" charset="0"/>
                <a:cs typeface="Times New Roman" panose="02020603050405020304" pitchFamily="18" charset="0"/>
              </a:rPr>
              <a:t>los datos que maneja la Administración y el Gobierno constituyen un bien  público, y por ello pertenecen a la ciudadanía y han de ser accesibles. </a:t>
            </a:r>
            <a:r>
              <a:rPr lang="en-US" altLang="es-ES" sz="1600">
                <a:solidFill>
                  <a:srgbClr val="008000"/>
                </a:solidFill>
                <a:ea typeface="Calibri" panose="020F0502020204030204" pitchFamily="34" charset="0"/>
                <a:cs typeface="Times New Roman" panose="02020603050405020304" pitchFamily="18" charset="0"/>
              </a:rPr>
              <a:t>Las características básicas de los datos abiertos serían:</a:t>
            </a:r>
            <a:endParaRPr lang="es-ES" altLang="es-ES" sz="1600">
              <a:solidFill>
                <a:srgbClr val="008000"/>
              </a:solidFill>
              <a:ea typeface="Calibri" panose="020F0502020204030204" pitchFamily="34" charset="0"/>
              <a:cs typeface="Times New Roman" panose="02020603050405020304" pitchFamily="18" charset="0"/>
            </a:endParaRPr>
          </a:p>
          <a:p>
            <a:pPr>
              <a:spcBef>
                <a:spcPts val="50"/>
              </a:spcBef>
              <a:buFontTx/>
              <a:buNone/>
            </a:pPr>
            <a:r>
              <a:rPr lang="en-US" altLang="es-ES" sz="1600">
                <a:solidFill>
                  <a:srgbClr val="008000"/>
                </a:solidFill>
                <a:ea typeface="Arial" panose="020B0604020202020204" pitchFamily="34" charset="0"/>
                <a:cs typeface="Times New Roman" panose="02020603050405020304" pitchFamily="18" charset="0"/>
              </a:rPr>
              <a:t> </a:t>
            </a:r>
            <a:endParaRPr lang="es-ES" altLang="es-ES" sz="1600">
              <a:solidFill>
                <a:srgbClr val="008000"/>
              </a:solidFill>
              <a:ea typeface="Calibri" panose="020F0502020204030204" pitchFamily="34" charset="0"/>
              <a:cs typeface="Times New Roman" panose="02020603050405020304" pitchFamily="18" charset="0"/>
            </a:endParaRPr>
          </a:p>
          <a:p>
            <a:pPr lvl="1">
              <a:spcBef>
                <a:spcPct val="0"/>
              </a:spcBef>
              <a:buSzPts val="1000"/>
              <a:buFont typeface="Arial" panose="020B0604020202020204" pitchFamily="34" charset="0"/>
              <a:buChar char="•"/>
            </a:pPr>
            <a:r>
              <a:rPr lang="en-US" altLang="es-ES" sz="1600">
                <a:solidFill>
                  <a:srgbClr val="008000"/>
                </a:solidFill>
                <a:ea typeface="Arial" panose="020B0604020202020204" pitchFamily="34" charset="0"/>
                <a:cs typeface="Times New Roman" panose="02020603050405020304" pitchFamily="18" charset="0"/>
              </a:rPr>
              <a:t>Disponibilidad y accesibilidad.</a:t>
            </a:r>
            <a:endParaRPr lang="es-ES" altLang="es-ES" sz="1600">
              <a:solidFill>
                <a:srgbClr val="008000"/>
              </a:solidFill>
              <a:ea typeface="Arial" panose="020B0604020202020204" pitchFamily="34" charset="0"/>
              <a:cs typeface="Times New Roman" panose="02020603050405020304" pitchFamily="18" charset="0"/>
            </a:endParaRPr>
          </a:p>
          <a:p>
            <a:pPr lvl="1">
              <a:spcBef>
                <a:spcPct val="0"/>
              </a:spcBef>
              <a:buSzPts val="1000"/>
              <a:buFont typeface="Arial" panose="020B0604020202020204" pitchFamily="34" charset="0"/>
              <a:buChar char="•"/>
            </a:pPr>
            <a:r>
              <a:rPr lang="en-US" altLang="es-ES" sz="1600">
                <a:solidFill>
                  <a:srgbClr val="008000"/>
                </a:solidFill>
                <a:ea typeface="Arial" panose="020B0604020202020204" pitchFamily="34" charset="0"/>
                <a:cs typeface="Times New Roman" panose="02020603050405020304" pitchFamily="18" charset="0"/>
              </a:rPr>
              <a:t>Reutilización y redistribución.</a:t>
            </a:r>
            <a:endParaRPr lang="es-ES" altLang="es-ES" sz="1600">
              <a:solidFill>
                <a:srgbClr val="008000"/>
              </a:solidFill>
              <a:ea typeface="Arial" panose="020B0604020202020204" pitchFamily="34" charset="0"/>
              <a:cs typeface="Times New Roman" panose="02020603050405020304" pitchFamily="18" charset="0"/>
            </a:endParaRPr>
          </a:p>
          <a:p>
            <a:pPr lvl="1">
              <a:spcBef>
                <a:spcPct val="0"/>
              </a:spcBef>
              <a:buSzPts val="1000"/>
              <a:buFont typeface="Arial" panose="020B0604020202020204" pitchFamily="34" charset="0"/>
              <a:buChar char="•"/>
            </a:pPr>
            <a:r>
              <a:rPr lang="en-US" altLang="es-ES" sz="1600">
                <a:solidFill>
                  <a:srgbClr val="008000"/>
                </a:solidFill>
                <a:ea typeface="Arial" panose="020B0604020202020204" pitchFamily="34" charset="0"/>
                <a:cs typeface="Times New Roman" panose="02020603050405020304" pitchFamily="18" charset="0"/>
              </a:rPr>
              <a:t>Universalidad para acceso y uso.</a:t>
            </a:r>
            <a:endParaRPr lang="es-ES" altLang="es-ES" sz="1600">
              <a:solidFill>
                <a:srgbClr val="008000"/>
              </a:solidFill>
              <a:ea typeface="Arial" panose="020B0604020202020204" pitchFamily="34"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B6DEDA6C-7553-0A98-3482-AE26981E77B8}"/>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29699" name="Picture 5" descr="cefcorp_logo">
            <a:extLst>
              <a:ext uri="{FF2B5EF4-FFF2-40B4-BE49-F238E27FC236}">
                <a16:creationId xmlns:a16="http://schemas.microsoft.com/office/drawing/2014/main" id="{6AD37901-806D-D871-1887-1295A6EE70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Rectangle 6">
            <a:extLst>
              <a:ext uri="{FF2B5EF4-FFF2-40B4-BE49-F238E27FC236}">
                <a16:creationId xmlns:a16="http://schemas.microsoft.com/office/drawing/2014/main" id="{127A0BE2-B665-44DD-D6A2-83C4B298B4A1}"/>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29701" name="Text Box 21">
            <a:extLst>
              <a:ext uri="{FF2B5EF4-FFF2-40B4-BE49-F238E27FC236}">
                <a16:creationId xmlns:a16="http://schemas.microsoft.com/office/drawing/2014/main" id="{0023093C-548F-8BD4-70DA-5F1280D69B0B}"/>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29702" name="Text Box 22">
            <a:extLst>
              <a:ext uri="{FF2B5EF4-FFF2-40B4-BE49-F238E27FC236}">
                <a16:creationId xmlns:a16="http://schemas.microsoft.com/office/drawing/2014/main" id="{3FD55663-4192-7545-F9FB-EED7B176BBF1}"/>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29703" name="Picture 26" descr="logo-udima-horizontal-COLOR">
            <a:extLst>
              <a:ext uri="{FF2B5EF4-FFF2-40B4-BE49-F238E27FC236}">
                <a16:creationId xmlns:a16="http://schemas.microsoft.com/office/drawing/2014/main" id="{EA0E09D7-C4DF-6224-0B98-1DCC0C76FA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4" name="Rectángulo 1">
            <a:extLst>
              <a:ext uri="{FF2B5EF4-FFF2-40B4-BE49-F238E27FC236}">
                <a16:creationId xmlns:a16="http://schemas.microsoft.com/office/drawing/2014/main" id="{751246FD-E392-E97D-8CC1-C766669895A7}"/>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29705" name="CuadroTexto 3">
            <a:extLst>
              <a:ext uri="{FF2B5EF4-FFF2-40B4-BE49-F238E27FC236}">
                <a16:creationId xmlns:a16="http://schemas.microsoft.com/office/drawing/2014/main" id="{D33FEC84-1294-7F7D-F8A7-539B210E1121}"/>
              </a:ext>
            </a:extLst>
          </p:cNvPr>
          <p:cNvSpPr txBox="1">
            <a:spLocks noChangeArrowheads="1"/>
          </p:cNvSpPr>
          <p:nvPr/>
        </p:nvSpPr>
        <p:spPr bwMode="auto">
          <a:xfrm>
            <a:off x="2011363"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Gobierno abierto</a:t>
            </a:r>
          </a:p>
        </p:txBody>
      </p:sp>
      <p:sp>
        <p:nvSpPr>
          <p:cNvPr id="29706" name="Rectángulo 1">
            <a:extLst>
              <a:ext uri="{FF2B5EF4-FFF2-40B4-BE49-F238E27FC236}">
                <a16:creationId xmlns:a16="http://schemas.microsoft.com/office/drawing/2014/main" id="{255309A0-5608-A33B-1DC1-58D79C4CF404}"/>
              </a:ext>
            </a:extLst>
          </p:cNvPr>
          <p:cNvSpPr>
            <a:spLocks noChangeArrowheads="1"/>
          </p:cNvSpPr>
          <p:nvPr/>
        </p:nvSpPr>
        <p:spPr bwMode="auto">
          <a:xfrm>
            <a:off x="179388" y="868363"/>
            <a:ext cx="8502650" cy="578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tabLst>
                <a:tab pos="463550" algn="l"/>
              </a:tabLst>
              <a:defRPr sz="3200">
                <a:solidFill>
                  <a:schemeClr val="tx1"/>
                </a:solidFill>
                <a:latin typeface="Arial" panose="020B0604020202020204" pitchFamily="34" charset="0"/>
              </a:defRPr>
            </a:lvl1pPr>
            <a:lvl2pPr marL="742950" indent="-285750">
              <a:spcBef>
                <a:spcPct val="20000"/>
              </a:spcBef>
              <a:buChar char="–"/>
              <a:tabLst>
                <a:tab pos="463550" algn="l"/>
              </a:tabLst>
              <a:defRPr sz="2800">
                <a:solidFill>
                  <a:schemeClr val="tx1"/>
                </a:solidFill>
                <a:latin typeface="Arial" panose="020B0604020202020204" pitchFamily="34" charset="0"/>
              </a:defRPr>
            </a:lvl2pPr>
            <a:lvl3pPr marL="1143000" indent="-228600">
              <a:spcBef>
                <a:spcPct val="20000"/>
              </a:spcBef>
              <a:buChar char="•"/>
              <a:tabLst>
                <a:tab pos="463550" algn="l"/>
              </a:tabLst>
              <a:defRPr sz="2400">
                <a:solidFill>
                  <a:schemeClr val="tx1"/>
                </a:solidFill>
                <a:latin typeface="Arial" panose="020B0604020202020204" pitchFamily="34" charset="0"/>
              </a:defRPr>
            </a:lvl3pPr>
            <a:lvl4pPr marL="1600200" indent="-228600">
              <a:spcBef>
                <a:spcPct val="20000"/>
              </a:spcBef>
              <a:buChar char="–"/>
              <a:tabLst>
                <a:tab pos="463550" algn="l"/>
              </a:tabLst>
              <a:defRPr sz="2000">
                <a:solidFill>
                  <a:schemeClr val="tx1"/>
                </a:solidFill>
                <a:latin typeface="Arial" panose="020B0604020202020204" pitchFamily="34" charset="0"/>
              </a:defRPr>
            </a:lvl4pPr>
            <a:lvl5pPr marL="2057400" indent="-228600">
              <a:spcBef>
                <a:spcPct val="20000"/>
              </a:spcBef>
              <a:buChar char="»"/>
              <a:tabLst>
                <a:tab pos="4635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4635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4635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4635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463550" algn="l"/>
              </a:tabLst>
              <a:defRPr sz="2000">
                <a:solidFill>
                  <a:schemeClr val="tx1"/>
                </a:solidFill>
                <a:latin typeface="Arial" panose="020B0604020202020204" pitchFamily="34" charset="0"/>
              </a:defRPr>
            </a:lvl9pPr>
          </a:lstStyle>
          <a:p>
            <a:pPr algn="just">
              <a:lnSpc>
                <a:spcPct val="115000"/>
              </a:lnSpc>
              <a:spcBef>
                <a:spcPts val="563"/>
              </a:spcBef>
              <a:buSzPts val="1000"/>
              <a:buFontTx/>
              <a:buNone/>
            </a:pPr>
            <a:r>
              <a:rPr lang="en-US" altLang="es-ES" sz="1600" b="1">
                <a:solidFill>
                  <a:srgbClr val="C00000"/>
                </a:solidFill>
                <a:ea typeface="Arial" panose="020B0604020202020204" pitchFamily="34" charset="0"/>
                <a:cs typeface="Times New Roman" panose="02020603050405020304" pitchFamily="18" charset="0"/>
              </a:rPr>
              <a:t>2.- Participación. </a:t>
            </a:r>
          </a:p>
          <a:p>
            <a:pPr algn="just">
              <a:lnSpc>
                <a:spcPct val="115000"/>
              </a:lnSpc>
              <a:spcBef>
                <a:spcPts val="563"/>
              </a:spcBef>
              <a:buSzPts val="1000"/>
              <a:buFontTx/>
              <a:buNone/>
            </a:pPr>
            <a:r>
              <a:rPr lang="en-US" altLang="es-ES" sz="1400">
                <a:solidFill>
                  <a:srgbClr val="008000"/>
                </a:solidFill>
                <a:ea typeface="Arial" panose="020B0604020202020204" pitchFamily="34" charset="0"/>
                <a:cs typeface="Times New Roman" panose="02020603050405020304" pitchFamily="18" charset="0"/>
              </a:rPr>
              <a:t>Los ciudadanos han de poder canalizar su opinión y su conocimiento para la definición de las políticas públicas de su gobierno. El Gobierno abierto facilita a los ciudadanos con carácter general, y a los expertos o especialistas con carácter particular, el que sus gestores públicos estén en disposición de aprovechar el gran caudal de conocimiento y experiencia del conjunto de la sociedad y ponerlo al servicio del bien común.</a:t>
            </a:r>
            <a:endParaRPr lang="es-ES" altLang="es-ES" sz="1400">
              <a:solidFill>
                <a:srgbClr val="008000"/>
              </a:solidFill>
              <a:ea typeface="Arial" panose="020B0604020202020204" pitchFamily="34" charset="0"/>
              <a:cs typeface="Times New Roman" panose="02020603050405020304" pitchFamily="18" charset="0"/>
            </a:endParaRPr>
          </a:p>
          <a:p>
            <a:pPr>
              <a:spcBef>
                <a:spcPts val="38"/>
              </a:spcBef>
              <a:buFontTx/>
              <a:buNone/>
            </a:pPr>
            <a:r>
              <a:rPr lang="en-US" altLang="es-ES" sz="1400">
                <a:solidFill>
                  <a:srgbClr val="008000"/>
                </a:solidFill>
                <a:ea typeface="Arial" panose="020B0604020202020204" pitchFamily="34" charset="0"/>
                <a:cs typeface="Times New Roman" panose="02020603050405020304" pitchFamily="18" charset="0"/>
              </a:rPr>
              <a:t> </a:t>
            </a:r>
            <a:endParaRPr lang="es-ES" altLang="es-ES" sz="1400">
              <a:solidFill>
                <a:srgbClr val="008000"/>
              </a:solidFill>
              <a:ea typeface="Calibri" panose="020F0502020204030204" pitchFamily="34" charset="0"/>
              <a:cs typeface="Times New Roman" panose="02020603050405020304" pitchFamily="18" charset="0"/>
            </a:endParaRPr>
          </a:p>
          <a:p>
            <a:pPr algn="just">
              <a:spcBef>
                <a:spcPct val="0"/>
              </a:spcBef>
              <a:buSzPts val="1000"/>
              <a:buFont typeface="Symbol" pitchFamily="2" charset="2"/>
              <a:buChar char=""/>
            </a:pPr>
            <a:r>
              <a:rPr lang="en-US" altLang="es-ES" sz="1400" b="1">
                <a:solidFill>
                  <a:srgbClr val="008000"/>
                </a:solidFill>
                <a:ea typeface="Symbol" pitchFamily="2" charset="2"/>
                <a:cs typeface="Times New Roman" panose="02020603050405020304" pitchFamily="18" charset="0"/>
              </a:rPr>
              <a:t>Consulta pública previa.</a:t>
            </a:r>
            <a:endParaRPr lang="es-ES" altLang="es-ES" sz="1400" b="1">
              <a:solidFill>
                <a:srgbClr val="008000"/>
              </a:solidFill>
              <a:ea typeface="Symbol" pitchFamily="2" charset="2"/>
              <a:cs typeface="Times New Roman" panose="02020603050405020304" pitchFamily="18" charset="0"/>
            </a:endParaRPr>
          </a:p>
          <a:p>
            <a:pPr>
              <a:spcBef>
                <a:spcPts val="25"/>
              </a:spcBef>
              <a:buFontTx/>
              <a:buNone/>
            </a:pPr>
            <a:r>
              <a:rPr lang="en-US" altLang="es-ES" sz="1400" b="1">
                <a:solidFill>
                  <a:srgbClr val="008000"/>
                </a:solidFill>
                <a:ea typeface="Arial" panose="020B0604020202020204" pitchFamily="34" charset="0"/>
                <a:cs typeface="Times New Roman" panose="02020603050405020304" pitchFamily="18" charset="0"/>
              </a:rPr>
              <a:t> </a:t>
            </a:r>
            <a:endParaRPr lang="es-ES" altLang="es-ES" sz="1400">
              <a:solidFill>
                <a:srgbClr val="008000"/>
              </a:solidFill>
              <a:ea typeface="Calibri" panose="020F0502020204030204" pitchFamily="34" charset="0"/>
              <a:cs typeface="Times New Roman" panose="02020603050405020304" pitchFamily="18" charset="0"/>
            </a:endParaRPr>
          </a:p>
          <a:p>
            <a:pPr algn="just">
              <a:spcBef>
                <a:spcPct val="0"/>
              </a:spcBef>
              <a:buFontTx/>
              <a:buNone/>
            </a:pPr>
            <a:r>
              <a:rPr lang="en-US" altLang="es-ES" sz="1400">
                <a:solidFill>
                  <a:srgbClr val="008000"/>
                </a:solidFill>
                <a:ea typeface="Arial" panose="020B0604020202020204" pitchFamily="34" charset="0"/>
                <a:cs typeface="Times New Roman" panose="02020603050405020304" pitchFamily="18" charset="0"/>
              </a:rPr>
              <a:t>Los trámites de consulta pública previa tienen por objeto recabar la opinión de ciudadanos, organizaciones y asociaciones antes de la elaboración de un proyecto normativo.</a:t>
            </a:r>
            <a:endParaRPr lang="es-ES" altLang="es-ES" sz="1400">
              <a:solidFill>
                <a:srgbClr val="008000"/>
              </a:solidFill>
              <a:ea typeface="Arial" panose="020B0604020202020204" pitchFamily="34" charset="0"/>
              <a:cs typeface="Times New Roman" panose="02020603050405020304" pitchFamily="18" charset="0"/>
            </a:endParaRPr>
          </a:p>
          <a:p>
            <a:pPr>
              <a:spcBef>
                <a:spcPts val="13"/>
              </a:spcBef>
              <a:buFontTx/>
              <a:buNone/>
            </a:pPr>
            <a:r>
              <a:rPr lang="en-US" altLang="es-ES" sz="1400">
                <a:solidFill>
                  <a:srgbClr val="008000"/>
                </a:solidFill>
                <a:ea typeface="Arial" panose="020B0604020202020204" pitchFamily="34" charset="0"/>
                <a:cs typeface="Times New Roman" panose="02020603050405020304" pitchFamily="18" charset="0"/>
              </a:rPr>
              <a:t> </a:t>
            </a:r>
            <a:endParaRPr lang="es-ES" altLang="es-ES" sz="1400">
              <a:solidFill>
                <a:srgbClr val="008000"/>
              </a:solidFill>
              <a:ea typeface="Calibri" panose="020F0502020204030204" pitchFamily="34" charset="0"/>
              <a:cs typeface="Times New Roman" panose="02020603050405020304" pitchFamily="18" charset="0"/>
            </a:endParaRPr>
          </a:p>
          <a:p>
            <a:pPr algn="just">
              <a:spcBef>
                <a:spcPct val="0"/>
              </a:spcBef>
              <a:buFontTx/>
              <a:buNone/>
            </a:pPr>
            <a:r>
              <a:rPr lang="en-US" altLang="es-ES" sz="1400">
                <a:solidFill>
                  <a:srgbClr val="008000"/>
                </a:solidFill>
                <a:ea typeface="Arial" panose="020B0604020202020204" pitchFamily="34" charset="0"/>
                <a:cs typeface="Times New Roman" panose="02020603050405020304" pitchFamily="18" charset="0"/>
              </a:rPr>
              <a:t>A continuación se recoge el listado de las iniciativas y propuestas normativas para las que se encuentra abierto este trámite, indicando el título, la fecha en que finaliza el plazo de la consulta y el medio para realizar las aportaciones. Está ordenado por fecha de publicación, de más reciente a más antiguo.</a:t>
            </a:r>
            <a:endParaRPr lang="es-ES" altLang="es-ES" sz="1400">
              <a:solidFill>
                <a:srgbClr val="008000"/>
              </a:solidFill>
              <a:ea typeface="Arial" panose="020B0604020202020204" pitchFamily="34" charset="0"/>
              <a:cs typeface="Times New Roman" panose="02020603050405020304" pitchFamily="18" charset="0"/>
            </a:endParaRPr>
          </a:p>
          <a:p>
            <a:pPr>
              <a:spcBef>
                <a:spcPct val="0"/>
              </a:spcBef>
              <a:buFontTx/>
              <a:buNone/>
            </a:pPr>
            <a:r>
              <a:rPr lang="en-US" altLang="es-ES" sz="1400">
                <a:solidFill>
                  <a:srgbClr val="008000"/>
                </a:solidFill>
                <a:ea typeface="Arial" panose="020B0604020202020204" pitchFamily="34" charset="0"/>
                <a:cs typeface="Times New Roman" panose="02020603050405020304" pitchFamily="18" charset="0"/>
              </a:rPr>
              <a:t> </a:t>
            </a:r>
            <a:endParaRPr lang="es-ES" altLang="es-ES" sz="1400">
              <a:solidFill>
                <a:srgbClr val="008000"/>
              </a:solidFill>
              <a:ea typeface="Calibri" panose="020F0502020204030204" pitchFamily="34" charset="0"/>
              <a:cs typeface="Times New Roman" panose="02020603050405020304" pitchFamily="18" charset="0"/>
            </a:endParaRPr>
          </a:p>
          <a:p>
            <a:pPr algn="just">
              <a:spcBef>
                <a:spcPct val="0"/>
              </a:spcBef>
              <a:buSzPts val="1000"/>
              <a:buFont typeface="Symbol" pitchFamily="2" charset="2"/>
              <a:buChar char=""/>
            </a:pPr>
            <a:r>
              <a:rPr lang="en-US" altLang="es-ES" sz="1400" b="1">
                <a:solidFill>
                  <a:srgbClr val="008000"/>
                </a:solidFill>
                <a:ea typeface="Symbol" pitchFamily="2" charset="2"/>
                <a:cs typeface="Times New Roman" panose="02020603050405020304" pitchFamily="18" charset="0"/>
              </a:rPr>
              <a:t>Audiencia e información pública.</a:t>
            </a:r>
            <a:endParaRPr lang="es-ES" altLang="es-ES" sz="1400" b="1">
              <a:solidFill>
                <a:srgbClr val="008000"/>
              </a:solidFill>
              <a:ea typeface="Symbol" pitchFamily="2" charset="2"/>
              <a:cs typeface="Times New Roman" panose="02020603050405020304" pitchFamily="18" charset="0"/>
            </a:endParaRPr>
          </a:p>
          <a:p>
            <a:pPr>
              <a:spcBef>
                <a:spcPts val="25"/>
              </a:spcBef>
              <a:buFontTx/>
              <a:buNone/>
            </a:pPr>
            <a:r>
              <a:rPr lang="en-US" altLang="es-ES" sz="1400" b="1">
                <a:solidFill>
                  <a:srgbClr val="008000"/>
                </a:solidFill>
                <a:ea typeface="Arial" panose="020B0604020202020204" pitchFamily="34" charset="0"/>
                <a:cs typeface="Times New Roman" panose="02020603050405020304" pitchFamily="18" charset="0"/>
              </a:rPr>
              <a:t> </a:t>
            </a:r>
            <a:endParaRPr lang="es-ES" altLang="es-ES" sz="1400">
              <a:solidFill>
                <a:srgbClr val="008000"/>
              </a:solidFill>
              <a:ea typeface="Calibri" panose="020F0502020204030204" pitchFamily="34" charset="0"/>
              <a:cs typeface="Times New Roman" panose="02020603050405020304" pitchFamily="18" charset="0"/>
            </a:endParaRPr>
          </a:p>
          <a:p>
            <a:pPr algn="just">
              <a:spcBef>
                <a:spcPct val="0"/>
              </a:spcBef>
              <a:buFontTx/>
              <a:buNone/>
            </a:pPr>
            <a:r>
              <a:rPr lang="en-US" altLang="es-ES" sz="1400">
                <a:solidFill>
                  <a:srgbClr val="008000"/>
                </a:solidFill>
                <a:ea typeface="Arial" panose="020B0604020202020204" pitchFamily="34" charset="0"/>
                <a:cs typeface="Times New Roman" panose="02020603050405020304" pitchFamily="18" charset="0"/>
              </a:rPr>
              <a:t>Los trámites de audiencia e información pública tienen por objeto recabar la opinión de los ciudadanos titulares de derechos e intereses legítimos afectados por un proyecto normativo ya redactado, directamente o a través de las organizaciones o asociaciones que los representen, así como obtener cuantas aportaciones adicionales puedan realizar otras personas o entidades.</a:t>
            </a:r>
            <a:endParaRPr lang="es-ES" altLang="es-ES" sz="1400">
              <a:solidFill>
                <a:srgbClr val="008000"/>
              </a:solidFill>
              <a:ea typeface="Arial" panose="020B0604020202020204" pitchFamily="34" charset="0"/>
              <a:cs typeface="Times New Roman" panose="02020603050405020304" pitchFamily="18" charset="0"/>
            </a:endParaRPr>
          </a:p>
          <a:p>
            <a:pPr>
              <a:spcBef>
                <a:spcPct val="0"/>
              </a:spcBef>
              <a:buFontTx/>
              <a:buNone/>
            </a:pPr>
            <a:r>
              <a:rPr lang="en-US" altLang="es-ES" sz="1600">
                <a:ea typeface="Arial" panose="020B0604020202020204" pitchFamily="34" charset="0"/>
                <a:cs typeface="Times New Roman" panose="02020603050405020304" pitchFamily="18" charset="0"/>
              </a:rPr>
              <a:t> </a:t>
            </a:r>
            <a:endParaRPr lang="es-ES" altLang="es-ES" sz="1600">
              <a:ea typeface="Calibri" panose="020F0502020204030204" pitchFamily="34"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6D9D1EAF-4897-55F2-73DE-150189B41E9D}"/>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31747" name="Picture 5" descr="cefcorp_logo">
            <a:extLst>
              <a:ext uri="{FF2B5EF4-FFF2-40B4-BE49-F238E27FC236}">
                <a16:creationId xmlns:a16="http://schemas.microsoft.com/office/drawing/2014/main" id="{D28D0BB2-AA82-DFDF-B4FD-D340826AE7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Rectangle 6">
            <a:extLst>
              <a:ext uri="{FF2B5EF4-FFF2-40B4-BE49-F238E27FC236}">
                <a16:creationId xmlns:a16="http://schemas.microsoft.com/office/drawing/2014/main" id="{0EADAAEA-E5AE-9B52-6164-7582475B2556}"/>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31749" name="Text Box 21">
            <a:extLst>
              <a:ext uri="{FF2B5EF4-FFF2-40B4-BE49-F238E27FC236}">
                <a16:creationId xmlns:a16="http://schemas.microsoft.com/office/drawing/2014/main" id="{FCE6DEC7-F187-0CB0-4EB7-E886D1F41929}"/>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31750" name="Text Box 22">
            <a:extLst>
              <a:ext uri="{FF2B5EF4-FFF2-40B4-BE49-F238E27FC236}">
                <a16:creationId xmlns:a16="http://schemas.microsoft.com/office/drawing/2014/main" id="{B68CDE3F-6FB4-6C64-9F72-309609C14404}"/>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31751" name="Picture 26" descr="logo-udima-horizontal-COLOR">
            <a:extLst>
              <a:ext uri="{FF2B5EF4-FFF2-40B4-BE49-F238E27FC236}">
                <a16:creationId xmlns:a16="http://schemas.microsoft.com/office/drawing/2014/main" id="{BC7EF0F2-4AED-713A-0A10-603F5D1A6B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2" name="Rectángulo 1">
            <a:extLst>
              <a:ext uri="{FF2B5EF4-FFF2-40B4-BE49-F238E27FC236}">
                <a16:creationId xmlns:a16="http://schemas.microsoft.com/office/drawing/2014/main" id="{3FFDA8C8-92FA-49AB-1FE6-61EFBFB0A1D5}"/>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31753" name="CuadroTexto 3">
            <a:extLst>
              <a:ext uri="{FF2B5EF4-FFF2-40B4-BE49-F238E27FC236}">
                <a16:creationId xmlns:a16="http://schemas.microsoft.com/office/drawing/2014/main" id="{FDDC0DD2-BBD6-E88F-0DB2-C27BF430A30B}"/>
              </a:ext>
            </a:extLst>
          </p:cNvPr>
          <p:cNvSpPr txBox="1">
            <a:spLocks noChangeArrowheads="1"/>
          </p:cNvSpPr>
          <p:nvPr/>
        </p:nvSpPr>
        <p:spPr bwMode="auto">
          <a:xfrm>
            <a:off x="2011363"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Gobierno abierto</a:t>
            </a:r>
          </a:p>
        </p:txBody>
      </p:sp>
      <p:sp>
        <p:nvSpPr>
          <p:cNvPr id="31754" name="Rectángulo 2">
            <a:extLst>
              <a:ext uri="{FF2B5EF4-FFF2-40B4-BE49-F238E27FC236}">
                <a16:creationId xmlns:a16="http://schemas.microsoft.com/office/drawing/2014/main" id="{FDA15216-DB95-2224-4D4C-96B07D26A2BE}"/>
              </a:ext>
            </a:extLst>
          </p:cNvPr>
          <p:cNvSpPr>
            <a:spLocks noChangeArrowheads="1"/>
          </p:cNvSpPr>
          <p:nvPr/>
        </p:nvSpPr>
        <p:spPr bwMode="auto">
          <a:xfrm>
            <a:off x="287338" y="1117600"/>
            <a:ext cx="7956550" cy="465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tabLst>
                <a:tab pos="444500" algn="l"/>
              </a:tabLst>
              <a:defRPr sz="3200">
                <a:solidFill>
                  <a:schemeClr val="tx1"/>
                </a:solidFill>
                <a:latin typeface="Arial" panose="020B0604020202020204" pitchFamily="34" charset="0"/>
              </a:defRPr>
            </a:lvl1pPr>
            <a:lvl2pPr marL="742950" indent="-285750">
              <a:spcBef>
                <a:spcPct val="20000"/>
              </a:spcBef>
              <a:buChar char="–"/>
              <a:tabLst>
                <a:tab pos="444500" algn="l"/>
              </a:tabLst>
              <a:defRPr sz="2800">
                <a:solidFill>
                  <a:schemeClr val="tx1"/>
                </a:solidFill>
                <a:latin typeface="Arial" panose="020B0604020202020204" pitchFamily="34" charset="0"/>
              </a:defRPr>
            </a:lvl2pPr>
            <a:lvl3pPr marL="1143000" indent="-228600">
              <a:spcBef>
                <a:spcPct val="20000"/>
              </a:spcBef>
              <a:buChar char="•"/>
              <a:tabLst>
                <a:tab pos="444500" algn="l"/>
              </a:tabLst>
              <a:defRPr sz="2400">
                <a:solidFill>
                  <a:schemeClr val="tx1"/>
                </a:solidFill>
                <a:latin typeface="Arial" panose="020B0604020202020204" pitchFamily="34" charset="0"/>
              </a:defRPr>
            </a:lvl3pPr>
            <a:lvl4pPr marL="1600200" indent="-228600">
              <a:spcBef>
                <a:spcPct val="20000"/>
              </a:spcBef>
              <a:buChar char="–"/>
              <a:tabLst>
                <a:tab pos="444500" algn="l"/>
              </a:tabLst>
              <a:defRPr sz="2000">
                <a:solidFill>
                  <a:schemeClr val="tx1"/>
                </a:solidFill>
                <a:latin typeface="Arial" panose="020B0604020202020204" pitchFamily="34" charset="0"/>
              </a:defRPr>
            </a:lvl4pPr>
            <a:lvl5pPr marL="2057400" indent="-228600">
              <a:spcBef>
                <a:spcPct val="20000"/>
              </a:spcBef>
              <a:buChar char="»"/>
              <a:tabLst>
                <a:tab pos="4445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4445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4445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4445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444500" algn="l"/>
              </a:tabLst>
              <a:defRPr sz="2000">
                <a:solidFill>
                  <a:schemeClr val="tx1"/>
                </a:solidFill>
                <a:latin typeface="Arial" panose="020B0604020202020204" pitchFamily="34" charset="0"/>
              </a:defRPr>
            </a:lvl9pPr>
          </a:lstStyle>
          <a:p>
            <a:pPr algn="just">
              <a:lnSpc>
                <a:spcPct val="112000"/>
              </a:lnSpc>
              <a:spcBef>
                <a:spcPct val="0"/>
              </a:spcBef>
              <a:buSzPts val="1000"/>
              <a:buFontTx/>
              <a:buNone/>
            </a:pPr>
            <a:r>
              <a:rPr lang="en-US" altLang="es-ES" sz="1600" b="1">
                <a:solidFill>
                  <a:srgbClr val="C00000"/>
                </a:solidFill>
                <a:ea typeface="Arial" panose="020B0604020202020204" pitchFamily="34" charset="0"/>
                <a:cs typeface="Times New Roman" panose="02020603050405020304" pitchFamily="18" charset="0"/>
              </a:rPr>
              <a:t>3.- Colaboración. </a:t>
            </a:r>
          </a:p>
          <a:p>
            <a:pPr algn="just">
              <a:lnSpc>
                <a:spcPct val="112000"/>
              </a:lnSpc>
              <a:spcBef>
                <a:spcPct val="0"/>
              </a:spcBef>
              <a:buSzPts val="1000"/>
              <a:buFontTx/>
              <a:buNone/>
            </a:pPr>
            <a:endParaRPr lang="en-US" altLang="es-ES" sz="1600" b="1">
              <a:solidFill>
                <a:srgbClr val="C00000"/>
              </a:solidFill>
              <a:ea typeface="Arial" panose="020B0604020202020204" pitchFamily="34" charset="0"/>
              <a:cs typeface="Times New Roman" panose="02020603050405020304" pitchFamily="18" charset="0"/>
            </a:endParaRPr>
          </a:p>
          <a:p>
            <a:pPr algn="just">
              <a:lnSpc>
                <a:spcPct val="112000"/>
              </a:lnSpc>
              <a:spcBef>
                <a:spcPct val="0"/>
              </a:spcBef>
              <a:buSzPts val="1000"/>
              <a:buFontTx/>
              <a:buNone/>
            </a:pPr>
            <a:r>
              <a:rPr lang="en-US" altLang="es-ES" sz="1800" b="1">
                <a:solidFill>
                  <a:srgbClr val="008000"/>
                </a:solidFill>
                <a:ea typeface="Arial" panose="020B0604020202020204" pitchFamily="34" charset="0"/>
                <a:cs typeface="Times New Roman" panose="02020603050405020304" pitchFamily="18" charset="0"/>
              </a:rPr>
              <a:t>Se favorece la colaboración con carácter general entre Administraciones Públicas y entre estas y todos los agentes de la sociedad civil, desde organizaciones no gubernamentales hasta sujetos individuales con la finalidad de maximizar la eficiencia y la eficacia de la acción del Gobierno. </a:t>
            </a:r>
            <a:r>
              <a:rPr lang="en-US" altLang="es-ES" sz="1800">
                <a:solidFill>
                  <a:srgbClr val="008000"/>
                </a:solidFill>
                <a:ea typeface="Arial" panose="020B0604020202020204" pitchFamily="34" charset="0"/>
                <a:cs typeface="Times New Roman" panose="02020603050405020304" pitchFamily="18" charset="0"/>
              </a:rPr>
              <a:t>Aunque la </a:t>
            </a:r>
            <a:r>
              <a:rPr lang="en-US" altLang="es-ES" sz="1800" i="1">
                <a:solidFill>
                  <a:srgbClr val="008000"/>
                </a:solidFill>
                <a:ea typeface="Arial" panose="020B0604020202020204" pitchFamily="34" charset="0"/>
                <a:cs typeface="Times New Roman" panose="02020603050405020304" pitchFamily="18" charset="0"/>
              </a:rPr>
              <a:t>participación</a:t>
            </a:r>
            <a:r>
              <a:rPr lang="en-US" altLang="es-ES" sz="1800">
                <a:solidFill>
                  <a:srgbClr val="008000"/>
                </a:solidFill>
                <a:ea typeface="Arial" panose="020B0604020202020204" pitchFamily="34" charset="0"/>
                <a:cs typeface="Times New Roman" panose="02020603050405020304" pitchFamily="18" charset="0"/>
              </a:rPr>
              <a:t> y la colaboración son principios muy relacionados, normalmente se entiende que la primera </a:t>
            </a:r>
            <a:r>
              <a:rPr lang="en-US" altLang="es-ES" sz="1800" i="1">
                <a:solidFill>
                  <a:srgbClr val="008000"/>
                </a:solidFill>
                <a:ea typeface="Arial" panose="020B0604020202020204" pitchFamily="34" charset="0"/>
                <a:cs typeface="Times New Roman" panose="02020603050405020304" pitchFamily="18" charset="0"/>
              </a:rPr>
              <a:t>se circunscribe al diseño y definición de políticas pública</a:t>
            </a:r>
            <a:r>
              <a:rPr lang="en-US" altLang="es-ES" sz="1800">
                <a:solidFill>
                  <a:srgbClr val="008000"/>
                </a:solidFill>
                <a:ea typeface="Arial" panose="020B0604020202020204" pitchFamily="34" charset="0"/>
                <a:cs typeface="Times New Roman" panose="02020603050405020304" pitchFamily="18" charset="0"/>
              </a:rPr>
              <a:t>s (se cuenta con la participación de la ciudadanía para recabar su opinión y elaborar planes eficientes) mientras que la </a:t>
            </a:r>
            <a:r>
              <a:rPr lang="en-US" altLang="es-ES" sz="1800" i="1">
                <a:solidFill>
                  <a:srgbClr val="008000"/>
                </a:solidFill>
                <a:ea typeface="Arial" panose="020B0604020202020204" pitchFamily="34" charset="0"/>
                <a:cs typeface="Times New Roman" panose="02020603050405020304" pitchFamily="18" charset="0"/>
              </a:rPr>
              <a:t>colaboración se centra más en la ejecución de la política pública </a:t>
            </a:r>
            <a:r>
              <a:rPr lang="en-US" altLang="es-ES" sz="1800">
                <a:solidFill>
                  <a:srgbClr val="008000"/>
                </a:solidFill>
                <a:ea typeface="Arial" panose="020B0604020202020204" pitchFamily="34" charset="0"/>
                <a:cs typeface="Times New Roman" panose="02020603050405020304" pitchFamily="18" charset="0"/>
              </a:rPr>
              <a:t>(y exige, por ejemplo, el trabajo conjunto para implementar un determinado plan de actuación pública que puede vincular a diferentes actores: asociaciones de vecinos, empresarios de las zonas afectados, consumidores, etc).</a:t>
            </a:r>
            <a:endParaRPr lang="es-ES" altLang="es-ES" sz="1800">
              <a:solidFill>
                <a:srgbClr val="008000"/>
              </a:solidFill>
              <a:ea typeface="Arial" panose="020B0604020202020204" pitchFamily="34"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3CF0BFF5-FE6F-8816-A23B-6567E269D018}"/>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33795" name="Picture 5" descr="cefcorp_logo">
            <a:extLst>
              <a:ext uri="{FF2B5EF4-FFF2-40B4-BE49-F238E27FC236}">
                <a16:creationId xmlns:a16="http://schemas.microsoft.com/office/drawing/2014/main" id="{F9F13AAD-BD17-D69B-1794-740AB94156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6" name="Rectangle 6">
            <a:extLst>
              <a:ext uri="{FF2B5EF4-FFF2-40B4-BE49-F238E27FC236}">
                <a16:creationId xmlns:a16="http://schemas.microsoft.com/office/drawing/2014/main" id="{C381601E-14BD-BDF8-749D-C29B83C3E450}"/>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33797" name="Text Box 21">
            <a:extLst>
              <a:ext uri="{FF2B5EF4-FFF2-40B4-BE49-F238E27FC236}">
                <a16:creationId xmlns:a16="http://schemas.microsoft.com/office/drawing/2014/main" id="{9C43080F-D347-F2D8-E273-C5E86D43D686}"/>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33798" name="Text Box 22">
            <a:extLst>
              <a:ext uri="{FF2B5EF4-FFF2-40B4-BE49-F238E27FC236}">
                <a16:creationId xmlns:a16="http://schemas.microsoft.com/office/drawing/2014/main" id="{15845879-6265-A8CC-6D2F-3F2978DB85F1}"/>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33799" name="Picture 26" descr="logo-udima-horizontal-COLOR">
            <a:extLst>
              <a:ext uri="{FF2B5EF4-FFF2-40B4-BE49-F238E27FC236}">
                <a16:creationId xmlns:a16="http://schemas.microsoft.com/office/drawing/2014/main" id="{2BCF6937-B5BB-4138-80F0-D3857FE19B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0" name="Rectángulo 1">
            <a:extLst>
              <a:ext uri="{FF2B5EF4-FFF2-40B4-BE49-F238E27FC236}">
                <a16:creationId xmlns:a16="http://schemas.microsoft.com/office/drawing/2014/main" id="{2973B0E6-BF44-77FE-F819-F134482F1C8B}"/>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33801" name="Rectángulo 2">
            <a:extLst>
              <a:ext uri="{FF2B5EF4-FFF2-40B4-BE49-F238E27FC236}">
                <a16:creationId xmlns:a16="http://schemas.microsoft.com/office/drawing/2014/main" id="{7EA0B551-3DE2-AB51-C466-2C4790CBFA91}"/>
              </a:ext>
            </a:extLst>
          </p:cNvPr>
          <p:cNvSpPr>
            <a:spLocks noChangeArrowheads="1"/>
          </p:cNvSpPr>
          <p:nvPr/>
        </p:nvSpPr>
        <p:spPr bwMode="auto">
          <a:xfrm>
            <a:off x="287338" y="1117600"/>
            <a:ext cx="7956550" cy="462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tabLst>
                <a:tab pos="444500" algn="l"/>
              </a:tabLst>
              <a:defRPr sz="3200">
                <a:solidFill>
                  <a:schemeClr val="tx1"/>
                </a:solidFill>
                <a:latin typeface="Arial" panose="020B0604020202020204" pitchFamily="34" charset="0"/>
              </a:defRPr>
            </a:lvl1pPr>
            <a:lvl2pPr marL="742950" indent="-285750">
              <a:spcBef>
                <a:spcPct val="20000"/>
              </a:spcBef>
              <a:buChar char="–"/>
              <a:tabLst>
                <a:tab pos="444500" algn="l"/>
              </a:tabLst>
              <a:defRPr sz="2800">
                <a:solidFill>
                  <a:schemeClr val="tx1"/>
                </a:solidFill>
                <a:latin typeface="Arial" panose="020B0604020202020204" pitchFamily="34" charset="0"/>
              </a:defRPr>
            </a:lvl2pPr>
            <a:lvl3pPr marL="1143000" indent="-228600">
              <a:spcBef>
                <a:spcPct val="20000"/>
              </a:spcBef>
              <a:buChar char="•"/>
              <a:tabLst>
                <a:tab pos="444500" algn="l"/>
              </a:tabLst>
              <a:defRPr sz="2400">
                <a:solidFill>
                  <a:schemeClr val="tx1"/>
                </a:solidFill>
                <a:latin typeface="Arial" panose="020B0604020202020204" pitchFamily="34" charset="0"/>
              </a:defRPr>
            </a:lvl3pPr>
            <a:lvl4pPr marL="1600200" indent="-228600">
              <a:spcBef>
                <a:spcPct val="20000"/>
              </a:spcBef>
              <a:buChar char="–"/>
              <a:tabLst>
                <a:tab pos="444500" algn="l"/>
              </a:tabLst>
              <a:defRPr sz="2000">
                <a:solidFill>
                  <a:schemeClr val="tx1"/>
                </a:solidFill>
                <a:latin typeface="Arial" panose="020B0604020202020204" pitchFamily="34" charset="0"/>
              </a:defRPr>
            </a:lvl4pPr>
            <a:lvl5pPr marL="2057400" indent="-228600">
              <a:spcBef>
                <a:spcPct val="20000"/>
              </a:spcBef>
              <a:buChar char="»"/>
              <a:tabLst>
                <a:tab pos="4445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4445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4445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4445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444500" algn="l"/>
              </a:tabLst>
              <a:defRPr sz="2000">
                <a:solidFill>
                  <a:schemeClr val="tx1"/>
                </a:solidFill>
                <a:latin typeface="Arial" panose="020B0604020202020204" pitchFamily="34" charset="0"/>
              </a:defRPr>
            </a:lvl9pPr>
          </a:lstStyle>
          <a:p>
            <a:pPr algn="just">
              <a:lnSpc>
                <a:spcPct val="112000"/>
              </a:lnSpc>
              <a:spcBef>
                <a:spcPct val="0"/>
              </a:spcBef>
              <a:buSzPts val="1000"/>
              <a:buFontTx/>
              <a:buNone/>
            </a:pPr>
            <a:r>
              <a:rPr lang="es-ES" altLang="es-ES" sz="1600">
                <a:solidFill>
                  <a:srgbClr val="C00000"/>
                </a:solidFill>
              </a:rPr>
              <a:t>4.- Rendición de cuentas</a:t>
            </a:r>
          </a:p>
          <a:p>
            <a:pPr algn="just">
              <a:lnSpc>
                <a:spcPct val="112000"/>
              </a:lnSpc>
              <a:spcBef>
                <a:spcPct val="0"/>
              </a:spcBef>
              <a:buSzPts val="1000"/>
              <a:buFontTx/>
              <a:buNone/>
            </a:pPr>
            <a:endParaRPr lang="es-ES" altLang="es-ES" sz="1100"/>
          </a:p>
          <a:p>
            <a:pPr algn="just">
              <a:lnSpc>
                <a:spcPct val="112000"/>
              </a:lnSpc>
              <a:spcBef>
                <a:spcPct val="0"/>
              </a:spcBef>
              <a:buSzPts val="1000"/>
              <a:buFontTx/>
              <a:buNone/>
            </a:pPr>
            <a:r>
              <a:rPr lang="es-ES" altLang="es-ES" sz="1600">
                <a:solidFill>
                  <a:srgbClr val="008000"/>
                </a:solidFill>
              </a:rPr>
              <a:t>La rendición de cuentas es el deber que tienen las personas que ejercen labores de servicio público de informar, justificar, responsabilizarse pública y periódicamente sobre el uso dado a los fondos asignados y los resultados obtenidos siguiendo los criterios de eficiencia, eficacia, transparencia y legalidad. </a:t>
            </a:r>
          </a:p>
          <a:p>
            <a:pPr algn="just">
              <a:lnSpc>
                <a:spcPct val="112000"/>
              </a:lnSpc>
              <a:spcBef>
                <a:spcPct val="0"/>
              </a:spcBef>
              <a:buSzPts val="1000"/>
              <a:buFontTx/>
              <a:buNone/>
            </a:pPr>
            <a:endParaRPr lang="es-ES" altLang="es-ES" sz="1600">
              <a:solidFill>
                <a:srgbClr val="008000"/>
              </a:solidFill>
            </a:endParaRPr>
          </a:p>
          <a:p>
            <a:pPr algn="just">
              <a:lnSpc>
                <a:spcPct val="112000"/>
              </a:lnSpc>
              <a:spcBef>
                <a:spcPct val="0"/>
              </a:spcBef>
              <a:buSzPts val="1000"/>
              <a:buFontTx/>
              <a:buNone/>
            </a:pPr>
            <a:r>
              <a:rPr lang="es-ES" altLang="es-ES" sz="1600">
                <a:solidFill>
                  <a:srgbClr val="008000"/>
                </a:solidFill>
              </a:rPr>
              <a:t>La iniciativa “rendiciondecuentas.es”, permite acceder a la información sobre la gestión económica y financiera de las Entidades locales, deducida de sus Cuentas Generales rendidas, que incluye tanto las cuentas de la Entidad local principal, así como las de sus entidades dependientes y adscritas.</a:t>
            </a:r>
            <a:endParaRPr lang="es-ES" altLang="es-ES" sz="1600">
              <a:solidFill>
                <a:srgbClr val="008000"/>
              </a:solidFill>
              <a:ea typeface="Arial" panose="020B0604020202020204" pitchFamily="34" charset="0"/>
              <a:cs typeface="Times New Roman" panose="02020603050405020304" pitchFamily="18" charset="0"/>
            </a:endParaRPr>
          </a:p>
          <a:p>
            <a:pPr algn="just">
              <a:lnSpc>
                <a:spcPct val="112000"/>
              </a:lnSpc>
              <a:spcBef>
                <a:spcPct val="0"/>
              </a:spcBef>
              <a:buSzPts val="1000"/>
              <a:buFontTx/>
              <a:buNone/>
            </a:pPr>
            <a:endParaRPr lang="es-ES" altLang="es-ES" sz="1600">
              <a:solidFill>
                <a:srgbClr val="008000"/>
              </a:solidFill>
              <a:ea typeface="Arial" panose="020B0604020202020204" pitchFamily="34" charset="0"/>
              <a:cs typeface="Times New Roman" panose="02020603050405020304" pitchFamily="18" charset="0"/>
            </a:endParaRPr>
          </a:p>
          <a:p>
            <a:pPr algn="just">
              <a:lnSpc>
                <a:spcPct val="112000"/>
              </a:lnSpc>
              <a:spcBef>
                <a:spcPct val="0"/>
              </a:spcBef>
              <a:buSzPts val="1000"/>
              <a:buFontTx/>
              <a:buNone/>
            </a:pPr>
            <a:endParaRPr lang="es-ES" altLang="es-ES" sz="1800">
              <a:solidFill>
                <a:srgbClr val="008000"/>
              </a:solidFill>
              <a:ea typeface="Arial" panose="020B0604020202020204" pitchFamily="34" charset="0"/>
              <a:cs typeface="Times New Roman" panose="02020603050405020304" pitchFamily="18" charset="0"/>
            </a:endParaRPr>
          </a:p>
          <a:p>
            <a:pPr algn="just">
              <a:lnSpc>
                <a:spcPct val="112000"/>
              </a:lnSpc>
              <a:spcBef>
                <a:spcPct val="0"/>
              </a:spcBef>
              <a:buSzPts val="1000"/>
              <a:buFontTx/>
              <a:buNone/>
            </a:pPr>
            <a:endParaRPr lang="es-ES" altLang="es-ES" sz="1800">
              <a:solidFill>
                <a:srgbClr val="008000"/>
              </a:solidFill>
              <a:ea typeface="Arial" panose="020B0604020202020204" pitchFamily="34" charset="0"/>
              <a:cs typeface="Times New Roman" panose="02020603050405020304" pitchFamily="18" charset="0"/>
            </a:endParaRPr>
          </a:p>
          <a:p>
            <a:pPr algn="just">
              <a:lnSpc>
                <a:spcPct val="112000"/>
              </a:lnSpc>
              <a:spcBef>
                <a:spcPct val="0"/>
              </a:spcBef>
              <a:buSzPts val="1000"/>
              <a:buFontTx/>
              <a:buNone/>
            </a:pPr>
            <a:endParaRPr lang="es-ES" altLang="es-ES" sz="1800">
              <a:solidFill>
                <a:srgbClr val="008000"/>
              </a:solidFill>
              <a:ea typeface="Arial" panose="020B0604020202020204" pitchFamily="34" charset="0"/>
              <a:cs typeface="Times New Roman" panose="02020603050405020304" pitchFamily="18" charset="0"/>
            </a:endParaRPr>
          </a:p>
          <a:p>
            <a:pPr algn="ctr">
              <a:lnSpc>
                <a:spcPct val="112000"/>
              </a:lnSpc>
              <a:spcBef>
                <a:spcPct val="0"/>
              </a:spcBef>
              <a:buSzPts val="1000"/>
              <a:buFontTx/>
              <a:buNone/>
            </a:pPr>
            <a:endParaRPr lang="es-ES" altLang="es-ES" sz="2400" b="1">
              <a:solidFill>
                <a:srgbClr val="FF0000"/>
              </a:solidFill>
              <a:ea typeface="Arial" panose="020B0604020202020204" pitchFamily="34"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D085A6EA-65C1-4DB5-9CBB-E3A0157CCB83}"/>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35843" name="Picture 5" descr="cefcorp_logo">
            <a:extLst>
              <a:ext uri="{FF2B5EF4-FFF2-40B4-BE49-F238E27FC236}">
                <a16:creationId xmlns:a16="http://schemas.microsoft.com/office/drawing/2014/main" id="{7FD06B91-1CED-2567-41CE-95E3940913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4" name="Rectangle 6">
            <a:extLst>
              <a:ext uri="{FF2B5EF4-FFF2-40B4-BE49-F238E27FC236}">
                <a16:creationId xmlns:a16="http://schemas.microsoft.com/office/drawing/2014/main" id="{09641245-ED10-428E-ECCE-9CD641049461}"/>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35845" name="Text Box 21">
            <a:extLst>
              <a:ext uri="{FF2B5EF4-FFF2-40B4-BE49-F238E27FC236}">
                <a16:creationId xmlns:a16="http://schemas.microsoft.com/office/drawing/2014/main" id="{73224EFC-EFDF-CDFE-EDCA-845500543045}"/>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35846" name="Text Box 22">
            <a:extLst>
              <a:ext uri="{FF2B5EF4-FFF2-40B4-BE49-F238E27FC236}">
                <a16:creationId xmlns:a16="http://schemas.microsoft.com/office/drawing/2014/main" id="{D6C4812A-E8DD-B395-49A3-5BA6FEC51DB2}"/>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35847" name="Picture 26" descr="logo-udima-horizontal-COLOR">
            <a:extLst>
              <a:ext uri="{FF2B5EF4-FFF2-40B4-BE49-F238E27FC236}">
                <a16:creationId xmlns:a16="http://schemas.microsoft.com/office/drawing/2014/main" id="{C5ED0F79-BF77-887B-FDFC-798D996E9C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8" name="Rectángulo 1">
            <a:extLst>
              <a:ext uri="{FF2B5EF4-FFF2-40B4-BE49-F238E27FC236}">
                <a16:creationId xmlns:a16="http://schemas.microsoft.com/office/drawing/2014/main" id="{955996D7-3C23-8A15-0974-357E70F099F8}"/>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35849" name="CuadroTexto 3">
            <a:extLst>
              <a:ext uri="{FF2B5EF4-FFF2-40B4-BE49-F238E27FC236}">
                <a16:creationId xmlns:a16="http://schemas.microsoft.com/office/drawing/2014/main" id="{EDA0BAE2-9FEA-0A7A-6E90-84FEAC191011}"/>
              </a:ext>
            </a:extLst>
          </p:cNvPr>
          <p:cNvSpPr txBox="1">
            <a:spLocks noChangeArrowheads="1"/>
          </p:cNvSpPr>
          <p:nvPr/>
        </p:nvSpPr>
        <p:spPr bwMode="auto">
          <a:xfrm>
            <a:off x="2011363"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Gobierno abierto</a:t>
            </a:r>
          </a:p>
        </p:txBody>
      </p:sp>
      <p:sp>
        <p:nvSpPr>
          <p:cNvPr id="35850" name="Rectángulo 2">
            <a:extLst>
              <a:ext uri="{FF2B5EF4-FFF2-40B4-BE49-F238E27FC236}">
                <a16:creationId xmlns:a16="http://schemas.microsoft.com/office/drawing/2014/main" id="{7E70090D-5E90-99B9-DA43-0107EA5AB24F}"/>
              </a:ext>
            </a:extLst>
          </p:cNvPr>
          <p:cNvSpPr>
            <a:spLocks noChangeArrowheads="1"/>
          </p:cNvSpPr>
          <p:nvPr/>
        </p:nvSpPr>
        <p:spPr bwMode="auto">
          <a:xfrm>
            <a:off x="287338" y="1117600"/>
            <a:ext cx="7956550" cy="319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tabLst>
                <a:tab pos="444500" algn="l"/>
              </a:tabLst>
              <a:defRPr sz="3200">
                <a:solidFill>
                  <a:schemeClr val="tx1"/>
                </a:solidFill>
                <a:latin typeface="Arial" panose="020B0604020202020204" pitchFamily="34" charset="0"/>
              </a:defRPr>
            </a:lvl1pPr>
            <a:lvl2pPr marL="742950" indent="-285750">
              <a:spcBef>
                <a:spcPct val="20000"/>
              </a:spcBef>
              <a:buChar char="–"/>
              <a:tabLst>
                <a:tab pos="444500" algn="l"/>
              </a:tabLst>
              <a:defRPr sz="2800">
                <a:solidFill>
                  <a:schemeClr val="tx1"/>
                </a:solidFill>
                <a:latin typeface="Arial" panose="020B0604020202020204" pitchFamily="34" charset="0"/>
              </a:defRPr>
            </a:lvl2pPr>
            <a:lvl3pPr marL="1143000" indent="-228600">
              <a:spcBef>
                <a:spcPct val="20000"/>
              </a:spcBef>
              <a:buChar char="•"/>
              <a:tabLst>
                <a:tab pos="444500" algn="l"/>
              </a:tabLst>
              <a:defRPr sz="2400">
                <a:solidFill>
                  <a:schemeClr val="tx1"/>
                </a:solidFill>
                <a:latin typeface="Arial" panose="020B0604020202020204" pitchFamily="34" charset="0"/>
              </a:defRPr>
            </a:lvl3pPr>
            <a:lvl4pPr marL="1600200" indent="-228600">
              <a:spcBef>
                <a:spcPct val="20000"/>
              </a:spcBef>
              <a:buChar char="–"/>
              <a:tabLst>
                <a:tab pos="444500" algn="l"/>
              </a:tabLst>
              <a:defRPr sz="2000">
                <a:solidFill>
                  <a:schemeClr val="tx1"/>
                </a:solidFill>
                <a:latin typeface="Arial" panose="020B0604020202020204" pitchFamily="34" charset="0"/>
              </a:defRPr>
            </a:lvl4pPr>
            <a:lvl5pPr marL="2057400" indent="-228600">
              <a:spcBef>
                <a:spcPct val="20000"/>
              </a:spcBef>
              <a:buChar char="»"/>
              <a:tabLst>
                <a:tab pos="4445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4445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4445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4445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444500" algn="l"/>
              </a:tabLst>
              <a:defRPr sz="2000">
                <a:solidFill>
                  <a:schemeClr val="tx1"/>
                </a:solidFill>
                <a:latin typeface="Arial" panose="020B0604020202020204" pitchFamily="34" charset="0"/>
              </a:defRPr>
            </a:lvl9pPr>
          </a:lstStyle>
          <a:p>
            <a:pPr algn="just">
              <a:lnSpc>
                <a:spcPct val="112000"/>
              </a:lnSpc>
              <a:spcBef>
                <a:spcPct val="0"/>
              </a:spcBef>
              <a:buSzPts val="1000"/>
              <a:buFontTx/>
              <a:buNone/>
            </a:pPr>
            <a:endParaRPr lang="es-ES" altLang="es-ES" sz="1800">
              <a:solidFill>
                <a:srgbClr val="008000"/>
              </a:solidFill>
              <a:ea typeface="Arial" panose="020B0604020202020204" pitchFamily="34" charset="0"/>
              <a:cs typeface="Times New Roman" panose="02020603050405020304" pitchFamily="18" charset="0"/>
            </a:endParaRPr>
          </a:p>
          <a:p>
            <a:pPr algn="just">
              <a:lnSpc>
                <a:spcPct val="112000"/>
              </a:lnSpc>
              <a:spcBef>
                <a:spcPct val="0"/>
              </a:spcBef>
              <a:buSzPts val="1000"/>
              <a:buFontTx/>
              <a:buNone/>
            </a:pPr>
            <a:endParaRPr lang="es-ES" altLang="es-ES" sz="1800">
              <a:solidFill>
                <a:srgbClr val="008000"/>
              </a:solidFill>
              <a:ea typeface="Arial" panose="020B0604020202020204" pitchFamily="34" charset="0"/>
              <a:cs typeface="Times New Roman" panose="02020603050405020304" pitchFamily="18" charset="0"/>
            </a:endParaRPr>
          </a:p>
          <a:p>
            <a:pPr algn="just">
              <a:lnSpc>
                <a:spcPct val="112000"/>
              </a:lnSpc>
              <a:spcBef>
                <a:spcPct val="0"/>
              </a:spcBef>
              <a:buSzPts val="1000"/>
              <a:buFontTx/>
              <a:buNone/>
            </a:pPr>
            <a:endParaRPr lang="es-ES" altLang="es-ES" sz="1800">
              <a:solidFill>
                <a:srgbClr val="008000"/>
              </a:solidFill>
              <a:ea typeface="Arial" panose="020B0604020202020204" pitchFamily="34" charset="0"/>
              <a:cs typeface="Times New Roman" panose="02020603050405020304" pitchFamily="18" charset="0"/>
            </a:endParaRPr>
          </a:p>
          <a:p>
            <a:pPr algn="just">
              <a:lnSpc>
                <a:spcPct val="112000"/>
              </a:lnSpc>
              <a:spcBef>
                <a:spcPct val="0"/>
              </a:spcBef>
              <a:buSzPts val="1000"/>
              <a:buFontTx/>
              <a:buNone/>
            </a:pPr>
            <a:endParaRPr lang="es-ES" altLang="es-ES" sz="1800">
              <a:solidFill>
                <a:srgbClr val="008000"/>
              </a:solidFill>
              <a:ea typeface="Arial" panose="020B0604020202020204" pitchFamily="34" charset="0"/>
              <a:cs typeface="Times New Roman" panose="02020603050405020304" pitchFamily="18" charset="0"/>
            </a:endParaRPr>
          </a:p>
          <a:p>
            <a:pPr algn="just">
              <a:lnSpc>
                <a:spcPct val="112000"/>
              </a:lnSpc>
              <a:spcBef>
                <a:spcPct val="0"/>
              </a:spcBef>
              <a:buSzPts val="1000"/>
              <a:buFontTx/>
              <a:buNone/>
            </a:pPr>
            <a:endParaRPr lang="es-ES" altLang="es-ES" sz="1800">
              <a:solidFill>
                <a:srgbClr val="008000"/>
              </a:solidFill>
              <a:ea typeface="Arial" panose="020B0604020202020204" pitchFamily="34" charset="0"/>
              <a:cs typeface="Times New Roman" panose="02020603050405020304" pitchFamily="18" charset="0"/>
            </a:endParaRPr>
          </a:p>
          <a:p>
            <a:pPr algn="just">
              <a:lnSpc>
                <a:spcPct val="112000"/>
              </a:lnSpc>
              <a:spcBef>
                <a:spcPct val="0"/>
              </a:spcBef>
              <a:buSzPts val="1000"/>
              <a:buFontTx/>
              <a:buNone/>
            </a:pPr>
            <a:endParaRPr lang="es-ES" altLang="es-ES" sz="1800">
              <a:solidFill>
                <a:srgbClr val="008000"/>
              </a:solidFill>
              <a:ea typeface="Arial" panose="020B0604020202020204" pitchFamily="34" charset="0"/>
              <a:cs typeface="Times New Roman" panose="02020603050405020304" pitchFamily="18" charset="0"/>
            </a:endParaRPr>
          </a:p>
          <a:p>
            <a:pPr algn="ctr">
              <a:lnSpc>
                <a:spcPct val="112000"/>
              </a:lnSpc>
              <a:spcBef>
                <a:spcPct val="0"/>
              </a:spcBef>
              <a:buSzPts val="1000"/>
              <a:buFontTx/>
              <a:buNone/>
            </a:pPr>
            <a:r>
              <a:rPr lang="es-ES" altLang="es-ES" sz="2400" b="1">
                <a:solidFill>
                  <a:srgbClr val="FF0000"/>
                </a:solidFill>
                <a:ea typeface="Arial" panose="020B0604020202020204" pitchFamily="34" charset="0"/>
                <a:cs typeface="Times New Roman" panose="02020603050405020304" pitchFamily="18" charset="0"/>
              </a:rPr>
              <a:t>Ley de Transparencia, Acceso a la Información Pública y Buen Gobierno</a:t>
            </a:r>
          </a:p>
          <a:p>
            <a:pPr algn="ctr">
              <a:lnSpc>
                <a:spcPct val="112000"/>
              </a:lnSpc>
              <a:spcBef>
                <a:spcPct val="0"/>
              </a:spcBef>
              <a:buSzPts val="1000"/>
              <a:buFontTx/>
              <a:buNone/>
            </a:pPr>
            <a:endParaRPr lang="es-ES" altLang="es-ES" sz="2400" b="1">
              <a:solidFill>
                <a:srgbClr val="FF0000"/>
              </a:solidFill>
              <a:ea typeface="Arial" panose="020B0604020202020204" pitchFamily="34"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D238B969-16B5-7417-0A5D-D626A4248DBC}"/>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37891" name="Picture 5" descr="cefcorp_logo">
            <a:extLst>
              <a:ext uri="{FF2B5EF4-FFF2-40B4-BE49-F238E27FC236}">
                <a16:creationId xmlns:a16="http://schemas.microsoft.com/office/drawing/2014/main" id="{4D612110-9510-CB51-427B-0B73719D52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2" name="Rectangle 6">
            <a:extLst>
              <a:ext uri="{FF2B5EF4-FFF2-40B4-BE49-F238E27FC236}">
                <a16:creationId xmlns:a16="http://schemas.microsoft.com/office/drawing/2014/main" id="{9E67E9E0-109C-9FF9-4165-711098F324C0}"/>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37893" name="Text Box 21">
            <a:extLst>
              <a:ext uri="{FF2B5EF4-FFF2-40B4-BE49-F238E27FC236}">
                <a16:creationId xmlns:a16="http://schemas.microsoft.com/office/drawing/2014/main" id="{ABDE4BDF-0BD2-CB7A-2D37-67406182F41E}"/>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37894" name="Text Box 22">
            <a:extLst>
              <a:ext uri="{FF2B5EF4-FFF2-40B4-BE49-F238E27FC236}">
                <a16:creationId xmlns:a16="http://schemas.microsoft.com/office/drawing/2014/main" id="{1DC2B721-0B9B-F269-B546-1CF647A26140}"/>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37895" name="Picture 26" descr="logo-udima-horizontal-COLOR">
            <a:extLst>
              <a:ext uri="{FF2B5EF4-FFF2-40B4-BE49-F238E27FC236}">
                <a16:creationId xmlns:a16="http://schemas.microsoft.com/office/drawing/2014/main" id="{A8569CC1-B629-8183-694F-6F8A70E106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6" name="Rectángulo 1">
            <a:extLst>
              <a:ext uri="{FF2B5EF4-FFF2-40B4-BE49-F238E27FC236}">
                <a16:creationId xmlns:a16="http://schemas.microsoft.com/office/drawing/2014/main" id="{3860BFE8-80BC-C2FE-DC4A-47B2F4121302}"/>
              </a:ext>
            </a:extLst>
          </p:cNvPr>
          <p:cNvSpPr>
            <a:spLocks noChangeArrowheads="1"/>
          </p:cNvSpPr>
          <p:nvPr/>
        </p:nvSpPr>
        <p:spPr bwMode="auto">
          <a:xfrm>
            <a:off x="611188" y="841375"/>
            <a:ext cx="8208962"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a:p>
            <a:pPr algn="just">
              <a:spcBef>
                <a:spcPct val="0"/>
              </a:spcBef>
              <a:buFontTx/>
              <a:buNone/>
            </a:pPr>
            <a:r>
              <a:rPr lang="es-ES" altLang="es-ES" sz="1800">
                <a:solidFill>
                  <a:srgbClr val="006600"/>
                </a:solidFill>
              </a:rPr>
              <a:t>La transparencia, el acceso a la información pública y las normas de buen gobierno deben ser los ejes fundamentales de toda acción política. </a:t>
            </a:r>
          </a:p>
          <a:p>
            <a:pPr algn="just">
              <a:spcBef>
                <a:spcPct val="0"/>
              </a:spcBef>
              <a:buFontTx/>
              <a:buNone/>
            </a:pPr>
            <a:endParaRPr lang="es-ES" altLang="es-ES" sz="1800">
              <a:solidFill>
                <a:srgbClr val="006600"/>
              </a:solidFill>
            </a:endParaRPr>
          </a:p>
          <a:p>
            <a:pPr algn="just">
              <a:spcBef>
                <a:spcPct val="0"/>
              </a:spcBef>
              <a:buFontTx/>
              <a:buNone/>
            </a:pPr>
            <a:r>
              <a:rPr lang="es-ES" altLang="es-ES" sz="1800">
                <a:solidFill>
                  <a:srgbClr val="006600"/>
                </a:solidFill>
              </a:rPr>
              <a:t>Sólo cuando la acción de los responsables públicos se somete a escrutinio, cuando los ciudadanos pueden conocer cómo se toman las decisiones que les afectan, cómo se manejan los fondos públicos o bajo qué criterios actúan nuestras instituciones podremos hablar del inicio de un proceso en el que los poderes públicos comienzan a responder a una sociedad que es crítica, exigente y que demanda participación de los poderes públicos.</a:t>
            </a:r>
          </a:p>
          <a:p>
            <a:pPr algn="just">
              <a:spcBef>
                <a:spcPct val="0"/>
              </a:spcBef>
              <a:buFontTx/>
              <a:buNone/>
            </a:pPr>
            <a:endParaRPr lang="es-ES" altLang="es-ES" sz="1800">
              <a:solidFill>
                <a:srgbClr val="006600"/>
              </a:solidFill>
              <a:cs typeface="Arial" panose="020B0604020202020204" pitchFamily="34" charset="0"/>
            </a:endParaRPr>
          </a:p>
          <a:p>
            <a:pPr algn="just">
              <a:spcBef>
                <a:spcPct val="0"/>
              </a:spcBef>
              <a:buFontTx/>
              <a:buNone/>
            </a:pPr>
            <a:r>
              <a:rPr lang="es-ES" altLang="es-ES" sz="1800" b="1" i="1" u="sng">
                <a:solidFill>
                  <a:srgbClr val="C00000"/>
                </a:solidFill>
              </a:rPr>
              <a:t>La Ley 19/2013 de Transparencia, Acceso a la Información Pública y Buen Gobierno (LTAIyBG)  vio la luz el 9 de diciembre de 2013 con el propósito de regular qué información deben publicar las Administraciones Públicas para conocimiento de los ciudadanos, cómo pueden pedir los ciudadanos información a las Administraciones y cuáles son las reglas.</a:t>
            </a:r>
            <a:endParaRPr lang="es-ES" altLang="es-ES" sz="1800" b="1" i="1" u="sng">
              <a:solidFill>
                <a:srgbClr val="C00000"/>
              </a:solidFill>
              <a:cs typeface="Arial" panose="020B0604020202020204" pitchFamily="34" charset="0"/>
            </a:endParaRPr>
          </a:p>
        </p:txBody>
      </p:sp>
      <p:sp>
        <p:nvSpPr>
          <p:cNvPr id="37897" name="CuadroTexto 3">
            <a:extLst>
              <a:ext uri="{FF2B5EF4-FFF2-40B4-BE49-F238E27FC236}">
                <a16:creationId xmlns:a16="http://schemas.microsoft.com/office/drawing/2014/main" id="{75511F60-8DE9-7268-0CD4-970A18CB72ED}"/>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Ley de transparencia, acceso a la información y buen gobierno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4">
            <a:extLst>
              <a:ext uri="{FF2B5EF4-FFF2-40B4-BE49-F238E27FC236}">
                <a16:creationId xmlns:a16="http://schemas.microsoft.com/office/drawing/2014/main" id="{99DFA600-1556-A38C-7969-DC740D3A0AB7}"/>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39939" name="Picture 5" descr="cefcorp_logo">
            <a:extLst>
              <a:ext uri="{FF2B5EF4-FFF2-40B4-BE49-F238E27FC236}">
                <a16:creationId xmlns:a16="http://schemas.microsoft.com/office/drawing/2014/main" id="{9399B01D-FBF9-58BA-31CB-7C1B18E6A9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0" name="Rectangle 6">
            <a:extLst>
              <a:ext uri="{FF2B5EF4-FFF2-40B4-BE49-F238E27FC236}">
                <a16:creationId xmlns:a16="http://schemas.microsoft.com/office/drawing/2014/main" id="{148DD573-31C6-31F2-021F-968A46D3841C}"/>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39941" name="Text Box 21">
            <a:extLst>
              <a:ext uri="{FF2B5EF4-FFF2-40B4-BE49-F238E27FC236}">
                <a16:creationId xmlns:a16="http://schemas.microsoft.com/office/drawing/2014/main" id="{D7682102-82F8-2AE8-6FF1-876FB29B700D}"/>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39942" name="Text Box 22">
            <a:extLst>
              <a:ext uri="{FF2B5EF4-FFF2-40B4-BE49-F238E27FC236}">
                <a16:creationId xmlns:a16="http://schemas.microsoft.com/office/drawing/2014/main" id="{F2BFE758-87CA-6F45-C0B1-640CDA37C486}"/>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39943" name="Picture 26" descr="logo-udima-horizontal-COLOR">
            <a:extLst>
              <a:ext uri="{FF2B5EF4-FFF2-40B4-BE49-F238E27FC236}">
                <a16:creationId xmlns:a16="http://schemas.microsoft.com/office/drawing/2014/main" id="{2B69C6C3-8C84-8B3E-3D1A-5D8D1942B2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4" name="Rectángulo 1">
            <a:extLst>
              <a:ext uri="{FF2B5EF4-FFF2-40B4-BE49-F238E27FC236}">
                <a16:creationId xmlns:a16="http://schemas.microsoft.com/office/drawing/2014/main" id="{146CDC0E-5A05-3178-6C9E-3F0BD1F86CB3}"/>
              </a:ext>
            </a:extLst>
          </p:cNvPr>
          <p:cNvSpPr>
            <a:spLocks noChangeArrowheads="1"/>
          </p:cNvSpPr>
          <p:nvPr/>
        </p:nvSpPr>
        <p:spPr bwMode="auto">
          <a:xfrm>
            <a:off x="611188" y="884238"/>
            <a:ext cx="8208962" cy="4800600"/>
          </a:xfrm>
          <a:prstGeom prst="rect">
            <a:avLst/>
          </a:prstGeom>
          <a:noFill/>
          <a:ln w="9525">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r>
              <a:rPr lang="es-ES" altLang="es-ES" sz="1800" b="1">
                <a:solidFill>
                  <a:srgbClr val="C00000"/>
                </a:solidFill>
              </a:rPr>
              <a:t>Qué es la publicidad activa?</a:t>
            </a:r>
          </a:p>
          <a:p>
            <a:pPr algn="just">
              <a:spcBef>
                <a:spcPct val="0"/>
              </a:spcBef>
              <a:buFontTx/>
              <a:buNone/>
            </a:pPr>
            <a:endParaRPr lang="es-ES" altLang="es-ES" sz="1800" b="1">
              <a:solidFill>
                <a:srgbClr val="C00000"/>
              </a:solidFill>
            </a:endParaRPr>
          </a:p>
          <a:p>
            <a:pPr algn="just">
              <a:spcBef>
                <a:spcPct val="0"/>
              </a:spcBef>
              <a:buFontTx/>
              <a:buNone/>
            </a:pPr>
            <a:r>
              <a:rPr lang="es-ES" altLang="es-ES" sz="1800">
                <a:solidFill>
                  <a:srgbClr val="008000"/>
                </a:solidFill>
              </a:rPr>
              <a:t>Es una información agrupada en las categorías definidas en la LTAIyBG</a:t>
            </a:r>
            <a:r>
              <a:rPr lang="es-ES" altLang="es-ES" sz="1800">
                <a:solidFill>
                  <a:srgbClr val="006600"/>
                </a:solidFill>
              </a:rPr>
              <a:t>, que </a:t>
            </a:r>
            <a:r>
              <a:rPr lang="es-ES" altLang="es-ES" sz="1800">
                <a:solidFill>
                  <a:srgbClr val="008000"/>
                </a:solidFill>
              </a:rPr>
              <a:t>las administraciones públicas deberán publicar de forma periódica y actualizada para garantizar la transparencia de su actividad.</a:t>
            </a:r>
          </a:p>
          <a:p>
            <a:pPr algn="just">
              <a:spcBef>
                <a:spcPct val="0"/>
              </a:spcBef>
              <a:buFontTx/>
              <a:buNone/>
            </a:pPr>
            <a:endParaRPr lang="es-ES" altLang="es-ES" sz="1800">
              <a:solidFill>
                <a:srgbClr val="C00000"/>
              </a:solidFill>
            </a:endParaRPr>
          </a:p>
          <a:p>
            <a:pPr algn="just">
              <a:spcBef>
                <a:spcPct val="0"/>
              </a:spcBef>
              <a:buFontTx/>
              <a:buNone/>
            </a:pPr>
            <a:r>
              <a:rPr lang="es-ES" altLang="es-ES" sz="1800" b="1">
                <a:solidFill>
                  <a:srgbClr val="008000"/>
                </a:solidFill>
              </a:rPr>
              <a:t>En donde se publica esta información??. </a:t>
            </a:r>
            <a:r>
              <a:rPr lang="es-ES" altLang="es-ES" sz="1800">
                <a:solidFill>
                  <a:srgbClr val="006600"/>
                </a:solidFill>
              </a:rPr>
              <a:t>La información sujeta a las obligaciones de transparencia </a:t>
            </a:r>
            <a:r>
              <a:rPr lang="es-ES" altLang="es-ES" sz="1800">
                <a:solidFill>
                  <a:srgbClr val="008000"/>
                </a:solidFill>
              </a:rPr>
              <a:t>será publicada en las correspondientes sedes electrónicas o páginas web </a:t>
            </a:r>
            <a:r>
              <a:rPr lang="es-ES" altLang="es-ES" sz="1800">
                <a:solidFill>
                  <a:srgbClr val="006600"/>
                </a:solidFill>
              </a:rPr>
              <a:t>y de una manera clara, estructurada y entendible para los interesados y, preferiblemente, en formatos reutilizables.</a:t>
            </a:r>
          </a:p>
          <a:p>
            <a:pPr algn="just">
              <a:spcBef>
                <a:spcPct val="0"/>
              </a:spcBef>
              <a:buFontTx/>
              <a:buNone/>
            </a:pPr>
            <a:endParaRPr lang="es-ES" altLang="es-ES" sz="1800">
              <a:solidFill>
                <a:srgbClr val="006600"/>
              </a:solidFill>
            </a:endParaRPr>
          </a:p>
          <a:p>
            <a:pPr algn="just">
              <a:spcBef>
                <a:spcPct val="0"/>
              </a:spcBef>
              <a:buFontTx/>
              <a:buNone/>
            </a:pPr>
            <a:r>
              <a:rPr lang="es-ES" altLang="es-ES" sz="1800">
                <a:solidFill>
                  <a:srgbClr val="006600"/>
                </a:solidFill>
              </a:rPr>
              <a:t>Cuando se trate de entidades sin ánimo de lucro que persigan exclusivamente fines de interés social o cultural y cuyo presupuesto sea inferior a 50.000 euros, el cumplimiento de las obligaciones derivadas de esta Ley podrá realizarse utilizando los medios electrónicos puestos a su disposición por la Administración Pública de la que provenga la mayor parte de las ayudas o subvenciones públicas percibidas</a:t>
            </a:r>
          </a:p>
        </p:txBody>
      </p:sp>
      <p:sp>
        <p:nvSpPr>
          <p:cNvPr id="39945" name="CuadroTexto 3">
            <a:extLst>
              <a:ext uri="{FF2B5EF4-FFF2-40B4-BE49-F238E27FC236}">
                <a16:creationId xmlns:a16="http://schemas.microsoft.com/office/drawing/2014/main" id="{F5B8ABA6-E525-ED84-F40C-98AA1D42AAA9}"/>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Ley de transparencia, acceso a la información y buen gobierno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a:extLst>
              <a:ext uri="{FF2B5EF4-FFF2-40B4-BE49-F238E27FC236}">
                <a16:creationId xmlns:a16="http://schemas.microsoft.com/office/drawing/2014/main" id="{9D456D09-2D55-514E-09AD-006B310706B2}"/>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41987" name="Picture 5" descr="cefcorp_logo">
            <a:extLst>
              <a:ext uri="{FF2B5EF4-FFF2-40B4-BE49-F238E27FC236}">
                <a16:creationId xmlns:a16="http://schemas.microsoft.com/office/drawing/2014/main" id="{439EE26B-71BF-8948-FE02-D3F37C16BF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8" name="Rectangle 6">
            <a:extLst>
              <a:ext uri="{FF2B5EF4-FFF2-40B4-BE49-F238E27FC236}">
                <a16:creationId xmlns:a16="http://schemas.microsoft.com/office/drawing/2014/main" id="{8D808DF3-BE68-F7A3-FF9E-61287314A8AB}"/>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41989" name="Text Box 21">
            <a:extLst>
              <a:ext uri="{FF2B5EF4-FFF2-40B4-BE49-F238E27FC236}">
                <a16:creationId xmlns:a16="http://schemas.microsoft.com/office/drawing/2014/main" id="{649E5014-298B-F401-F923-F103A229AD35}"/>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41990" name="Text Box 22">
            <a:extLst>
              <a:ext uri="{FF2B5EF4-FFF2-40B4-BE49-F238E27FC236}">
                <a16:creationId xmlns:a16="http://schemas.microsoft.com/office/drawing/2014/main" id="{26DC2A2F-551D-CC62-9A13-4A34F5491139}"/>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41991" name="Picture 26" descr="logo-udima-horizontal-COLOR">
            <a:extLst>
              <a:ext uri="{FF2B5EF4-FFF2-40B4-BE49-F238E27FC236}">
                <a16:creationId xmlns:a16="http://schemas.microsoft.com/office/drawing/2014/main" id="{EF6B1FE9-D68E-3438-958D-8C0AF81024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ángulo 1">
            <a:extLst>
              <a:ext uri="{FF2B5EF4-FFF2-40B4-BE49-F238E27FC236}">
                <a16:creationId xmlns:a16="http://schemas.microsoft.com/office/drawing/2014/main" id="{6EF7FBA1-B45D-1A7D-2E58-8EBC80F145A9}"/>
              </a:ext>
            </a:extLst>
          </p:cNvPr>
          <p:cNvSpPr/>
          <p:nvPr/>
        </p:nvSpPr>
        <p:spPr>
          <a:xfrm>
            <a:off x="179388" y="912813"/>
            <a:ext cx="8208962" cy="5783262"/>
          </a:xfrm>
          <a:prstGeom prst="rect">
            <a:avLst/>
          </a:prstGeom>
          <a:ln>
            <a:solidFill>
              <a:srgbClr val="7030A0"/>
            </a:solidFill>
          </a:ln>
        </p:spPr>
        <p:txBody>
          <a:bodyPr>
            <a:spAutoFit/>
          </a:bodyPr>
          <a:lstStyle/>
          <a:p>
            <a:pPr marL="57150" algn="just" eaLnBrk="1" hangingPunct="1">
              <a:lnSpc>
                <a:spcPct val="60000"/>
              </a:lnSpc>
              <a:buFont typeface="Arial" panose="020B0604020202020204" pitchFamily="34" charset="0"/>
              <a:buNone/>
              <a:defRPr/>
            </a:pPr>
            <a:r>
              <a:rPr lang="es-ES" altLang="es-ES" b="1" dirty="0">
                <a:solidFill>
                  <a:srgbClr val="C00000"/>
                </a:solidFill>
                <a:latin typeface="+mn-lt"/>
                <a:cs typeface="Calibri" panose="020F0502020204030204" pitchFamily="34" charset="0"/>
              </a:rPr>
              <a:t>Quienes están obligados por la </a:t>
            </a:r>
            <a:r>
              <a:rPr lang="es-ES" altLang="es-ES" b="1" dirty="0" err="1">
                <a:solidFill>
                  <a:srgbClr val="C00000"/>
                </a:solidFill>
                <a:latin typeface="+mn-lt"/>
                <a:cs typeface="Calibri" panose="020F0502020204030204" pitchFamily="34" charset="0"/>
              </a:rPr>
              <a:t>LTAIyBG</a:t>
            </a:r>
            <a:r>
              <a:rPr lang="es-ES" altLang="es-ES" b="1" dirty="0">
                <a:solidFill>
                  <a:srgbClr val="C00000"/>
                </a:solidFill>
                <a:latin typeface="+mn-lt"/>
                <a:cs typeface="Calibri" panose="020F0502020204030204" pitchFamily="34" charset="0"/>
              </a:rPr>
              <a:t> a la publicidad activa?</a:t>
            </a:r>
          </a:p>
          <a:p>
            <a:pPr marL="57150" algn="just" eaLnBrk="1" hangingPunct="1">
              <a:buFont typeface="Arial" panose="020B0604020202020204" pitchFamily="34" charset="0"/>
              <a:buNone/>
              <a:defRPr/>
            </a:pPr>
            <a:endParaRPr lang="es-ES" altLang="es-ES" sz="1400" b="1" dirty="0">
              <a:solidFill>
                <a:srgbClr val="008000"/>
              </a:solidFill>
              <a:latin typeface="+mn-lt"/>
              <a:cs typeface="Calibri" panose="020F0502020204030204" pitchFamily="34" charset="0"/>
            </a:endParaRPr>
          </a:p>
          <a:p>
            <a:pPr marL="57150" algn="just" eaLnBrk="1" hangingPunct="1">
              <a:buFont typeface="Arial" panose="020B0604020202020204" pitchFamily="34" charset="0"/>
              <a:buNone/>
              <a:defRPr/>
            </a:pPr>
            <a:r>
              <a:rPr lang="es-ES" altLang="es-ES" sz="1500" b="1" dirty="0">
                <a:solidFill>
                  <a:srgbClr val="008000"/>
                </a:solidFill>
                <a:latin typeface="+mn-lt"/>
                <a:cs typeface="Calibri" panose="020F0502020204030204" pitchFamily="34" charset="0"/>
              </a:rPr>
              <a:t>Todas las Administraciones Públicas, entidades del sector público, órganos constitucionales (incluida la Casa de Su Majestad el Rey) y sus equivalentes a nivel autonómico, así como Fundaciones del Sector Público, Asociaciones constituidas por Administraciones Públicas o Sociedades Mercantiles con participación pública mayoritaria, </a:t>
            </a:r>
            <a:r>
              <a:rPr lang="es-ES" altLang="es-ES" sz="1500" dirty="0">
                <a:solidFill>
                  <a:srgbClr val="006600"/>
                </a:solidFill>
                <a:latin typeface="+mn-lt"/>
                <a:cs typeface="Calibri" panose="020F0502020204030204" pitchFamily="34" charset="0"/>
              </a:rPr>
              <a:t>están obligadas a cumplir la </a:t>
            </a:r>
            <a:r>
              <a:rPr lang="es-ES" altLang="es-ES" sz="1500" dirty="0" err="1">
                <a:solidFill>
                  <a:srgbClr val="006600"/>
                </a:solidFill>
                <a:latin typeface="+mn-lt"/>
                <a:cs typeface="Calibri" panose="020F0502020204030204" pitchFamily="34" charset="0"/>
              </a:rPr>
              <a:t>LTAIyBG</a:t>
            </a:r>
            <a:r>
              <a:rPr lang="es-ES" altLang="es-ES" sz="1500" dirty="0">
                <a:solidFill>
                  <a:srgbClr val="006600"/>
                </a:solidFill>
                <a:latin typeface="+mn-lt"/>
                <a:cs typeface="Calibri" panose="020F0502020204030204" pitchFamily="34" charset="0"/>
              </a:rPr>
              <a:t>. Es decir, deben publicar la información  que la Ley menciona y, además, responder a las solicitudes de información que presenten los ciudadanos. (Art. 2)</a:t>
            </a:r>
          </a:p>
          <a:p>
            <a:pPr marL="57150" algn="just" eaLnBrk="1" hangingPunct="1">
              <a:buFont typeface="Arial" panose="020B0604020202020204" pitchFamily="34" charset="0"/>
              <a:buNone/>
              <a:defRPr/>
            </a:pPr>
            <a:endParaRPr lang="es-ES" altLang="es-ES" sz="1500" dirty="0">
              <a:solidFill>
                <a:srgbClr val="006600"/>
              </a:solidFill>
              <a:latin typeface="+mn-lt"/>
              <a:cs typeface="Calibri" panose="020F0502020204030204" pitchFamily="34" charset="0"/>
            </a:endParaRPr>
          </a:p>
          <a:p>
            <a:pPr marL="57150" algn="just" eaLnBrk="1" hangingPunct="1">
              <a:buFont typeface="Arial" panose="020B0604020202020204" pitchFamily="34" charset="0"/>
              <a:buNone/>
              <a:defRPr/>
            </a:pPr>
            <a:r>
              <a:rPr lang="es-ES" altLang="es-ES" sz="1500" dirty="0">
                <a:solidFill>
                  <a:srgbClr val="006600"/>
                </a:solidFill>
                <a:latin typeface="+mn-lt"/>
                <a:cs typeface="Calibri" panose="020F0502020204030204" pitchFamily="34" charset="0"/>
              </a:rPr>
              <a:t>También publicarán la información prevista en la Ley, entidades privadas: </a:t>
            </a:r>
          </a:p>
          <a:p>
            <a:pPr marL="57150" algn="just" eaLnBrk="1" hangingPunct="1">
              <a:buFont typeface="Arial" panose="020B0604020202020204" pitchFamily="34" charset="0"/>
              <a:buNone/>
              <a:defRPr/>
            </a:pPr>
            <a:endParaRPr lang="es-ES" altLang="es-ES" sz="1500" dirty="0">
              <a:solidFill>
                <a:srgbClr val="006600"/>
              </a:solidFill>
              <a:latin typeface="+mn-lt"/>
              <a:cs typeface="Calibri" panose="020F0502020204030204" pitchFamily="34" charset="0"/>
            </a:endParaRPr>
          </a:p>
          <a:p>
            <a:pPr marL="400050" indent="-342900" algn="just" eaLnBrk="1" hangingPunct="1">
              <a:buFont typeface="Arial" panose="020B0604020202020204" pitchFamily="34" charset="0"/>
              <a:buChar char="•"/>
              <a:defRPr/>
            </a:pPr>
            <a:r>
              <a:rPr lang="es-ES" altLang="es-ES" sz="1500" dirty="0">
                <a:solidFill>
                  <a:srgbClr val="006600"/>
                </a:solidFill>
                <a:latin typeface="+mn-lt"/>
                <a:cs typeface="Calibri" panose="020F0502020204030204" pitchFamily="34" charset="0"/>
              </a:rPr>
              <a:t>como los </a:t>
            </a:r>
            <a:r>
              <a:rPr lang="es-ES" altLang="es-ES" sz="1500" b="1" dirty="0">
                <a:solidFill>
                  <a:srgbClr val="006600"/>
                </a:solidFill>
                <a:latin typeface="+mn-lt"/>
                <a:cs typeface="Calibri" panose="020F0502020204030204" pitchFamily="34" charset="0"/>
              </a:rPr>
              <a:t>partidos políticos, sindicatos, organizaciones sindicales y </a:t>
            </a:r>
          </a:p>
          <a:p>
            <a:pPr marL="400050" indent="-342900" algn="just" eaLnBrk="1" hangingPunct="1">
              <a:buFont typeface="Arial" panose="020B0604020202020204" pitchFamily="34" charset="0"/>
              <a:buChar char="•"/>
              <a:defRPr/>
            </a:pPr>
            <a:endParaRPr lang="es-ES" altLang="es-ES" sz="1500" b="1" dirty="0">
              <a:solidFill>
                <a:srgbClr val="006600"/>
              </a:solidFill>
              <a:latin typeface="+mn-lt"/>
              <a:cs typeface="Calibri" panose="020F0502020204030204" pitchFamily="34" charset="0"/>
            </a:endParaRPr>
          </a:p>
          <a:p>
            <a:pPr marL="400050" indent="-342900" algn="just" eaLnBrk="1" hangingPunct="1">
              <a:buFont typeface="Arial" panose="020B0604020202020204" pitchFamily="34" charset="0"/>
              <a:buChar char="•"/>
              <a:defRPr/>
            </a:pPr>
            <a:r>
              <a:rPr lang="es-ES" altLang="es-ES" sz="1500" b="1" dirty="0">
                <a:solidFill>
                  <a:srgbClr val="006600"/>
                </a:solidFill>
                <a:latin typeface="+mn-lt"/>
                <a:cs typeface="Calibri" panose="020F0502020204030204" pitchFamily="34" charset="0"/>
              </a:rPr>
              <a:t>otras entidades </a:t>
            </a:r>
            <a:r>
              <a:rPr lang="es-ES" altLang="es-ES" sz="1500" dirty="0">
                <a:solidFill>
                  <a:srgbClr val="006600"/>
                </a:solidFill>
                <a:latin typeface="+mn-lt"/>
                <a:cs typeface="Calibri" panose="020F0502020204030204" pitchFamily="34" charset="0"/>
              </a:rPr>
              <a:t>que perciban ayudas públicas en cantidad superior a 100.000 euros o cuando al menos alcancen el 40% de sus ingresos tengan carácter de ayuda o subvención y al menos alcancen 5.000 euros. (Art. 3)</a:t>
            </a:r>
          </a:p>
          <a:p>
            <a:pPr marL="57150" algn="just" eaLnBrk="1" hangingPunct="1">
              <a:buFont typeface="Arial" panose="020B0604020202020204" pitchFamily="34" charset="0"/>
              <a:buNone/>
              <a:defRPr/>
            </a:pPr>
            <a:endParaRPr lang="es-ES" altLang="es-ES" sz="1500" dirty="0">
              <a:solidFill>
                <a:srgbClr val="C00000"/>
              </a:solidFill>
              <a:latin typeface="+mn-lt"/>
              <a:cs typeface="Calibri" panose="020F0502020204030204" pitchFamily="34" charset="0"/>
            </a:endParaRPr>
          </a:p>
          <a:p>
            <a:pPr marL="57150" algn="just" eaLnBrk="1" hangingPunct="1">
              <a:buFont typeface="Arial" panose="020B0604020202020204" pitchFamily="34" charset="0"/>
              <a:buNone/>
              <a:defRPr/>
            </a:pPr>
            <a:r>
              <a:rPr lang="es-ES" altLang="es-ES" sz="1500" b="1" dirty="0">
                <a:solidFill>
                  <a:srgbClr val="008000"/>
                </a:solidFill>
                <a:latin typeface="+mn-lt"/>
                <a:cs typeface="Calibri" panose="020F0502020204030204" pitchFamily="34" charset="0"/>
              </a:rPr>
              <a:t>También las personas físicas y jurídicas </a:t>
            </a:r>
            <a:r>
              <a:rPr lang="es-ES" altLang="es-ES" sz="1500" dirty="0">
                <a:solidFill>
                  <a:srgbClr val="006600"/>
                </a:solidFill>
                <a:latin typeface="+mn-lt"/>
                <a:cs typeface="Calibri" panose="020F0502020204030204" pitchFamily="34" charset="0"/>
              </a:rPr>
              <a:t>distintas de las referidas anteriormente que presten servicios públicos o ejerzan potestades administrativas estarán obligadas a suministrar a la Administración, a la que se encuentren vinculadas</a:t>
            </a:r>
            <a:r>
              <a:rPr lang="es-ES" altLang="es-ES" sz="1500" dirty="0">
                <a:latin typeface="+mn-lt"/>
                <a:cs typeface="Calibri" panose="020F0502020204030204" pitchFamily="34" charset="0"/>
              </a:rPr>
              <a:t>, </a:t>
            </a:r>
            <a:r>
              <a:rPr lang="es-ES" altLang="es-ES" sz="1500" b="1" u="sng" dirty="0">
                <a:solidFill>
                  <a:srgbClr val="008000"/>
                </a:solidFill>
                <a:latin typeface="+mn-lt"/>
                <a:cs typeface="Calibri" panose="020F0502020204030204" pitchFamily="34" charset="0"/>
              </a:rPr>
              <a:t>previo requerimiento</a:t>
            </a:r>
            <a:r>
              <a:rPr lang="es-ES" altLang="es-ES" sz="1500" dirty="0">
                <a:latin typeface="+mn-lt"/>
                <a:cs typeface="Calibri" panose="020F0502020204030204" pitchFamily="34" charset="0"/>
              </a:rPr>
              <a:t>, </a:t>
            </a:r>
            <a:r>
              <a:rPr lang="es-ES" altLang="es-ES" sz="1500" dirty="0">
                <a:solidFill>
                  <a:srgbClr val="006600"/>
                </a:solidFill>
                <a:latin typeface="+mn-lt"/>
                <a:cs typeface="Calibri" panose="020F0502020204030204" pitchFamily="34" charset="0"/>
              </a:rPr>
              <a:t>toda la información necesaria para el cumplimiento por aquéllos de las obligaciones previstas en la Ley. Esta obligación se extenderá a los adjudicatarios de contratos del sector público en los términos previstos en el respectivo contrato. (art. 4)</a:t>
            </a:r>
          </a:p>
          <a:p>
            <a:pPr marL="57150" algn="just" eaLnBrk="1" hangingPunct="1">
              <a:buFont typeface="Arial" panose="020B0604020202020204" pitchFamily="34" charset="0"/>
              <a:buNone/>
              <a:defRPr/>
            </a:pPr>
            <a:endParaRPr lang="es-ES" altLang="es-ES" sz="1500" dirty="0">
              <a:solidFill>
                <a:srgbClr val="006600"/>
              </a:solidFill>
              <a:latin typeface="+mn-lt"/>
              <a:cs typeface="Calibri" panose="020F0502020204030204" pitchFamily="34" charset="0"/>
            </a:endParaRPr>
          </a:p>
        </p:txBody>
      </p:sp>
      <p:sp>
        <p:nvSpPr>
          <p:cNvPr id="41993" name="CuadroTexto 3">
            <a:extLst>
              <a:ext uri="{FF2B5EF4-FFF2-40B4-BE49-F238E27FC236}">
                <a16:creationId xmlns:a16="http://schemas.microsoft.com/office/drawing/2014/main" id="{DC660021-74CA-2628-648D-89AB1B4FCE4B}"/>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Ley de transparencia, acceso a la información y buen gobierno</a:t>
            </a:r>
          </a:p>
        </p:txBody>
      </p:sp>
      <mc:AlternateContent xmlns:mc="http://schemas.openxmlformats.org/markup-compatibility/2006">
        <mc:Choice xmlns:p14="http://schemas.microsoft.com/office/powerpoint/2010/main" Requires="p14">
          <p:contentPart p14:bwMode="auto" r:id="rId5">
            <p14:nvContentPartPr>
              <p14:cNvPr id="3" name="Entrada de lápiz 2">
                <a:extLst>
                  <a:ext uri="{FF2B5EF4-FFF2-40B4-BE49-F238E27FC236}">
                    <a16:creationId xmlns:a16="http://schemas.microsoft.com/office/drawing/2014/main" id="{FC81B2B4-CE6F-AE52-DA4F-9370AF938DD0}"/>
                  </a:ext>
                </a:extLst>
              </p14:cNvPr>
              <p14:cNvContentPartPr/>
              <p14:nvPr/>
            </p14:nvContentPartPr>
            <p14:xfrm>
              <a:off x="4103280" y="3668400"/>
              <a:ext cx="5040" cy="7920"/>
            </p14:xfrm>
          </p:contentPart>
        </mc:Choice>
        <mc:Fallback>
          <p:pic>
            <p:nvPicPr>
              <p:cNvPr id="3" name="Entrada de lápiz 2">
                <a:extLst>
                  <a:ext uri="{FF2B5EF4-FFF2-40B4-BE49-F238E27FC236}">
                    <a16:creationId xmlns:a16="http://schemas.microsoft.com/office/drawing/2014/main" id="{FC81B2B4-CE6F-AE52-DA4F-9370AF938DD0}"/>
                  </a:ext>
                </a:extLst>
              </p:cNvPr>
              <p:cNvPicPr/>
              <p:nvPr/>
            </p:nvPicPr>
            <p:blipFill>
              <a:blip r:embed="rId6"/>
              <a:stretch>
                <a:fillRect/>
              </a:stretch>
            </p:blipFill>
            <p:spPr>
              <a:xfrm>
                <a:off x="4093920" y="3659040"/>
                <a:ext cx="23760" cy="26640"/>
              </a:xfrm>
              <a:prstGeom prst="rect">
                <a:avLst/>
              </a:prstGeom>
            </p:spPr>
          </p:pic>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4">
            <a:extLst>
              <a:ext uri="{FF2B5EF4-FFF2-40B4-BE49-F238E27FC236}">
                <a16:creationId xmlns:a16="http://schemas.microsoft.com/office/drawing/2014/main" id="{9476E017-387A-412B-8E35-5167F09A4E3F}"/>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44035" name="Picture 5" descr="cefcorp_logo">
            <a:extLst>
              <a:ext uri="{FF2B5EF4-FFF2-40B4-BE49-F238E27FC236}">
                <a16:creationId xmlns:a16="http://schemas.microsoft.com/office/drawing/2014/main" id="{C36A33A4-30DF-F77C-0099-AD7A4B53F2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6" name="Rectangle 6">
            <a:extLst>
              <a:ext uri="{FF2B5EF4-FFF2-40B4-BE49-F238E27FC236}">
                <a16:creationId xmlns:a16="http://schemas.microsoft.com/office/drawing/2014/main" id="{6700C5AC-AFB6-D825-9FE9-E1C39540245D}"/>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44037" name="Text Box 21">
            <a:extLst>
              <a:ext uri="{FF2B5EF4-FFF2-40B4-BE49-F238E27FC236}">
                <a16:creationId xmlns:a16="http://schemas.microsoft.com/office/drawing/2014/main" id="{10A724F7-975D-26D6-5C3E-0DA3AFFF87EA}"/>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44038" name="Text Box 22">
            <a:extLst>
              <a:ext uri="{FF2B5EF4-FFF2-40B4-BE49-F238E27FC236}">
                <a16:creationId xmlns:a16="http://schemas.microsoft.com/office/drawing/2014/main" id="{EE58F32D-9E0B-AD0E-E3BC-03BFF4C7E3CA}"/>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44039" name="Picture 26" descr="logo-udima-horizontal-COLOR">
            <a:extLst>
              <a:ext uri="{FF2B5EF4-FFF2-40B4-BE49-F238E27FC236}">
                <a16:creationId xmlns:a16="http://schemas.microsoft.com/office/drawing/2014/main" id="{8241CE8A-B3B5-6911-D4B2-FB4A671EEB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40" name="Rectángulo 1">
            <a:extLst>
              <a:ext uri="{FF2B5EF4-FFF2-40B4-BE49-F238E27FC236}">
                <a16:creationId xmlns:a16="http://schemas.microsoft.com/office/drawing/2014/main" id="{C403AA92-3ACB-2F72-F3BC-22F7A5855C87}"/>
              </a:ext>
            </a:extLst>
          </p:cNvPr>
          <p:cNvSpPr>
            <a:spLocks noChangeArrowheads="1"/>
          </p:cNvSpPr>
          <p:nvPr/>
        </p:nvSpPr>
        <p:spPr bwMode="auto">
          <a:xfrm>
            <a:off x="611188" y="836613"/>
            <a:ext cx="8208962" cy="5730875"/>
          </a:xfrm>
          <a:prstGeom prst="rect">
            <a:avLst/>
          </a:prstGeom>
          <a:noFill/>
          <a:ln w="9525">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80000"/>
              </a:lnSpc>
              <a:spcBef>
                <a:spcPct val="0"/>
              </a:spcBef>
              <a:buFontTx/>
              <a:buNone/>
            </a:pPr>
            <a:r>
              <a:rPr lang="es-ES" altLang="es-ES" sz="1400" b="1">
                <a:solidFill>
                  <a:srgbClr val="C00000"/>
                </a:solidFill>
              </a:rPr>
              <a:t>Agrupaciones de la publicidad activa</a:t>
            </a:r>
          </a:p>
          <a:p>
            <a:pPr>
              <a:lnSpc>
                <a:spcPct val="80000"/>
              </a:lnSpc>
              <a:spcBef>
                <a:spcPct val="0"/>
              </a:spcBef>
              <a:buFontTx/>
              <a:buNone/>
            </a:pPr>
            <a:r>
              <a:rPr lang="es-ES" altLang="es-ES" sz="1400" b="1">
                <a:solidFill>
                  <a:srgbClr val="008000"/>
                </a:solidFill>
              </a:rPr>
              <a:t>Información organizativa</a:t>
            </a:r>
            <a:endParaRPr lang="es-ES" altLang="es-ES" sz="1400">
              <a:solidFill>
                <a:srgbClr val="008000"/>
              </a:solidFill>
            </a:endParaRPr>
          </a:p>
          <a:p>
            <a:pPr>
              <a:lnSpc>
                <a:spcPct val="80000"/>
              </a:lnSpc>
              <a:spcBef>
                <a:spcPct val="0"/>
              </a:spcBef>
            </a:pPr>
            <a:r>
              <a:rPr lang="es-ES" altLang="es-ES" sz="1400">
                <a:solidFill>
                  <a:srgbClr val="008000"/>
                </a:solidFill>
              </a:rPr>
              <a:t>Funciones que se desarrollan en los organismos</a:t>
            </a:r>
          </a:p>
          <a:p>
            <a:pPr>
              <a:lnSpc>
                <a:spcPct val="80000"/>
              </a:lnSpc>
              <a:spcBef>
                <a:spcPct val="0"/>
              </a:spcBef>
            </a:pPr>
            <a:r>
              <a:rPr lang="es-ES" altLang="es-ES" sz="1400">
                <a:solidFill>
                  <a:srgbClr val="008000"/>
                </a:solidFill>
              </a:rPr>
              <a:t>Normativa de aplicación</a:t>
            </a:r>
          </a:p>
          <a:p>
            <a:pPr>
              <a:lnSpc>
                <a:spcPct val="80000"/>
              </a:lnSpc>
              <a:spcBef>
                <a:spcPct val="0"/>
              </a:spcBef>
            </a:pPr>
            <a:r>
              <a:rPr lang="es-ES" altLang="es-ES" sz="1400">
                <a:solidFill>
                  <a:srgbClr val="008000"/>
                </a:solidFill>
              </a:rPr>
              <a:t>Estructura: organigrama con identificación de los responsables de las unidades, su perfil y trayectoria profesional</a:t>
            </a:r>
          </a:p>
          <a:p>
            <a:pPr>
              <a:lnSpc>
                <a:spcPct val="80000"/>
              </a:lnSpc>
              <a:spcBef>
                <a:spcPct val="0"/>
              </a:spcBef>
            </a:pPr>
            <a:r>
              <a:rPr lang="es-ES" altLang="es-ES" sz="1400">
                <a:solidFill>
                  <a:srgbClr val="008000"/>
                </a:solidFill>
              </a:rPr>
              <a:t>Planes y programas anuales, objetivos, grado de cumplimiento y resultados</a:t>
            </a:r>
          </a:p>
          <a:p>
            <a:pPr>
              <a:lnSpc>
                <a:spcPct val="80000"/>
              </a:lnSpc>
              <a:spcBef>
                <a:spcPct val="0"/>
              </a:spcBef>
              <a:buFontTx/>
              <a:buNone/>
            </a:pPr>
            <a:endParaRPr lang="es-ES" altLang="es-ES" sz="1400">
              <a:solidFill>
                <a:srgbClr val="008000"/>
              </a:solidFill>
            </a:endParaRPr>
          </a:p>
          <a:p>
            <a:pPr>
              <a:lnSpc>
                <a:spcPct val="80000"/>
              </a:lnSpc>
              <a:spcBef>
                <a:spcPct val="0"/>
              </a:spcBef>
              <a:buFontTx/>
              <a:buNone/>
            </a:pPr>
            <a:r>
              <a:rPr lang="es-ES" altLang="es-ES" sz="1400" b="1">
                <a:solidFill>
                  <a:srgbClr val="C00000"/>
                </a:solidFill>
              </a:rPr>
              <a:t>Información de relevancia jurídica</a:t>
            </a:r>
            <a:endParaRPr lang="es-ES" altLang="es-ES" sz="1400">
              <a:solidFill>
                <a:srgbClr val="C00000"/>
              </a:solidFill>
            </a:endParaRPr>
          </a:p>
          <a:p>
            <a:pPr>
              <a:lnSpc>
                <a:spcPct val="80000"/>
              </a:lnSpc>
              <a:spcBef>
                <a:spcPct val="0"/>
              </a:spcBef>
            </a:pPr>
            <a:r>
              <a:rPr lang="es-ES" altLang="es-ES" sz="1400">
                <a:solidFill>
                  <a:srgbClr val="008000"/>
                </a:solidFill>
              </a:rPr>
              <a:t>Directrices, instrucciones, acuerdos, circulares, respuestas a consultas (que supongan una interpretación del Derecho o produzcan efectos jurídicos)</a:t>
            </a:r>
          </a:p>
          <a:p>
            <a:pPr>
              <a:lnSpc>
                <a:spcPct val="80000"/>
              </a:lnSpc>
              <a:spcBef>
                <a:spcPct val="0"/>
              </a:spcBef>
            </a:pPr>
            <a:r>
              <a:rPr lang="es-ES" altLang="es-ES" sz="1400">
                <a:solidFill>
                  <a:srgbClr val="008000"/>
                </a:solidFill>
              </a:rPr>
              <a:t>Anteproyectos de Leyes o de Decretos Legislativos</a:t>
            </a:r>
          </a:p>
          <a:p>
            <a:pPr>
              <a:lnSpc>
                <a:spcPct val="80000"/>
              </a:lnSpc>
              <a:spcBef>
                <a:spcPct val="0"/>
              </a:spcBef>
            </a:pPr>
            <a:r>
              <a:rPr lang="es-ES" altLang="es-ES" sz="1400">
                <a:solidFill>
                  <a:srgbClr val="008000"/>
                </a:solidFill>
              </a:rPr>
              <a:t>Proyectos de Reglamento</a:t>
            </a:r>
          </a:p>
          <a:p>
            <a:pPr>
              <a:lnSpc>
                <a:spcPct val="80000"/>
              </a:lnSpc>
              <a:spcBef>
                <a:spcPct val="0"/>
              </a:spcBef>
            </a:pPr>
            <a:r>
              <a:rPr lang="es-ES" altLang="es-ES" sz="1400">
                <a:solidFill>
                  <a:srgbClr val="008000"/>
                </a:solidFill>
              </a:rPr>
              <a:t>Memorias e Informes incluidos en los expedientes de elaboración de textos normativos</a:t>
            </a:r>
          </a:p>
          <a:p>
            <a:pPr>
              <a:lnSpc>
                <a:spcPct val="80000"/>
              </a:lnSpc>
              <a:spcBef>
                <a:spcPct val="0"/>
              </a:spcBef>
            </a:pPr>
            <a:r>
              <a:rPr lang="es-ES" altLang="es-ES" sz="1400">
                <a:solidFill>
                  <a:srgbClr val="008000"/>
                </a:solidFill>
              </a:rPr>
              <a:t>Documentos que deban ser sometidos a información pública</a:t>
            </a:r>
          </a:p>
          <a:p>
            <a:pPr>
              <a:lnSpc>
                <a:spcPct val="80000"/>
              </a:lnSpc>
              <a:spcBef>
                <a:spcPct val="0"/>
              </a:spcBef>
              <a:buFontTx/>
              <a:buNone/>
            </a:pPr>
            <a:endParaRPr lang="es-ES" altLang="es-ES" sz="1400"/>
          </a:p>
          <a:p>
            <a:pPr>
              <a:lnSpc>
                <a:spcPct val="80000"/>
              </a:lnSpc>
              <a:spcBef>
                <a:spcPct val="0"/>
              </a:spcBef>
              <a:buFontTx/>
              <a:buNone/>
            </a:pPr>
            <a:r>
              <a:rPr lang="es-ES" altLang="es-ES" sz="1400" b="1">
                <a:solidFill>
                  <a:srgbClr val="C00000"/>
                </a:solidFill>
              </a:rPr>
              <a:t>Información de contenido económico</a:t>
            </a:r>
            <a:endParaRPr lang="es-ES" altLang="es-ES" sz="1400">
              <a:solidFill>
                <a:srgbClr val="C00000"/>
              </a:solidFill>
            </a:endParaRPr>
          </a:p>
          <a:p>
            <a:pPr>
              <a:lnSpc>
                <a:spcPct val="80000"/>
              </a:lnSpc>
              <a:spcBef>
                <a:spcPct val="0"/>
              </a:spcBef>
            </a:pPr>
            <a:r>
              <a:rPr lang="es-ES" altLang="es-ES" sz="1400">
                <a:solidFill>
                  <a:srgbClr val="008000"/>
                </a:solidFill>
              </a:rPr>
              <a:t>Contratos</a:t>
            </a:r>
          </a:p>
          <a:p>
            <a:pPr>
              <a:lnSpc>
                <a:spcPct val="80000"/>
              </a:lnSpc>
              <a:spcBef>
                <a:spcPct val="0"/>
              </a:spcBef>
            </a:pPr>
            <a:r>
              <a:rPr lang="es-ES" altLang="es-ES" sz="1400">
                <a:solidFill>
                  <a:srgbClr val="008000"/>
                </a:solidFill>
              </a:rPr>
              <a:t>Convenios y encomiendas de gestión</a:t>
            </a:r>
          </a:p>
          <a:p>
            <a:pPr>
              <a:lnSpc>
                <a:spcPct val="80000"/>
              </a:lnSpc>
              <a:spcBef>
                <a:spcPct val="0"/>
              </a:spcBef>
            </a:pPr>
            <a:r>
              <a:rPr lang="es-ES" altLang="es-ES" sz="1400">
                <a:solidFill>
                  <a:srgbClr val="008000"/>
                </a:solidFill>
              </a:rPr>
              <a:t>Retribuciones de altos cargos</a:t>
            </a:r>
          </a:p>
          <a:p>
            <a:pPr>
              <a:lnSpc>
                <a:spcPct val="80000"/>
              </a:lnSpc>
              <a:spcBef>
                <a:spcPct val="0"/>
              </a:spcBef>
            </a:pPr>
            <a:r>
              <a:rPr lang="es-ES" altLang="es-ES" sz="1400">
                <a:solidFill>
                  <a:srgbClr val="008000"/>
                </a:solidFill>
              </a:rPr>
              <a:t>Subvenciones y ayudas públicas</a:t>
            </a:r>
          </a:p>
          <a:p>
            <a:pPr>
              <a:lnSpc>
                <a:spcPct val="80000"/>
              </a:lnSpc>
              <a:spcBef>
                <a:spcPct val="0"/>
              </a:spcBef>
            </a:pPr>
            <a:r>
              <a:rPr lang="es-ES" altLang="es-ES" sz="1400">
                <a:solidFill>
                  <a:srgbClr val="008000"/>
                </a:solidFill>
              </a:rPr>
              <a:t>Presupuestos</a:t>
            </a:r>
          </a:p>
          <a:p>
            <a:pPr>
              <a:lnSpc>
                <a:spcPct val="80000"/>
              </a:lnSpc>
              <a:spcBef>
                <a:spcPct val="0"/>
              </a:spcBef>
            </a:pPr>
            <a:r>
              <a:rPr lang="es-ES" altLang="es-ES" sz="1400">
                <a:solidFill>
                  <a:srgbClr val="008000"/>
                </a:solidFill>
              </a:rPr>
              <a:t>Cuentas anuales. Informes de auditoría de cuentas y de fiscalización</a:t>
            </a:r>
          </a:p>
          <a:p>
            <a:pPr>
              <a:lnSpc>
                <a:spcPct val="80000"/>
              </a:lnSpc>
              <a:spcBef>
                <a:spcPct val="0"/>
              </a:spcBef>
            </a:pPr>
            <a:r>
              <a:rPr lang="es-ES" altLang="es-ES" sz="1400">
                <a:solidFill>
                  <a:srgbClr val="008000"/>
                </a:solidFill>
              </a:rPr>
              <a:t>Resoluciones de la Oficina de Conflicto de Intereses que afectan a empleados públicos y altos cargos</a:t>
            </a:r>
          </a:p>
          <a:p>
            <a:pPr>
              <a:lnSpc>
                <a:spcPct val="80000"/>
              </a:lnSpc>
              <a:spcBef>
                <a:spcPct val="0"/>
              </a:spcBef>
            </a:pPr>
            <a:r>
              <a:rPr lang="es-ES" altLang="es-ES" sz="1400">
                <a:solidFill>
                  <a:srgbClr val="008000"/>
                </a:solidFill>
              </a:rPr>
              <a:t>Información estadística de grado de cumplimiento de los servicios públicos</a:t>
            </a:r>
          </a:p>
          <a:p>
            <a:pPr>
              <a:lnSpc>
                <a:spcPct val="80000"/>
              </a:lnSpc>
              <a:spcBef>
                <a:spcPct val="0"/>
              </a:spcBef>
            </a:pPr>
            <a:r>
              <a:rPr lang="es-ES" altLang="es-ES" sz="1400">
                <a:solidFill>
                  <a:srgbClr val="008000"/>
                </a:solidFill>
              </a:rPr>
              <a:t>Bienes inmuebles de propiedad estatal</a:t>
            </a:r>
          </a:p>
          <a:p>
            <a:pPr>
              <a:lnSpc>
                <a:spcPct val="80000"/>
              </a:lnSpc>
              <a:spcBef>
                <a:spcPct val="0"/>
              </a:spcBef>
            </a:pPr>
            <a:endParaRPr lang="es-ES" altLang="es-ES" sz="1600">
              <a:solidFill>
                <a:srgbClr val="008000"/>
              </a:solidFill>
            </a:endParaRPr>
          </a:p>
          <a:p>
            <a:pPr>
              <a:lnSpc>
                <a:spcPct val="80000"/>
              </a:lnSpc>
              <a:spcBef>
                <a:spcPct val="0"/>
              </a:spcBef>
              <a:buFontTx/>
              <a:buNone/>
            </a:pPr>
            <a:r>
              <a:rPr lang="es-ES" altLang="es-ES" sz="1400">
                <a:solidFill>
                  <a:srgbClr val="006600"/>
                </a:solidFill>
                <a:cs typeface="Calibri" panose="020F0502020204030204" pitchFamily="34" charset="0"/>
              </a:rPr>
              <a:t>De acuerdo a la Ley Orgánica 3/2018 de  Protección de datos y Garantía de Derechos Digitales, también publicarán su Registro de actividades de tratamiento (RAT) en aplicación del artículo 31 de la citada Ley.</a:t>
            </a:r>
          </a:p>
          <a:p>
            <a:pPr>
              <a:lnSpc>
                <a:spcPct val="80000"/>
              </a:lnSpc>
              <a:spcBef>
                <a:spcPct val="0"/>
              </a:spcBef>
            </a:pPr>
            <a:endParaRPr lang="es-ES" altLang="es-ES" sz="1600">
              <a:solidFill>
                <a:srgbClr val="008000"/>
              </a:solidFill>
            </a:endParaRPr>
          </a:p>
        </p:txBody>
      </p:sp>
      <p:sp>
        <p:nvSpPr>
          <p:cNvPr id="44041" name="CuadroTexto 3">
            <a:extLst>
              <a:ext uri="{FF2B5EF4-FFF2-40B4-BE49-F238E27FC236}">
                <a16:creationId xmlns:a16="http://schemas.microsoft.com/office/drawing/2014/main" id="{58B2234E-0138-C760-2E53-914153065B48}"/>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Ley de transparencia, acceso a la información y buen gobierno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a:extLst>
              <a:ext uri="{FF2B5EF4-FFF2-40B4-BE49-F238E27FC236}">
                <a16:creationId xmlns:a16="http://schemas.microsoft.com/office/drawing/2014/main" id="{D7AF2DF1-1628-1794-7CBC-069BF4F67D5A}"/>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46083" name="Picture 5" descr="cefcorp_logo">
            <a:extLst>
              <a:ext uri="{FF2B5EF4-FFF2-40B4-BE49-F238E27FC236}">
                <a16:creationId xmlns:a16="http://schemas.microsoft.com/office/drawing/2014/main" id="{B178604B-8DAE-0F58-F657-5BDA1E0EBF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4" name="Rectangle 6">
            <a:extLst>
              <a:ext uri="{FF2B5EF4-FFF2-40B4-BE49-F238E27FC236}">
                <a16:creationId xmlns:a16="http://schemas.microsoft.com/office/drawing/2014/main" id="{7264D4F5-5E5D-5BE5-5C20-B9A477A6EA8C}"/>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46085" name="Text Box 21">
            <a:extLst>
              <a:ext uri="{FF2B5EF4-FFF2-40B4-BE49-F238E27FC236}">
                <a16:creationId xmlns:a16="http://schemas.microsoft.com/office/drawing/2014/main" id="{591695FB-8B19-EC23-A522-3E5C246C14F6}"/>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46086" name="Text Box 22">
            <a:extLst>
              <a:ext uri="{FF2B5EF4-FFF2-40B4-BE49-F238E27FC236}">
                <a16:creationId xmlns:a16="http://schemas.microsoft.com/office/drawing/2014/main" id="{16D3DEEF-E033-F982-AE2A-A993451338FA}"/>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46087" name="Picture 26" descr="logo-udima-horizontal-COLOR">
            <a:extLst>
              <a:ext uri="{FF2B5EF4-FFF2-40B4-BE49-F238E27FC236}">
                <a16:creationId xmlns:a16="http://schemas.microsoft.com/office/drawing/2014/main" id="{82BFA962-6E9E-87E8-B45E-0FC8382B69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8" name="CuadroTexto 3">
            <a:extLst>
              <a:ext uri="{FF2B5EF4-FFF2-40B4-BE49-F238E27FC236}">
                <a16:creationId xmlns:a16="http://schemas.microsoft.com/office/drawing/2014/main" id="{A352048B-FB8B-906A-A21A-5F2F39F9B7B0}"/>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Ley de transparencia, acceso a la información y buen gobierno</a:t>
            </a:r>
          </a:p>
        </p:txBody>
      </p:sp>
      <p:sp>
        <p:nvSpPr>
          <p:cNvPr id="46089" name="Rectangle 3">
            <a:extLst>
              <a:ext uri="{FF2B5EF4-FFF2-40B4-BE49-F238E27FC236}">
                <a16:creationId xmlns:a16="http://schemas.microsoft.com/office/drawing/2014/main" id="{44C7742C-1C89-E986-0C3B-91EA7B9AAE01}"/>
              </a:ext>
            </a:extLst>
          </p:cNvPr>
          <p:cNvSpPr txBox="1">
            <a:spLocks noChangeArrowheads="1"/>
          </p:cNvSpPr>
          <p:nvPr/>
        </p:nvSpPr>
        <p:spPr bwMode="auto">
          <a:xfrm>
            <a:off x="611188" y="912813"/>
            <a:ext cx="8208962" cy="5213350"/>
          </a:xfrm>
          <a:prstGeom prst="rect">
            <a:avLst/>
          </a:prstGeom>
          <a:noFill/>
          <a:ln w="12700">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defRPr>
            </a:lvl1pPr>
            <a:lvl2pPr>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80000"/>
              </a:lnSpc>
              <a:buFontTx/>
              <a:buNone/>
            </a:pPr>
            <a:r>
              <a:rPr lang="es-ES" altLang="es-ES" sz="2000" b="1">
                <a:solidFill>
                  <a:srgbClr val="C00000"/>
                </a:solidFill>
              </a:rPr>
              <a:t>El portal de transparencia de la Administración General del Estado</a:t>
            </a:r>
          </a:p>
          <a:p>
            <a:pPr algn="just">
              <a:lnSpc>
                <a:spcPct val="80000"/>
              </a:lnSpc>
              <a:buFontTx/>
              <a:buNone/>
            </a:pPr>
            <a:r>
              <a:rPr lang="es-ES" altLang="es-ES" sz="1300" b="1">
                <a:solidFill>
                  <a:srgbClr val="008000"/>
                </a:solidFill>
              </a:rPr>
              <a:t>La Administración General del Estado ha desarrollado un Portal de la Transparencia (La dirección de acceso en internet al portal de transparencia es </a:t>
            </a:r>
            <a:r>
              <a:rPr lang="es-ES" altLang="es-ES" sz="1300" b="1">
                <a:solidFill>
                  <a:srgbClr val="008000"/>
                </a:solidFill>
                <a:hlinkClick r:id="rId5"/>
              </a:rPr>
              <a:t>www.transparencia.gob.es</a:t>
            </a:r>
            <a:r>
              <a:rPr lang="es-ES" altLang="es-ES" sz="1300" b="1">
                <a:solidFill>
                  <a:srgbClr val="008000"/>
                </a:solidFill>
              </a:rPr>
              <a:t>), dependiente del Ministerio Transformación Digital y Función Pública, que facilitará el acceso de los ciudadanos a toda la información a la que se refieren los artículos anteriores relativa a su ámbito de actuación.</a:t>
            </a:r>
          </a:p>
          <a:p>
            <a:pPr algn="just">
              <a:lnSpc>
                <a:spcPct val="80000"/>
              </a:lnSpc>
              <a:buFontTx/>
              <a:buNone/>
            </a:pPr>
            <a:endParaRPr lang="es-ES" altLang="es-ES" sz="1300" b="1">
              <a:solidFill>
                <a:srgbClr val="008000"/>
              </a:solidFill>
            </a:endParaRPr>
          </a:p>
          <a:p>
            <a:pPr algn="just">
              <a:lnSpc>
                <a:spcPct val="80000"/>
              </a:lnSpc>
              <a:buFontTx/>
              <a:buNone/>
            </a:pPr>
            <a:r>
              <a:rPr lang="es-ES" altLang="es-ES" sz="1300" b="1">
                <a:solidFill>
                  <a:srgbClr val="008000"/>
                </a:solidFill>
              </a:rPr>
              <a:t>El Portal de la Transparencia incluirá, en los términos que se establezcan reglamentariamente, la información de la Administración General del Estado, cuyo acceso se solicite con mayor frecuencia.</a:t>
            </a:r>
          </a:p>
          <a:p>
            <a:pPr algn="just">
              <a:lnSpc>
                <a:spcPct val="80000"/>
              </a:lnSpc>
              <a:buFontTx/>
              <a:buNone/>
            </a:pPr>
            <a:endParaRPr lang="es-ES" altLang="es-ES" sz="1300" b="1">
              <a:solidFill>
                <a:srgbClr val="008000"/>
              </a:solidFill>
            </a:endParaRPr>
          </a:p>
          <a:p>
            <a:pPr algn="just">
              <a:lnSpc>
                <a:spcPct val="80000"/>
              </a:lnSpc>
              <a:buFontTx/>
              <a:buNone/>
            </a:pPr>
            <a:r>
              <a:rPr lang="es-ES" altLang="es-ES" sz="1300" b="1">
                <a:solidFill>
                  <a:srgbClr val="008000"/>
                </a:solidFill>
              </a:rPr>
              <a:t>La Administración General del Estado, las Administraciones de las Comunidades Autónomas y de las Ciudades de Ceuta y Melilla y las entidades que integran la Administración Local podrán adoptar otras medidas complementarias y de colaboración para el cumplimiento de las obligaciones de transparencia recogidas en este capítulo.</a:t>
            </a:r>
          </a:p>
          <a:p>
            <a:pPr algn="just">
              <a:lnSpc>
                <a:spcPct val="80000"/>
              </a:lnSpc>
              <a:buFontTx/>
              <a:buNone/>
            </a:pPr>
            <a:endParaRPr lang="es-ES" altLang="es-ES" sz="1300" b="1">
              <a:solidFill>
                <a:srgbClr val="008000"/>
              </a:solidFill>
            </a:endParaRPr>
          </a:p>
          <a:p>
            <a:pPr algn="just">
              <a:lnSpc>
                <a:spcPct val="80000"/>
              </a:lnSpc>
              <a:buFontTx/>
              <a:buNone/>
            </a:pPr>
            <a:r>
              <a:rPr lang="es-ES" altLang="es-ES" sz="1300" b="1">
                <a:solidFill>
                  <a:srgbClr val="008000"/>
                </a:solidFill>
              </a:rPr>
              <a:t>El Portal de la Transparencia contendrá información publicada de acuerdo con las prescripciones técnicas que se establezcan reglamentariamente que deberán adecuarse a los siguientes principios:</a:t>
            </a:r>
          </a:p>
          <a:p>
            <a:pPr algn="just">
              <a:lnSpc>
                <a:spcPct val="80000"/>
              </a:lnSpc>
              <a:buFontTx/>
              <a:buNone/>
            </a:pPr>
            <a:endParaRPr lang="es-ES" altLang="es-ES" sz="1300" b="1">
              <a:solidFill>
                <a:srgbClr val="008000"/>
              </a:solidFill>
            </a:endParaRPr>
          </a:p>
          <a:p>
            <a:pPr lvl="1" algn="just">
              <a:lnSpc>
                <a:spcPct val="80000"/>
              </a:lnSpc>
              <a:buFontTx/>
              <a:buNone/>
            </a:pPr>
            <a:r>
              <a:rPr lang="es-ES" altLang="es-ES" sz="1100" b="1">
                <a:solidFill>
                  <a:srgbClr val="008000"/>
                </a:solidFill>
              </a:rPr>
              <a:t>a) Accesibilidad: se proporcionará información estructurada sobre los documentos y recursos de información con vistas a facilitar la identificación y búsqueda de la información.</a:t>
            </a:r>
          </a:p>
          <a:p>
            <a:pPr lvl="1" algn="just">
              <a:lnSpc>
                <a:spcPct val="80000"/>
              </a:lnSpc>
              <a:buFontTx/>
              <a:buNone/>
            </a:pPr>
            <a:r>
              <a:rPr lang="es-ES" altLang="es-ES" sz="1100" b="1">
                <a:solidFill>
                  <a:srgbClr val="008000"/>
                </a:solidFill>
              </a:rPr>
              <a:t>b) Interoperabilidad: la información publicada será conforme al Esquema Nacional de Interoperabilidad, aprobado por el Real Decreto 4/2010, de 8 enero, así como a las normas técnicas de interoperabilidad.</a:t>
            </a:r>
          </a:p>
          <a:p>
            <a:pPr lvl="1" algn="just">
              <a:lnSpc>
                <a:spcPct val="80000"/>
              </a:lnSpc>
              <a:buFontTx/>
              <a:buNone/>
            </a:pPr>
            <a:r>
              <a:rPr lang="es-ES" altLang="es-ES" sz="1100" b="1">
                <a:solidFill>
                  <a:srgbClr val="008000"/>
                </a:solidFill>
              </a:rPr>
              <a:t>c) Reutilización: se fomentará que la información sea publicada en formatos que permita su reutilización, de acuerdo con lo previsto en la Ley 37/2007, de 16 de noviembre, sobre reutilización de la información del sector público y en su normativa de desarrollo.</a:t>
            </a:r>
          </a:p>
          <a:p>
            <a:pPr algn="just" eaLnBrk="1" hangingPunct="1">
              <a:lnSpc>
                <a:spcPct val="80000"/>
              </a:lnSpc>
              <a:buFontTx/>
              <a:buNone/>
            </a:pPr>
            <a:endParaRPr lang="es-ES" altLang="es-ES" sz="1300" b="1">
              <a:solidFill>
                <a:srgbClr val="008000"/>
              </a:solidFill>
            </a:endParaRPr>
          </a:p>
          <a:p>
            <a:pPr algn="just" eaLnBrk="1" hangingPunct="1">
              <a:lnSpc>
                <a:spcPct val="80000"/>
              </a:lnSpc>
              <a:buFontTx/>
              <a:buNone/>
            </a:pPr>
            <a:r>
              <a:rPr lang="es-ES" altLang="es-ES" sz="1300" b="1">
                <a:solidFill>
                  <a:srgbClr val="008000"/>
                </a:solidFill>
              </a:rPr>
              <a:t>Además de la información de la Administración General del Estado,  contendrá la información que  los ciudadanos soliciten con mayor frecuencia en ejercicio del derecho de acceso a la información pública.</a:t>
            </a:r>
          </a:p>
          <a:p>
            <a:pPr algn="just" eaLnBrk="1" hangingPunct="1">
              <a:lnSpc>
                <a:spcPct val="80000"/>
              </a:lnSpc>
              <a:buFontTx/>
              <a:buNone/>
            </a:pPr>
            <a:endParaRPr lang="es-ES" altLang="es-ES" sz="13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4">
            <a:extLst>
              <a:ext uri="{FF2B5EF4-FFF2-40B4-BE49-F238E27FC236}">
                <a16:creationId xmlns:a16="http://schemas.microsoft.com/office/drawing/2014/main" id="{BC8CEB40-6948-83A9-4E7E-7953169B1689}"/>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48131" name="Picture 5" descr="cefcorp_logo">
            <a:extLst>
              <a:ext uri="{FF2B5EF4-FFF2-40B4-BE49-F238E27FC236}">
                <a16:creationId xmlns:a16="http://schemas.microsoft.com/office/drawing/2014/main" id="{4F7424D5-1082-F8A0-20B9-5D59ED899C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2" name="Rectangle 6">
            <a:extLst>
              <a:ext uri="{FF2B5EF4-FFF2-40B4-BE49-F238E27FC236}">
                <a16:creationId xmlns:a16="http://schemas.microsoft.com/office/drawing/2014/main" id="{8D67E9C1-B7B5-842F-9AA8-9CF6D5097C5B}"/>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48133" name="Text Box 21">
            <a:extLst>
              <a:ext uri="{FF2B5EF4-FFF2-40B4-BE49-F238E27FC236}">
                <a16:creationId xmlns:a16="http://schemas.microsoft.com/office/drawing/2014/main" id="{3C988C18-E982-FBE1-8C95-E4FF3BD9E86C}"/>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48134" name="Text Box 22">
            <a:extLst>
              <a:ext uri="{FF2B5EF4-FFF2-40B4-BE49-F238E27FC236}">
                <a16:creationId xmlns:a16="http://schemas.microsoft.com/office/drawing/2014/main" id="{8F829B1A-315E-D149-03A4-301AE8ABE0B2}"/>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48135" name="Picture 26" descr="logo-udima-horizontal-COLOR">
            <a:extLst>
              <a:ext uri="{FF2B5EF4-FFF2-40B4-BE49-F238E27FC236}">
                <a16:creationId xmlns:a16="http://schemas.microsoft.com/office/drawing/2014/main" id="{E64D9833-AE36-48FF-012D-B537D38A2E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6" name="Rectangle 3">
            <a:extLst>
              <a:ext uri="{FF2B5EF4-FFF2-40B4-BE49-F238E27FC236}">
                <a16:creationId xmlns:a16="http://schemas.microsoft.com/office/drawing/2014/main" id="{22FC791C-E57D-E030-01F8-707AB7C41D3E}"/>
              </a:ext>
            </a:extLst>
          </p:cNvPr>
          <p:cNvSpPr txBox="1">
            <a:spLocks noChangeArrowheads="1"/>
          </p:cNvSpPr>
          <p:nvPr/>
        </p:nvSpPr>
        <p:spPr bwMode="auto">
          <a:xfrm>
            <a:off x="684213" y="881063"/>
            <a:ext cx="8002587" cy="5245100"/>
          </a:xfrm>
          <a:prstGeom prst="rect">
            <a:avLst/>
          </a:prstGeom>
          <a:noFill/>
          <a:ln w="12700">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80000"/>
              </a:lnSpc>
              <a:buFontTx/>
              <a:buNone/>
            </a:pPr>
            <a:r>
              <a:rPr lang="es-ES" altLang="es-ES" sz="2000" b="1">
                <a:solidFill>
                  <a:srgbClr val="C00000"/>
                </a:solidFill>
              </a:rPr>
              <a:t>Derecho de acceso  a la información</a:t>
            </a:r>
          </a:p>
          <a:p>
            <a:pPr algn="just">
              <a:lnSpc>
                <a:spcPct val="80000"/>
              </a:lnSpc>
              <a:buFontTx/>
              <a:buNone/>
            </a:pPr>
            <a:endParaRPr lang="es-ES" altLang="es-ES" sz="2000">
              <a:solidFill>
                <a:srgbClr val="C00000"/>
              </a:solidFill>
            </a:endParaRPr>
          </a:p>
          <a:p>
            <a:pPr algn="just">
              <a:lnSpc>
                <a:spcPct val="80000"/>
              </a:lnSpc>
              <a:buFontTx/>
              <a:buNone/>
            </a:pPr>
            <a:r>
              <a:rPr lang="es-ES" altLang="es-ES" sz="1800">
                <a:solidFill>
                  <a:srgbClr val="008000"/>
                </a:solidFill>
              </a:rPr>
              <a:t>Todas las personas tienen derecho a acceder a la información pública, en los términos previstos en el artículo 105.b) de la Constitución Española, desarrollados por esta Ley. “</a:t>
            </a:r>
            <a:r>
              <a:rPr lang="es-ES" altLang="es-ES" sz="1800" b="1" i="1">
                <a:solidFill>
                  <a:srgbClr val="008000"/>
                </a:solidFill>
              </a:rPr>
              <a:t>La Ley regulará el acceso de los ciudadanos a los archivos y registros administrativos, salvo en lo que afecte a la seguridad y defensa del Estado, la averiguación de los delitos y la intimidad de las personas”. </a:t>
            </a:r>
            <a:r>
              <a:rPr lang="es-ES" altLang="es-ES" sz="1800">
                <a:solidFill>
                  <a:srgbClr val="008000"/>
                </a:solidFill>
              </a:rPr>
              <a:t>Asimismo, y en el ámbito de sus respectivas competencias, será de aplicación la correspondiente normativa autonómica.</a:t>
            </a:r>
          </a:p>
          <a:p>
            <a:pPr algn="just">
              <a:lnSpc>
                <a:spcPct val="80000"/>
              </a:lnSpc>
              <a:buFontTx/>
              <a:buNone/>
            </a:pPr>
            <a:endParaRPr lang="es-ES" altLang="es-ES" sz="1800">
              <a:solidFill>
                <a:srgbClr val="008000"/>
              </a:solidFill>
            </a:endParaRPr>
          </a:p>
          <a:p>
            <a:pPr algn="just">
              <a:lnSpc>
                <a:spcPct val="80000"/>
              </a:lnSpc>
              <a:buFontTx/>
              <a:buNone/>
            </a:pPr>
            <a:r>
              <a:rPr lang="es-ES" altLang="es-ES" sz="1800">
                <a:solidFill>
                  <a:srgbClr val="008000"/>
                </a:solidFill>
              </a:rPr>
              <a:t>Se entiende por información pública los contenidos o documentos, cualquiera que sea su formato o soporte, que obren en poder de alguno de los sujetos incluidos en el ámbito de aplicación de este título y que hayan sido elaborados o adquiridos en el ejercicio de sus funciones.</a:t>
            </a:r>
          </a:p>
          <a:p>
            <a:pPr algn="just">
              <a:lnSpc>
                <a:spcPct val="80000"/>
              </a:lnSpc>
              <a:buFontTx/>
              <a:buNone/>
            </a:pPr>
            <a:endParaRPr lang="es-ES" altLang="es-ES" sz="1800">
              <a:solidFill>
                <a:srgbClr val="008000"/>
              </a:solidFill>
            </a:endParaRPr>
          </a:p>
          <a:p>
            <a:pPr algn="just">
              <a:lnSpc>
                <a:spcPct val="80000"/>
              </a:lnSpc>
              <a:buFontTx/>
              <a:buNone/>
            </a:pPr>
            <a:r>
              <a:rPr lang="es-ES" altLang="es-ES" sz="1800">
                <a:solidFill>
                  <a:srgbClr val="008000"/>
                </a:solidFill>
              </a:rPr>
              <a:t>El derecho de acceso a la información está sujeto a ciertos límites que tienen como objetivo proteger otros bienes jurídicos que pueden quedar desprotegidos si se da la información. Es decir, los límites existen para proteger información que no debe ser pública por</a:t>
            </a:r>
            <a:r>
              <a:rPr lang="es-ES" altLang="es-ES" sz="2000">
                <a:solidFill>
                  <a:srgbClr val="008000"/>
                </a:solidFill>
              </a:rPr>
              <a:t>que, si lo fuera, podría dañar a una persona o al interés público</a:t>
            </a:r>
            <a:r>
              <a:rPr lang="es-ES" altLang="es-ES" sz="2000"/>
              <a:t>.</a:t>
            </a:r>
          </a:p>
          <a:p>
            <a:pPr algn="just" eaLnBrk="1" hangingPunct="1">
              <a:lnSpc>
                <a:spcPct val="60000"/>
              </a:lnSpc>
              <a:buFontTx/>
              <a:buNone/>
            </a:pPr>
            <a:endParaRPr lang="es-ES" altLang="es-ES" sz="2000"/>
          </a:p>
        </p:txBody>
      </p:sp>
      <p:sp>
        <p:nvSpPr>
          <p:cNvPr id="48137" name="CuadroTexto 3">
            <a:extLst>
              <a:ext uri="{FF2B5EF4-FFF2-40B4-BE49-F238E27FC236}">
                <a16:creationId xmlns:a16="http://schemas.microsoft.com/office/drawing/2014/main" id="{28BB44A6-44C4-12DC-C40C-BDFF44D3BAC6}"/>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Ley de transparencia, acceso a la información y buen gobierno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4">
            <a:extLst>
              <a:ext uri="{FF2B5EF4-FFF2-40B4-BE49-F238E27FC236}">
                <a16:creationId xmlns:a16="http://schemas.microsoft.com/office/drawing/2014/main" id="{D1E6811F-D67C-0584-8328-67D1F2D809D9}"/>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50179" name="Picture 5" descr="cefcorp_logo">
            <a:extLst>
              <a:ext uri="{FF2B5EF4-FFF2-40B4-BE49-F238E27FC236}">
                <a16:creationId xmlns:a16="http://schemas.microsoft.com/office/drawing/2014/main" id="{EA972CDA-077D-7C82-0087-ECC043A000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0" name="Rectangle 6">
            <a:extLst>
              <a:ext uri="{FF2B5EF4-FFF2-40B4-BE49-F238E27FC236}">
                <a16:creationId xmlns:a16="http://schemas.microsoft.com/office/drawing/2014/main" id="{25BD39A5-88F7-5A57-D7C9-BB2DDD6E8510}"/>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50181" name="Text Box 21">
            <a:extLst>
              <a:ext uri="{FF2B5EF4-FFF2-40B4-BE49-F238E27FC236}">
                <a16:creationId xmlns:a16="http://schemas.microsoft.com/office/drawing/2014/main" id="{48D13887-E789-B379-1D2A-5A740F2BC443}"/>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50182" name="Text Box 22">
            <a:extLst>
              <a:ext uri="{FF2B5EF4-FFF2-40B4-BE49-F238E27FC236}">
                <a16:creationId xmlns:a16="http://schemas.microsoft.com/office/drawing/2014/main" id="{3C8745DE-F57A-699E-F6D5-328473B59406}"/>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50183" name="Picture 26" descr="logo-udima-horizontal-COLOR">
            <a:extLst>
              <a:ext uri="{FF2B5EF4-FFF2-40B4-BE49-F238E27FC236}">
                <a16:creationId xmlns:a16="http://schemas.microsoft.com/office/drawing/2014/main" id="{00664D9B-454E-C0F9-5946-13B77D218B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4" name="Rectangle 3">
            <a:extLst>
              <a:ext uri="{FF2B5EF4-FFF2-40B4-BE49-F238E27FC236}">
                <a16:creationId xmlns:a16="http://schemas.microsoft.com/office/drawing/2014/main" id="{603E21B6-109F-4983-9407-E88D786725A7}"/>
              </a:ext>
            </a:extLst>
          </p:cNvPr>
          <p:cNvSpPr txBox="1">
            <a:spLocks noChangeArrowheads="1"/>
          </p:cNvSpPr>
          <p:nvPr/>
        </p:nvSpPr>
        <p:spPr bwMode="auto">
          <a:xfrm>
            <a:off x="590550" y="952500"/>
            <a:ext cx="8229600" cy="5429250"/>
          </a:xfrm>
          <a:prstGeom prst="rect">
            <a:avLst/>
          </a:prstGeom>
          <a:noFill/>
          <a:ln w="12700">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80000"/>
              </a:lnSpc>
              <a:buFontTx/>
              <a:buNone/>
            </a:pPr>
            <a:r>
              <a:rPr lang="es-ES" altLang="es-ES" sz="2400" b="1" dirty="0">
                <a:solidFill>
                  <a:srgbClr val="FF0000"/>
                </a:solidFill>
              </a:rPr>
              <a:t>Sobre la limitación de acceso a la información pública</a:t>
            </a:r>
          </a:p>
          <a:p>
            <a:pPr algn="ctr">
              <a:lnSpc>
                <a:spcPct val="80000"/>
              </a:lnSpc>
              <a:buFontTx/>
              <a:buNone/>
            </a:pPr>
            <a:endParaRPr lang="es-ES" altLang="es-ES" sz="700" dirty="0"/>
          </a:p>
          <a:p>
            <a:pPr algn="just">
              <a:spcBef>
                <a:spcPct val="0"/>
              </a:spcBef>
              <a:buFontTx/>
              <a:buNone/>
            </a:pPr>
            <a:endParaRPr lang="es-ES" altLang="es-ES" sz="1200" dirty="0">
              <a:solidFill>
                <a:srgbClr val="008000"/>
              </a:solidFill>
            </a:endParaRPr>
          </a:p>
          <a:p>
            <a:pPr algn="just">
              <a:spcBef>
                <a:spcPct val="0"/>
              </a:spcBef>
              <a:buFontTx/>
              <a:buNone/>
            </a:pPr>
            <a:r>
              <a:rPr lang="es-ES" altLang="es-ES" sz="1200" u="sng" dirty="0">
                <a:solidFill>
                  <a:srgbClr val="008000"/>
                </a:solidFill>
              </a:rPr>
              <a:t>Si la información solicitada contuviera datos personales que revelen la ideología, afiliación sindical, religión o creencias, el acceso únicamente se podrá autorizar en caso de que se contase con el consentimiento expreso y por escrito del afectado,</a:t>
            </a:r>
            <a:r>
              <a:rPr lang="es-ES" altLang="es-ES" sz="1200" dirty="0">
                <a:solidFill>
                  <a:srgbClr val="008000"/>
                </a:solidFill>
              </a:rPr>
              <a:t> a menos que dicho afectado hubiese hecho manifiestamente públicos los datos con anterioridad a que se solicitase el acceso.</a:t>
            </a:r>
          </a:p>
          <a:p>
            <a:pPr algn="just">
              <a:spcBef>
                <a:spcPct val="0"/>
              </a:spcBef>
              <a:buFontTx/>
              <a:buNone/>
            </a:pPr>
            <a:r>
              <a:rPr lang="es-ES" altLang="es-ES" sz="1200" u="sng" dirty="0">
                <a:solidFill>
                  <a:srgbClr val="008000"/>
                </a:solidFill>
              </a:rPr>
              <a:t>Si la información incluyese datos personales que hagan referencia al origen racial, a la salud o a la vida sexual, incluyese datos genéticos o biométricos o contuviera datos relativos a la comisión de infracciones penales o administrativas que no conllevasen la amonestación pública al infractor</a:t>
            </a:r>
            <a:r>
              <a:rPr lang="es-ES" altLang="es-ES" sz="1200" dirty="0">
                <a:solidFill>
                  <a:srgbClr val="008000"/>
                </a:solidFill>
              </a:rPr>
              <a:t>, el acceso solo se podrá autorizar en caso de que se cuente con el consentimiento expreso del afectado o si aquel estuviera amparado por una norma con rango de ley. </a:t>
            </a:r>
            <a:r>
              <a:rPr lang="es-ES" altLang="es-ES" sz="1200" b="1" dirty="0">
                <a:solidFill>
                  <a:srgbClr val="008000"/>
                </a:solidFill>
              </a:rPr>
              <a:t>(información actualizada por Ley 3/2018</a:t>
            </a:r>
            <a:r>
              <a:rPr lang="es-ES" altLang="es-ES" sz="1200" dirty="0">
                <a:solidFill>
                  <a:srgbClr val="008000"/>
                </a:solidFill>
              </a:rPr>
              <a:t>)</a:t>
            </a:r>
          </a:p>
          <a:p>
            <a:pPr algn="just">
              <a:spcBef>
                <a:spcPct val="0"/>
              </a:spcBef>
              <a:buFontTx/>
              <a:buNone/>
            </a:pPr>
            <a:endParaRPr lang="es-ES" altLang="es-ES" sz="1200" dirty="0">
              <a:solidFill>
                <a:srgbClr val="008000"/>
              </a:solidFill>
            </a:endParaRPr>
          </a:p>
          <a:p>
            <a:pPr algn="just">
              <a:spcBef>
                <a:spcPct val="0"/>
              </a:spcBef>
              <a:buFontTx/>
              <a:buNone/>
            </a:pPr>
            <a:r>
              <a:rPr lang="es-ES" altLang="es-ES" sz="1200" b="1" dirty="0">
                <a:solidFill>
                  <a:srgbClr val="C00000"/>
                </a:solidFill>
              </a:rPr>
              <a:t>Con carácter general, </a:t>
            </a:r>
            <a:r>
              <a:rPr lang="es-ES" altLang="es-ES" sz="1200" dirty="0">
                <a:solidFill>
                  <a:srgbClr val="008000"/>
                </a:solidFill>
              </a:rPr>
              <a:t>y salvo que en el caso concreto prevalezca la protección de datos personales u otros derechos constitucionalmente protegidos sobre el interés público en la divulgación que lo impida, se concederá el acceso a información que contenga datos meramente identificativos relacionados con la organización, funcionamiento o actividad pública del órgano.</a:t>
            </a:r>
          </a:p>
          <a:p>
            <a:pPr algn="just">
              <a:spcBef>
                <a:spcPct val="0"/>
              </a:spcBef>
              <a:buFontTx/>
              <a:buNone/>
            </a:pPr>
            <a:endParaRPr lang="es-ES" altLang="es-ES" sz="1200" dirty="0">
              <a:solidFill>
                <a:srgbClr val="008000"/>
              </a:solidFill>
            </a:endParaRPr>
          </a:p>
          <a:p>
            <a:pPr algn="just">
              <a:spcBef>
                <a:spcPct val="0"/>
              </a:spcBef>
              <a:buFontTx/>
              <a:buNone/>
            </a:pPr>
            <a:r>
              <a:rPr lang="es-ES" altLang="es-ES" sz="1200" dirty="0">
                <a:solidFill>
                  <a:srgbClr val="008000"/>
                </a:solidFill>
              </a:rPr>
              <a:t>Cuando la información solicitada </a:t>
            </a:r>
            <a:r>
              <a:rPr lang="es-ES" altLang="es-ES" sz="1200" b="1" dirty="0">
                <a:solidFill>
                  <a:srgbClr val="008000"/>
                </a:solidFill>
              </a:rPr>
              <a:t>no contuviera datos especialmente protegidos</a:t>
            </a:r>
            <a:r>
              <a:rPr lang="es-ES" altLang="es-ES" sz="1200" dirty="0">
                <a:solidFill>
                  <a:srgbClr val="008000"/>
                </a:solidFill>
              </a:rPr>
              <a:t>, el órgano al que se dirija la solicitud concederá el acceso previa </a:t>
            </a:r>
            <a:r>
              <a:rPr lang="es-ES" altLang="es-ES" sz="1200" b="1" dirty="0">
                <a:solidFill>
                  <a:srgbClr val="008000"/>
                </a:solidFill>
              </a:rPr>
              <a:t>ponderación suficientemente razonada </a:t>
            </a:r>
            <a:r>
              <a:rPr lang="es-ES" altLang="es-ES" sz="1200" dirty="0">
                <a:solidFill>
                  <a:srgbClr val="008000"/>
                </a:solidFill>
              </a:rPr>
              <a:t>del interés público en la divulgación de la información y los derechos de los afectados cuyos datos aparezcan en la información solicitada, en particular su derecho fundamental a la protección de datos de carácter personal.</a:t>
            </a:r>
          </a:p>
          <a:p>
            <a:pPr algn="just">
              <a:spcBef>
                <a:spcPct val="0"/>
              </a:spcBef>
              <a:buFontTx/>
              <a:buNone/>
            </a:pPr>
            <a:endParaRPr lang="es-ES" altLang="es-ES" sz="1200" dirty="0">
              <a:solidFill>
                <a:srgbClr val="008000"/>
              </a:solidFill>
            </a:endParaRPr>
          </a:p>
          <a:p>
            <a:pPr algn="just">
              <a:spcBef>
                <a:spcPct val="0"/>
              </a:spcBef>
              <a:buFontTx/>
              <a:buNone/>
            </a:pPr>
            <a:r>
              <a:rPr lang="es-ES" altLang="es-ES" sz="1200" dirty="0">
                <a:solidFill>
                  <a:srgbClr val="008000"/>
                </a:solidFill>
              </a:rPr>
              <a:t>En los casos en los que se solicite información en la que parte de la misma esté sometida a alguna causa de límite del derecho, se </a:t>
            </a:r>
            <a:r>
              <a:rPr lang="es-ES" altLang="es-ES" sz="1200" b="1" dirty="0">
                <a:solidFill>
                  <a:srgbClr val="008000"/>
                </a:solidFill>
              </a:rPr>
              <a:t>admitirá parcialmente la solicitud</a:t>
            </a:r>
            <a:r>
              <a:rPr lang="es-ES" altLang="es-ES" sz="1200" dirty="0">
                <a:solidFill>
                  <a:srgbClr val="008000"/>
                </a:solidFill>
              </a:rPr>
              <a:t> y se indicará al solicitante la información que ha sido omitida.</a:t>
            </a:r>
          </a:p>
          <a:p>
            <a:pPr algn="just">
              <a:lnSpc>
                <a:spcPct val="80000"/>
              </a:lnSpc>
              <a:buFontTx/>
              <a:buNone/>
            </a:pPr>
            <a:endParaRPr lang="es-ES" altLang="es-ES" sz="700" dirty="0"/>
          </a:p>
          <a:p>
            <a:pPr algn="just" eaLnBrk="1" hangingPunct="1">
              <a:lnSpc>
                <a:spcPct val="60000"/>
              </a:lnSpc>
              <a:buFontTx/>
              <a:buNone/>
            </a:pPr>
            <a:endParaRPr lang="es-ES" altLang="es-ES" sz="700" dirty="0"/>
          </a:p>
        </p:txBody>
      </p:sp>
      <p:sp>
        <p:nvSpPr>
          <p:cNvPr id="50185" name="CuadroTexto 3">
            <a:extLst>
              <a:ext uri="{FF2B5EF4-FFF2-40B4-BE49-F238E27FC236}">
                <a16:creationId xmlns:a16="http://schemas.microsoft.com/office/drawing/2014/main" id="{DE126605-0B68-4B5D-384C-BCC6B4A9CFB7}"/>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Ley de transparencia, acceso a la información y buen gobierno</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4">
            <a:extLst>
              <a:ext uri="{FF2B5EF4-FFF2-40B4-BE49-F238E27FC236}">
                <a16:creationId xmlns:a16="http://schemas.microsoft.com/office/drawing/2014/main" id="{626FFF7B-4D2D-5E40-634C-D29D7D6C6ECE}"/>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52227" name="Picture 5" descr="cefcorp_logo">
            <a:extLst>
              <a:ext uri="{FF2B5EF4-FFF2-40B4-BE49-F238E27FC236}">
                <a16:creationId xmlns:a16="http://schemas.microsoft.com/office/drawing/2014/main" id="{F4A810BB-33B8-3DC7-4677-E039E255E4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8" name="Rectangle 6">
            <a:extLst>
              <a:ext uri="{FF2B5EF4-FFF2-40B4-BE49-F238E27FC236}">
                <a16:creationId xmlns:a16="http://schemas.microsoft.com/office/drawing/2014/main" id="{7C44445E-F548-7BE4-F095-4F0F157C55CA}"/>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52229" name="Text Box 21">
            <a:extLst>
              <a:ext uri="{FF2B5EF4-FFF2-40B4-BE49-F238E27FC236}">
                <a16:creationId xmlns:a16="http://schemas.microsoft.com/office/drawing/2014/main" id="{A0FE5043-ECA6-04CF-95F5-7B575274AE49}"/>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52230" name="Text Box 22">
            <a:extLst>
              <a:ext uri="{FF2B5EF4-FFF2-40B4-BE49-F238E27FC236}">
                <a16:creationId xmlns:a16="http://schemas.microsoft.com/office/drawing/2014/main" id="{49F7C8E7-D65C-7D1F-51A6-3A8BABC3F10C}"/>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52231" name="Picture 26" descr="logo-udima-horizontal-COLOR">
            <a:extLst>
              <a:ext uri="{FF2B5EF4-FFF2-40B4-BE49-F238E27FC236}">
                <a16:creationId xmlns:a16="http://schemas.microsoft.com/office/drawing/2014/main" id="{EE360823-EA5E-FA86-127B-02CF5517A6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3">
            <a:extLst>
              <a:ext uri="{FF2B5EF4-FFF2-40B4-BE49-F238E27FC236}">
                <a16:creationId xmlns:a16="http://schemas.microsoft.com/office/drawing/2014/main" id="{79B472FD-2E35-124E-4542-A7764CFCDE71}"/>
              </a:ext>
            </a:extLst>
          </p:cNvPr>
          <p:cNvSpPr txBox="1">
            <a:spLocks noChangeArrowheads="1"/>
          </p:cNvSpPr>
          <p:nvPr/>
        </p:nvSpPr>
        <p:spPr bwMode="auto">
          <a:xfrm>
            <a:off x="611188" y="952500"/>
            <a:ext cx="8208962" cy="5173663"/>
          </a:xfrm>
          <a:prstGeom prst="rect">
            <a:avLst/>
          </a:prstGeom>
          <a:noFill/>
          <a:ln w="12700">
            <a:solidFill>
              <a:schemeClr val="folHlink"/>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a:spcBef>
                <a:spcPct val="20000"/>
              </a:spcBef>
              <a:buChar char="–"/>
              <a:defRPr sz="2800">
                <a:solidFill>
                  <a:schemeClr val="tx1"/>
                </a:solidFill>
                <a:latin typeface="Arial" panose="020B0604020202020204" pitchFamily="34" charset="0"/>
              </a:defRPr>
            </a:lvl2pPr>
            <a:lvl3pPr>
              <a:spcBef>
                <a:spcPct val="20000"/>
              </a:spcBef>
              <a:buChar char="•"/>
              <a:defRPr sz="2400">
                <a:solidFill>
                  <a:schemeClr val="tx1"/>
                </a:solidFill>
                <a:latin typeface="Arial" panose="020B0604020202020204" pitchFamily="34" charset="0"/>
              </a:defRPr>
            </a:lvl3pPr>
            <a:lvl4pPr>
              <a:spcBef>
                <a:spcPct val="20000"/>
              </a:spcBef>
              <a:buChar char="–"/>
              <a:defRPr sz="2000">
                <a:solidFill>
                  <a:schemeClr val="tx1"/>
                </a:solidFill>
                <a:latin typeface="Arial" panose="020B0604020202020204" pitchFamily="34" charset="0"/>
              </a:defRPr>
            </a:lvl4pPr>
            <a:lvl5pPr>
              <a:spcBef>
                <a:spcPct val="20000"/>
              </a:spcBef>
              <a:buChar char="»"/>
              <a:defRPr sz="2000">
                <a:solidFill>
                  <a:schemeClr val="tx1"/>
                </a:solidFill>
                <a:latin typeface="Arial" panose="020B0604020202020204" pitchFamily="34" charset="0"/>
              </a:defRPr>
            </a:lvl5pPr>
            <a:lvl6pPr eaLnBrk="0" fontAlgn="base" hangingPunct="0">
              <a:spcBef>
                <a:spcPct val="20000"/>
              </a:spcBef>
              <a:spcAft>
                <a:spcPct val="0"/>
              </a:spcAft>
              <a:buChar char="»"/>
              <a:defRPr sz="2000">
                <a:solidFill>
                  <a:schemeClr val="tx1"/>
                </a:solidFill>
                <a:latin typeface="Arial" panose="020B0604020202020204" pitchFamily="34" charset="0"/>
              </a:defRPr>
            </a:lvl6pPr>
            <a:lvl7pPr eaLnBrk="0" fontAlgn="base" hangingPunct="0">
              <a:spcBef>
                <a:spcPct val="20000"/>
              </a:spcBef>
              <a:spcAft>
                <a:spcPct val="0"/>
              </a:spcAft>
              <a:buChar char="»"/>
              <a:defRPr sz="2000">
                <a:solidFill>
                  <a:schemeClr val="tx1"/>
                </a:solidFill>
                <a:latin typeface="Arial" panose="020B0604020202020204" pitchFamily="34" charset="0"/>
              </a:defRPr>
            </a:lvl7pPr>
            <a:lvl8pPr eaLnBrk="0" fontAlgn="base" hangingPunct="0">
              <a:spcBef>
                <a:spcPct val="20000"/>
              </a:spcBef>
              <a:spcAft>
                <a:spcPct val="0"/>
              </a:spcAft>
              <a:buChar char="»"/>
              <a:defRPr sz="2000">
                <a:solidFill>
                  <a:schemeClr val="tx1"/>
                </a:solidFill>
                <a:latin typeface="Arial" panose="020B0604020202020204" pitchFamily="34" charset="0"/>
              </a:defRPr>
            </a:lvl8pPr>
            <a:lvl9pPr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90000"/>
              </a:lnSpc>
              <a:buFontTx/>
              <a:buNone/>
              <a:defRPr/>
            </a:pPr>
            <a:r>
              <a:rPr lang="es-ES" altLang="es-ES" sz="2400" b="1" dirty="0">
                <a:solidFill>
                  <a:srgbClr val="FF0000"/>
                </a:solidFill>
              </a:rPr>
              <a:t>Procedimiento de acceso a la información</a:t>
            </a:r>
          </a:p>
          <a:p>
            <a:pPr algn="just">
              <a:lnSpc>
                <a:spcPct val="90000"/>
              </a:lnSpc>
              <a:buFontTx/>
              <a:buNone/>
              <a:defRPr/>
            </a:pPr>
            <a:r>
              <a:rPr lang="es-ES" altLang="es-ES" sz="2400" dirty="0">
                <a:solidFill>
                  <a:srgbClr val="008000"/>
                </a:solidFill>
              </a:rPr>
              <a:t>El procedimiento para el ejercicio del derecho de acceso se iniciará con la presentación de la correspondiente solicitud, que deberá dirigirse al titular del órgano administrativo o entidad que posea la información. La solicitud podrá presentarse por cualquier medio que permita tener constancia de:</a:t>
            </a:r>
          </a:p>
          <a:p>
            <a:pPr algn="just">
              <a:lnSpc>
                <a:spcPct val="90000"/>
              </a:lnSpc>
              <a:buFontTx/>
              <a:buNone/>
              <a:defRPr/>
            </a:pPr>
            <a:endParaRPr lang="es-ES" altLang="es-ES" sz="2400" dirty="0">
              <a:solidFill>
                <a:srgbClr val="008000"/>
              </a:solidFill>
            </a:endParaRPr>
          </a:p>
          <a:p>
            <a:pPr marL="342900" indent="-342900" algn="just">
              <a:lnSpc>
                <a:spcPct val="90000"/>
              </a:lnSpc>
              <a:defRPr/>
            </a:pPr>
            <a:r>
              <a:rPr lang="es-ES" altLang="es-ES" sz="2400" dirty="0">
                <a:solidFill>
                  <a:srgbClr val="008000"/>
                </a:solidFill>
              </a:rPr>
              <a:t>La identidad del solicitante.</a:t>
            </a:r>
          </a:p>
          <a:p>
            <a:pPr marL="342900" indent="-342900" algn="just">
              <a:lnSpc>
                <a:spcPct val="90000"/>
              </a:lnSpc>
              <a:defRPr/>
            </a:pPr>
            <a:r>
              <a:rPr lang="es-ES" altLang="es-ES" sz="2400" dirty="0">
                <a:solidFill>
                  <a:srgbClr val="008000"/>
                </a:solidFill>
              </a:rPr>
              <a:t>La información que se solicita.</a:t>
            </a:r>
          </a:p>
          <a:p>
            <a:pPr marL="342900" indent="-342900" algn="just">
              <a:lnSpc>
                <a:spcPct val="90000"/>
              </a:lnSpc>
              <a:defRPr/>
            </a:pPr>
            <a:r>
              <a:rPr lang="es-ES" altLang="es-ES" sz="2400" dirty="0">
                <a:solidFill>
                  <a:srgbClr val="008000"/>
                </a:solidFill>
              </a:rPr>
              <a:t>Una dirección de contacto, preferentemente electrónica, a efectos de comunicaciones.</a:t>
            </a:r>
          </a:p>
          <a:p>
            <a:pPr marL="342900" indent="-342900" algn="just">
              <a:lnSpc>
                <a:spcPct val="90000"/>
              </a:lnSpc>
              <a:defRPr/>
            </a:pPr>
            <a:r>
              <a:rPr lang="es-ES" altLang="es-ES" sz="2400" dirty="0">
                <a:solidFill>
                  <a:srgbClr val="008000"/>
                </a:solidFill>
              </a:rPr>
              <a:t>En su caso, la modalidad que se prefiera para acceder a la información solicitada.</a:t>
            </a:r>
          </a:p>
          <a:p>
            <a:pPr algn="ctr" eaLnBrk="1" hangingPunct="1">
              <a:lnSpc>
                <a:spcPct val="70000"/>
              </a:lnSpc>
              <a:buFontTx/>
              <a:buAutoNum type="arabicPeriod"/>
              <a:defRPr/>
            </a:pPr>
            <a:endParaRPr lang="es-ES" altLang="es-ES" sz="2400" dirty="0"/>
          </a:p>
        </p:txBody>
      </p:sp>
      <p:sp>
        <p:nvSpPr>
          <p:cNvPr id="52233" name="CuadroTexto 3">
            <a:extLst>
              <a:ext uri="{FF2B5EF4-FFF2-40B4-BE49-F238E27FC236}">
                <a16:creationId xmlns:a16="http://schemas.microsoft.com/office/drawing/2014/main" id="{508DF753-66D0-7B12-D67C-6D9BE51228EF}"/>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Ley de transparencia, acceso a la información y buen gobierno</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4">
            <a:extLst>
              <a:ext uri="{FF2B5EF4-FFF2-40B4-BE49-F238E27FC236}">
                <a16:creationId xmlns:a16="http://schemas.microsoft.com/office/drawing/2014/main" id="{0F89DD8C-4ABA-502B-9E8B-65C5123473E2}"/>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54275" name="Picture 5" descr="cefcorp_logo">
            <a:extLst>
              <a:ext uri="{FF2B5EF4-FFF2-40B4-BE49-F238E27FC236}">
                <a16:creationId xmlns:a16="http://schemas.microsoft.com/office/drawing/2014/main" id="{CA439455-CA25-6196-222C-30505EFCD7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Rectangle 6">
            <a:extLst>
              <a:ext uri="{FF2B5EF4-FFF2-40B4-BE49-F238E27FC236}">
                <a16:creationId xmlns:a16="http://schemas.microsoft.com/office/drawing/2014/main" id="{DBCAC0C7-4F66-93AB-3E4B-10CD75469111}"/>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54277" name="Text Box 21">
            <a:extLst>
              <a:ext uri="{FF2B5EF4-FFF2-40B4-BE49-F238E27FC236}">
                <a16:creationId xmlns:a16="http://schemas.microsoft.com/office/drawing/2014/main" id="{AD3A7A89-9A4C-FE4D-DE02-0BFCE3D8F534}"/>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54278" name="Text Box 22">
            <a:extLst>
              <a:ext uri="{FF2B5EF4-FFF2-40B4-BE49-F238E27FC236}">
                <a16:creationId xmlns:a16="http://schemas.microsoft.com/office/drawing/2014/main" id="{190D8DDA-03F9-CA0A-B29E-0EE8D90D5B04}"/>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54279" name="Picture 26" descr="logo-udima-horizontal-COLOR">
            <a:extLst>
              <a:ext uri="{FF2B5EF4-FFF2-40B4-BE49-F238E27FC236}">
                <a16:creationId xmlns:a16="http://schemas.microsoft.com/office/drawing/2014/main" id="{31C884B0-01BB-2A83-6922-4C528C158E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ángulo 1">
            <a:extLst>
              <a:ext uri="{FF2B5EF4-FFF2-40B4-BE49-F238E27FC236}">
                <a16:creationId xmlns:a16="http://schemas.microsoft.com/office/drawing/2014/main" id="{B338DB25-196D-BCF1-1758-1192B5104DE6}"/>
              </a:ext>
            </a:extLst>
          </p:cNvPr>
          <p:cNvSpPr/>
          <p:nvPr/>
        </p:nvSpPr>
        <p:spPr>
          <a:xfrm>
            <a:off x="179388" y="973138"/>
            <a:ext cx="8964612" cy="5848350"/>
          </a:xfrm>
          <a:prstGeom prst="rect">
            <a:avLst/>
          </a:prstGeom>
          <a:ln>
            <a:solidFill>
              <a:srgbClr val="002060"/>
            </a:solidFill>
          </a:ln>
        </p:spPr>
        <p:txBody>
          <a:bodyPr>
            <a:spAutoFit/>
          </a:bodyPr>
          <a:lstStyle/>
          <a:p>
            <a:pPr>
              <a:lnSpc>
                <a:spcPct val="80000"/>
              </a:lnSpc>
              <a:buFont typeface="Arial" panose="020B0604020202020204" pitchFamily="34" charset="0"/>
              <a:buNone/>
              <a:defRPr/>
            </a:pPr>
            <a:r>
              <a:rPr lang="es-ES" altLang="es-ES" sz="2200" b="1" dirty="0">
                <a:solidFill>
                  <a:srgbClr val="C00000"/>
                </a:solidFill>
              </a:rPr>
              <a:t>LIMITES DE LA LEY</a:t>
            </a:r>
          </a:p>
          <a:p>
            <a:pPr>
              <a:lnSpc>
                <a:spcPct val="80000"/>
              </a:lnSpc>
              <a:buFont typeface="Arial" panose="020B0604020202020204" pitchFamily="34" charset="0"/>
              <a:buNone/>
              <a:defRPr/>
            </a:pPr>
            <a:endParaRPr lang="es-ES" altLang="es-ES" sz="2200" b="1" dirty="0">
              <a:solidFill>
                <a:srgbClr val="C00000"/>
              </a:solidFill>
            </a:endParaRPr>
          </a:p>
          <a:p>
            <a:pPr>
              <a:lnSpc>
                <a:spcPct val="80000"/>
              </a:lnSpc>
              <a:buFont typeface="Arial" panose="020B0604020202020204" pitchFamily="34" charset="0"/>
              <a:buNone/>
              <a:defRPr/>
            </a:pPr>
            <a:r>
              <a:rPr lang="es-ES" altLang="es-ES" sz="2000" b="1" dirty="0">
                <a:solidFill>
                  <a:srgbClr val="008000"/>
                </a:solidFill>
              </a:rPr>
              <a:t>Los límites están tasados en la Ley </a:t>
            </a:r>
            <a:r>
              <a:rPr lang="es-ES" altLang="es-ES" sz="2000" dirty="0">
                <a:solidFill>
                  <a:srgbClr val="008000"/>
                </a:solidFill>
              </a:rPr>
              <a:t>y son los siguientes:</a:t>
            </a:r>
          </a:p>
          <a:p>
            <a:pPr marL="342900" indent="-342900">
              <a:lnSpc>
                <a:spcPct val="80000"/>
              </a:lnSpc>
              <a:buFont typeface="Arial" panose="020B0604020202020204" pitchFamily="34" charset="0"/>
              <a:buChar char="•"/>
              <a:defRPr/>
            </a:pPr>
            <a:r>
              <a:rPr lang="es-ES" altLang="es-ES" sz="2000" dirty="0">
                <a:solidFill>
                  <a:srgbClr val="008000"/>
                </a:solidFill>
              </a:rPr>
              <a:t>La seguridad nacional</a:t>
            </a:r>
          </a:p>
          <a:p>
            <a:pPr marL="342900" indent="-342900">
              <a:lnSpc>
                <a:spcPct val="80000"/>
              </a:lnSpc>
              <a:buFont typeface="Arial" panose="020B0604020202020204" pitchFamily="34" charset="0"/>
              <a:buChar char="•"/>
              <a:defRPr/>
            </a:pPr>
            <a:r>
              <a:rPr lang="es-ES" altLang="es-ES" sz="2000" dirty="0">
                <a:solidFill>
                  <a:srgbClr val="008000"/>
                </a:solidFill>
              </a:rPr>
              <a:t>La defensa</a:t>
            </a:r>
          </a:p>
          <a:p>
            <a:pPr marL="342900" indent="-342900">
              <a:lnSpc>
                <a:spcPct val="80000"/>
              </a:lnSpc>
              <a:buFont typeface="Arial" panose="020B0604020202020204" pitchFamily="34" charset="0"/>
              <a:buChar char="•"/>
              <a:defRPr/>
            </a:pPr>
            <a:r>
              <a:rPr lang="es-ES" altLang="es-ES" sz="2000" dirty="0">
                <a:solidFill>
                  <a:srgbClr val="008000"/>
                </a:solidFill>
              </a:rPr>
              <a:t>Las relaciones exteriores</a:t>
            </a:r>
          </a:p>
          <a:p>
            <a:pPr marL="342900" indent="-342900">
              <a:lnSpc>
                <a:spcPct val="80000"/>
              </a:lnSpc>
              <a:buFont typeface="Arial" panose="020B0604020202020204" pitchFamily="34" charset="0"/>
              <a:buChar char="•"/>
              <a:defRPr/>
            </a:pPr>
            <a:r>
              <a:rPr lang="es-ES" altLang="es-ES" sz="2000" dirty="0">
                <a:solidFill>
                  <a:srgbClr val="008000"/>
                </a:solidFill>
              </a:rPr>
              <a:t>La seguridad pública</a:t>
            </a:r>
          </a:p>
          <a:p>
            <a:pPr marL="342900" indent="-342900">
              <a:lnSpc>
                <a:spcPct val="80000"/>
              </a:lnSpc>
              <a:buFont typeface="Arial" panose="020B0604020202020204" pitchFamily="34" charset="0"/>
              <a:buChar char="•"/>
              <a:defRPr/>
            </a:pPr>
            <a:r>
              <a:rPr lang="es-ES" altLang="es-ES" sz="2000" dirty="0">
                <a:solidFill>
                  <a:srgbClr val="008000"/>
                </a:solidFill>
              </a:rPr>
              <a:t>La prevención, investigación y sanción de los ilícitos penales, administrativos o disciplinarios</a:t>
            </a:r>
          </a:p>
          <a:p>
            <a:pPr marL="342900" indent="-342900">
              <a:lnSpc>
                <a:spcPct val="80000"/>
              </a:lnSpc>
              <a:buFont typeface="Arial" panose="020B0604020202020204" pitchFamily="34" charset="0"/>
              <a:buChar char="•"/>
              <a:defRPr/>
            </a:pPr>
            <a:r>
              <a:rPr lang="es-ES" altLang="es-ES" sz="2000" dirty="0">
                <a:solidFill>
                  <a:srgbClr val="008000"/>
                </a:solidFill>
              </a:rPr>
              <a:t>La igualdad de las partes en los procesos judiciales y la tutela judicial efectiva</a:t>
            </a:r>
          </a:p>
          <a:p>
            <a:pPr marL="342900" indent="-342900">
              <a:lnSpc>
                <a:spcPct val="80000"/>
              </a:lnSpc>
              <a:buFont typeface="Arial" panose="020B0604020202020204" pitchFamily="34" charset="0"/>
              <a:buChar char="•"/>
              <a:defRPr/>
            </a:pPr>
            <a:r>
              <a:rPr lang="es-ES" altLang="es-ES" sz="2000" dirty="0">
                <a:solidFill>
                  <a:srgbClr val="008000"/>
                </a:solidFill>
              </a:rPr>
              <a:t>Las funciones administrativas de vigilancia, inspección y control</a:t>
            </a:r>
          </a:p>
          <a:p>
            <a:pPr marL="342900" indent="-342900">
              <a:lnSpc>
                <a:spcPct val="80000"/>
              </a:lnSpc>
              <a:buFont typeface="Arial" panose="020B0604020202020204" pitchFamily="34" charset="0"/>
              <a:buChar char="•"/>
              <a:defRPr/>
            </a:pPr>
            <a:r>
              <a:rPr lang="es-ES" altLang="es-ES" sz="2000" dirty="0">
                <a:solidFill>
                  <a:srgbClr val="008000"/>
                </a:solidFill>
              </a:rPr>
              <a:t>Los intereses económicos y comerciales</a:t>
            </a:r>
          </a:p>
          <a:p>
            <a:pPr marL="342900" indent="-342900">
              <a:lnSpc>
                <a:spcPct val="80000"/>
              </a:lnSpc>
              <a:buFont typeface="Arial" panose="020B0604020202020204" pitchFamily="34" charset="0"/>
              <a:buChar char="•"/>
              <a:defRPr/>
            </a:pPr>
            <a:r>
              <a:rPr lang="es-ES" altLang="es-ES" sz="2000" dirty="0">
                <a:solidFill>
                  <a:srgbClr val="008000"/>
                </a:solidFill>
              </a:rPr>
              <a:t>La política económica y monetaria</a:t>
            </a:r>
          </a:p>
          <a:p>
            <a:pPr marL="342900" indent="-342900">
              <a:lnSpc>
                <a:spcPct val="80000"/>
              </a:lnSpc>
              <a:buFont typeface="Arial" panose="020B0604020202020204" pitchFamily="34" charset="0"/>
              <a:buChar char="•"/>
              <a:defRPr/>
            </a:pPr>
            <a:r>
              <a:rPr lang="es-ES" altLang="es-ES" sz="2000" dirty="0">
                <a:solidFill>
                  <a:srgbClr val="008000"/>
                </a:solidFill>
              </a:rPr>
              <a:t>El secreto profesional y la propiedad intelectual e industrial</a:t>
            </a:r>
          </a:p>
          <a:p>
            <a:pPr marL="342900" indent="-342900">
              <a:lnSpc>
                <a:spcPct val="80000"/>
              </a:lnSpc>
              <a:buFont typeface="Arial" panose="020B0604020202020204" pitchFamily="34" charset="0"/>
              <a:buChar char="•"/>
              <a:defRPr/>
            </a:pPr>
            <a:r>
              <a:rPr lang="es-ES" altLang="es-ES" sz="2000" dirty="0">
                <a:solidFill>
                  <a:srgbClr val="008000"/>
                </a:solidFill>
              </a:rPr>
              <a:t>La garantía de la confidencialidad o el secreto requerido en procesos de toma de decisión</a:t>
            </a:r>
          </a:p>
          <a:p>
            <a:pPr marL="342900" indent="-342900">
              <a:lnSpc>
                <a:spcPct val="80000"/>
              </a:lnSpc>
              <a:buFont typeface="Arial" panose="020B0604020202020204" pitchFamily="34" charset="0"/>
              <a:buChar char="•"/>
              <a:defRPr/>
            </a:pPr>
            <a:r>
              <a:rPr lang="es-ES" altLang="es-ES" sz="2000" dirty="0">
                <a:solidFill>
                  <a:srgbClr val="008000"/>
                </a:solidFill>
              </a:rPr>
              <a:t>La protección del medio ambiente</a:t>
            </a:r>
          </a:p>
          <a:p>
            <a:pPr>
              <a:lnSpc>
                <a:spcPct val="80000"/>
              </a:lnSpc>
              <a:defRPr/>
            </a:pPr>
            <a:endParaRPr lang="es-ES" altLang="es-ES" dirty="0">
              <a:solidFill>
                <a:srgbClr val="008000"/>
              </a:solidFill>
            </a:endParaRPr>
          </a:p>
          <a:p>
            <a:pPr>
              <a:lnSpc>
                <a:spcPct val="80000"/>
              </a:lnSpc>
              <a:defRPr/>
            </a:pPr>
            <a:r>
              <a:rPr lang="es-ES" altLang="es-ES" dirty="0">
                <a:solidFill>
                  <a:srgbClr val="008000"/>
                </a:solidFill>
              </a:rPr>
              <a:t>La aplicación de los </a:t>
            </a:r>
            <a:r>
              <a:rPr lang="es-ES" altLang="es-ES" b="1" dirty="0">
                <a:solidFill>
                  <a:srgbClr val="008000"/>
                </a:solidFill>
              </a:rPr>
              <a:t>límites la establece el órgano </a:t>
            </a:r>
            <a:r>
              <a:rPr lang="es-ES" altLang="es-ES" dirty="0">
                <a:solidFill>
                  <a:srgbClr val="008000"/>
                </a:solidFill>
              </a:rPr>
              <a:t>al que se le solicita una información cuya publicación considera que puede perjudicar a alguno de los límites deberá valorar si, efectivamente, se produce un daño si se provee esa información.</a:t>
            </a:r>
          </a:p>
          <a:p>
            <a:pPr>
              <a:lnSpc>
                <a:spcPct val="80000"/>
              </a:lnSpc>
              <a:defRPr/>
            </a:pPr>
            <a:endParaRPr lang="es-ES" altLang="es-ES" dirty="0">
              <a:solidFill>
                <a:srgbClr val="008000"/>
              </a:solidFill>
            </a:endParaRPr>
          </a:p>
          <a:p>
            <a:pPr eaLnBrk="1" hangingPunct="1">
              <a:lnSpc>
                <a:spcPct val="60000"/>
              </a:lnSpc>
              <a:buFont typeface="Wingdings" panose="05000000000000000000" pitchFamily="2" charset="2"/>
              <a:buNone/>
              <a:defRPr/>
            </a:pPr>
            <a:endParaRPr lang="es-ES" altLang="es-ES" dirty="0"/>
          </a:p>
        </p:txBody>
      </p:sp>
      <p:sp>
        <p:nvSpPr>
          <p:cNvPr id="54281" name="CuadroTexto 3">
            <a:extLst>
              <a:ext uri="{FF2B5EF4-FFF2-40B4-BE49-F238E27FC236}">
                <a16:creationId xmlns:a16="http://schemas.microsoft.com/office/drawing/2014/main" id="{4DCA8DE0-DB92-10A0-5CDC-EB2E54C72361}"/>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Ley de transparencia, acceso a la información y buen gobierno</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4">
            <a:extLst>
              <a:ext uri="{FF2B5EF4-FFF2-40B4-BE49-F238E27FC236}">
                <a16:creationId xmlns:a16="http://schemas.microsoft.com/office/drawing/2014/main" id="{61544CD9-A392-4498-601D-3EA45681DF31}"/>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56323" name="Picture 5" descr="cefcorp_logo">
            <a:extLst>
              <a:ext uri="{FF2B5EF4-FFF2-40B4-BE49-F238E27FC236}">
                <a16:creationId xmlns:a16="http://schemas.microsoft.com/office/drawing/2014/main" id="{02234002-B650-4C7B-E07F-235793E9C4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4" name="Rectangle 6">
            <a:extLst>
              <a:ext uri="{FF2B5EF4-FFF2-40B4-BE49-F238E27FC236}">
                <a16:creationId xmlns:a16="http://schemas.microsoft.com/office/drawing/2014/main" id="{033ACB1B-E40E-CC9F-FAD5-A8B693A7A423}"/>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56325" name="Text Box 21">
            <a:extLst>
              <a:ext uri="{FF2B5EF4-FFF2-40B4-BE49-F238E27FC236}">
                <a16:creationId xmlns:a16="http://schemas.microsoft.com/office/drawing/2014/main" id="{7FE682C5-15C1-B95D-AA9B-AB795379CF03}"/>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56326" name="Text Box 22">
            <a:extLst>
              <a:ext uri="{FF2B5EF4-FFF2-40B4-BE49-F238E27FC236}">
                <a16:creationId xmlns:a16="http://schemas.microsoft.com/office/drawing/2014/main" id="{B929BC32-C916-58A9-708C-84003D2B3333}"/>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56327" name="Picture 26" descr="logo-udima-horizontal-COLOR">
            <a:extLst>
              <a:ext uri="{FF2B5EF4-FFF2-40B4-BE49-F238E27FC236}">
                <a16:creationId xmlns:a16="http://schemas.microsoft.com/office/drawing/2014/main" id="{9C7AD3A6-E46F-30B2-1B04-CE2C5457C8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2" name="Rectangle 3">
            <a:extLst>
              <a:ext uri="{FF2B5EF4-FFF2-40B4-BE49-F238E27FC236}">
                <a16:creationId xmlns:a16="http://schemas.microsoft.com/office/drawing/2014/main" id="{EB975808-08F9-58FE-6B2D-983B03BF0F31}"/>
              </a:ext>
            </a:extLst>
          </p:cNvPr>
          <p:cNvSpPr txBox="1">
            <a:spLocks noChangeArrowheads="1"/>
          </p:cNvSpPr>
          <p:nvPr/>
        </p:nvSpPr>
        <p:spPr bwMode="auto">
          <a:xfrm>
            <a:off x="611188" y="896938"/>
            <a:ext cx="8075612" cy="5229225"/>
          </a:xfrm>
          <a:prstGeom prst="rect">
            <a:avLst/>
          </a:prstGeom>
          <a:noFill/>
          <a:ln w="12700">
            <a:solidFill>
              <a:srgbClr val="7030A0"/>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buFontTx/>
              <a:buNone/>
              <a:defRPr/>
            </a:pPr>
            <a:r>
              <a:rPr lang="es-ES" altLang="es-ES" sz="2000" b="1" dirty="0">
                <a:solidFill>
                  <a:srgbClr val="FF0000"/>
                </a:solidFill>
              </a:rPr>
              <a:t>Posibles motivos de  inadmisión de solicitudes</a:t>
            </a:r>
            <a:r>
              <a:rPr lang="es-ES" altLang="es-ES" sz="2000" b="1" dirty="0"/>
              <a:t>:</a:t>
            </a:r>
          </a:p>
          <a:p>
            <a:pPr marL="285750" indent="-285750" algn="just">
              <a:defRPr/>
            </a:pPr>
            <a:r>
              <a:rPr lang="es-ES" altLang="es-ES" sz="1800" dirty="0">
                <a:solidFill>
                  <a:srgbClr val="008000"/>
                </a:solidFill>
              </a:rPr>
              <a:t>Se refieran a información que esté en curso de elaboración o de publicación general.</a:t>
            </a:r>
          </a:p>
          <a:p>
            <a:pPr marL="285750" indent="-285750" algn="just">
              <a:defRPr/>
            </a:pPr>
            <a:endParaRPr lang="es-ES" altLang="es-ES" sz="1800" dirty="0">
              <a:solidFill>
                <a:srgbClr val="008000"/>
              </a:solidFill>
            </a:endParaRPr>
          </a:p>
          <a:p>
            <a:pPr marL="285750" indent="-285750" algn="just">
              <a:defRPr/>
            </a:pPr>
            <a:r>
              <a:rPr lang="es-ES" altLang="es-ES" sz="1800" dirty="0">
                <a:solidFill>
                  <a:srgbClr val="008000"/>
                </a:solidFill>
              </a:rPr>
              <a:t>Sean referidas a información que tenga carácter auxiliar o de apoyo como la contenida en notas, borradores, opiniones, resúmenes, comunicaciones e informes internos o entre órganos o entidades administrativas.</a:t>
            </a:r>
          </a:p>
          <a:p>
            <a:pPr marL="285750" indent="-285750" algn="just">
              <a:defRPr/>
            </a:pPr>
            <a:endParaRPr lang="es-ES" altLang="es-ES" sz="1800" dirty="0">
              <a:solidFill>
                <a:srgbClr val="008000"/>
              </a:solidFill>
            </a:endParaRPr>
          </a:p>
          <a:p>
            <a:pPr marL="285750" indent="-285750" algn="just">
              <a:defRPr/>
            </a:pPr>
            <a:r>
              <a:rPr lang="es-ES" altLang="es-ES" sz="1800" dirty="0">
                <a:solidFill>
                  <a:srgbClr val="008000"/>
                </a:solidFill>
              </a:rPr>
              <a:t>Relativas a información para cuya divulgación sea necesaria una acción previa de reelaboración. </a:t>
            </a:r>
          </a:p>
          <a:p>
            <a:pPr marL="285750" indent="-285750" algn="just">
              <a:defRPr/>
            </a:pPr>
            <a:endParaRPr lang="es-ES" altLang="es-ES" sz="1800" dirty="0">
              <a:solidFill>
                <a:srgbClr val="008000"/>
              </a:solidFill>
            </a:endParaRPr>
          </a:p>
          <a:p>
            <a:pPr marL="285750" indent="-285750" algn="just">
              <a:defRPr/>
            </a:pPr>
            <a:r>
              <a:rPr lang="es-ES" altLang="es-ES" sz="1800" dirty="0">
                <a:solidFill>
                  <a:srgbClr val="008000"/>
                </a:solidFill>
              </a:rPr>
              <a:t>Dirigidas a un órgano en cuyo poder no obre la información cuando se desconozca el competente.</a:t>
            </a:r>
          </a:p>
          <a:p>
            <a:pPr marL="285750" indent="-285750" algn="just">
              <a:defRPr/>
            </a:pPr>
            <a:endParaRPr lang="es-ES" altLang="es-ES" sz="1800" dirty="0">
              <a:solidFill>
                <a:srgbClr val="008000"/>
              </a:solidFill>
            </a:endParaRPr>
          </a:p>
          <a:p>
            <a:pPr marL="285750" indent="-285750" algn="just">
              <a:defRPr/>
            </a:pPr>
            <a:r>
              <a:rPr lang="es-ES" altLang="es-ES" sz="1800" dirty="0">
                <a:solidFill>
                  <a:srgbClr val="008000"/>
                </a:solidFill>
              </a:rPr>
              <a:t>Que sean manifiestamente repetitivas o tengan un carácter abusivo no justificado con la finalidad de transparencia de esta Ley.</a:t>
            </a:r>
          </a:p>
          <a:p>
            <a:pPr algn="just" eaLnBrk="1" hangingPunct="1">
              <a:lnSpc>
                <a:spcPct val="80000"/>
              </a:lnSpc>
              <a:buFontTx/>
              <a:buNone/>
              <a:defRPr/>
            </a:pPr>
            <a:endParaRPr lang="es-ES" altLang="es-ES" sz="2000" b="1" dirty="0">
              <a:solidFill>
                <a:srgbClr val="C00000"/>
              </a:solidFill>
            </a:endParaRPr>
          </a:p>
        </p:txBody>
      </p:sp>
      <p:sp>
        <p:nvSpPr>
          <p:cNvPr id="56329" name="CuadroTexto 3">
            <a:extLst>
              <a:ext uri="{FF2B5EF4-FFF2-40B4-BE49-F238E27FC236}">
                <a16:creationId xmlns:a16="http://schemas.microsoft.com/office/drawing/2014/main" id="{BB4C9886-401D-04C9-AF51-31556C2BA79F}"/>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Ley de transparencia, acceso a la información y buen gobierno</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4">
            <a:extLst>
              <a:ext uri="{FF2B5EF4-FFF2-40B4-BE49-F238E27FC236}">
                <a16:creationId xmlns:a16="http://schemas.microsoft.com/office/drawing/2014/main" id="{630C42E4-98C4-AC5A-4653-C595808CC183}"/>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58371" name="Picture 5" descr="cefcorp_logo">
            <a:extLst>
              <a:ext uri="{FF2B5EF4-FFF2-40B4-BE49-F238E27FC236}">
                <a16:creationId xmlns:a16="http://schemas.microsoft.com/office/drawing/2014/main" id="{8DBA14EF-26A4-26F2-28A4-E4B84378E6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2" name="Rectangle 6">
            <a:extLst>
              <a:ext uri="{FF2B5EF4-FFF2-40B4-BE49-F238E27FC236}">
                <a16:creationId xmlns:a16="http://schemas.microsoft.com/office/drawing/2014/main" id="{B7FA458A-0C2E-5EE7-3588-30034471CB36}"/>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58373" name="Text Box 21">
            <a:extLst>
              <a:ext uri="{FF2B5EF4-FFF2-40B4-BE49-F238E27FC236}">
                <a16:creationId xmlns:a16="http://schemas.microsoft.com/office/drawing/2014/main" id="{21925626-4705-CB82-D355-0720912C3A7F}"/>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58374" name="Text Box 22">
            <a:extLst>
              <a:ext uri="{FF2B5EF4-FFF2-40B4-BE49-F238E27FC236}">
                <a16:creationId xmlns:a16="http://schemas.microsoft.com/office/drawing/2014/main" id="{280904DD-D084-1FE4-CF8A-2639F1738E64}"/>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58375" name="Picture 26" descr="logo-udima-horizontal-COLOR">
            <a:extLst>
              <a:ext uri="{FF2B5EF4-FFF2-40B4-BE49-F238E27FC236}">
                <a16:creationId xmlns:a16="http://schemas.microsoft.com/office/drawing/2014/main" id="{1BBEFFBC-EB3B-830C-6FF2-23B8CD4F86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6" name="Rectangle 3">
            <a:extLst>
              <a:ext uri="{FF2B5EF4-FFF2-40B4-BE49-F238E27FC236}">
                <a16:creationId xmlns:a16="http://schemas.microsoft.com/office/drawing/2014/main" id="{A3F2CBEE-5106-1B2D-218A-9F489726DFBD}"/>
              </a:ext>
            </a:extLst>
          </p:cNvPr>
          <p:cNvSpPr txBox="1">
            <a:spLocks noChangeArrowheads="1"/>
          </p:cNvSpPr>
          <p:nvPr/>
        </p:nvSpPr>
        <p:spPr bwMode="auto">
          <a:xfrm>
            <a:off x="468313" y="896938"/>
            <a:ext cx="8229600" cy="5186362"/>
          </a:xfrm>
          <a:prstGeom prst="rect">
            <a:avLst/>
          </a:prstGeom>
          <a:noFill/>
          <a:ln w="12700">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5715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70000"/>
              </a:lnSpc>
              <a:buFontTx/>
              <a:buNone/>
            </a:pPr>
            <a:r>
              <a:rPr lang="es-ES" altLang="es-ES" sz="2000" b="1">
                <a:solidFill>
                  <a:srgbClr val="FF0000"/>
                </a:solidFill>
              </a:rPr>
              <a:t>ALGUNAS CUESTIONES SOBRE EL PROCESO DE SOLICITUD DE INFORMACIÓN (arts. 19 Tramitación, 20 Resolución, 22 Formalización)</a:t>
            </a:r>
            <a:endParaRPr lang="es-ES" altLang="es-ES" sz="1500"/>
          </a:p>
          <a:p>
            <a:pPr algn="just" eaLnBrk="1" hangingPunct="1">
              <a:spcBef>
                <a:spcPct val="0"/>
              </a:spcBef>
              <a:buFontTx/>
              <a:buNone/>
            </a:pPr>
            <a:r>
              <a:rPr lang="es-ES" altLang="es-ES" sz="1500">
                <a:solidFill>
                  <a:srgbClr val="008000"/>
                </a:solidFill>
              </a:rPr>
              <a:t>Se debe considerar que cuando la solicitud no identifique de forma suficiente la información, se pedirá al solicitante que la concrete en un plazo de </a:t>
            </a:r>
            <a:r>
              <a:rPr lang="es-ES" altLang="es-ES" sz="1500" b="1">
                <a:solidFill>
                  <a:srgbClr val="008000"/>
                </a:solidFill>
              </a:rPr>
              <a:t>diez días</a:t>
            </a:r>
            <a:r>
              <a:rPr lang="es-ES" altLang="es-ES" sz="1500">
                <a:solidFill>
                  <a:srgbClr val="008000"/>
                </a:solidFill>
              </a:rPr>
              <a:t>.</a:t>
            </a:r>
          </a:p>
          <a:p>
            <a:pPr algn="just" eaLnBrk="1" hangingPunct="1">
              <a:spcBef>
                <a:spcPct val="0"/>
              </a:spcBef>
              <a:buFontTx/>
              <a:buNone/>
            </a:pPr>
            <a:endParaRPr lang="es-ES" altLang="es-ES" sz="1500" b="1">
              <a:solidFill>
                <a:srgbClr val="008000"/>
              </a:solidFill>
            </a:endParaRPr>
          </a:p>
          <a:p>
            <a:pPr algn="just" eaLnBrk="1" hangingPunct="1">
              <a:spcBef>
                <a:spcPct val="0"/>
              </a:spcBef>
              <a:buFontTx/>
              <a:buNone/>
            </a:pPr>
            <a:r>
              <a:rPr lang="es-ES" altLang="es-ES" sz="1500">
                <a:solidFill>
                  <a:srgbClr val="008000"/>
                </a:solidFill>
              </a:rPr>
              <a:t>La resolución en la que se conceda o deniegue el acceso deberá notificarse al solicitante y a los terceros afectados que así lo hayan solicitado </a:t>
            </a:r>
            <a:r>
              <a:rPr lang="es-ES" altLang="es-ES" sz="1500" b="1">
                <a:solidFill>
                  <a:srgbClr val="008000"/>
                </a:solidFill>
              </a:rPr>
              <a:t>en el plazo máximo </a:t>
            </a:r>
            <a:r>
              <a:rPr lang="es-ES" altLang="es-ES" sz="1500" b="1" u="sng">
                <a:solidFill>
                  <a:srgbClr val="008000"/>
                </a:solidFill>
              </a:rPr>
              <a:t>de un mes </a:t>
            </a:r>
            <a:r>
              <a:rPr lang="es-ES" altLang="es-ES" sz="1500" b="1">
                <a:solidFill>
                  <a:srgbClr val="008000"/>
                </a:solidFill>
              </a:rPr>
              <a:t>desde la recepción de la solicitud por el órgano competente para resolver</a:t>
            </a:r>
            <a:r>
              <a:rPr lang="es-ES" altLang="es-ES" sz="1500">
                <a:solidFill>
                  <a:srgbClr val="008000"/>
                </a:solidFill>
              </a:rPr>
              <a:t>. Este plazo podrá </a:t>
            </a:r>
            <a:r>
              <a:rPr lang="es-ES" altLang="es-ES" sz="1500" u="sng">
                <a:solidFill>
                  <a:srgbClr val="008000"/>
                </a:solidFill>
              </a:rPr>
              <a:t>ampliarse por otro mes </a:t>
            </a:r>
            <a:r>
              <a:rPr lang="es-ES" altLang="es-ES" sz="1500">
                <a:solidFill>
                  <a:srgbClr val="008000"/>
                </a:solidFill>
              </a:rPr>
              <a:t>en el caso de que el volumen o la complejidad de la información que se solicita así lo hagan necesario y previa notificación al solicitante.</a:t>
            </a:r>
          </a:p>
          <a:p>
            <a:pPr algn="just" eaLnBrk="1" hangingPunct="1">
              <a:spcBef>
                <a:spcPct val="0"/>
              </a:spcBef>
              <a:buFontTx/>
              <a:buNone/>
            </a:pPr>
            <a:endParaRPr lang="es-ES" altLang="es-ES" sz="1500" b="1">
              <a:solidFill>
                <a:srgbClr val="C00000"/>
              </a:solidFill>
            </a:endParaRPr>
          </a:p>
          <a:p>
            <a:pPr algn="just" eaLnBrk="1" hangingPunct="1">
              <a:spcBef>
                <a:spcPct val="0"/>
              </a:spcBef>
              <a:buFontTx/>
              <a:buNone/>
            </a:pPr>
            <a:r>
              <a:rPr lang="es-ES" altLang="es-ES" sz="1500">
                <a:solidFill>
                  <a:srgbClr val="008000"/>
                </a:solidFill>
              </a:rPr>
              <a:t>Silencio administrativo: transcurrido el plazo máximo para resolver sin que se haya dictado y notificado resolución expresa se entenderá que la solicitud ha sido desestimada.</a:t>
            </a:r>
          </a:p>
          <a:p>
            <a:pPr algn="just" eaLnBrk="1" hangingPunct="1">
              <a:spcBef>
                <a:spcPct val="0"/>
              </a:spcBef>
              <a:buFontTx/>
              <a:buNone/>
            </a:pPr>
            <a:endParaRPr lang="es-ES" altLang="es-ES" sz="1500"/>
          </a:p>
          <a:p>
            <a:pPr algn="just">
              <a:spcBef>
                <a:spcPct val="0"/>
              </a:spcBef>
              <a:buFontTx/>
              <a:buNone/>
            </a:pPr>
            <a:r>
              <a:rPr lang="es-ES" altLang="es-ES" sz="1500" b="1">
                <a:solidFill>
                  <a:srgbClr val="008000"/>
                </a:solidFill>
              </a:rPr>
              <a:t>El acceso a la información se realizará preferentemente por vía electrónica, salvo cuando no sea posible o el solicitante haya señalado expresamente otro medio</a:t>
            </a:r>
            <a:r>
              <a:rPr lang="es-ES" altLang="es-ES" sz="1500">
                <a:solidFill>
                  <a:srgbClr val="FF0000"/>
                </a:solidFill>
              </a:rPr>
              <a:t>.</a:t>
            </a:r>
            <a:r>
              <a:rPr lang="es-ES" altLang="es-ES" sz="1500"/>
              <a:t> </a:t>
            </a:r>
            <a:r>
              <a:rPr lang="es-ES" altLang="es-ES" sz="1500">
                <a:solidFill>
                  <a:srgbClr val="008000"/>
                </a:solidFill>
              </a:rPr>
              <a:t>Cuando no pueda darse el acceso en el momento de la notificación de la resolución deberá otorgarse, en cualquier caso, en un plazo no superior a diez días.</a:t>
            </a:r>
          </a:p>
          <a:p>
            <a:pPr algn="just">
              <a:spcBef>
                <a:spcPct val="0"/>
              </a:spcBef>
              <a:buFontTx/>
              <a:buNone/>
            </a:pPr>
            <a:endParaRPr lang="es-ES" altLang="es-ES" sz="1500"/>
          </a:p>
          <a:p>
            <a:pPr algn="just">
              <a:spcBef>
                <a:spcPct val="0"/>
              </a:spcBef>
              <a:buFontTx/>
              <a:buNone/>
            </a:pPr>
            <a:r>
              <a:rPr lang="es-ES" altLang="es-ES" sz="1500">
                <a:solidFill>
                  <a:srgbClr val="008000"/>
                </a:solidFill>
              </a:rPr>
              <a:t>El acceso a la información será gratuito. No obstante, la expedición de copias o la trasposición de la información a un formato diferente al original podrá dar lugar a la exigencia de exacciones en los términos previstos en la Ley 8/1989, de 13 de abril, de Tasas y Precios Públicos, o, en su caso, conforme a la normativa autonómica o local que resulte aplicable.</a:t>
            </a:r>
          </a:p>
          <a:p>
            <a:pPr algn="just" eaLnBrk="1" hangingPunct="1">
              <a:lnSpc>
                <a:spcPct val="70000"/>
              </a:lnSpc>
              <a:buFontTx/>
              <a:buNone/>
            </a:pPr>
            <a:endParaRPr lang="es-ES" altLang="es-ES" sz="1300"/>
          </a:p>
          <a:p>
            <a:pPr algn="just" eaLnBrk="1" hangingPunct="1">
              <a:lnSpc>
                <a:spcPct val="70000"/>
              </a:lnSpc>
              <a:buFontTx/>
              <a:buNone/>
            </a:pPr>
            <a:endParaRPr lang="es-ES" altLang="es-ES" sz="1300" b="1">
              <a:solidFill>
                <a:srgbClr val="C00000"/>
              </a:solidFill>
            </a:endParaRPr>
          </a:p>
        </p:txBody>
      </p:sp>
      <mc:AlternateContent xmlns:mc="http://schemas.openxmlformats.org/markup-compatibility/2006">
        <mc:Choice xmlns:p14="http://schemas.microsoft.com/office/powerpoint/2010/main" Requires="p14">
          <p:contentPart p14:bwMode="auto" r:id="rId5">
            <p14:nvContentPartPr>
              <p14:cNvPr id="2" name="Entrada de lápiz 1">
                <a:extLst>
                  <a:ext uri="{FF2B5EF4-FFF2-40B4-BE49-F238E27FC236}">
                    <a16:creationId xmlns:a16="http://schemas.microsoft.com/office/drawing/2014/main" id="{92C7C122-0CE7-7C86-A23E-20C14E947F1F}"/>
                  </a:ext>
                </a:extLst>
              </p14:cNvPr>
              <p14:cNvContentPartPr/>
              <p14:nvPr/>
            </p14:nvContentPartPr>
            <p14:xfrm>
              <a:off x="7386840" y="3143520"/>
              <a:ext cx="153000" cy="26280"/>
            </p14:xfrm>
          </p:contentPart>
        </mc:Choice>
        <mc:Fallback>
          <p:pic>
            <p:nvPicPr>
              <p:cNvPr id="2" name="Entrada de lápiz 1">
                <a:extLst>
                  <a:ext uri="{FF2B5EF4-FFF2-40B4-BE49-F238E27FC236}">
                    <a16:creationId xmlns:a16="http://schemas.microsoft.com/office/drawing/2014/main" id="{92C7C122-0CE7-7C86-A23E-20C14E947F1F}"/>
                  </a:ext>
                </a:extLst>
              </p:cNvPr>
              <p:cNvPicPr/>
              <p:nvPr/>
            </p:nvPicPr>
            <p:blipFill>
              <a:blip r:embed="rId6"/>
              <a:stretch>
                <a:fillRect/>
              </a:stretch>
            </p:blipFill>
            <p:spPr>
              <a:xfrm>
                <a:off x="7377480" y="3134160"/>
                <a:ext cx="171720" cy="45000"/>
              </a:xfrm>
              <a:prstGeom prst="rect">
                <a:avLst/>
              </a:prstGeom>
            </p:spPr>
          </p:pic>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4">
            <a:extLst>
              <a:ext uri="{FF2B5EF4-FFF2-40B4-BE49-F238E27FC236}">
                <a16:creationId xmlns:a16="http://schemas.microsoft.com/office/drawing/2014/main" id="{5BFFAD45-DC4F-7C0A-2757-06359E9697F3}"/>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60419" name="Picture 5" descr="cefcorp_logo">
            <a:extLst>
              <a:ext uri="{FF2B5EF4-FFF2-40B4-BE49-F238E27FC236}">
                <a16:creationId xmlns:a16="http://schemas.microsoft.com/office/drawing/2014/main" id="{C0F3ABB9-94FA-2BE6-5A5F-B67E51DF7C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0" name="Rectangle 6">
            <a:extLst>
              <a:ext uri="{FF2B5EF4-FFF2-40B4-BE49-F238E27FC236}">
                <a16:creationId xmlns:a16="http://schemas.microsoft.com/office/drawing/2014/main" id="{1A4147A6-C98D-4504-AAA4-8E94DE18F70D}"/>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60421" name="Text Box 21">
            <a:extLst>
              <a:ext uri="{FF2B5EF4-FFF2-40B4-BE49-F238E27FC236}">
                <a16:creationId xmlns:a16="http://schemas.microsoft.com/office/drawing/2014/main" id="{80800F0F-03CC-183A-B123-F2E010D4F3E9}"/>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60422" name="Text Box 22">
            <a:extLst>
              <a:ext uri="{FF2B5EF4-FFF2-40B4-BE49-F238E27FC236}">
                <a16:creationId xmlns:a16="http://schemas.microsoft.com/office/drawing/2014/main" id="{6EC7D318-550B-E394-8AFA-8F271009F6DC}"/>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60423" name="Picture 26" descr="logo-udima-horizontal-COLOR">
            <a:extLst>
              <a:ext uri="{FF2B5EF4-FFF2-40B4-BE49-F238E27FC236}">
                <a16:creationId xmlns:a16="http://schemas.microsoft.com/office/drawing/2014/main" id="{C865A5E6-D5EA-695B-4C92-B26D2A5481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4" name="CuadroTexto 3">
            <a:extLst>
              <a:ext uri="{FF2B5EF4-FFF2-40B4-BE49-F238E27FC236}">
                <a16:creationId xmlns:a16="http://schemas.microsoft.com/office/drawing/2014/main" id="{48CE2658-62F7-ACCB-AE4E-016931FEA401}"/>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Ley de transparencia, acceso a la información y buen gobierno</a:t>
            </a:r>
          </a:p>
        </p:txBody>
      </p:sp>
      <p:sp>
        <p:nvSpPr>
          <p:cNvPr id="9" name="Rectangle 3">
            <a:extLst>
              <a:ext uri="{FF2B5EF4-FFF2-40B4-BE49-F238E27FC236}">
                <a16:creationId xmlns:a16="http://schemas.microsoft.com/office/drawing/2014/main" id="{3D0A5188-7ACC-1E1D-0A32-2092CDF103E6}"/>
              </a:ext>
            </a:extLst>
          </p:cNvPr>
          <p:cNvSpPr txBox="1">
            <a:spLocks noChangeArrowheads="1"/>
          </p:cNvSpPr>
          <p:nvPr/>
        </p:nvSpPr>
        <p:spPr bwMode="auto">
          <a:xfrm>
            <a:off x="539750" y="850900"/>
            <a:ext cx="8280400" cy="5429250"/>
          </a:xfrm>
          <a:prstGeom prst="rect">
            <a:avLst/>
          </a:prstGeom>
          <a:noFill/>
          <a:ln w="12700">
            <a:solidFill>
              <a:schemeClr val="folHlink"/>
            </a:solidFill>
          </a:ln>
        </p:spPr>
        <p:txBody>
          <a:bodyPr>
            <a:normAutofit/>
          </a:bodyPr>
          <a:lstStyle>
            <a:lvl1pPr>
              <a:spcBef>
                <a:spcPct val="20000"/>
              </a:spcBef>
              <a:buChar char="•"/>
              <a:defRPr sz="3200">
                <a:solidFill>
                  <a:schemeClr val="tx1"/>
                </a:solidFill>
                <a:latin typeface="Arial" panose="020B0604020202020204" pitchFamily="34" charset="0"/>
              </a:defRPr>
            </a:lvl1pPr>
            <a:lvl2pPr>
              <a:spcBef>
                <a:spcPct val="20000"/>
              </a:spcBef>
              <a:buChar char="–"/>
              <a:defRPr sz="2800">
                <a:solidFill>
                  <a:schemeClr val="tx1"/>
                </a:solidFill>
                <a:latin typeface="Arial" panose="020B0604020202020204" pitchFamily="34" charset="0"/>
              </a:defRPr>
            </a:lvl2pPr>
            <a:lvl3pPr>
              <a:spcBef>
                <a:spcPct val="20000"/>
              </a:spcBef>
              <a:buChar char="•"/>
              <a:defRPr sz="2400">
                <a:solidFill>
                  <a:schemeClr val="tx1"/>
                </a:solidFill>
                <a:latin typeface="Arial" panose="020B0604020202020204" pitchFamily="34" charset="0"/>
              </a:defRPr>
            </a:lvl3pPr>
            <a:lvl4pPr>
              <a:spcBef>
                <a:spcPct val="20000"/>
              </a:spcBef>
              <a:buChar char="–"/>
              <a:defRPr sz="2000">
                <a:solidFill>
                  <a:schemeClr val="tx1"/>
                </a:solidFill>
                <a:latin typeface="Arial" panose="020B0604020202020204" pitchFamily="34" charset="0"/>
              </a:defRPr>
            </a:lvl4pPr>
            <a:lvl5pPr>
              <a:spcBef>
                <a:spcPct val="20000"/>
              </a:spcBef>
              <a:buChar char="»"/>
              <a:defRPr sz="2000">
                <a:solidFill>
                  <a:schemeClr val="tx1"/>
                </a:solidFill>
                <a:latin typeface="Arial" panose="020B0604020202020204" pitchFamily="34" charset="0"/>
              </a:defRPr>
            </a:lvl5pPr>
            <a:lvl6pPr eaLnBrk="0" fontAlgn="base" hangingPunct="0">
              <a:spcBef>
                <a:spcPct val="20000"/>
              </a:spcBef>
              <a:spcAft>
                <a:spcPct val="0"/>
              </a:spcAft>
              <a:buChar char="»"/>
              <a:defRPr sz="2000">
                <a:solidFill>
                  <a:schemeClr val="tx1"/>
                </a:solidFill>
                <a:latin typeface="Arial" panose="020B0604020202020204" pitchFamily="34" charset="0"/>
              </a:defRPr>
            </a:lvl6pPr>
            <a:lvl7pPr eaLnBrk="0" fontAlgn="base" hangingPunct="0">
              <a:spcBef>
                <a:spcPct val="20000"/>
              </a:spcBef>
              <a:spcAft>
                <a:spcPct val="0"/>
              </a:spcAft>
              <a:buChar char="»"/>
              <a:defRPr sz="2000">
                <a:solidFill>
                  <a:schemeClr val="tx1"/>
                </a:solidFill>
                <a:latin typeface="Arial" panose="020B0604020202020204" pitchFamily="34" charset="0"/>
              </a:defRPr>
            </a:lvl7pPr>
            <a:lvl8pPr eaLnBrk="0" fontAlgn="base" hangingPunct="0">
              <a:spcBef>
                <a:spcPct val="20000"/>
              </a:spcBef>
              <a:spcAft>
                <a:spcPct val="0"/>
              </a:spcAft>
              <a:buChar char="»"/>
              <a:defRPr sz="2000">
                <a:solidFill>
                  <a:schemeClr val="tx1"/>
                </a:solidFill>
                <a:latin typeface="Arial" panose="020B0604020202020204" pitchFamily="34" charset="0"/>
              </a:defRPr>
            </a:lvl8pPr>
            <a:lvl9pPr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60000"/>
              </a:lnSpc>
              <a:buFontTx/>
              <a:buNone/>
              <a:defRPr/>
            </a:pPr>
            <a:r>
              <a:rPr lang="es-ES" altLang="es-ES" sz="2800" b="1">
                <a:solidFill>
                  <a:srgbClr val="FF0000"/>
                </a:solidFill>
              </a:rPr>
              <a:t>Unidades de información (art. 21). </a:t>
            </a:r>
          </a:p>
          <a:p>
            <a:pPr algn="just" eaLnBrk="1" hangingPunct="1">
              <a:lnSpc>
                <a:spcPct val="60000"/>
              </a:lnSpc>
              <a:buFontTx/>
              <a:buNone/>
              <a:defRPr/>
            </a:pPr>
            <a:endParaRPr lang="es-ES" altLang="es-ES" sz="1500" b="1">
              <a:solidFill>
                <a:srgbClr val="FF0000"/>
              </a:solidFill>
            </a:endParaRPr>
          </a:p>
          <a:p>
            <a:pPr algn="just" eaLnBrk="1" hangingPunct="1">
              <a:lnSpc>
                <a:spcPct val="60000"/>
              </a:lnSpc>
              <a:buFontTx/>
              <a:buNone/>
              <a:defRPr/>
            </a:pPr>
            <a:r>
              <a:rPr lang="es-ES" altLang="es-ES" sz="1800">
                <a:solidFill>
                  <a:srgbClr val="008000"/>
                </a:solidFill>
              </a:rPr>
              <a:t>Según el Art. 21 de la Ley 19/2013 LTAIBG, las Administraciones Públicas incluidas en el ámbito de aplicación del TITULO I establecerán sistemas para integrar la gestión de solicitudes de información de los ciudadanos en el funcionamiento de su organización interna. </a:t>
            </a:r>
          </a:p>
          <a:p>
            <a:pPr algn="just" eaLnBrk="1" hangingPunct="1">
              <a:lnSpc>
                <a:spcPct val="60000"/>
              </a:lnSpc>
              <a:buFontTx/>
              <a:buNone/>
              <a:defRPr/>
            </a:pPr>
            <a:endParaRPr lang="es-ES" altLang="es-ES" sz="1800">
              <a:solidFill>
                <a:srgbClr val="008000"/>
              </a:solidFill>
            </a:endParaRPr>
          </a:p>
          <a:p>
            <a:pPr algn="just" eaLnBrk="1" hangingPunct="1">
              <a:lnSpc>
                <a:spcPct val="60000"/>
              </a:lnSpc>
              <a:buFontTx/>
              <a:buNone/>
              <a:defRPr/>
            </a:pPr>
            <a:r>
              <a:rPr lang="es-ES" altLang="es-ES" sz="1800">
                <a:solidFill>
                  <a:srgbClr val="008000"/>
                </a:solidFill>
              </a:rPr>
              <a:t>En el ámbito de la Administración General del Estado, existirán unidades especializadas (unidades de información) que tendrán las siguientes funciones:</a:t>
            </a:r>
          </a:p>
          <a:p>
            <a:pPr algn="just" eaLnBrk="1" hangingPunct="1">
              <a:lnSpc>
                <a:spcPct val="60000"/>
              </a:lnSpc>
              <a:buFontTx/>
              <a:buNone/>
              <a:defRPr/>
            </a:pPr>
            <a:endParaRPr lang="es-ES" altLang="es-ES" sz="1500"/>
          </a:p>
          <a:p>
            <a:pPr marL="285750" indent="-285750" algn="just" eaLnBrk="1" hangingPunct="1">
              <a:lnSpc>
                <a:spcPct val="60000"/>
              </a:lnSpc>
              <a:defRPr/>
            </a:pPr>
            <a:r>
              <a:rPr lang="es-ES" altLang="es-ES" sz="1800">
                <a:solidFill>
                  <a:srgbClr val="008000"/>
                </a:solidFill>
              </a:rPr>
              <a:t>Recabar y difundir la información a la que se refiere el capítulo II del título I de esta Ley.</a:t>
            </a:r>
          </a:p>
          <a:p>
            <a:pPr marL="285750" indent="-285750" algn="just" eaLnBrk="1" hangingPunct="1">
              <a:lnSpc>
                <a:spcPct val="60000"/>
              </a:lnSpc>
              <a:defRPr/>
            </a:pPr>
            <a:r>
              <a:rPr lang="es-ES" altLang="es-ES" sz="1800">
                <a:solidFill>
                  <a:srgbClr val="008000"/>
                </a:solidFill>
              </a:rPr>
              <a:t>Recibir y dar tramitación a las solicitudes de acceso a la información.</a:t>
            </a:r>
          </a:p>
          <a:p>
            <a:pPr marL="285750" indent="-285750" algn="just" eaLnBrk="1" hangingPunct="1">
              <a:lnSpc>
                <a:spcPct val="60000"/>
              </a:lnSpc>
              <a:defRPr/>
            </a:pPr>
            <a:r>
              <a:rPr lang="es-ES" altLang="es-ES" sz="1800">
                <a:solidFill>
                  <a:srgbClr val="008000"/>
                </a:solidFill>
              </a:rPr>
              <a:t>Realizar los trámites internos necesarios para dar acceso a la información solicitada.</a:t>
            </a:r>
          </a:p>
          <a:p>
            <a:pPr marL="285750" indent="-285750" algn="just" eaLnBrk="1" hangingPunct="1">
              <a:lnSpc>
                <a:spcPct val="60000"/>
              </a:lnSpc>
              <a:defRPr/>
            </a:pPr>
            <a:r>
              <a:rPr lang="es-ES" altLang="es-ES" sz="1800">
                <a:solidFill>
                  <a:srgbClr val="008000"/>
                </a:solidFill>
              </a:rPr>
              <a:t>Realizar el seguimiento y control de la correcta tramitación de las solicitudes de acceso a la información. </a:t>
            </a:r>
          </a:p>
          <a:p>
            <a:pPr marL="285750" indent="-285750" algn="just" eaLnBrk="1" hangingPunct="1">
              <a:lnSpc>
                <a:spcPct val="60000"/>
              </a:lnSpc>
              <a:defRPr/>
            </a:pPr>
            <a:r>
              <a:rPr lang="es-ES" altLang="es-ES" sz="1800">
                <a:solidFill>
                  <a:srgbClr val="008000"/>
                </a:solidFill>
              </a:rPr>
              <a:t>Llevar un registro de las solicitudes de acceso a la información. </a:t>
            </a:r>
          </a:p>
          <a:p>
            <a:pPr marL="285750" indent="-285750" algn="just" eaLnBrk="1" hangingPunct="1">
              <a:lnSpc>
                <a:spcPct val="60000"/>
              </a:lnSpc>
              <a:defRPr/>
            </a:pPr>
            <a:r>
              <a:rPr lang="es-ES" altLang="es-ES" sz="1800">
                <a:solidFill>
                  <a:srgbClr val="008000"/>
                </a:solidFill>
              </a:rPr>
              <a:t>Asegurar la disponibilidad en la respectiva página web o sede electrónica de la información cuyo acceso se solicita con más frecuencia. </a:t>
            </a:r>
          </a:p>
          <a:p>
            <a:pPr marL="285750" indent="-285750" algn="just" eaLnBrk="1" hangingPunct="1">
              <a:lnSpc>
                <a:spcPct val="60000"/>
              </a:lnSpc>
              <a:defRPr/>
            </a:pPr>
            <a:r>
              <a:rPr lang="es-ES" altLang="es-ES" sz="1800">
                <a:solidFill>
                  <a:srgbClr val="008000"/>
                </a:solidFill>
              </a:rPr>
              <a:t>Mantener actualizado un mapa de contenidos en el que queden identificados los distintos tipos de información que obre en poder del órgano.</a:t>
            </a:r>
          </a:p>
          <a:p>
            <a:pPr marL="285750" indent="-285750" algn="just" eaLnBrk="1" hangingPunct="1">
              <a:lnSpc>
                <a:spcPct val="60000"/>
              </a:lnSpc>
              <a:defRPr/>
            </a:pPr>
            <a:r>
              <a:rPr lang="es-ES" altLang="es-ES" sz="1800">
                <a:solidFill>
                  <a:srgbClr val="008000"/>
                </a:solidFill>
              </a:rPr>
              <a:t>Todas aquellas que sean necesarias para asegurar una correcta aplicación de las disposiciones de esta Ley. </a:t>
            </a:r>
          </a:p>
          <a:p>
            <a:pPr algn="just" eaLnBrk="1" hangingPunct="1">
              <a:lnSpc>
                <a:spcPct val="60000"/>
              </a:lnSpc>
              <a:defRPr/>
            </a:pPr>
            <a:endParaRPr lang="es-ES" altLang="es-ES" sz="1700"/>
          </a:p>
          <a:p>
            <a:pPr algn="just" eaLnBrk="1" hangingPunct="1">
              <a:lnSpc>
                <a:spcPct val="60000"/>
              </a:lnSpc>
              <a:buFontTx/>
              <a:buNone/>
              <a:defRPr/>
            </a:pPr>
            <a:endParaRPr lang="es-ES" altLang="es-ES" sz="15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4">
            <a:extLst>
              <a:ext uri="{FF2B5EF4-FFF2-40B4-BE49-F238E27FC236}">
                <a16:creationId xmlns:a16="http://schemas.microsoft.com/office/drawing/2014/main" id="{07D8B321-878D-9257-C467-0D5EF77A0E30}"/>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62467" name="Picture 5" descr="cefcorp_logo">
            <a:extLst>
              <a:ext uri="{FF2B5EF4-FFF2-40B4-BE49-F238E27FC236}">
                <a16:creationId xmlns:a16="http://schemas.microsoft.com/office/drawing/2014/main" id="{8CC8F3E6-CAF4-CE10-9234-71A0FC91B5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8" name="Rectangle 6">
            <a:extLst>
              <a:ext uri="{FF2B5EF4-FFF2-40B4-BE49-F238E27FC236}">
                <a16:creationId xmlns:a16="http://schemas.microsoft.com/office/drawing/2014/main" id="{98FD98B9-BEE1-0B08-AC85-6E199528E0B5}"/>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62469" name="Text Box 21">
            <a:extLst>
              <a:ext uri="{FF2B5EF4-FFF2-40B4-BE49-F238E27FC236}">
                <a16:creationId xmlns:a16="http://schemas.microsoft.com/office/drawing/2014/main" id="{A0BA094B-68B7-3C98-2348-EF9220B87E57}"/>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62470" name="Text Box 22">
            <a:extLst>
              <a:ext uri="{FF2B5EF4-FFF2-40B4-BE49-F238E27FC236}">
                <a16:creationId xmlns:a16="http://schemas.microsoft.com/office/drawing/2014/main" id="{D6E1DF7E-042E-75DE-D6DB-11293A6B5E5B}"/>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62471" name="Picture 26" descr="logo-udima-horizontal-COLOR">
            <a:extLst>
              <a:ext uri="{FF2B5EF4-FFF2-40B4-BE49-F238E27FC236}">
                <a16:creationId xmlns:a16="http://schemas.microsoft.com/office/drawing/2014/main" id="{73A4E2EC-FABC-1EAE-E4DB-C472AB724E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72" name="CuadroTexto 3">
            <a:extLst>
              <a:ext uri="{FF2B5EF4-FFF2-40B4-BE49-F238E27FC236}">
                <a16:creationId xmlns:a16="http://schemas.microsoft.com/office/drawing/2014/main" id="{82179F23-2411-F003-6658-C9363F2638F6}"/>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Ley de transparencia, acceso a la información y buen gobierno</a:t>
            </a:r>
          </a:p>
        </p:txBody>
      </p:sp>
      <p:sp>
        <p:nvSpPr>
          <p:cNvPr id="9" name="Rectangle 3">
            <a:extLst>
              <a:ext uri="{FF2B5EF4-FFF2-40B4-BE49-F238E27FC236}">
                <a16:creationId xmlns:a16="http://schemas.microsoft.com/office/drawing/2014/main" id="{4CC5FE7B-7EB7-A980-018E-9E719173BA26}"/>
              </a:ext>
            </a:extLst>
          </p:cNvPr>
          <p:cNvSpPr txBox="1">
            <a:spLocks noChangeArrowheads="1"/>
          </p:cNvSpPr>
          <p:nvPr/>
        </p:nvSpPr>
        <p:spPr bwMode="auto">
          <a:xfrm>
            <a:off x="539750" y="850900"/>
            <a:ext cx="8280400" cy="5429250"/>
          </a:xfrm>
          <a:prstGeom prst="rect">
            <a:avLst/>
          </a:prstGeom>
          <a:noFill/>
          <a:ln w="12700">
            <a:solidFill>
              <a:schemeClr val="folHlink"/>
            </a:solidFill>
          </a:ln>
        </p:spPr>
        <p:txBody>
          <a:bodyPr>
            <a:normAutofit fontScale="62500" lnSpcReduction="20000"/>
          </a:bodyPr>
          <a:lstStyle>
            <a:lvl1pPr>
              <a:spcBef>
                <a:spcPct val="20000"/>
              </a:spcBef>
              <a:buChar char="•"/>
              <a:defRPr sz="3200">
                <a:solidFill>
                  <a:schemeClr val="tx1"/>
                </a:solidFill>
                <a:latin typeface="Arial" panose="020B0604020202020204" pitchFamily="34" charset="0"/>
              </a:defRPr>
            </a:lvl1pPr>
            <a:lvl2pPr>
              <a:spcBef>
                <a:spcPct val="20000"/>
              </a:spcBef>
              <a:buChar char="–"/>
              <a:defRPr sz="2800">
                <a:solidFill>
                  <a:schemeClr val="tx1"/>
                </a:solidFill>
                <a:latin typeface="Arial" panose="020B0604020202020204" pitchFamily="34" charset="0"/>
              </a:defRPr>
            </a:lvl2pPr>
            <a:lvl3pPr>
              <a:spcBef>
                <a:spcPct val="20000"/>
              </a:spcBef>
              <a:buChar char="•"/>
              <a:defRPr sz="2400">
                <a:solidFill>
                  <a:schemeClr val="tx1"/>
                </a:solidFill>
                <a:latin typeface="Arial" panose="020B0604020202020204" pitchFamily="34" charset="0"/>
              </a:defRPr>
            </a:lvl3pPr>
            <a:lvl4pPr>
              <a:spcBef>
                <a:spcPct val="20000"/>
              </a:spcBef>
              <a:buChar char="–"/>
              <a:defRPr sz="2000">
                <a:solidFill>
                  <a:schemeClr val="tx1"/>
                </a:solidFill>
                <a:latin typeface="Arial" panose="020B0604020202020204" pitchFamily="34" charset="0"/>
              </a:defRPr>
            </a:lvl4pPr>
            <a:lvl5pPr>
              <a:spcBef>
                <a:spcPct val="20000"/>
              </a:spcBef>
              <a:buChar char="»"/>
              <a:defRPr sz="2000">
                <a:solidFill>
                  <a:schemeClr val="tx1"/>
                </a:solidFill>
                <a:latin typeface="Arial" panose="020B0604020202020204" pitchFamily="34" charset="0"/>
              </a:defRPr>
            </a:lvl5pPr>
            <a:lvl6pPr eaLnBrk="0" fontAlgn="base" hangingPunct="0">
              <a:spcBef>
                <a:spcPct val="20000"/>
              </a:spcBef>
              <a:spcAft>
                <a:spcPct val="0"/>
              </a:spcAft>
              <a:buChar char="»"/>
              <a:defRPr sz="2000">
                <a:solidFill>
                  <a:schemeClr val="tx1"/>
                </a:solidFill>
                <a:latin typeface="Arial" panose="020B0604020202020204" pitchFamily="34" charset="0"/>
              </a:defRPr>
            </a:lvl6pPr>
            <a:lvl7pPr eaLnBrk="0" fontAlgn="base" hangingPunct="0">
              <a:spcBef>
                <a:spcPct val="20000"/>
              </a:spcBef>
              <a:spcAft>
                <a:spcPct val="0"/>
              </a:spcAft>
              <a:buChar char="»"/>
              <a:defRPr sz="2000">
                <a:solidFill>
                  <a:schemeClr val="tx1"/>
                </a:solidFill>
                <a:latin typeface="Arial" panose="020B0604020202020204" pitchFamily="34" charset="0"/>
              </a:defRPr>
            </a:lvl7pPr>
            <a:lvl8pPr eaLnBrk="0" fontAlgn="base" hangingPunct="0">
              <a:spcBef>
                <a:spcPct val="20000"/>
              </a:spcBef>
              <a:spcAft>
                <a:spcPct val="0"/>
              </a:spcAft>
              <a:buChar char="»"/>
              <a:defRPr sz="2000">
                <a:solidFill>
                  <a:schemeClr val="tx1"/>
                </a:solidFill>
                <a:latin typeface="Arial" panose="020B0604020202020204" pitchFamily="34" charset="0"/>
              </a:defRPr>
            </a:lvl8pPr>
            <a:lvl9pPr eaLnBrk="0" fontAlgn="base" hangingPunct="0">
              <a:spcBef>
                <a:spcPct val="20000"/>
              </a:spcBef>
              <a:spcAft>
                <a:spcPct val="0"/>
              </a:spcAft>
              <a:buChar char="»"/>
              <a:defRPr sz="2000">
                <a:solidFill>
                  <a:schemeClr val="tx1"/>
                </a:solidFill>
                <a:latin typeface="Arial" panose="020B0604020202020204" pitchFamily="34" charset="0"/>
              </a:defRPr>
            </a:lvl9pPr>
          </a:lstStyle>
          <a:p>
            <a:pPr>
              <a:buFontTx/>
              <a:buNone/>
              <a:defRPr/>
            </a:pPr>
            <a:r>
              <a:rPr lang="es-ES" b="1" dirty="0">
                <a:solidFill>
                  <a:srgbClr val="FF0000"/>
                </a:solidFill>
              </a:rPr>
              <a:t>Reclamación ante el Consejo de Transparencia y Buen Gobierno.</a:t>
            </a:r>
          </a:p>
          <a:p>
            <a:pPr>
              <a:buFontTx/>
              <a:buNone/>
              <a:defRPr/>
            </a:pPr>
            <a:endParaRPr lang="es-ES" b="1" dirty="0">
              <a:solidFill>
                <a:srgbClr val="FF0000"/>
              </a:solidFill>
            </a:endParaRPr>
          </a:p>
          <a:p>
            <a:pPr>
              <a:buFontTx/>
              <a:buNone/>
              <a:defRPr/>
            </a:pPr>
            <a:r>
              <a:rPr lang="es-ES" sz="2200" dirty="0">
                <a:solidFill>
                  <a:srgbClr val="008000"/>
                </a:solidFill>
              </a:rPr>
              <a:t>Frente a toda resolución </a:t>
            </a:r>
            <a:r>
              <a:rPr lang="es-ES" sz="2200" b="1" u="sng" dirty="0">
                <a:solidFill>
                  <a:srgbClr val="008000"/>
                </a:solidFill>
              </a:rPr>
              <a:t>expresa o presunta </a:t>
            </a:r>
            <a:r>
              <a:rPr lang="es-ES" sz="2200" dirty="0">
                <a:solidFill>
                  <a:srgbClr val="008000"/>
                </a:solidFill>
              </a:rPr>
              <a:t>en materia de acceso podrá interponerse una reclamación ante el Consejo de Transparencia y Buen Gobierno, con carácter potestativo y previo a su impugnación en vía contencioso-administrativa. Dicha reclamación se interpondrá en el </a:t>
            </a:r>
            <a:r>
              <a:rPr lang="es-ES" sz="2200" b="1" dirty="0">
                <a:solidFill>
                  <a:srgbClr val="008000"/>
                </a:solidFill>
              </a:rPr>
              <a:t>plazo de un mes </a:t>
            </a:r>
            <a:r>
              <a:rPr lang="es-ES" sz="2200" dirty="0">
                <a:solidFill>
                  <a:srgbClr val="008000"/>
                </a:solidFill>
              </a:rPr>
              <a:t>a contar desde el día siguiente al de la notificación del acto impugnado o desde el día siguiente a aquel en que se produzcan los efectos del silencio administrativo. La tramitación de la reclamación se ajustará a lo dispuesto en materia de recursos en la Ley 39/2015 Procedimiento Administrativo Común.</a:t>
            </a:r>
          </a:p>
          <a:p>
            <a:pPr>
              <a:buFontTx/>
              <a:buNone/>
              <a:defRPr/>
            </a:pPr>
            <a:endParaRPr lang="es-ES" sz="2200" dirty="0">
              <a:solidFill>
                <a:srgbClr val="008000"/>
              </a:solidFill>
            </a:endParaRPr>
          </a:p>
          <a:p>
            <a:pPr>
              <a:buFontTx/>
              <a:buNone/>
              <a:defRPr/>
            </a:pPr>
            <a:r>
              <a:rPr lang="es-ES" sz="2200" dirty="0">
                <a:solidFill>
                  <a:srgbClr val="008000"/>
                </a:solidFill>
              </a:rPr>
              <a:t>Cuando la denegación del acceso a la información se fundamente en la protección de derechos o intereses de terceros se otorgará, previamente a la resolución de la reclamación, trámite de audiencia a las personas que pudieran resultar afectadas para que aleguen lo que a su derecho convenga.</a:t>
            </a:r>
          </a:p>
          <a:p>
            <a:pPr>
              <a:buFontTx/>
              <a:buNone/>
              <a:defRPr/>
            </a:pPr>
            <a:endParaRPr lang="es-ES" sz="2200" dirty="0">
              <a:solidFill>
                <a:srgbClr val="008000"/>
              </a:solidFill>
            </a:endParaRPr>
          </a:p>
          <a:p>
            <a:pPr>
              <a:buFontTx/>
              <a:buNone/>
              <a:defRPr/>
            </a:pPr>
            <a:r>
              <a:rPr lang="es-ES" sz="2200" dirty="0">
                <a:solidFill>
                  <a:srgbClr val="008000"/>
                </a:solidFill>
              </a:rPr>
              <a:t>El plazo máximo para resolver y notificar la resolución será de </a:t>
            </a:r>
            <a:r>
              <a:rPr lang="es-ES" sz="2200" b="1" dirty="0">
                <a:solidFill>
                  <a:srgbClr val="008000"/>
                </a:solidFill>
              </a:rPr>
              <a:t>tres meses</a:t>
            </a:r>
            <a:r>
              <a:rPr lang="es-ES" sz="2200" dirty="0">
                <a:solidFill>
                  <a:srgbClr val="008000"/>
                </a:solidFill>
              </a:rPr>
              <a:t>, transcurrido el cual, la reclamación se entenderá desestimada.</a:t>
            </a:r>
          </a:p>
          <a:p>
            <a:pPr>
              <a:buFontTx/>
              <a:buNone/>
              <a:defRPr/>
            </a:pPr>
            <a:endParaRPr lang="es-ES" sz="2200" dirty="0">
              <a:solidFill>
                <a:srgbClr val="008000"/>
              </a:solidFill>
            </a:endParaRPr>
          </a:p>
          <a:p>
            <a:pPr>
              <a:buFontTx/>
              <a:buNone/>
              <a:defRPr/>
            </a:pPr>
            <a:r>
              <a:rPr lang="es-ES" sz="2200" dirty="0">
                <a:solidFill>
                  <a:srgbClr val="008000"/>
                </a:solidFill>
              </a:rPr>
              <a:t>Las resoluciones del Consejo de Transparencia y Buen Gobierno se publicarán, previa disociación de los datos de carácter personal que contuvieran, por medios electrónicos y en los términos en que se establezca reglamentariamente, una vez se hayan notificado a los interesados. El Presidente del Consejo de Transparencia y Buen Gobierno comunicará al Defensor del Pueblo las resoluciones que dicte en aplicación de este artículo.</a:t>
            </a:r>
          </a:p>
          <a:p>
            <a:pPr>
              <a:buFontTx/>
              <a:buNone/>
              <a:defRPr/>
            </a:pPr>
            <a:endParaRPr lang="es-ES" sz="2200" dirty="0">
              <a:solidFill>
                <a:srgbClr val="008000"/>
              </a:solidFill>
            </a:endParaRPr>
          </a:p>
          <a:p>
            <a:pPr>
              <a:buFontTx/>
              <a:buNone/>
              <a:defRPr/>
            </a:pPr>
            <a:r>
              <a:rPr lang="es-ES" sz="2200" dirty="0">
                <a:solidFill>
                  <a:srgbClr val="008000"/>
                </a:solidFill>
              </a:rPr>
              <a:t>La competencia para conocer de dichas reclamaciones corresponderá al Consejo de Transparencia y Buen Gobierno, salvo en aquellos supuestos en que las Comunidades Autónomas atribuyan dicha competencia </a:t>
            </a:r>
            <a:r>
              <a:rPr lang="es-ES" sz="2000" dirty="0">
                <a:solidFill>
                  <a:srgbClr val="008000"/>
                </a:solidFill>
              </a:rPr>
              <a:t>a un órgano específico, de acuerdo con lo establecido en la disposición adicional cuarta de esta Ley.</a:t>
            </a:r>
          </a:p>
          <a:p>
            <a:pPr algn="just" eaLnBrk="1" hangingPunct="1">
              <a:lnSpc>
                <a:spcPct val="60000"/>
              </a:lnSpc>
              <a:buFontTx/>
              <a:buNone/>
              <a:defRPr/>
            </a:pPr>
            <a:endParaRPr lang="es-ES" altLang="es-ES" sz="2200" b="1" dirty="0">
              <a:solidFill>
                <a:srgbClr val="008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4">
            <a:extLst>
              <a:ext uri="{FF2B5EF4-FFF2-40B4-BE49-F238E27FC236}">
                <a16:creationId xmlns:a16="http://schemas.microsoft.com/office/drawing/2014/main" id="{EC4A8E06-B11D-2D83-86E9-197F9D08B318}"/>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64515" name="Picture 5" descr="cefcorp_logo">
            <a:extLst>
              <a:ext uri="{FF2B5EF4-FFF2-40B4-BE49-F238E27FC236}">
                <a16:creationId xmlns:a16="http://schemas.microsoft.com/office/drawing/2014/main" id="{267CB01E-37C5-0DF7-5F4C-229CABF44A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6" name="Rectangle 6">
            <a:extLst>
              <a:ext uri="{FF2B5EF4-FFF2-40B4-BE49-F238E27FC236}">
                <a16:creationId xmlns:a16="http://schemas.microsoft.com/office/drawing/2014/main" id="{6876DF75-E960-FDA7-5B50-A248D40DA72F}"/>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64517" name="Text Box 21">
            <a:extLst>
              <a:ext uri="{FF2B5EF4-FFF2-40B4-BE49-F238E27FC236}">
                <a16:creationId xmlns:a16="http://schemas.microsoft.com/office/drawing/2014/main" id="{0672E85A-61E9-9636-92A2-89076B95A611}"/>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64518" name="Text Box 22">
            <a:extLst>
              <a:ext uri="{FF2B5EF4-FFF2-40B4-BE49-F238E27FC236}">
                <a16:creationId xmlns:a16="http://schemas.microsoft.com/office/drawing/2014/main" id="{A62F32FD-DC23-6F2F-7E47-49B6BB67DB61}"/>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64519" name="Picture 26" descr="logo-udima-horizontal-COLOR">
            <a:extLst>
              <a:ext uri="{FF2B5EF4-FFF2-40B4-BE49-F238E27FC236}">
                <a16:creationId xmlns:a16="http://schemas.microsoft.com/office/drawing/2014/main" id="{E6F71501-0863-7F09-5C81-A2269442E4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20" name="CuadroTexto 3">
            <a:extLst>
              <a:ext uri="{FF2B5EF4-FFF2-40B4-BE49-F238E27FC236}">
                <a16:creationId xmlns:a16="http://schemas.microsoft.com/office/drawing/2014/main" id="{CA44F086-455F-5F7A-415E-AE0B7C7CF571}"/>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Ley de transparencia, acceso a la información y buen gobierno</a:t>
            </a:r>
          </a:p>
        </p:txBody>
      </p:sp>
      <p:sp>
        <p:nvSpPr>
          <p:cNvPr id="64521" name="Rectangle 3">
            <a:extLst>
              <a:ext uri="{FF2B5EF4-FFF2-40B4-BE49-F238E27FC236}">
                <a16:creationId xmlns:a16="http://schemas.microsoft.com/office/drawing/2014/main" id="{E8653A73-715E-262B-06AC-1D28FD9B06AD}"/>
              </a:ext>
            </a:extLst>
          </p:cNvPr>
          <p:cNvSpPr txBox="1">
            <a:spLocks noChangeArrowheads="1"/>
          </p:cNvSpPr>
          <p:nvPr/>
        </p:nvSpPr>
        <p:spPr bwMode="auto">
          <a:xfrm>
            <a:off x="611188" y="1125538"/>
            <a:ext cx="8208962" cy="5000625"/>
          </a:xfrm>
          <a:prstGeom prst="rect">
            <a:avLst/>
          </a:prstGeom>
          <a:noFill/>
          <a:ln w="12700">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90000"/>
              </a:lnSpc>
              <a:buFontTx/>
              <a:buNone/>
            </a:pPr>
            <a:r>
              <a:rPr lang="es-ES" altLang="es-ES" sz="2000" b="1">
                <a:solidFill>
                  <a:srgbClr val="C00000"/>
                </a:solidFill>
              </a:rPr>
              <a:t>El Título II de la LTBG recoge los  principios del Buen Gobierno.</a:t>
            </a:r>
          </a:p>
          <a:p>
            <a:pPr algn="just">
              <a:lnSpc>
                <a:spcPct val="90000"/>
              </a:lnSpc>
              <a:buFontTx/>
              <a:buNone/>
            </a:pPr>
            <a:r>
              <a:rPr lang="es-ES" altLang="es-ES" sz="1700">
                <a:solidFill>
                  <a:srgbClr val="008000"/>
                </a:solidFill>
              </a:rPr>
              <a:t>En el ámbito de la Administración General del Estado las disposiciones de este título se aplicarán a los miembros del Gobierno, a los Secretarios de Estado y al resto de los </a:t>
            </a:r>
            <a:r>
              <a:rPr lang="es-ES" altLang="es-ES" sz="1700" b="1">
                <a:solidFill>
                  <a:srgbClr val="008000"/>
                </a:solidFill>
              </a:rPr>
              <a:t>altos cargos </a:t>
            </a:r>
            <a:r>
              <a:rPr lang="es-ES" altLang="es-ES" sz="1700">
                <a:solidFill>
                  <a:srgbClr val="008000"/>
                </a:solidFill>
              </a:rPr>
              <a:t>de la Administración General del Estado y de las entidades del sector público estatal, de Derecho público o privado, vinculadas o dependientes de aquella.</a:t>
            </a:r>
          </a:p>
          <a:p>
            <a:pPr algn="just">
              <a:lnSpc>
                <a:spcPct val="90000"/>
              </a:lnSpc>
              <a:buFontTx/>
              <a:buNone/>
            </a:pPr>
            <a:endParaRPr lang="es-ES" altLang="es-ES" sz="1700">
              <a:solidFill>
                <a:srgbClr val="008000"/>
              </a:solidFill>
            </a:endParaRPr>
          </a:p>
          <a:p>
            <a:pPr algn="just">
              <a:lnSpc>
                <a:spcPct val="90000"/>
              </a:lnSpc>
              <a:buFontTx/>
              <a:buNone/>
            </a:pPr>
            <a:r>
              <a:rPr lang="es-ES" altLang="es-ES" sz="1700">
                <a:solidFill>
                  <a:srgbClr val="008000"/>
                </a:solidFill>
              </a:rPr>
              <a:t>A estos efectos, se considerarán </a:t>
            </a:r>
            <a:r>
              <a:rPr lang="es-ES" altLang="es-ES" sz="1700" b="1">
                <a:solidFill>
                  <a:srgbClr val="008000"/>
                </a:solidFill>
              </a:rPr>
              <a:t>altos cargos </a:t>
            </a:r>
            <a:r>
              <a:rPr lang="es-ES" altLang="es-ES" sz="1700">
                <a:solidFill>
                  <a:srgbClr val="008000"/>
                </a:solidFill>
              </a:rPr>
              <a:t>los que tengan tal consideración en aplicación de la normativa en materia de conflictos de intereses (Tit. II y  Art 11. ley 3/2015 de altos cargos de la AGE).</a:t>
            </a:r>
          </a:p>
          <a:p>
            <a:pPr algn="just">
              <a:lnSpc>
                <a:spcPct val="90000"/>
              </a:lnSpc>
              <a:buFontTx/>
              <a:buNone/>
            </a:pPr>
            <a:endParaRPr lang="es-ES" altLang="es-ES" sz="1700">
              <a:solidFill>
                <a:srgbClr val="008000"/>
              </a:solidFill>
            </a:endParaRPr>
          </a:p>
          <a:p>
            <a:pPr algn="just">
              <a:lnSpc>
                <a:spcPct val="90000"/>
              </a:lnSpc>
              <a:buFontTx/>
              <a:buNone/>
            </a:pPr>
            <a:r>
              <a:rPr lang="es-ES" altLang="es-ES" sz="1700">
                <a:solidFill>
                  <a:srgbClr val="008000"/>
                </a:solidFill>
              </a:rPr>
              <a:t>También será de aplicación a los altos cargos o asimilados que, de acuerdo con la normativa autonómica o local que sea de aplicación, tengan tal consideración, incluidos los miembros de las Juntas de Gobierno de las Entidades Locales.</a:t>
            </a:r>
          </a:p>
          <a:p>
            <a:pPr algn="just">
              <a:lnSpc>
                <a:spcPct val="90000"/>
              </a:lnSpc>
              <a:buFontTx/>
              <a:buNone/>
            </a:pPr>
            <a:endParaRPr lang="es-ES" altLang="es-ES" sz="1700">
              <a:solidFill>
                <a:srgbClr val="008000"/>
              </a:solidFill>
            </a:endParaRPr>
          </a:p>
          <a:p>
            <a:pPr algn="just">
              <a:lnSpc>
                <a:spcPct val="90000"/>
              </a:lnSpc>
              <a:buFontTx/>
              <a:buNone/>
            </a:pPr>
            <a:r>
              <a:rPr lang="es-ES" altLang="es-ES" sz="1700">
                <a:solidFill>
                  <a:srgbClr val="008000"/>
                </a:solidFill>
              </a:rPr>
              <a:t>La actividad de la personas en el ámbito de aplicación mostrado en los párrafos inmediatamente anteriores observarán en el ejercicio de sus funciones lo dispuesto en la Constitución Española y en el resto del ordenamiento jurídico y promoverán el respeto a los derechos fundamentales y a las libertades públicas.</a:t>
            </a:r>
          </a:p>
          <a:p>
            <a:pPr algn="just" eaLnBrk="1" hangingPunct="1">
              <a:lnSpc>
                <a:spcPct val="90000"/>
              </a:lnSpc>
              <a:buFontTx/>
              <a:buNone/>
            </a:pPr>
            <a:endParaRPr lang="es-ES" altLang="es-ES" sz="1300" b="1">
              <a:solidFill>
                <a:srgbClr val="C0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4">
            <a:extLst>
              <a:ext uri="{FF2B5EF4-FFF2-40B4-BE49-F238E27FC236}">
                <a16:creationId xmlns:a16="http://schemas.microsoft.com/office/drawing/2014/main" id="{6D6DEDF2-2F6F-4D2A-7606-8373464BD875}"/>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66563" name="Picture 5" descr="cefcorp_logo">
            <a:extLst>
              <a:ext uri="{FF2B5EF4-FFF2-40B4-BE49-F238E27FC236}">
                <a16:creationId xmlns:a16="http://schemas.microsoft.com/office/drawing/2014/main" id="{E6B05199-5BB5-DA49-90FD-7238882073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4" name="Rectangle 6">
            <a:extLst>
              <a:ext uri="{FF2B5EF4-FFF2-40B4-BE49-F238E27FC236}">
                <a16:creationId xmlns:a16="http://schemas.microsoft.com/office/drawing/2014/main" id="{E25AC6C0-5E3F-5762-1FFB-E994111DC58E}"/>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66565" name="Text Box 21">
            <a:extLst>
              <a:ext uri="{FF2B5EF4-FFF2-40B4-BE49-F238E27FC236}">
                <a16:creationId xmlns:a16="http://schemas.microsoft.com/office/drawing/2014/main" id="{EFE4150B-4FC8-4653-51C7-E03BE99646A0}"/>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66566" name="Text Box 22">
            <a:extLst>
              <a:ext uri="{FF2B5EF4-FFF2-40B4-BE49-F238E27FC236}">
                <a16:creationId xmlns:a16="http://schemas.microsoft.com/office/drawing/2014/main" id="{E1C21320-CA2B-10A0-BA0D-1E57DF9AEA0D}"/>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66567" name="Picture 26" descr="logo-udima-horizontal-COLOR">
            <a:extLst>
              <a:ext uri="{FF2B5EF4-FFF2-40B4-BE49-F238E27FC236}">
                <a16:creationId xmlns:a16="http://schemas.microsoft.com/office/drawing/2014/main" id="{CF8D5411-EDD6-B6F0-9EC6-55C4D3CF8B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8" name="Rectangle 3">
            <a:extLst>
              <a:ext uri="{FF2B5EF4-FFF2-40B4-BE49-F238E27FC236}">
                <a16:creationId xmlns:a16="http://schemas.microsoft.com/office/drawing/2014/main" id="{A3D574E7-44F6-436D-D0D3-28AFE58816A2}"/>
              </a:ext>
            </a:extLst>
          </p:cNvPr>
          <p:cNvSpPr txBox="1">
            <a:spLocks noChangeArrowheads="1"/>
          </p:cNvSpPr>
          <p:nvPr/>
        </p:nvSpPr>
        <p:spPr bwMode="auto">
          <a:xfrm>
            <a:off x="611188" y="1052513"/>
            <a:ext cx="8208962" cy="5073650"/>
          </a:xfrm>
          <a:prstGeom prst="rect">
            <a:avLst/>
          </a:prstGeom>
          <a:noFill/>
          <a:ln w="12700">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buFontTx/>
              <a:buNone/>
            </a:pPr>
            <a:r>
              <a:rPr lang="es-ES" altLang="es-ES" sz="2800" b="1">
                <a:solidFill>
                  <a:srgbClr val="C00000"/>
                </a:solidFill>
              </a:rPr>
              <a:t>Principios generales:</a:t>
            </a:r>
          </a:p>
          <a:p>
            <a:pPr algn="just"/>
            <a:r>
              <a:rPr lang="es-ES" altLang="es-ES" sz="1600">
                <a:solidFill>
                  <a:srgbClr val="008000"/>
                </a:solidFill>
              </a:rPr>
              <a:t>Actuarán con transparencia en la gestión de los asuntos públicos, de acuerdo con los principios de eficacia, economía y eficiencia y con el objetivo de satisfacer el interés general.</a:t>
            </a:r>
          </a:p>
          <a:p>
            <a:pPr algn="just"/>
            <a:r>
              <a:rPr lang="es-ES" altLang="es-ES" sz="1600">
                <a:solidFill>
                  <a:srgbClr val="008000"/>
                </a:solidFill>
              </a:rPr>
              <a:t>Ejercerán sus funciones con dedicación al servicio público, absteniéndose de cualquier conducta que sea contraria a estos principios.</a:t>
            </a:r>
          </a:p>
          <a:p>
            <a:pPr algn="just"/>
            <a:r>
              <a:rPr lang="es-ES" altLang="es-ES" sz="1600">
                <a:solidFill>
                  <a:srgbClr val="008000"/>
                </a:solidFill>
              </a:rPr>
              <a:t>Respetarán el principio de imparcialidad, de modo que mantengan un criterio independiente y ajeno a todo interés particular.</a:t>
            </a:r>
          </a:p>
          <a:p>
            <a:pPr algn="just"/>
            <a:r>
              <a:rPr lang="es-ES" altLang="es-ES" sz="1600">
                <a:solidFill>
                  <a:srgbClr val="008000"/>
                </a:solidFill>
              </a:rPr>
              <a:t>Asegurarán un trato igual y sin discriminaciones de ningún tipo en el ejercicio de sus funciones.</a:t>
            </a:r>
          </a:p>
          <a:p>
            <a:pPr algn="just"/>
            <a:r>
              <a:rPr lang="es-ES" altLang="es-ES" sz="1600">
                <a:solidFill>
                  <a:srgbClr val="008000"/>
                </a:solidFill>
              </a:rPr>
              <a:t>Actuarán con la diligencia debida en el cumplimiento de sus obligaciones y fomentarán la calidad en la prestación de servicios públicos.</a:t>
            </a:r>
          </a:p>
          <a:p>
            <a:pPr algn="just"/>
            <a:r>
              <a:rPr lang="es-ES" altLang="es-ES" sz="1600">
                <a:solidFill>
                  <a:srgbClr val="008000"/>
                </a:solidFill>
              </a:rPr>
              <a:t>Mantendrán una conducta digna y tratarán a los ciudadanos con esmerada corrección.</a:t>
            </a:r>
          </a:p>
          <a:p>
            <a:pPr algn="just"/>
            <a:r>
              <a:rPr lang="es-ES" altLang="es-ES" sz="1600">
                <a:solidFill>
                  <a:srgbClr val="008000"/>
                </a:solidFill>
              </a:rPr>
              <a:t>Asumirán la responsabilidad de las decisiones y actuaciones propias y de los organismos que dirigen, sin perjuicio de otras que fueran exigibles legalmente.</a:t>
            </a:r>
          </a:p>
          <a:p>
            <a:pPr algn="just" eaLnBrk="1" hangingPunct="1">
              <a:buFontTx/>
              <a:buNone/>
            </a:pPr>
            <a:endParaRPr lang="es-ES" altLang="es-ES" sz="1400" b="1">
              <a:solidFill>
                <a:srgbClr val="C00000"/>
              </a:solidFill>
            </a:endParaRPr>
          </a:p>
        </p:txBody>
      </p:sp>
      <p:sp>
        <p:nvSpPr>
          <p:cNvPr id="66569" name="CuadroTexto 3">
            <a:extLst>
              <a:ext uri="{FF2B5EF4-FFF2-40B4-BE49-F238E27FC236}">
                <a16:creationId xmlns:a16="http://schemas.microsoft.com/office/drawing/2014/main" id="{2EB9CB21-AE31-A617-9E3D-7ED95618DA70}"/>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Ley de transparencia, acceso a la información y buen gobierno</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4">
            <a:extLst>
              <a:ext uri="{FF2B5EF4-FFF2-40B4-BE49-F238E27FC236}">
                <a16:creationId xmlns:a16="http://schemas.microsoft.com/office/drawing/2014/main" id="{68983D91-0C99-4F5A-B5F1-3C8DCB0CE793}"/>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68611" name="Picture 5" descr="cefcorp_logo">
            <a:extLst>
              <a:ext uri="{FF2B5EF4-FFF2-40B4-BE49-F238E27FC236}">
                <a16:creationId xmlns:a16="http://schemas.microsoft.com/office/drawing/2014/main" id="{17F48754-6AF6-90E1-99EA-0D536D2CA0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2" name="Rectangle 6">
            <a:extLst>
              <a:ext uri="{FF2B5EF4-FFF2-40B4-BE49-F238E27FC236}">
                <a16:creationId xmlns:a16="http://schemas.microsoft.com/office/drawing/2014/main" id="{7FAB9597-CCD1-102E-91A9-7125E2FE851A}"/>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68613" name="Text Box 21">
            <a:extLst>
              <a:ext uri="{FF2B5EF4-FFF2-40B4-BE49-F238E27FC236}">
                <a16:creationId xmlns:a16="http://schemas.microsoft.com/office/drawing/2014/main" id="{5FEF79E4-FC01-25C3-03DB-821FC248A8CA}"/>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68614" name="Text Box 22">
            <a:extLst>
              <a:ext uri="{FF2B5EF4-FFF2-40B4-BE49-F238E27FC236}">
                <a16:creationId xmlns:a16="http://schemas.microsoft.com/office/drawing/2014/main" id="{92B40CD1-66EB-6C35-F11F-B74C2B55F84F}"/>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68615" name="Picture 26" descr="logo-udima-horizontal-COLOR">
            <a:extLst>
              <a:ext uri="{FF2B5EF4-FFF2-40B4-BE49-F238E27FC236}">
                <a16:creationId xmlns:a16="http://schemas.microsoft.com/office/drawing/2014/main" id="{C7FB8DA0-4721-75A3-4693-12304A9A94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6" name="Rectangle 3">
            <a:extLst>
              <a:ext uri="{FF2B5EF4-FFF2-40B4-BE49-F238E27FC236}">
                <a16:creationId xmlns:a16="http://schemas.microsoft.com/office/drawing/2014/main" id="{0F311CFE-407E-5257-7A37-4E1219708877}"/>
              </a:ext>
            </a:extLst>
          </p:cNvPr>
          <p:cNvSpPr txBox="1">
            <a:spLocks noChangeArrowheads="1"/>
          </p:cNvSpPr>
          <p:nvPr/>
        </p:nvSpPr>
        <p:spPr bwMode="auto">
          <a:xfrm>
            <a:off x="611188" y="1052513"/>
            <a:ext cx="8208962" cy="5073650"/>
          </a:xfrm>
          <a:prstGeom prst="rect">
            <a:avLst/>
          </a:prstGeom>
          <a:noFill/>
          <a:ln w="12700">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80000"/>
              </a:lnSpc>
              <a:buFontTx/>
              <a:buNone/>
            </a:pPr>
            <a:r>
              <a:rPr lang="es-ES" altLang="es-ES" sz="2600" b="1">
                <a:solidFill>
                  <a:srgbClr val="C00000"/>
                </a:solidFill>
              </a:rPr>
              <a:t>Principios de actuación</a:t>
            </a:r>
          </a:p>
          <a:p>
            <a:pPr algn="just">
              <a:lnSpc>
                <a:spcPct val="80000"/>
              </a:lnSpc>
            </a:pPr>
            <a:r>
              <a:rPr lang="es-ES" altLang="es-ES" sz="1400">
                <a:solidFill>
                  <a:srgbClr val="008000"/>
                </a:solidFill>
              </a:rPr>
              <a:t>Desempeñarán su actividad con plena dedicación y con pleno respeto a la normativa reguladora de las incompatibilidades y los conflictos de intereses.</a:t>
            </a:r>
          </a:p>
          <a:p>
            <a:pPr algn="just">
              <a:lnSpc>
                <a:spcPct val="80000"/>
              </a:lnSpc>
            </a:pPr>
            <a:r>
              <a:rPr lang="es-ES" altLang="es-ES" sz="1400">
                <a:solidFill>
                  <a:srgbClr val="008000"/>
                </a:solidFill>
              </a:rPr>
              <a:t>Guardarán la debida reserva respecto a los hechos o informaciones conocidos con motivo u ocasión del ejercicio de sus competencias.</a:t>
            </a:r>
          </a:p>
          <a:p>
            <a:pPr algn="just">
              <a:lnSpc>
                <a:spcPct val="80000"/>
              </a:lnSpc>
            </a:pPr>
            <a:r>
              <a:rPr lang="es-ES" altLang="es-ES" sz="1400">
                <a:solidFill>
                  <a:srgbClr val="008000"/>
                </a:solidFill>
              </a:rPr>
              <a:t>Pondrán en conocimiento de los órganos competentes cualquier actuación irregular de la cual tengan conocimiento.</a:t>
            </a:r>
          </a:p>
          <a:p>
            <a:pPr algn="just">
              <a:lnSpc>
                <a:spcPct val="80000"/>
              </a:lnSpc>
            </a:pPr>
            <a:r>
              <a:rPr lang="es-ES" altLang="es-ES" sz="1400">
                <a:solidFill>
                  <a:srgbClr val="008000"/>
                </a:solidFill>
              </a:rPr>
              <a:t>Ejercerán los poderes que les atribuye la normativa vigente con la finalidad exclusiva para la que fueron otorgados y evitarán toda acción que pueda poner en riesgo el interés público o el patrimonio de las Administraciones.</a:t>
            </a:r>
          </a:p>
          <a:p>
            <a:pPr algn="just">
              <a:lnSpc>
                <a:spcPct val="80000"/>
              </a:lnSpc>
            </a:pPr>
            <a:r>
              <a:rPr lang="es-ES" altLang="es-ES" sz="1400">
                <a:solidFill>
                  <a:srgbClr val="008000"/>
                </a:solidFill>
              </a:rPr>
              <a:t>No se implicarán en situaciones, actividades o intereses incompatibles con sus funciones y se abstendrán de intervenir en los asuntos en que concurra alguna causa que pueda afectar a su objetividad.</a:t>
            </a:r>
          </a:p>
          <a:p>
            <a:pPr algn="just">
              <a:lnSpc>
                <a:spcPct val="80000"/>
              </a:lnSpc>
            </a:pPr>
            <a:r>
              <a:rPr lang="es-ES" altLang="es-ES" sz="1400">
                <a:solidFill>
                  <a:srgbClr val="008000"/>
                </a:solidFill>
              </a:rPr>
              <a:t>No aceptarán para sí regalos que superen los usos habituales, sociales o de cortesía, ni favores o servicios en condiciones ventajosas que puedan condicionar el desarrollo de sus funciones. En el caso de obsequios de una mayor relevancia institucional se procederá a su incorporación al patrimonio de la Administración Pública correspondiente.</a:t>
            </a:r>
          </a:p>
          <a:p>
            <a:pPr algn="just">
              <a:lnSpc>
                <a:spcPct val="80000"/>
              </a:lnSpc>
            </a:pPr>
            <a:r>
              <a:rPr lang="es-ES" altLang="es-ES" sz="1400">
                <a:solidFill>
                  <a:srgbClr val="008000"/>
                </a:solidFill>
              </a:rPr>
              <a:t>Desempeñarán sus funciones con transparencia.</a:t>
            </a:r>
          </a:p>
          <a:p>
            <a:pPr algn="just">
              <a:lnSpc>
                <a:spcPct val="80000"/>
              </a:lnSpc>
            </a:pPr>
            <a:r>
              <a:rPr lang="es-ES" altLang="es-ES" sz="1400">
                <a:solidFill>
                  <a:srgbClr val="008000"/>
                </a:solidFill>
              </a:rPr>
              <a:t>Gestionarán, protegerán y conservarán adecuadamente los recursos públicos, que no podrán ser utilizados para actividades que no sean las permitidas por la normativa que sea de aplicación.</a:t>
            </a:r>
          </a:p>
          <a:p>
            <a:pPr algn="just">
              <a:lnSpc>
                <a:spcPct val="80000"/>
              </a:lnSpc>
            </a:pPr>
            <a:r>
              <a:rPr lang="es-ES" altLang="es-ES" sz="1300">
                <a:solidFill>
                  <a:srgbClr val="008000"/>
                </a:solidFill>
              </a:rPr>
              <a:t>No se valdrán de su posición en la Administración para obtener ventajas personales o materiales.</a:t>
            </a:r>
          </a:p>
          <a:p>
            <a:pPr algn="just" eaLnBrk="1" hangingPunct="1">
              <a:lnSpc>
                <a:spcPct val="80000"/>
              </a:lnSpc>
              <a:buFontTx/>
              <a:buNone/>
            </a:pPr>
            <a:endParaRPr lang="es-ES" altLang="es-ES" sz="1300" b="1">
              <a:solidFill>
                <a:srgbClr val="008000"/>
              </a:solidFill>
            </a:endParaRPr>
          </a:p>
          <a:p>
            <a:pPr algn="just" eaLnBrk="1" hangingPunct="1">
              <a:lnSpc>
                <a:spcPct val="80000"/>
              </a:lnSpc>
              <a:buFontTx/>
              <a:buNone/>
            </a:pPr>
            <a:r>
              <a:rPr lang="es-ES" altLang="es-ES" sz="1600" b="1">
                <a:solidFill>
                  <a:srgbClr val="008000"/>
                </a:solidFill>
              </a:rPr>
              <a:t>La LTBG regula las infracciones </a:t>
            </a:r>
            <a:r>
              <a:rPr lang="es-ES" altLang="es-ES" sz="1600">
                <a:solidFill>
                  <a:srgbClr val="008000"/>
                </a:solidFill>
              </a:rPr>
              <a:t>que las personas, en el ámbito de aplicación de estas obligaciones y principios comentan, tanto por conflicto de intereses, materia de gestión económico-presupuestaria y disciplinarias (Art.s 27, 28, 29, 30, 31, 32). </a:t>
            </a:r>
          </a:p>
          <a:p>
            <a:pPr algn="just" eaLnBrk="1" hangingPunct="1">
              <a:lnSpc>
                <a:spcPct val="80000"/>
              </a:lnSpc>
              <a:buFontTx/>
              <a:buNone/>
            </a:pPr>
            <a:endParaRPr lang="es-ES" altLang="es-ES" sz="1300" b="1">
              <a:solidFill>
                <a:srgbClr val="C00000"/>
              </a:solidFill>
            </a:endParaRPr>
          </a:p>
        </p:txBody>
      </p:sp>
      <p:sp>
        <p:nvSpPr>
          <p:cNvPr id="68617" name="CuadroTexto 3">
            <a:extLst>
              <a:ext uri="{FF2B5EF4-FFF2-40B4-BE49-F238E27FC236}">
                <a16:creationId xmlns:a16="http://schemas.microsoft.com/office/drawing/2014/main" id="{586D355D-16F6-98DE-5EB2-7F63A8A573C6}"/>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Ley de transparencia, acceso a la información y buen gobierno</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4">
            <a:extLst>
              <a:ext uri="{FF2B5EF4-FFF2-40B4-BE49-F238E27FC236}">
                <a16:creationId xmlns:a16="http://schemas.microsoft.com/office/drawing/2014/main" id="{D415B13A-C1BB-1603-5C9C-68CDDFA8CF8D}"/>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70659" name="Picture 5" descr="cefcorp_logo">
            <a:extLst>
              <a:ext uri="{FF2B5EF4-FFF2-40B4-BE49-F238E27FC236}">
                <a16:creationId xmlns:a16="http://schemas.microsoft.com/office/drawing/2014/main" id="{52C95BCB-962F-9959-C629-7645C482A0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0" name="Rectangle 6">
            <a:extLst>
              <a:ext uri="{FF2B5EF4-FFF2-40B4-BE49-F238E27FC236}">
                <a16:creationId xmlns:a16="http://schemas.microsoft.com/office/drawing/2014/main" id="{EAE20DA7-8430-9BD7-A441-F5B3811CCFCD}"/>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70661" name="Text Box 21">
            <a:extLst>
              <a:ext uri="{FF2B5EF4-FFF2-40B4-BE49-F238E27FC236}">
                <a16:creationId xmlns:a16="http://schemas.microsoft.com/office/drawing/2014/main" id="{0EAB1C2C-04F8-6B36-3E57-2DCED490AC09}"/>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70662" name="Text Box 22">
            <a:extLst>
              <a:ext uri="{FF2B5EF4-FFF2-40B4-BE49-F238E27FC236}">
                <a16:creationId xmlns:a16="http://schemas.microsoft.com/office/drawing/2014/main" id="{0B2E1BB3-7797-8683-859A-6FF9790E5BA1}"/>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70663" name="Picture 26" descr="logo-udima-horizontal-COLOR">
            <a:extLst>
              <a:ext uri="{FF2B5EF4-FFF2-40B4-BE49-F238E27FC236}">
                <a16:creationId xmlns:a16="http://schemas.microsoft.com/office/drawing/2014/main" id="{9F50C139-16F3-5CE4-6FD7-3C4DDE529E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9" name="Rectangle 3">
            <a:extLst>
              <a:ext uri="{FF2B5EF4-FFF2-40B4-BE49-F238E27FC236}">
                <a16:creationId xmlns:a16="http://schemas.microsoft.com/office/drawing/2014/main" id="{5487797C-7A78-F885-A5CF-8029F19895EA}"/>
              </a:ext>
            </a:extLst>
          </p:cNvPr>
          <p:cNvSpPr txBox="1">
            <a:spLocks noChangeArrowheads="1"/>
          </p:cNvSpPr>
          <p:nvPr/>
        </p:nvSpPr>
        <p:spPr bwMode="auto">
          <a:xfrm>
            <a:off x="611188" y="1052513"/>
            <a:ext cx="8208962" cy="5073650"/>
          </a:xfrm>
          <a:prstGeom prst="rect">
            <a:avLst/>
          </a:prstGeom>
          <a:noFill/>
          <a:ln w="12700">
            <a:solidFill>
              <a:schemeClr val="folHlink"/>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80000"/>
              </a:lnSpc>
              <a:buFontTx/>
              <a:buNone/>
              <a:defRPr/>
            </a:pPr>
            <a:r>
              <a:rPr lang="es-ES" altLang="es-ES" sz="1400" b="1" dirty="0">
                <a:solidFill>
                  <a:srgbClr val="FF0000"/>
                </a:solidFill>
              </a:rPr>
              <a:t>INFRACCIONES Y SANCIONES</a:t>
            </a:r>
          </a:p>
          <a:p>
            <a:pPr algn="just" eaLnBrk="1" hangingPunct="1">
              <a:lnSpc>
                <a:spcPct val="80000"/>
              </a:lnSpc>
              <a:buFontTx/>
              <a:buNone/>
              <a:defRPr/>
            </a:pPr>
            <a:endParaRPr lang="es-ES" altLang="es-ES" sz="1300" b="1" dirty="0">
              <a:solidFill>
                <a:srgbClr val="008000"/>
              </a:solidFill>
            </a:endParaRPr>
          </a:p>
          <a:p>
            <a:pPr algn="just" eaLnBrk="1" hangingPunct="1">
              <a:lnSpc>
                <a:spcPct val="80000"/>
              </a:lnSpc>
              <a:buFontTx/>
              <a:buNone/>
              <a:defRPr/>
            </a:pPr>
            <a:r>
              <a:rPr lang="es-ES" altLang="es-ES" sz="1200" b="1" dirty="0">
                <a:solidFill>
                  <a:srgbClr val="008000"/>
                </a:solidFill>
                <a:cs typeface="Arial" panose="020B0604020202020204" pitchFamily="34" charset="0"/>
              </a:rPr>
              <a:t>La LTBG regula las infracciones </a:t>
            </a:r>
            <a:r>
              <a:rPr lang="es-ES" altLang="es-ES" sz="1200" dirty="0">
                <a:solidFill>
                  <a:srgbClr val="008000"/>
                </a:solidFill>
                <a:cs typeface="Arial" panose="020B0604020202020204" pitchFamily="34" charset="0"/>
              </a:rPr>
              <a:t>que las personas, en el ámbito de aplicación de estas obligaciones y principios comentan, tanto por conflicto de intereses, materia de gestión económico-presupuestaria y disciplinarias (</a:t>
            </a:r>
            <a:r>
              <a:rPr lang="es-ES" altLang="es-ES" sz="1200" dirty="0" err="1">
                <a:solidFill>
                  <a:srgbClr val="008000"/>
                </a:solidFill>
                <a:cs typeface="Arial" panose="020B0604020202020204" pitchFamily="34" charset="0"/>
              </a:rPr>
              <a:t>Art.s</a:t>
            </a:r>
            <a:r>
              <a:rPr lang="es-ES" altLang="es-ES" sz="1200" dirty="0">
                <a:solidFill>
                  <a:srgbClr val="008000"/>
                </a:solidFill>
                <a:cs typeface="Arial" panose="020B0604020202020204" pitchFamily="34" charset="0"/>
              </a:rPr>
              <a:t> 27, 28, 29, 30, 31, 32). </a:t>
            </a:r>
          </a:p>
          <a:p>
            <a:pPr algn="just" eaLnBrk="1" hangingPunct="1">
              <a:lnSpc>
                <a:spcPct val="80000"/>
              </a:lnSpc>
              <a:buFontTx/>
              <a:buNone/>
              <a:defRPr/>
            </a:pPr>
            <a:endParaRPr lang="es-ES" altLang="es-ES" sz="1200" dirty="0">
              <a:solidFill>
                <a:srgbClr val="008000"/>
              </a:solidFill>
              <a:cs typeface="Arial" panose="020B0604020202020204" pitchFamily="34" charset="0"/>
            </a:endParaRPr>
          </a:p>
          <a:p>
            <a:pPr algn="just" eaLnBrk="1" hangingPunct="1">
              <a:lnSpc>
                <a:spcPct val="80000"/>
              </a:lnSpc>
              <a:buFontTx/>
              <a:buNone/>
              <a:defRPr/>
            </a:pPr>
            <a:r>
              <a:rPr lang="es-ES" altLang="es-ES" sz="1200" dirty="0">
                <a:solidFill>
                  <a:srgbClr val="008000"/>
                </a:solidFill>
                <a:cs typeface="Arial" panose="020B0604020202020204" pitchFamily="34" charset="0"/>
              </a:rPr>
              <a:t>Tipos:</a:t>
            </a:r>
          </a:p>
          <a:p>
            <a:pPr algn="just" eaLnBrk="1" hangingPunct="1">
              <a:lnSpc>
                <a:spcPct val="80000"/>
              </a:lnSpc>
              <a:buFontTx/>
              <a:buNone/>
              <a:defRPr/>
            </a:pPr>
            <a:r>
              <a:rPr lang="es-ES" altLang="es-ES" sz="1200" dirty="0">
                <a:solidFill>
                  <a:srgbClr val="008000"/>
                </a:solidFill>
                <a:cs typeface="Arial" panose="020B0604020202020204" pitchFamily="34" charset="0"/>
              </a:rPr>
              <a:t>En materia de conflicto de interés </a:t>
            </a:r>
          </a:p>
          <a:p>
            <a:pPr algn="just" eaLnBrk="1" hangingPunct="1">
              <a:lnSpc>
                <a:spcPct val="80000"/>
              </a:lnSpc>
              <a:buFontTx/>
              <a:buNone/>
              <a:defRPr/>
            </a:pPr>
            <a:r>
              <a:rPr lang="es-ES" altLang="es-ES" sz="1200" dirty="0">
                <a:solidFill>
                  <a:srgbClr val="008000"/>
                </a:solidFill>
                <a:cs typeface="Arial" panose="020B0604020202020204" pitchFamily="34" charset="0"/>
              </a:rPr>
              <a:t>En materia de gestión económico-presupuestario (muy graves, graves y leves)</a:t>
            </a:r>
          </a:p>
          <a:p>
            <a:pPr algn="just" eaLnBrk="1" hangingPunct="1">
              <a:lnSpc>
                <a:spcPct val="80000"/>
              </a:lnSpc>
              <a:buFontTx/>
              <a:buNone/>
              <a:defRPr/>
            </a:pPr>
            <a:r>
              <a:rPr lang="es-ES" altLang="es-ES" sz="1200" dirty="0">
                <a:solidFill>
                  <a:srgbClr val="008000"/>
                </a:solidFill>
                <a:cs typeface="Arial" panose="020B0604020202020204" pitchFamily="34" charset="0"/>
              </a:rPr>
              <a:t>Disciplinarias (muy graves, graves y leves)</a:t>
            </a:r>
          </a:p>
          <a:p>
            <a:pPr algn="just" eaLnBrk="1" hangingPunct="1">
              <a:lnSpc>
                <a:spcPct val="80000"/>
              </a:lnSpc>
              <a:buFontTx/>
              <a:buNone/>
              <a:defRPr/>
            </a:pPr>
            <a:endParaRPr lang="es-ES" altLang="es-ES" sz="1600" dirty="0">
              <a:solidFill>
                <a:srgbClr val="008000"/>
              </a:solidFill>
              <a:cs typeface="Arial" panose="020B0604020202020204" pitchFamily="34" charset="0"/>
            </a:endParaRPr>
          </a:p>
          <a:p>
            <a:pPr>
              <a:defRPr/>
            </a:pPr>
            <a:r>
              <a:rPr lang="es-ES" sz="1200" b="1" dirty="0">
                <a:solidFill>
                  <a:srgbClr val="00B050"/>
                </a:solidFill>
                <a:cs typeface="Arial" panose="020B0604020202020204" pitchFamily="34" charset="0"/>
              </a:rPr>
              <a:t>Sanciones.</a:t>
            </a:r>
          </a:p>
          <a:p>
            <a:pPr algn="just">
              <a:buFontTx/>
              <a:buNone/>
              <a:defRPr/>
            </a:pPr>
            <a:r>
              <a:rPr lang="es-ES" sz="1200" b="1" dirty="0">
                <a:solidFill>
                  <a:srgbClr val="00B050"/>
                </a:solidFill>
                <a:cs typeface="Arial" panose="020B0604020202020204" pitchFamily="34" charset="0"/>
              </a:rPr>
              <a:t>1. Las infracciones leves serán sancionadas con una amonestación.</a:t>
            </a:r>
          </a:p>
          <a:p>
            <a:pPr algn="just">
              <a:buFontTx/>
              <a:buNone/>
              <a:defRPr/>
            </a:pPr>
            <a:r>
              <a:rPr lang="es-ES" sz="1200" b="1" dirty="0">
                <a:solidFill>
                  <a:srgbClr val="00B050"/>
                </a:solidFill>
                <a:cs typeface="Arial" panose="020B0604020202020204" pitchFamily="34" charset="0"/>
              </a:rPr>
              <a:t>2. Por la comisión de una infracción grave se impondrán al infractor algunas de las siguientes sanciones:</a:t>
            </a:r>
          </a:p>
          <a:p>
            <a:pPr lvl="1" algn="just">
              <a:buFontTx/>
              <a:buNone/>
              <a:defRPr/>
            </a:pPr>
            <a:r>
              <a:rPr lang="es-ES" sz="1200" b="1" dirty="0">
                <a:solidFill>
                  <a:srgbClr val="00B050"/>
                </a:solidFill>
                <a:cs typeface="Arial" panose="020B0604020202020204" pitchFamily="34" charset="0"/>
              </a:rPr>
              <a:t>a) La declaración del incumplimiento y su publicación en el «Boletín Oficial del Estado» o diario oficial que corresponda.</a:t>
            </a:r>
          </a:p>
          <a:p>
            <a:pPr lvl="1" algn="just">
              <a:buFontTx/>
              <a:buNone/>
              <a:defRPr/>
            </a:pPr>
            <a:r>
              <a:rPr lang="es-ES" sz="1200" b="1" dirty="0">
                <a:solidFill>
                  <a:srgbClr val="00B050"/>
                </a:solidFill>
                <a:cs typeface="Arial" panose="020B0604020202020204" pitchFamily="34" charset="0"/>
              </a:rPr>
              <a:t>b) La no percepción, en el caso de que la llevara aparejada, de la correspondiente indemnización para el caso de cese en el cargo.</a:t>
            </a:r>
          </a:p>
          <a:p>
            <a:pPr algn="just">
              <a:defRPr/>
            </a:pPr>
            <a:r>
              <a:rPr lang="es-ES" sz="1200" b="1" dirty="0">
                <a:solidFill>
                  <a:srgbClr val="00B050"/>
                </a:solidFill>
                <a:cs typeface="Arial" panose="020B0604020202020204" pitchFamily="34" charset="0"/>
              </a:rPr>
              <a:t>3. En el caso de las infracciones muy graves, se impondrán en todo caso las sanciones previstas en el apartado anterior.</a:t>
            </a:r>
          </a:p>
          <a:p>
            <a:pPr algn="just">
              <a:defRPr/>
            </a:pPr>
            <a:r>
              <a:rPr lang="es-ES" sz="1200" b="1" dirty="0">
                <a:solidFill>
                  <a:srgbClr val="00B050"/>
                </a:solidFill>
                <a:cs typeface="Arial" panose="020B0604020202020204" pitchFamily="34" charset="0"/>
              </a:rPr>
              <a:t>4. Los sancionados por la comisión de una infracción muy grave serán destituidos del cargo que ocupen salvo que ya hubiesen cesado y no podrán ser nombrados para ocupar ningún puesto de alto cargo o asimilado durante un periodo de entre cinco y diez años con arreglo a los criterios previstos en el apartado siguiente.</a:t>
            </a:r>
          </a:p>
          <a:p>
            <a:pPr algn="just" eaLnBrk="1" hangingPunct="1">
              <a:lnSpc>
                <a:spcPct val="80000"/>
              </a:lnSpc>
              <a:buFontTx/>
              <a:buNone/>
              <a:defRPr/>
            </a:pPr>
            <a:endParaRPr lang="es-ES" altLang="es-ES" sz="1200" dirty="0">
              <a:solidFill>
                <a:srgbClr val="008000"/>
              </a:solidFill>
              <a:latin typeface="+mn-lt"/>
            </a:endParaRPr>
          </a:p>
          <a:p>
            <a:pPr algn="just" eaLnBrk="1" hangingPunct="1">
              <a:lnSpc>
                <a:spcPct val="80000"/>
              </a:lnSpc>
              <a:buFontTx/>
              <a:buNone/>
              <a:defRPr/>
            </a:pPr>
            <a:endParaRPr lang="es-ES" altLang="es-ES" sz="1300" b="1" dirty="0">
              <a:solidFill>
                <a:srgbClr val="C00000"/>
              </a:solidFill>
            </a:endParaRPr>
          </a:p>
        </p:txBody>
      </p:sp>
      <p:sp>
        <p:nvSpPr>
          <p:cNvPr id="70665" name="CuadroTexto 3">
            <a:extLst>
              <a:ext uri="{FF2B5EF4-FFF2-40B4-BE49-F238E27FC236}">
                <a16:creationId xmlns:a16="http://schemas.microsoft.com/office/drawing/2014/main" id="{A48E8FDF-E82D-F361-03B1-20842E5EFC2F}"/>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Ley de transparencia, acceso a la información y buen gobierno</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4">
            <a:extLst>
              <a:ext uri="{FF2B5EF4-FFF2-40B4-BE49-F238E27FC236}">
                <a16:creationId xmlns:a16="http://schemas.microsoft.com/office/drawing/2014/main" id="{E57BCB90-8FED-5002-BC18-EA6A50752AEF}"/>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72707" name="Picture 5" descr="cefcorp_logo">
            <a:extLst>
              <a:ext uri="{FF2B5EF4-FFF2-40B4-BE49-F238E27FC236}">
                <a16:creationId xmlns:a16="http://schemas.microsoft.com/office/drawing/2014/main" id="{F55D99F1-5CE2-8C18-98FF-E999B8CD5F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8" name="Rectangle 6">
            <a:extLst>
              <a:ext uri="{FF2B5EF4-FFF2-40B4-BE49-F238E27FC236}">
                <a16:creationId xmlns:a16="http://schemas.microsoft.com/office/drawing/2014/main" id="{766B20A8-07AF-C4F7-7381-49B896496535}"/>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72709" name="Text Box 21">
            <a:extLst>
              <a:ext uri="{FF2B5EF4-FFF2-40B4-BE49-F238E27FC236}">
                <a16:creationId xmlns:a16="http://schemas.microsoft.com/office/drawing/2014/main" id="{81593BDC-8BC2-24A4-5AE9-D7FE6A3363AC}"/>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72710" name="Text Box 22">
            <a:extLst>
              <a:ext uri="{FF2B5EF4-FFF2-40B4-BE49-F238E27FC236}">
                <a16:creationId xmlns:a16="http://schemas.microsoft.com/office/drawing/2014/main" id="{B3FCCC65-5288-333E-822F-149A40A97E0B}"/>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72711" name="Picture 26" descr="logo-udima-horizontal-COLOR">
            <a:extLst>
              <a:ext uri="{FF2B5EF4-FFF2-40B4-BE49-F238E27FC236}">
                <a16:creationId xmlns:a16="http://schemas.microsoft.com/office/drawing/2014/main" id="{82FACECF-A4BB-C16A-E343-2EDB98F0AC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12" name="CuadroTexto 3">
            <a:extLst>
              <a:ext uri="{FF2B5EF4-FFF2-40B4-BE49-F238E27FC236}">
                <a16:creationId xmlns:a16="http://schemas.microsoft.com/office/drawing/2014/main" id="{26740171-EE4B-A321-308F-B9E82D68AAA6}"/>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Ley de transparencia, acceso a la información y buen gobierno</a:t>
            </a:r>
          </a:p>
        </p:txBody>
      </p:sp>
      <p:pic>
        <p:nvPicPr>
          <p:cNvPr id="72713" name="Rectangle 3">
            <a:extLst>
              <a:ext uri="{FF2B5EF4-FFF2-40B4-BE49-F238E27FC236}">
                <a16:creationId xmlns:a16="http://schemas.microsoft.com/office/drawing/2014/main" id="{897E6A41-09DE-1247-F8D1-56155BD85020}"/>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2300" y="939800"/>
            <a:ext cx="8242300"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4">
            <a:extLst>
              <a:ext uri="{FF2B5EF4-FFF2-40B4-BE49-F238E27FC236}">
                <a16:creationId xmlns:a16="http://schemas.microsoft.com/office/drawing/2014/main" id="{ED5F90D4-A7D6-FC07-B812-82C6F36E28BC}"/>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74755" name="Picture 5" descr="cefcorp_logo">
            <a:extLst>
              <a:ext uri="{FF2B5EF4-FFF2-40B4-BE49-F238E27FC236}">
                <a16:creationId xmlns:a16="http://schemas.microsoft.com/office/drawing/2014/main" id="{A651CC5E-EAAC-21AC-F2E0-55AE86EF57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6" name="Rectangle 6">
            <a:extLst>
              <a:ext uri="{FF2B5EF4-FFF2-40B4-BE49-F238E27FC236}">
                <a16:creationId xmlns:a16="http://schemas.microsoft.com/office/drawing/2014/main" id="{FF814FD5-51DA-5A26-283D-D67879140A54}"/>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74757" name="Text Box 21">
            <a:extLst>
              <a:ext uri="{FF2B5EF4-FFF2-40B4-BE49-F238E27FC236}">
                <a16:creationId xmlns:a16="http://schemas.microsoft.com/office/drawing/2014/main" id="{2410D3FA-7081-110F-503C-66E75A5C43C2}"/>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74758" name="Text Box 22">
            <a:extLst>
              <a:ext uri="{FF2B5EF4-FFF2-40B4-BE49-F238E27FC236}">
                <a16:creationId xmlns:a16="http://schemas.microsoft.com/office/drawing/2014/main" id="{B285EE4F-8913-5AEA-A413-725BF9CE4480}"/>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74759" name="Picture 26" descr="logo-udima-horizontal-COLOR">
            <a:extLst>
              <a:ext uri="{FF2B5EF4-FFF2-40B4-BE49-F238E27FC236}">
                <a16:creationId xmlns:a16="http://schemas.microsoft.com/office/drawing/2014/main" id="{275477DD-0153-60E3-D82F-CA696D0B3E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60" name="CuadroTexto 3">
            <a:extLst>
              <a:ext uri="{FF2B5EF4-FFF2-40B4-BE49-F238E27FC236}">
                <a16:creationId xmlns:a16="http://schemas.microsoft.com/office/drawing/2014/main" id="{1E2F7ED0-16BA-BA58-3415-A78A0D5B01C6}"/>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Ley de transparencia, acceso a la información y buen gobierno</a:t>
            </a:r>
          </a:p>
        </p:txBody>
      </p:sp>
      <p:pic>
        <p:nvPicPr>
          <p:cNvPr id="74761" name="Rectangle 3">
            <a:extLst>
              <a:ext uri="{FF2B5EF4-FFF2-40B4-BE49-F238E27FC236}">
                <a16:creationId xmlns:a16="http://schemas.microsoft.com/office/drawing/2014/main" id="{886FF747-853F-1171-1405-79C18483146E}"/>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2300" y="939800"/>
            <a:ext cx="8242300"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4">
            <a:extLst>
              <a:ext uri="{FF2B5EF4-FFF2-40B4-BE49-F238E27FC236}">
                <a16:creationId xmlns:a16="http://schemas.microsoft.com/office/drawing/2014/main" id="{A124E447-1678-A866-71BD-0DE32D1AEB05}"/>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76803" name="Picture 5" descr="cefcorp_logo">
            <a:extLst>
              <a:ext uri="{FF2B5EF4-FFF2-40B4-BE49-F238E27FC236}">
                <a16:creationId xmlns:a16="http://schemas.microsoft.com/office/drawing/2014/main" id="{2CF29B7F-9EF1-4DF5-4CF5-9FFBE52981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4" name="Rectangle 6">
            <a:extLst>
              <a:ext uri="{FF2B5EF4-FFF2-40B4-BE49-F238E27FC236}">
                <a16:creationId xmlns:a16="http://schemas.microsoft.com/office/drawing/2014/main" id="{42CA862A-E265-AA97-9B5F-01BDD4F174EE}"/>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76805" name="Text Box 21">
            <a:extLst>
              <a:ext uri="{FF2B5EF4-FFF2-40B4-BE49-F238E27FC236}">
                <a16:creationId xmlns:a16="http://schemas.microsoft.com/office/drawing/2014/main" id="{57B27966-34D5-D37B-2A3E-6810093C0DE1}"/>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76806" name="Text Box 22">
            <a:extLst>
              <a:ext uri="{FF2B5EF4-FFF2-40B4-BE49-F238E27FC236}">
                <a16:creationId xmlns:a16="http://schemas.microsoft.com/office/drawing/2014/main" id="{44898C7A-D893-F102-AE4A-328B3BF77350}"/>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76807" name="Picture 26" descr="logo-udima-horizontal-COLOR">
            <a:extLst>
              <a:ext uri="{FF2B5EF4-FFF2-40B4-BE49-F238E27FC236}">
                <a16:creationId xmlns:a16="http://schemas.microsoft.com/office/drawing/2014/main" id="{D0C7F14F-6F7C-9DC3-B193-60C184349E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8" name="CuadroTexto 3">
            <a:extLst>
              <a:ext uri="{FF2B5EF4-FFF2-40B4-BE49-F238E27FC236}">
                <a16:creationId xmlns:a16="http://schemas.microsoft.com/office/drawing/2014/main" id="{BEABA549-2151-956D-63E9-A903FB9B52A4}"/>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Ley de transparencia, acceso a la información y buen gobierno</a:t>
            </a:r>
          </a:p>
        </p:txBody>
      </p:sp>
      <p:pic>
        <p:nvPicPr>
          <p:cNvPr id="76809" name="Rectangle 3">
            <a:extLst>
              <a:ext uri="{FF2B5EF4-FFF2-40B4-BE49-F238E27FC236}">
                <a16:creationId xmlns:a16="http://schemas.microsoft.com/office/drawing/2014/main" id="{E2ED7246-6C3F-83B2-311A-7B99CBB5B153}"/>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2300" y="939800"/>
            <a:ext cx="8293100"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4">
            <a:extLst>
              <a:ext uri="{FF2B5EF4-FFF2-40B4-BE49-F238E27FC236}">
                <a16:creationId xmlns:a16="http://schemas.microsoft.com/office/drawing/2014/main" id="{EB1D9914-1E3E-FE23-356B-F320DD4D3ACE}"/>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78851" name="Picture 5" descr="cefcorp_logo">
            <a:extLst>
              <a:ext uri="{FF2B5EF4-FFF2-40B4-BE49-F238E27FC236}">
                <a16:creationId xmlns:a16="http://schemas.microsoft.com/office/drawing/2014/main" id="{C89D32D8-46F9-0906-557A-612EFC28D5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2" name="Rectangle 6">
            <a:extLst>
              <a:ext uri="{FF2B5EF4-FFF2-40B4-BE49-F238E27FC236}">
                <a16:creationId xmlns:a16="http://schemas.microsoft.com/office/drawing/2014/main" id="{C860AD08-0D3B-A93C-13F3-E016F8DC6E6D}"/>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78853" name="Text Box 21">
            <a:extLst>
              <a:ext uri="{FF2B5EF4-FFF2-40B4-BE49-F238E27FC236}">
                <a16:creationId xmlns:a16="http://schemas.microsoft.com/office/drawing/2014/main" id="{2898B4D9-3AB1-E42F-7216-0A09F48D9BBC}"/>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78854" name="Text Box 22">
            <a:extLst>
              <a:ext uri="{FF2B5EF4-FFF2-40B4-BE49-F238E27FC236}">
                <a16:creationId xmlns:a16="http://schemas.microsoft.com/office/drawing/2014/main" id="{ECBD89EB-7684-7FDD-CF63-F538F9E9163D}"/>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78855" name="Picture 26" descr="logo-udima-horizontal-COLOR">
            <a:extLst>
              <a:ext uri="{FF2B5EF4-FFF2-40B4-BE49-F238E27FC236}">
                <a16:creationId xmlns:a16="http://schemas.microsoft.com/office/drawing/2014/main" id="{24FFC8C7-3B98-A5FA-3CDE-04DB7311B6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6" name="CuadroTexto 3">
            <a:extLst>
              <a:ext uri="{FF2B5EF4-FFF2-40B4-BE49-F238E27FC236}">
                <a16:creationId xmlns:a16="http://schemas.microsoft.com/office/drawing/2014/main" id="{70B1299C-7049-6FC1-190D-71958C130815}"/>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Ley de transparencia, acceso a la información y buen gobierno</a:t>
            </a:r>
          </a:p>
        </p:txBody>
      </p:sp>
      <p:sp>
        <p:nvSpPr>
          <p:cNvPr id="78857" name="Rectangle 3">
            <a:extLst>
              <a:ext uri="{FF2B5EF4-FFF2-40B4-BE49-F238E27FC236}">
                <a16:creationId xmlns:a16="http://schemas.microsoft.com/office/drawing/2014/main" id="{CCCDF541-694F-11EB-CC55-283D495AFA30}"/>
              </a:ext>
            </a:extLst>
          </p:cNvPr>
          <p:cNvSpPr txBox="1">
            <a:spLocks noChangeArrowheads="1"/>
          </p:cNvSpPr>
          <p:nvPr/>
        </p:nvSpPr>
        <p:spPr bwMode="auto">
          <a:xfrm>
            <a:off x="323850" y="936625"/>
            <a:ext cx="8208963" cy="5156200"/>
          </a:xfrm>
          <a:prstGeom prst="rect">
            <a:avLst/>
          </a:prstGeom>
          <a:noFill/>
          <a:ln w="12700">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defRPr>
            </a:lvl1pPr>
            <a:lvl2pPr marL="971550" indent="-514350">
              <a:spcBef>
                <a:spcPct val="20000"/>
              </a:spcBef>
              <a:buChar char="–"/>
              <a:defRPr sz="2800">
                <a:solidFill>
                  <a:schemeClr val="tx1"/>
                </a:solidFill>
                <a:latin typeface="Arial" panose="020B0604020202020204" pitchFamily="34" charset="0"/>
              </a:defRPr>
            </a:lvl2pPr>
            <a:lvl3pPr>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buFontTx/>
              <a:buNone/>
            </a:pPr>
            <a:r>
              <a:rPr lang="es-ES" altLang="es-ES" sz="1800" b="1">
                <a:solidFill>
                  <a:srgbClr val="C00000"/>
                </a:solidFill>
              </a:rPr>
              <a:t>El CTyBG compuesto por los siguientes órganos:</a:t>
            </a:r>
          </a:p>
          <a:p>
            <a:pPr algn="ctr">
              <a:buFontTx/>
              <a:buNone/>
            </a:pPr>
            <a:endParaRPr lang="es-ES" altLang="es-ES" sz="1400" b="1">
              <a:solidFill>
                <a:srgbClr val="C00000"/>
              </a:solidFill>
            </a:endParaRPr>
          </a:p>
          <a:p>
            <a:pPr>
              <a:buFontTx/>
              <a:buNone/>
            </a:pPr>
            <a:r>
              <a:rPr lang="es-ES" altLang="es-ES" sz="1400" b="1">
                <a:solidFill>
                  <a:srgbClr val="008000"/>
                </a:solidFill>
              </a:rPr>
              <a:t>El Presidente </a:t>
            </a:r>
            <a:r>
              <a:rPr lang="es-ES" altLang="es-ES" sz="1400">
                <a:solidFill>
                  <a:srgbClr val="008000"/>
                </a:solidFill>
              </a:rPr>
              <a:t>del Consejo de Transparencia y Buen Gobierno que lo será también de su comisión.</a:t>
            </a:r>
          </a:p>
          <a:p>
            <a:pPr>
              <a:buFontTx/>
              <a:buNone/>
            </a:pPr>
            <a:endParaRPr lang="es-ES" altLang="es-ES" sz="1400">
              <a:solidFill>
                <a:srgbClr val="008000"/>
              </a:solidFill>
            </a:endParaRPr>
          </a:p>
          <a:p>
            <a:pPr>
              <a:buFontTx/>
              <a:buNone/>
            </a:pPr>
            <a:r>
              <a:rPr lang="es-ES" altLang="es-ES" sz="1400" b="1">
                <a:solidFill>
                  <a:srgbClr val="008000"/>
                </a:solidFill>
              </a:rPr>
              <a:t>La Comisión de Transparencia y Buen Gobierno</a:t>
            </a:r>
            <a:r>
              <a:rPr lang="es-ES" altLang="es-ES" sz="1400" i="1">
                <a:solidFill>
                  <a:srgbClr val="008000"/>
                </a:solidFill>
              </a:rPr>
              <a:t>. </a:t>
            </a:r>
            <a:r>
              <a:rPr lang="es-ES" altLang="es-ES" sz="1400">
                <a:solidFill>
                  <a:srgbClr val="008000"/>
                </a:solidFill>
              </a:rPr>
              <a:t>Compuesta por:</a:t>
            </a:r>
          </a:p>
          <a:p>
            <a:pPr lvl="1">
              <a:buFont typeface="Calibri" panose="020F0502020204030204" pitchFamily="34" charset="0"/>
              <a:buAutoNum type="alphaLcParenR"/>
            </a:pPr>
            <a:r>
              <a:rPr lang="es-ES" altLang="es-ES" sz="1400">
                <a:solidFill>
                  <a:srgbClr val="008000"/>
                </a:solidFill>
              </a:rPr>
              <a:t>El Presidente.</a:t>
            </a:r>
          </a:p>
          <a:p>
            <a:pPr lvl="1">
              <a:buFont typeface="Calibri" panose="020F0502020204030204" pitchFamily="34" charset="0"/>
              <a:buAutoNum type="alphaLcParenR"/>
            </a:pPr>
            <a:r>
              <a:rPr lang="es-ES" altLang="es-ES" sz="1400">
                <a:solidFill>
                  <a:srgbClr val="008000"/>
                </a:solidFill>
              </a:rPr>
              <a:t>Un Diputado propuesto por el Congreso de los diputados.</a:t>
            </a:r>
          </a:p>
          <a:p>
            <a:pPr lvl="1">
              <a:buFont typeface="Calibri" panose="020F0502020204030204" pitchFamily="34" charset="0"/>
              <a:buAutoNum type="alphaLcParenR"/>
            </a:pPr>
            <a:r>
              <a:rPr lang="es-ES" altLang="es-ES" sz="1400">
                <a:solidFill>
                  <a:srgbClr val="008000"/>
                </a:solidFill>
              </a:rPr>
              <a:t>Un Senador propuesto por el Senado.</a:t>
            </a:r>
          </a:p>
          <a:p>
            <a:pPr lvl="1">
              <a:buFont typeface="Calibri" panose="020F0502020204030204" pitchFamily="34" charset="0"/>
              <a:buAutoNum type="alphaLcParenR"/>
            </a:pPr>
            <a:r>
              <a:rPr lang="es-ES" altLang="es-ES" sz="1400">
                <a:solidFill>
                  <a:srgbClr val="008000"/>
                </a:solidFill>
              </a:rPr>
              <a:t>Un consejero del Tribunal de Cuentas propuesto por el Tribunal de Cuentas.</a:t>
            </a:r>
          </a:p>
          <a:p>
            <a:pPr lvl="1">
              <a:buFont typeface="Calibri" panose="020F0502020204030204" pitchFamily="34" charset="0"/>
              <a:buAutoNum type="alphaLcParenR"/>
            </a:pPr>
            <a:r>
              <a:rPr lang="es-ES" altLang="es-ES" sz="1400">
                <a:solidFill>
                  <a:srgbClr val="008000"/>
                </a:solidFill>
              </a:rPr>
              <a:t>Un representante del Defensor del Pueblo propuesto por el Defensor del Pueblo.</a:t>
            </a:r>
          </a:p>
          <a:p>
            <a:pPr lvl="1">
              <a:buFont typeface="Calibri" panose="020F0502020204030204" pitchFamily="34" charset="0"/>
              <a:buAutoNum type="alphaLcParenR"/>
            </a:pPr>
            <a:r>
              <a:rPr lang="es-ES" altLang="es-ES" sz="1400">
                <a:solidFill>
                  <a:srgbClr val="008000"/>
                </a:solidFill>
              </a:rPr>
              <a:t>Un representante de la Agencia Española de Protección de Datos.</a:t>
            </a:r>
          </a:p>
          <a:p>
            <a:pPr lvl="1">
              <a:buFont typeface="Calibri" panose="020F0502020204030204" pitchFamily="34" charset="0"/>
              <a:buAutoNum type="alphaLcParenR"/>
            </a:pPr>
            <a:r>
              <a:rPr lang="es-ES" altLang="es-ES" sz="1400">
                <a:solidFill>
                  <a:srgbClr val="008000"/>
                </a:solidFill>
              </a:rPr>
              <a:t>Un representante de la Secretaría de Estado de Función Pública</a:t>
            </a:r>
          </a:p>
          <a:p>
            <a:pPr lvl="1">
              <a:buFont typeface="Calibri" panose="020F0502020204030204" pitchFamily="34" charset="0"/>
              <a:buAutoNum type="alphaLcParenR"/>
            </a:pPr>
            <a:r>
              <a:rPr lang="es-ES" altLang="es-ES" sz="1400">
                <a:solidFill>
                  <a:srgbClr val="008000"/>
                </a:solidFill>
              </a:rPr>
              <a:t>Un representante de la Autoridad Independiente de Responsabilidad Fiscal</a:t>
            </a:r>
          </a:p>
          <a:p>
            <a:pPr lvl="1">
              <a:buFont typeface="Arial" panose="020B0604020202020204" pitchFamily="34" charset="0"/>
              <a:buNone/>
            </a:pPr>
            <a:endParaRPr lang="es-ES" altLang="es-ES" sz="1400">
              <a:solidFill>
                <a:srgbClr val="008000"/>
              </a:solidFill>
            </a:endParaRPr>
          </a:p>
          <a:p>
            <a:pPr lvl="2">
              <a:buFontTx/>
              <a:buNone/>
            </a:pPr>
            <a:r>
              <a:rPr lang="es-ES" altLang="es-ES" sz="1400">
                <a:solidFill>
                  <a:srgbClr val="008000"/>
                </a:solidFill>
              </a:rPr>
              <a:t>Los representantes d) a h) tendrán al menos rango de Subdirector General.</a:t>
            </a:r>
          </a:p>
          <a:p>
            <a:pPr lvl="2">
              <a:buFontTx/>
              <a:buNone/>
            </a:pPr>
            <a:endParaRPr lang="es-ES" altLang="es-ES" sz="1400">
              <a:solidFill>
                <a:srgbClr val="008000"/>
              </a:solidFill>
            </a:endParaRPr>
          </a:p>
          <a:p>
            <a:pPr>
              <a:buFontTx/>
              <a:buNone/>
            </a:pPr>
            <a:r>
              <a:rPr lang="es-ES" altLang="es-ES" sz="1400" b="1">
                <a:solidFill>
                  <a:srgbClr val="008000"/>
                </a:solidFill>
              </a:rPr>
              <a:t>La Subdirección General de Transparencia y Buen Gobierno y la Subdirección General de Reclamaciones y la Subdirección General de Reclamaciones de Comunidades Autónomas y Entidades locales, Secretaría General y Gabinete</a:t>
            </a:r>
          </a:p>
          <a:p>
            <a:pPr>
              <a:buFontTx/>
              <a:buNone/>
            </a:pPr>
            <a:endParaRPr lang="es-ES" altLang="es-ES" sz="1400" b="1">
              <a:solidFill>
                <a:srgbClr val="008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4">
            <a:extLst>
              <a:ext uri="{FF2B5EF4-FFF2-40B4-BE49-F238E27FC236}">
                <a16:creationId xmlns:a16="http://schemas.microsoft.com/office/drawing/2014/main" id="{C6B1B3BA-9FB0-C2A1-6A37-5594BD65AE69}"/>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80899" name="Picture 5" descr="cefcorp_logo">
            <a:extLst>
              <a:ext uri="{FF2B5EF4-FFF2-40B4-BE49-F238E27FC236}">
                <a16:creationId xmlns:a16="http://schemas.microsoft.com/office/drawing/2014/main" id="{134F8CDE-A2B1-9102-5F09-BAE4A0945C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0" name="Rectangle 6">
            <a:extLst>
              <a:ext uri="{FF2B5EF4-FFF2-40B4-BE49-F238E27FC236}">
                <a16:creationId xmlns:a16="http://schemas.microsoft.com/office/drawing/2014/main" id="{FC7FD58D-4404-5204-3332-B307797F0CC9}"/>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80901" name="Text Box 21">
            <a:extLst>
              <a:ext uri="{FF2B5EF4-FFF2-40B4-BE49-F238E27FC236}">
                <a16:creationId xmlns:a16="http://schemas.microsoft.com/office/drawing/2014/main" id="{64BEE49E-F39F-DDAD-C151-D1F89055ACDB}"/>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80902" name="Text Box 22">
            <a:extLst>
              <a:ext uri="{FF2B5EF4-FFF2-40B4-BE49-F238E27FC236}">
                <a16:creationId xmlns:a16="http://schemas.microsoft.com/office/drawing/2014/main" id="{BACACA0A-BB82-1AA4-E379-EE97EA7A94C6}"/>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80903" name="Picture 26" descr="logo-udima-horizontal-COLOR">
            <a:extLst>
              <a:ext uri="{FF2B5EF4-FFF2-40B4-BE49-F238E27FC236}">
                <a16:creationId xmlns:a16="http://schemas.microsoft.com/office/drawing/2014/main" id="{9F24EF7D-A198-1A97-75A8-216610B850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4" name="CuadroTexto 3">
            <a:extLst>
              <a:ext uri="{FF2B5EF4-FFF2-40B4-BE49-F238E27FC236}">
                <a16:creationId xmlns:a16="http://schemas.microsoft.com/office/drawing/2014/main" id="{FD8D2B40-986F-3B4D-A926-C2B01679CC7C}"/>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Ley de transparencia, acceso a la información y buen gobierno</a:t>
            </a:r>
          </a:p>
        </p:txBody>
      </p:sp>
      <p:pic>
        <p:nvPicPr>
          <p:cNvPr id="80905" name="Rectangle 3">
            <a:extLst>
              <a:ext uri="{FF2B5EF4-FFF2-40B4-BE49-F238E27FC236}">
                <a16:creationId xmlns:a16="http://schemas.microsoft.com/office/drawing/2014/main" id="{97543523-4520-F06A-F149-5E4EDEF18D2B}"/>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800" y="800100"/>
            <a:ext cx="8585200" cy="554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4">
            <a:extLst>
              <a:ext uri="{FF2B5EF4-FFF2-40B4-BE49-F238E27FC236}">
                <a16:creationId xmlns:a16="http://schemas.microsoft.com/office/drawing/2014/main" id="{61E54962-3412-CEEE-A8A4-7F466F06F661}"/>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82947" name="Picture 5" descr="cefcorp_logo">
            <a:extLst>
              <a:ext uri="{FF2B5EF4-FFF2-40B4-BE49-F238E27FC236}">
                <a16:creationId xmlns:a16="http://schemas.microsoft.com/office/drawing/2014/main" id="{881CD67D-E75F-494C-AA0F-32029D5CA6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8" name="Rectangle 6">
            <a:extLst>
              <a:ext uri="{FF2B5EF4-FFF2-40B4-BE49-F238E27FC236}">
                <a16:creationId xmlns:a16="http://schemas.microsoft.com/office/drawing/2014/main" id="{258FAC10-5F13-5E2E-E28B-08740495B4E9}"/>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82949" name="Text Box 21">
            <a:extLst>
              <a:ext uri="{FF2B5EF4-FFF2-40B4-BE49-F238E27FC236}">
                <a16:creationId xmlns:a16="http://schemas.microsoft.com/office/drawing/2014/main" id="{F750BE1A-B91C-13B0-8757-6AA7BEC77AA5}"/>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82950" name="Text Box 22">
            <a:extLst>
              <a:ext uri="{FF2B5EF4-FFF2-40B4-BE49-F238E27FC236}">
                <a16:creationId xmlns:a16="http://schemas.microsoft.com/office/drawing/2014/main" id="{8BB5B491-BCF4-778D-1655-D67B9A44CA66}"/>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82951" name="Picture 26" descr="logo-udima-horizontal-COLOR">
            <a:extLst>
              <a:ext uri="{FF2B5EF4-FFF2-40B4-BE49-F238E27FC236}">
                <a16:creationId xmlns:a16="http://schemas.microsoft.com/office/drawing/2014/main" id="{FC0AB737-D25A-3FFF-E5B3-559BD27C83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52" name="CuadroTexto 3">
            <a:extLst>
              <a:ext uri="{FF2B5EF4-FFF2-40B4-BE49-F238E27FC236}">
                <a16:creationId xmlns:a16="http://schemas.microsoft.com/office/drawing/2014/main" id="{4E0DD481-F715-6017-0FE2-6D4E0BDDD2A0}"/>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Ley de transparencia, acceso a la información y buen gobierno</a:t>
            </a:r>
          </a:p>
        </p:txBody>
      </p:sp>
      <p:sp>
        <p:nvSpPr>
          <p:cNvPr id="82953" name="Rectangle 3">
            <a:extLst>
              <a:ext uri="{FF2B5EF4-FFF2-40B4-BE49-F238E27FC236}">
                <a16:creationId xmlns:a16="http://schemas.microsoft.com/office/drawing/2014/main" id="{4C0A3F8F-402E-1D04-1446-5C1252EB6D06}"/>
              </a:ext>
            </a:extLst>
          </p:cNvPr>
          <p:cNvSpPr txBox="1">
            <a:spLocks noChangeArrowheads="1"/>
          </p:cNvSpPr>
          <p:nvPr/>
        </p:nvSpPr>
        <p:spPr bwMode="auto">
          <a:xfrm>
            <a:off x="611188" y="969963"/>
            <a:ext cx="8208962" cy="5156200"/>
          </a:xfrm>
          <a:prstGeom prst="rect">
            <a:avLst/>
          </a:prstGeom>
          <a:noFill/>
          <a:ln w="12700">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buFontTx/>
              <a:buNone/>
            </a:pPr>
            <a:r>
              <a:rPr lang="es-ES" altLang="es-ES" sz="2000" b="1">
                <a:solidFill>
                  <a:srgbClr val="C00000"/>
                </a:solidFill>
              </a:rPr>
              <a:t>Funciones del Presidente del CTyBG</a:t>
            </a:r>
          </a:p>
          <a:p>
            <a:pPr algn="just">
              <a:buFontTx/>
              <a:buAutoNum type="alphaLcParenR"/>
            </a:pPr>
            <a:r>
              <a:rPr lang="es-ES" altLang="es-ES" sz="1800">
                <a:solidFill>
                  <a:srgbClr val="008000"/>
                </a:solidFill>
              </a:rPr>
              <a:t>Adoptar criterios de interpretación uniforme de las obligaciones contenidas en esta Ley.</a:t>
            </a:r>
          </a:p>
          <a:p>
            <a:pPr algn="just">
              <a:buFontTx/>
              <a:buAutoNum type="alphaLcParenR"/>
            </a:pPr>
            <a:r>
              <a:rPr lang="es-ES" altLang="es-ES" sz="1800">
                <a:solidFill>
                  <a:srgbClr val="008000"/>
                </a:solidFill>
              </a:rPr>
              <a:t>Velar por el cumplimiento de las obligaciones de publicidad contenidas en el capítulo II del título I de acuerdo con lo previsto en el artículo 9 de la LTBG.</a:t>
            </a:r>
          </a:p>
          <a:p>
            <a:pPr algn="just">
              <a:buFontTx/>
              <a:buAutoNum type="alphaLcParenR"/>
            </a:pPr>
            <a:r>
              <a:rPr lang="es-ES" altLang="es-ES" sz="1800">
                <a:solidFill>
                  <a:srgbClr val="008000"/>
                </a:solidFill>
              </a:rPr>
              <a:t>Conocer de las reclamaciones que se presenten en aplicación del artículo 24 de la LTBG. (reclamaciones presentadas antes el CTyBG).</a:t>
            </a:r>
          </a:p>
          <a:p>
            <a:pPr algn="just">
              <a:buFontTx/>
              <a:buAutoNum type="alphaLcParenR"/>
            </a:pPr>
            <a:r>
              <a:rPr lang="es-ES" altLang="es-ES" sz="1800">
                <a:solidFill>
                  <a:srgbClr val="008000"/>
                </a:solidFill>
              </a:rPr>
              <a:t>Responder las consultas que, con carácter facultativo, le planteen los órganos encargados de tramitar y resolver las solicitudes de acceso a la información.</a:t>
            </a:r>
          </a:p>
          <a:p>
            <a:pPr algn="just">
              <a:buFontTx/>
              <a:buAutoNum type="alphaLcParenR"/>
            </a:pPr>
            <a:r>
              <a:rPr lang="es-ES" altLang="es-ES" sz="1800">
                <a:solidFill>
                  <a:srgbClr val="008000"/>
                </a:solidFill>
              </a:rPr>
              <a:t>Instar el inicio del procedimiento sancionador previsto en el título II de la LTBG. El órgano competente deberá motivar, en su caso, su decisión de no incoar el procedimiento.</a:t>
            </a:r>
          </a:p>
          <a:p>
            <a:pPr algn="just">
              <a:buFontTx/>
              <a:buAutoNum type="alphaLcParenR"/>
            </a:pPr>
            <a:r>
              <a:rPr lang="es-ES" altLang="es-ES" sz="1800">
                <a:solidFill>
                  <a:srgbClr val="008000"/>
                </a:solidFill>
              </a:rPr>
              <a:t>Aprobar el anteproyecto de presupuesto.</a:t>
            </a:r>
          </a:p>
          <a:p>
            <a:pPr algn="just">
              <a:buFontTx/>
              <a:buAutoNum type="alphaLcParenR"/>
            </a:pPr>
            <a:r>
              <a:rPr lang="es-ES" altLang="es-ES" sz="1800">
                <a:solidFill>
                  <a:srgbClr val="008000"/>
                </a:solidFill>
              </a:rPr>
              <a:t>Aquellas otras que le sean atribuidas por norma de rango legal o reglamentario</a:t>
            </a:r>
          </a:p>
          <a:p>
            <a:pPr algn="just">
              <a:buFont typeface="Calibri" panose="020F0502020204030204" pitchFamily="34" charset="0"/>
              <a:buAutoNum type="arabicPeriod"/>
            </a:pPr>
            <a:endParaRPr lang="es-ES" altLang="es-ES" sz="1800"/>
          </a:p>
          <a:p>
            <a:pPr algn="just" eaLnBrk="1" hangingPunct="1">
              <a:buFontTx/>
              <a:buNone/>
            </a:pPr>
            <a:endParaRPr lang="es-ES" altLang="es-ES" sz="2000" b="1">
              <a:solidFill>
                <a:srgbClr val="C0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4">
            <a:extLst>
              <a:ext uri="{FF2B5EF4-FFF2-40B4-BE49-F238E27FC236}">
                <a16:creationId xmlns:a16="http://schemas.microsoft.com/office/drawing/2014/main" id="{1115D307-7840-96AE-BCC0-7F0C68CA38DB}"/>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84995" name="Picture 5" descr="cefcorp_logo">
            <a:extLst>
              <a:ext uri="{FF2B5EF4-FFF2-40B4-BE49-F238E27FC236}">
                <a16:creationId xmlns:a16="http://schemas.microsoft.com/office/drawing/2014/main" id="{5593D84D-171A-FC1B-27AF-FCF4013C61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6" name="Rectangle 6">
            <a:extLst>
              <a:ext uri="{FF2B5EF4-FFF2-40B4-BE49-F238E27FC236}">
                <a16:creationId xmlns:a16="http://schemas.microsoft.com/office/drawing/2014/main" id="{9129C953-1316-1C02-AB04-4873DC723FDB}"/>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84997" name="Text Box 21">
            <a:extLst>
              <a:ext uri="{FF2B5EF4-FFF2-40B4-BE49-F238E27FC236}">
                <a16:creationId xmlns:a16="http://schemas.microsoft.com/office/drawing/2014/main" id="{5764EDB5-5067-A2DC-2C39-51D43360EAC7}"/>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84998" name="Text Box 22">
            <a:extLst>
              <a:ext uri="{FF2B5EF4-FFF2-40B4-BE49-F238E27FC236}">
                <a16:creationId xmlns:a16="http://schemas.microsoft.com/office/drawing/2014/main" id="{F5B6E429-DFFF-D893-DCE4-A78219B5A840}"/>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84999" name="Picture 26" descr="logo-udima-horizontal-COLOR">
            <a:extLst>
              <a:ext uri="{FF2B5EF4-FFF2-40B4-BE49-F238E27FC236}">
                <a16:creationId xmlns:a16="http://schemas.microsoft.com/office/drawing/2014/main" id="{CF230DE8-10EC-29F9-5AC7-A0AA08C98E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000" name="CuadroTexto 3">
            <a:extLst>
              <a:ext uri="{FF2B5EF4-FFF2-40B4-BE49-F238E27FC236}">
                <a16:creationId xmlns:a16="http://schemas.microsoft.com/office/drawing/2014/main" id="{7907C62D-1A71-814A-6A81-CB91D2093CAE}"/>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Ley de transparencia, acceso a la información y buen gobierno</a:t>
            </a:r>
          </a:p>
        </p:txBody>
      </p:sp>
      <p:sp>
        <p:nvSpPr>
          <p:cNvPr id="85001" name="Rectangle 3">
            <a:extLst>
              <a:ext uri="{FF2B5EF4-FFF2-40B4-BE49-F238E27FC236}">
                <a16:creationId xmlns:a16="http://schemas.microsoft.com/office/drawing/2014/main" id="{37F13098-223D-C27F-30B5-6B8C52A8F17F}"/>
              </a:ext>
            </a:extLst>
          </p:cNvPr>
          <p:cNvSpPr txBox="1">
            <a:spLocks noChangeArrowheads="1"/>
          </p:cNvSpPr>
          <p:nvPr/>
        </p:nvSpPr>
        <p:spPr bwMode="auto">
          <a:xfrm>
            <a:off x="611188" y="969963"/>
            <a:ext cx="8208962" cy="5156200"/>
          </a:xfrm>
          <a:prstGeom prst="rect">
            <a:avLst/>
          </a:prstGeom>
          <a:noFill/>
          <a:ln w="12700">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90000"/>
              </a:lnSpc>
              <a:buFontTx/>
              <a:buNone/>
            </a:pPr>
            <a:r>
              <a:rPr lang="es-ES_tradnl" altLang="es-ES" sz="1400" b="1">
                <a:solidFill>
                  <a:srgbClr val="C00000"/>
                </a:solidFill>
              </a:rPr>
              <a:t>FUNCIONES DEL CONSEJO DE TRANSPARENCIA Y BUEN GOBIERNO</a:t>
            </a:r>
          </a:p>
          <a:p>
            <a:pPr algn="ctr">
              <a:lnSpc>
                <a:spcPct val="90000"/>
              </a:lnSpc>
              <a:buFontTx/>
              <a:buNone/>
            </a:pPr>
            <a:endParaRPr lang="es-ES" altLang="es-ES" sz="1400"/>
          </a:p>
          <a:p>
            <a:pPr algn="just">
              <a:lnSpc>
                <a:spcPct val="90000"/>
              </a:lnSpc>
              <a:buFontTx/>
              <a:buAutoNum type="alphaLcParenR"/>
            </a:pPr>
            <a:r>
              <a:rPr lang="es-ES" altLang="es-ES" sz="1500">
                <a:solidFill>
                  <a:srgbClr val="008000"/>
                </a:solidFill>
              </a:rPr>
              <a:t>Adoptar recomendaciones para el mejor cumplimiento de las obligaciones contenidas en esta Ley.</a:t>
            </a:r>
          </a:p>
          <a:p>
            <a:pPr algn="just">
              <a:lnSpc>
                <a:spcPct val="90000"/>
              </a:lnSpc>
              <a:buFontTx/>
              <a:buAutoNum type="alphaLcParenR"/>
            </a:pPr>
            <a:r>
              <a:rPr lang="es-ES" altLang="es-ES" sz="1500">
                <a:solidFill>
                  <a:srgbClr val="008000"/>
                </a:solidFill>
              </a:rPr>
              <a:t>Asesorar en materia de transparencia, acceso a la información pública y buen gobierno.</a:t>
            </a:r>
          </a:p>
          <a:p>
            <a:pPr algn="just">
              <a:lnSpc>
                <a:spcPct val="90000"/>
              </a:lnSpc>
              <a:buFontTx/>
              <a:buAutoNum type="alphaLcParenR"/>
            </a:pPr>
            <a:r>
              <a:rPr lang="es-ES" altLang="es-ES" sz="1500">
                <a:solidFill>
                  <a:srgbClr val="008000"/>
                </a:solidFill>
              </a:rPr>
              <a:t>Informar preceptivamente los proyectos normativos de carácter estatal que desarrollen esta Ley o que estén relacionados con su objeto.</a:t>
            </a:r>
          </a:p>
          <a:p>
            <a:pPr algn="just">
              <a:lnSpc>
                <a:spcPct val="90000"/>
              </a:lnSpc>
              <a:buFontTx/>
              <a:buAutoNum type="alphaLcParenR"/>
            </a:pPr>
            <a:r>
              <a:rPr lang="es-ES" altLang="es-ES" sz="1500">
                <a:solidFill>
                  <a:srgbClr val="008000"/>
                </a:solidFill>
              </a:rPr>
              <a:t>Evaluar el grado de aplicación de esta Ley. Para ello, elaborará anualmente una memoria en la que se incluirá información sobre el cumplimiento de las obligaciones previstas y que será presentada ante las Cortes Generales.</a:t>
            </a:r>
          </a:p>
          <a:p>
            <a:pPr algn="just">
              <a:lnSpc>
                <a:spcPct val="90000"/>
              </a:lnSpc>
              <a:buFontTx/>
              <a:buAutoNum type="alphaLcParenR"/>
            </a:pPr>
            <a:r>
              <a:rPr lang="es-ES" altLang="es-ES" sz="1500">
                <a:solidFill>
                  <a:srgbClr val="008000"/>
                </a:solidFill>
              </a:rPr>
              <a:t>Promover la elaboración de borradores de recomendaciones y de directrices y normas de desarrollo de buenas prácticas en materia de transparencia, acceso a la información pública y buen gobierno.</a:t>
            </a:r>
          </a:p>
          <a:p>
            <a:pPr algn="just">
              <a:lnSpc>
                <a:spcPct val="90000"/>
              </a:lnSpc>
              <a:buFontTx/>
              <a:buAutoNum type="alphaLcParenR"/>
            </a:pPr>
            <a:r>
              <a:rPr lang="es-ES" altLang="es-ES" sz="1500">
                <a:solidFill>
                  <a:srgbClr val="008000"/>
                </a:solidFill>
              </a:rPr>
              <a:t>Promover actividades de formación y sensibilización para un mejor conocimiento de las materias reguladas por esta Ley.</a:t>
            </a:r>
          </a:p>
          <a:p>
            <a:pPr algn="just">
              <a:lnSpc>
                <a:spcPct val="90000"/>
              </a:lnSpc>
              <a:buFontTx/>
              <a:buAutoNum type="alphaLcParenR"/>
            </a:pPr>
            <a:r>
              <a:rPr lang="es-ES" altLang="es-ES" sz="1500">
                <a:solidFill>
                  <a:srgbClr val="008000"/>
                </a:solidFill>
              </a:rPr>
              <a:t>Colaborar, en las materias que le son propias, con órganos de naturaleza análoga.</a:t>
            </a:r>
          </a:p>
          <a:p>
            <a:pPr>
              <a:lnSpc>
                <a:spcPct val="90000"/>
              </a:lnSpc>
              <a:buFontTx/>
              <a:buAutoNum type="alphaLcParenR"/>
            </a:pPr>
            <a:r>
              <a:rPr lang="es-ES" altLang="es-ES" sz="1500">
                <a:solidFill>
                  <a:srgbClr val="008000"/>
                </a:solidFill>
              </a:rPr>
              <a:t>Aquellas otras que le sean atribuidas por norma de rango legal o reglamentario.</a:t>
            </a:r>
          </a:p>
          <a:p>
            <a:pPr>
              <a:lnSpc>
                <a:spcPct val="90000"/>
              </a:lnSpc>
              <a:buFontTx/>
              <a:buNone/>
            </a:pPr>
            <a:endParaRPr lang="es-ES" altLang="es-ES" sz="1400">
              <a:solidFill>
                <a:srgbClr val="008000"/>
              </a:solidFill>
            </a:endParaRPr>
          </a:p>
          <a:p>
            <a:pPr algn="just" eaLnBrk="1" hangingPunct="1">
              <a:lnSpc>
                <a:spcPct val="90000"/>
              </a:lnSpc>
              <a:buFontTx/>
              <a:buNone/>
            </a:pPr>
            <a:r>
              <a:rPr lang="es-ES" altLang="es-ES" sz="1400">
                <a:solidFill>
                  <a:srgbClr val="008000"/>
                </a:solidFill>
              </a:rPr>
              <a:t>La Subdirección General de Transparencia y Buen Gobierno y la Subdirección General de Reclamaciones son órganos administrativos dependientes del Presidente del Consejo de Transparencia y Buen Gobierno para la ejecución de aquellos proyectos, objetivos o actividades que les sean asignados, así como de la gestión ordinaria de los asuntos de su competencia. </a:t>
            </a:r>
          </a:p>
          <a:p>
            <a:pPr algn="just" eaLnBrk="1" hangingPunct="1">
              <a:lnSpc>
                <a:spcPct val="90000"/>
              </a:lnSpc>
              <a:buFontTx/>
              <a:buNone/>
            </a:pPr>
            <a:endParaRPr lang="es-ES" altLang="es-ES" sz="1400" b="1">
              <a:solidFill>
                <a:srgbClr val="008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4">
            <a:extLst>
              <a:ext uri="{FF2B5EF4-FFF2-40B4-BE49-F238E27FC236}">
                <a16:creationId xmlns:a16="http://schemas.microsoft.com/office/drawing/2014/main" id="{496B925F-D4B2-9B14-03FE-924B6BB9E213}"/>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87043" name="Picture 5" descr="cefcorp_logo">
            <a:extLst>
              <a:ext uri="{FF2B5EF4-FFF2-40B4-BE49-F238E27FC236}">
                <a16:creationId xmlns:a16="http://schemas.microsoft.com/office/drawing/2014/main" id="{E4B2B4E8-B4DF-ACA1-C6DA-076AC962F1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4" name="Rectangle 6">
            <a:extLst>
              <a:ext uri="{FF2B5EF4-FFF2-40B4-BE49-F238E27FC236}">
                <a16:creationId xmlns:a16="http://schemas.microsoft.com/office/drawing/2014/main" id="{5D39C90C-6502-8E1A-3F65-F992E3F42E5A}"/>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87045" name="Text Box 21">
            <a:extLst>
              <a:ext uri="{FF2B5EF4-FFF2-40B4-BE49-F238E27FC236}">
                <a16:creationId xmlns:a16="http://schemas.microsoft.com/office/drawing/2014/main" id="{92BB1129-7E47-80CA-581E-3BD52138A3B0}"/>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87046" name="Text Box 22">
            <a:extLst>
              <a:ext uri="{FF2B5EF4-FFF2-40B4-BE49-F238E27FC236}">
                <a16:creationId xmlns:a16="http://schemas.microsoft.com/office/drawing/2014/main" id="{CF6A6114-D15B-1EF6-15EC-56EE819EB41D}"/>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87047" name="Picture 26" descr="logo-udima-horizontal-COLOR">
            <a:extLst>
              <a:ext uri="{FF2B5EF4-FFF2-40B4-BE49-F238E27FC236}">
                <a16:creationId xmlns:a16="http://schemas.microsoft.com/office/drawing/2014/main" id="{D66804E4-2AF9-D0B1-0E0D-217BF612DE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8" name="CuadroTexto 3">
            <a:extLst>
              <a:ext uri="{FF2B5EF4-FFF2-40B4-BE49-F238E27FC236}">
                <a16:creationId xmlns:a16="http://schemas.microsoft.com/office/drawing/2014/main" id="{A3BCB464-6FA0-0038-D9B9-334BD9922968}"/>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Ley de transparencia, acceso a la información y buen gobierno</a:t>
            </a:r>
          </a:p>
        </p:txBody>
      </p:sp>
      <p:sp>
        <p:nvSpPr>
          <p:cNvPr id="87049" name="Rectangle 3">
            <a:extLst>
              <a:ext uri="{FF2B5EF4-FFF2-40B4-BE49-F238E27FC236}">
                <a16:creationId xmlns:a16="http://schemas.microsoft.com/office/drawing/2014/main" id="{363C7DF8-2308-6907-198F-21AF137E81C2}"/>
              </a:ext>
            </a:extLst>
          </p:cNvPr>
          <p:cNvSpPr txBox="1">
            <a:spLocks noChangeArrowheads="1"/>
          </p:cNvSpPr>
          <p:nvPr/>
        </p:nvSpPr>
        <p:spPr bwMode="auto">
          <a:xfrm>
            <a:off x="611188" y="1052513"/>
            <a:ext cx="8208962" cy="5073650"/>
          </a:xfrm>
          <a:prstGeom prst="rect">
            <a:avLst/>
          </a:prstGeom>
          <a:noFill/>
          <a:ln w="12700">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buFontTx/>
              <a:buNone/>
            </a:pPr>
            <a:r>
              <a:rPr lang="es-ES" altLang="es-ES" sz="1400" b="1" dirty="0">
                <a:solidFill>
                  <a:srgbClr val="C00000"/>
                </a:solidFill>
              </a:rPr>
              <a:t>GOBERNANZA DE LA TRANSPARENCIA</a:t>
            </a:r>
          </a:p>
          <a:p>
            <a:pPr algn="just">
              <a:buFontTx/>
              <a:buNone/>
            </a:pPr>
            <a:r>
              <a:rPr lang="es-ES" altLang="es-ES" sz="1400" b="1" dirty="0">
                <a:solidFill>
                  <a:srgbClr val="008000"/>
                </a:solidFill>
              </a:rPr>
              <a:t>Según el  </a:t>
            </a:r>
            <a:r>
              <a:rPr lang="pt-BR" altLang="es-ES" sz="1400" b="1" i="1" dirty="0">
                <a:solidFill>
                  <a:srgbClr val="008000"/>
                </a:solidFill>
              </a:rPr>
              <a:t>Real Decreto210/2024</a:t>
            </a:r>
            <a:r>
              <a:rPr lang="es-ES" altLang="es-ES" sz="1400" b="1" i="1" dirty="0">
                <a:solidFill>
                  <a:srgbClr val="008000"/>
                </a:solidFill>
              </a:rPr>
              <a:t>, por el que se desarrolla la estructura orgánica básica del Ministerio de Transformación Digital  y de la Función Pública le corresponden a la Secretaría de Estado de Función Pública las siguientes funciones previstas en la Ley 19/2013 de TAIBG:</a:t>
            </a:r>
          </a:p>
          <a:p>
            <a:pPr algn="just">
              <a:buFontTx/>
              <a:buNone/>
            </a:pPr>
            <a:r>
              <a:rPr lang="es-ES" altLang="es-ES" sz="1400" dirty="0">
                <a:solidFill>
                  <a:srgbClr val="008000"/>
                </a:solidFill>
                <a:cs typeface="Arial" panose="020B0604020202020204" pitchFamily="34" charset="0"/>
              </a:rPr>
              <a:t>El fomento de los programas de atención al ciudadano y la gestión del Portal de Transparencia de la Administración General del Estado. </a:t>
            </a:r>
          </a:p>
          <a:p>
            <a:pPr algn="just">
              <a:spcBef>
                <a:spcPct val="0"/>
              </a:spcBef>
              <a:buFontTx/>
              <a:buNone/>
            </a:pPr>
            <a:r>
              <a:rPr lang="es-ES" altLang="es-ES" sz="1400" dirty="0">
                <a:solidFill>
                  <a:srgbClr val="008000"/>
                </a:solidFill>
                <a:cs typeface="Arial" panose="020B0604020202020204" pitchFamily="34" charset="0"/>
              </a:rPr>
              <a:t>El impulso, la coordinación y el seguimiento de los planes de gobierno abierto, en iniciativas orientadas al desarrollo de los principios de la transparencia, la participación ciudadana, la rendición de cuentas y la colaboración. </a:t>
            </a:r>
          </a:p>
          <a:p>
            <a:pPr algn="just">
              <a:spcBef>
                <a:spcPct val="0"/>
              </a:spcBef>
              <a:buFontTx/>
              <a:buNone/>
            </a:pPr>
            <a:r>
              <a:rPr lang="es-ES" altLang="es-ES" sz="1400" dirty="0">
                <a:solidFill>
                  <a:srgbClr val="008000"/>
                </a:solidFill>
                <a:cs typeface="Arial" panose="020B0604020202020204" pitchFamily="34" charset="0"/>
              </a:rPr>
              <a:t>La coordinación de las unidades de información de la Administración General del Estado previstas en el artículo 21 de la </a:t>
            </a:r>
            <a:r>
              <a:rPr lang="es-ES" altLang="es-ES" sz="1400" dirty="0">
                <a:solidFill>
                  <a:srgbClr val="008000"/>
                </a:solidFill>
                <a:cs typeface="Arial" panose="020B0604020202020204" pitchFamily="34" charset="0"/>
                <a:hlinkClick r:id="rId5" tooltip="Enlace a al Ley 19/2013 : Abre nueva ventana"/>
              </a:rPr>
              <a:t>Ley 19/2013, de 9 de diciembre  </a:t>
            </a:r>
            <a:r>
              <a:rPr lang="es-ES" altLang="es-ES" sz="1400" dirty="0">
                <a:solidFill>
                  <a:srgbClr val="008000"/>
                </a:solidFill>
                <a:cs typeface="Arial" panose="020B0604020202020204" pitchFamily="34" charset="0"/>
              </a:rPr>
              <a:t>, de transparencia, acceso a la información pública y buen gobierno. Dictar, de forma conjunta con la Subsecretaría del departamento, indicaciones para la dinamización e impulso del derecho de acceso. </a:t>
            </a:r>
          </a:p>
          <a:p>
            <a:pPr algn="just">
              <a:spcBef>
                <a:spcPct val="0"/>
              </a:spcBef>
            </a:pPr>
            <a:endParaRPr lang="es-ES" altLang="es-ES" sz="1400" dirty="0">
              <a:solidFill>
                <a:srgbClr val="008000"/>
              </a:solidFill>
              <a:cs typeface="Arial" panose="020B0604020202020204" pitchFamily="34" charset="0"/>
            </a:endParaRPr>
          </a:p>
          <a:p>
            <a:pPr algn="just" eaLnBrk="1" hangingPunct="1">
              <a:lnSpc>
                <a:spcPct val="80000"/>
              </a:lnSpc>
              <a:buFontTx/>
              <a:buNone/>
            </a:pPr>
            <a:r>
              <a:rPr lang="es-ES" altLang="es-ES" sz="1400" b="1" i="1" dirty="0">
                <a:solidFill>
                  <a:srgbClr val="008000"/>
                </a:solidFill>
              </a:rPr>
              <a:t>La Subdirección General de Transparencia y Atención al Ciudadano dependiente de la Dirección General </a:t>
            </a:r>
            <a:r>
              <a:rPr lang="es-ES" altLang="es-ES" sz="1400" b="1" dirty="0">
                <a:solidFill>
                  <a:srgbClr val="008000"/>
                </a:solidFill>
              </a:rPr>
              <a:t>de Gobernanza Pública será la encargada de llevar a cabo las </a:t>
            </a:r>
            <a:r>
              <a:rPr lang="es-ES" altLang="es-ES" sz="1400" b="1" i="1" dirty="0">
                <a:solidFill>
                  <a:srgbClr val="008000"/>
                </a:solidFill>
              </a:rPr>
              <a:t>funciones de:</a:t>
            </a:r>
          </a:p>
          <a:p>
            <a:pPr algn="just" eaLnBrk="1" hangingPunct="1">
              <a:lnSpc>
                <a:spcPct val="80000"/>
              </a:lnSpc>
              <a:buFontTx/>
              <a:buNone/>
            </a:pPr>
            <a:endParaRPr lang="es-ES" altLang="es-ES" sz="1400" dirty="0">
              <a:solidFill>
                <a:srgbClr val="008000"/>
              </a:solidFill>
            </a:endParaRPr>
          </a:p>
          <a:p>
            <a:pPr algn="just" eaLnBrk="1" hangingPunct="1">
              <a:lnSpc>
                <a:spcPct val="80000"/>
              </a:lnSpc>
              <a:buFontTx/>
              <a:buNone/>
            </a:pPr>
            <a:r>
              <a:rPr lang="es-ES" altLang="es-ES" sz="1400" dirty="0">
                <a:solidFill>
                  <a:srgbClr val="008000"/>
                </a:solidFill>
              </a:rPr>
              <a:t>El impulso de los planes y programas de transparencia, incluyendo la atención e información a los ciudadanos en esta materia y la gestión del Portal de Transparencia de la Administración General del Estado previsto en la ley 19/2013, de 9 de diciembre, de transparencia, acceso a la información pública y buen gobierno. En relación con la función atribuida a la Secretaría de Estado de Función Pública en la letra p) del artículo 13.1, corresponde a la Dirección General de Gobernanza Pública prestar el apoyo y soporte necesario para el ejercicio de dicha competencia.</a:t>
            </a:r>
            <a:endParaRPr lang="en-US" altLang="es-ES" sz="1400" b="1" dirty="0">
              <a:solidFill>
                <a:srgbClr val="008000"/>
              </a:solidFill>
            </a:endParaRPr>
          </a:p>
          <a:p>
            <a:pPr algn="just" eaLnBrk="1" hangingPunct="1">
              <a:lnSpc>
                <a:spcPct val="80000"/>
              </a:lnSpc>
              <a:buFontTx/>
              <a:buNone/>
            </a:pPr>
            <a:endParaRPr lang="es-ES" altLang="es-ES" sz="2000" dirty="0"/>
          </a:p>
          <a:p>
            <a:pPr algn="just" eaLnBrk="1" hangingPunct="1">
              <a:lnSpc>
                <a:spcPct val="80000"/>
              </a:lnSpc>
              <a:buFontTx/>
              <a:buNone/>
            </a:pPr>
            <a:endParaRPr lang="es-ES" altLang="es-ES" sz="2000" dirty="0"/>
          </a:p>
        </p:txBody>
      </p:sp>
      <mc:AlternateContent xmlns:mc="http://schemas.openxmlformats.org/markup-compatibility/2006">
        <mc:Choice xmlns:p14="http://schemas.microsoft.com/office/powerpoint/2010/main" Requires="p14">
          <p:contentPart p14:bwMode="auto" r:id="rId6">
            <p14:nvContentPartPr>
              <p14:cNvPr id="2" name="Entrada de lápiz 1">
                <a:extLst>
                  <a:ext uri="{FF2B5EF4-FFF2-40B4-BE49-F238E27FC236}">
                    <a16:creationId xmlns:a16="http://schemas.microsoft.com/office/drawing/2014/main" id="{3839DBB2-AE52-9E1E-B6C5-3A543FC38DCE}"/>
                  </a:ext>
                </a:extLst>
              </p14:cNvPr>
              <p14:cNvContentPartPr/>
              <p14:nvPr/>
            </p14:nvContentPartPr>
            <p14:xfrm>
              <a:off x="4469400" y="1982160"/>
              <a:ext cx="2880" cy="12600"/>
            </p14:xfrm>
          </p:contentPart>
        </mc:Choice>
        <mc:Fallback>
          <p:pic>
            <p:nvPicPr>
              <p:cNvPr id="2" name="Entrada de lápiz 1">
                <a:extLst>
                  <a:ext uri="{FF2B5EF4-FFF2-40B4-BE49-F238E27FC236}">
                    <a16:creationId xmlns:a16="http://schemas.microsoft.com/office/drawing/2014/main" id="{3839DBB2-AE52-9E1E-B6C5-3A543FC38DCE}"/>
                  </a:ext>
                </a:extLst>
              </p:cNvPr>
              <p:cNvPicPr/>
              <p:nvPr/>
            </p:nvPicPr>
            <p:blipFill>
              <a:blip r:embed="rId7"/>
              <a:stretch>
                <a:fillRect/>
              </a:stretch>
            </p:blipFill>
            <p:spPr>
              <a:xfrm>
                <a:off x="4460040" y="1972800"/>
                <a:ext cx="21600" cy="31320"/>
              </a:xfrm>
              <a:prstGeom prst="rect">
                <a:avLst/>
              </a:prstGeom>
            </p:spPr>
          </p:pic>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4A6375BF-3B4C-F259-5C4C-FD47CDDB4DB6}"/>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89091" name="Picture 3" descr="cefcorp_logo">
            <a:extLst>
              <a:ext uri="{FF2B5EF4-FFF2-40B4-BE49-F238E27FC236}">
                <a16:creationId xmlns:a16="http://schemas.microsoft.com/office/drawing/2014/main" id="{069F3C22-0B8D-8B4B-D1D8-1DCE9F7FF4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2" name="Text Box 2">
            <a:extLst>
              <a:ext uri="{FF2B5EF4-FFF2-40B4-BE49-F238E27FC236}">
                <a16:creationId xmlns:a16="http://schemas.microsoft.com/office/drawing/2014/main" id="{9F10570B-CF39-93E9-C722-BBD7DA22CB77}"/>
              </a:ext>
            </a:extLst>
          </p:cNvPr>
          <p:cNvSpPr txBox="1">
            <a:spLocks noChangeArrowheads="1"/>
          </p:cNvSpPr>
          <p:nvPr/>
        </p:nvSpPr>
        <p:spPr bwMode="auto">
          <a:xfrm>
            <a:off x="0" y="2997200"/>
            <a:ext cx="9144000" cy="118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32" tIns="10799" rIns="91432" bIns="10799">
            <a:spAutoFit/>
          </a:bodyPr>
          <a:lstStyle>
            <a:lvl1pPr defTabSz="912813">
              <a:spcBef>
                <a:spcPct val="20000"/>
              </a:spcBef>
              <a:buChar char="•"/>
              <a:defRPr sz="3200">
                <a:solidFill>
                  <a:schemeClr val="tx1"/>
                </a:solidFill>
                <a:latin typeface="Arial" panose="020B0604020202020204" pitchFamily="34" charset="0"/>
              </a:defRPr>
            </a:lvl1pPr>
            <a:lvl2pPr marL="742950" indent="-285750" defTabSz="912813">
              <a:spcBef>
                <a:spcPct val="20000"/>
              </a:spcBef>
              <a:buChar char="–"/>
              <a:defRPr sz="2800">
                <a:solidFill>
                  <a:schemeClr val="tx1"/>
                </a:solidFill>
                <a:latin typeface="Arial" panose="020B0604020202020204" pitchFamily="34" charset="0"/>
              </a:defRPr>
            </a:lvl2pPr>
            <a:lvl3pPr marL="1143000" indent="-228600" defTabSz="912813">
              <a:spcBef>
                <a:spcPct val="20000"/>
              </a:spcBef>
              <a:buChar char="•"/>
              <a:defRPr sz="2400">
                <a:solidFill>
                  <a:schemeClr val="tx1"/>
                </a:solidFill>
                <a:latin typeface="Arial" panose="020B0604020202020204" pitchFamily="34" charset="0"/>
              </a:defRPr>
            </a:lvl3pPr>
            <a:lvl4pPr marL="1600200" indent="-228600" defTabSz="912813">
              <a:spcBef>
                <a:spcPct val="20000"/>
              </a:spcBef>
              <a:buChar char="–"/>
              <a:defRPr sz="2000">
                <a:solidFill>
                  <a:schemeClr val="tx1"/>
                </a:solidFill>
                <a:latin typeface="Arial" panose="020B0604020202020204" pitchFamily="34" charset="0"/>
              </a:defRPr>
            </a:lvl4pPr>
            <a:lvl5pPr marL="2057400" indent="-228600" defTabSz="912813">
              <a:spcBef>
                <a:spcPct val="20000"/>
              </a:spcBef>
              <a:buChar char="»"/>
              <a:defRPr sz="2000">
                <a:solidFill>
                  <a:schemeClr val="tx1"/>
                </a:solidFill>
                <a:latin typeface="Arial" panose="020B0604020202020204" pitchFamily="34" charset="0"/>
              </a:defRPr>
            </a:lvl5pPr>
            <a:lvl6pPr marL="2514600" indent="-228600" defTabSz="91281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91281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91281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912813"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45000"/>
              </a:lnSpc>
              <a:spcBef>
                <a:spcPct val="50000"/>
              </a:spcBef>
              <a:buFontTx/>
              <a:buNone/>
            </a:pPr>
            <a:r>
              <a:rPr lang="es-ES" altLang="es-ES" sz="5400" b="1">
                <a:solidFill>
                  <a:srgbClr val="006600"/>
                </a:solidFill>
                <a:latin typeface="Cambria" panose="02040503050406030204" pitchFamily="18" charset="0"/>
                <a:cs typeface="Arial" panose="020B0604020202020204" pitchFamily="34" charset="0"/>
              </a:rPr>
              <a:t>¡</a:t>
            </a:r>
            <a:r>
              <a:rPr lang="es-ES" altLang="es-ES" sz="3600" b="1">
                <a:solidFill>
                  <a:srgbClr val="006600"/>
                </a:solidFill>
                <a:latin typeface="Cambria" panose="02040503050406030204" pitchFamily="18" charset="0"/>
                <a:cs typeface="Arial" panose="020B0604020202020204" pitchFamily="34" charset="0"/>
              </a:rPr>
              <a:t>Muchas gracias </a:t>
            </a:r>
          </a:p>
          <a:p>
            <a:pPr algn="ctr">
              <a:lnSpc>
                <a:spcPct val="45000"/>
              </a:lnSpc>
              <a:spcBef>
                <a:spcPct val="50000"/>
              </a:spcBef>
              <a:buFontTx/>
              <a:buNone/>
            </a:pPr>
            <a:r>
              <a:rPr lang="es-ES" altLang="es-ES" sz="3600" b="1">
                <a:solidFill>
                  <a:srgbClr val="006600"/>
                </a:solidFill>
                <a:latin typeface="Cambria" panose="02040503050406030204" pitchFamily="18" charset="0"/>
                <a:cs typeface="Arial" panose="020B0604020202020204" pitchFamily="34" charset="0"/>
              </a:rPr>
              <a:t>por la atención prestada</a:t>
            </a:r>
            <a:r>
              <a:rPr lang="es-ES" altLang="es-ES" sz="5400" b="1">
                <a:solidFill>
                  <a:srgbClr val="006600"/>
                </a:solidFill>
                <a:latin typeface="Cambria" panose="02040503050406030204" pitchFamily="18" charset="0"/>
                <a:cs typeface="Arial" panose="020B0604020202020204" pitchFamily="34" charset="0"/>
              </a:rPr>
              <a:t>!</a:t>
            </a:r>
          </a:p>
        </p:txBody>
      </p:sp>
      <p:sp>
        <p:nvSpPr>
          <p:cNvPr id="89093" name="1 Marcador de pie de página">
            <a:extLst>
              <a:ext uri="{FF2B5EF4-FFF2-40B4-BE49-F238E27FC236}">
                <a16:creationId xmlns:a16="http://schemas.microsoft.com/office/drawing/2014/main" id="{0FEE879F-2DDB-E927-23FA-E6F44CE8A0F0}"/>
              </a:ext>
            </a:extLst>
          </p:cNvPr>
          <p:cNvSpPr txBox="1">
            <a:spLocks noGrp="1"/>
          </p:cNvSpPr>
          <p:nvPr/>
        </p:nvSpPr>
        <p:spPr bwMode="auto">
          <a:xfrm>
            <a:off x="228600" y="6619875"/>
            <a:ext cx="7847013"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s-ES" altLang="es-ES" sz="1000" b="1">
                <a:solidFill>
                  <a:schemeClr val="bg1"/>
                </a:solidFill>
                <a:cs typeface="Arial" panose="020B0604020202020204" pitchFamily="34" charset="0"/>
              </a:rPr>
              <a:t>10 06 23 Presentación Corporativa</a:t>
            </a:r>
          </a:p>
        </p:txBody>
      </p:sp>
      <p:pic>
        <p:nvPicPr>
          <p:cNvPr id="89094" name="Picture 7" descr="nuevos fondos para cef7 copia">
            <a:extLst>
              <a:ext uri="{FF2B5EF4-FFF2-40B4-BE49-F238E27FC236}">
                <a16:creationId xmlns:a16="http://schemas.microsoft.com/office/drawing/2014/main" id="{3259DD2F-E81E-54FD-709E-8EB9887605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22057" b="32117"/>
          <a:stretch>
            <a:fillRect/>
          </a:stretch>
        </p:blipFill>
        <p:spPr bwMode="auto">
          <a:xfrm>
            <a:off x="0" y="5516563"/>
            <a:ext cx="9144000" cy="1341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095" name="Picture 8" descr="logo-udima-horizontal-COLOR">
            <a:extLst>
              <a:ext uri="{FF2B5EF4-FFF2-40B4-BE49-F238E27FC236}">
                <a16:creationId xmlns:a16="http://schemas.microsoft.com/office/drawing/2014/main" id="{BF394FAB-E0B4-A272-3536-D798B3A0AC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3459</TotalTime>
  <Words>7458</Words>
  <Application>Microsoft Office PowerPoint</Application>
  <PresentationFormat>Presentación en pantalla (4:3)</PresentationFormat>
  <Paragraphs>612</Paragraphs>
  <Slides>43</Slides>
  <Notes>43</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43</vt:i4>
      </vt:variant>
    </vt:vector>
  </HeadingPairs>
  <TitlesOfParts>
    <vt:vector size="49" baseType="lpstr">
      <vt:lpstr>Arial</vt:lpstr>
      <vt:lpstr>Calibri</vt:lpstr>
      <vt:lpstr>Cambria</vt:lpstr>
      <vt:lpstr>Symbol</vt:lpstr>
      <vt:lpstr>Wingdings</vt:lpstr>
      <vt:lpstr>Diseño predeterminado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CEF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publicidad</dc:creator>
  <cp:lastModifiedBy>Alumno Madrid 2</cp:lastModifiedBy>
  <cp:revision>166</cp:revision>
  <dcterms:created xsi:type="dcterms:W3CDTF">2010-07-19T10:28:12Z</dcterms:created>
  <dcterms:modified xsi:type="dcterms:W3CDTF">2026-07-11T07:48:11Z</dcterms:modified>
</cp:coreProperties>
</file>