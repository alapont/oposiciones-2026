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76" r:id="rId2"/>
    <p:sldId id="263" r:id="rId3"/>
    <p:sldId id="283" r:id="rId4"/>
    <p:sldId id="284" r:id="rId5"/>
    <p:sldId id="310" r:id="rId6"/>
    <p:sldId id="286"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9" r:id="rId22"/>
    <p:sldId id="302" r:id="rId23"/>
    <p:sldId id="303" r:id="rId24"/>
    <p:sldId id="304" r:id="rId25"/>
    <p:sldId id="305" r:id="rId26"/>
    <p:sldId id="306" r:id="rId27"/>
    <p:sldId id="307" r:id="rId28"/>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00"/>
    <a:srgbClr val="FF3300"/>
    <a:srgbClr val="008000"/>
    <a:srgbClr val="006600"/>
    <a:srgbClr val="FF0000"/>
    <a:srgbClr val="003300"/>
    <a:srgbClr val="FF6600"/>
    <a:srgbClr val="33CC33"/>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EEBAE9-E9BE-58FD-3481-6DCA8C759F17}" v="279" dt="2026-09-14T19:45:54.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5170" autoAdjust="0"/>
  </p:normalViewPr>
  <p:slideViewPr>
    <p:cSldViewPr>
      <p:cViewPr varScale="1">
        <p:scale>
          <a:sx n="94" d="100"/>
          <a:sy n="94" d="100"/>
        </p:scale>
        <p:origin x="2704" y="4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uel Lucas Alonso" userId="S::manuel.lucas@cef.es::ba9829e6-8328-4061-8ca6-d6f53a7cb00c" providerId="AD" clId="Web-{2EEEBAE9-E9BE-58FD-3481-6DCA8C759F17}"/>
    <pc:docChg chg="modSld">
      <pc:chgData name="Manuel Lucas Alonso" userId="S::manuel.lucas@cef.es::ba9829e6-8328-4061-8ca6-d6f53a7cb00c" providerId="AD" clId="Web-{2EEEBAE9-E9BE-58FD-3481-6DCA8C759F17}" dt="2026-09-14T19:45:54.154" v="184" actId="20577"/>
      <pc:docMkLst>
        <pc:docMk/>
      </pc:docMkLst>
      <pc:sldChg chg="modSp">
        <pc:chgData name="Manuel Lucas Alonso" userId="S::manuel.lucas@cef.es::ba9829e6-8328-4061-8ca6-d6f53a7cb00c" providerId="AD" clId="Web-{2EEEBAE9-E9BE-58FD-3481-6DCA8C759F17}" dt="2026-09-14T16:19:28.564" v="4" actId="20577"/>
        <pc:sldMkLst>
          <pc:docMk/>
          <pc:sldMk cId="0" sldId="284"/>
        </pc:sldMkLst>
        <pc:spChg chg="mod">
          <ac:chgData name="Manuel Lucas Alonso" userId="S::manuel.lucas@cef.es::ba9829e6-8328-4061-8ca6-d6f53a7cb00c" providerId="AD" clId="Web-{2EEEBAE9-E9BE-58FD-3481-6DCA8C759F17}" dt="2026-09-14T16:19:28.564" v="4" actId="20577"/>
          <ac:spMkLst>
            <pc:docMk/>
            <pc:sldMk cId="0" sldId="284"/>
            <ac:spMk id="9225" creationId="{27DC5E07-DC96-DAB7-6C5A-28F4EA4EE783}"/>
          </ac:spMkLst>
        </pc:spChg>
      </pc:sldChg>
      <pc:sldChg chg="modSp">
        <pc:chgData name="Manuel Lucas Alonso" userId="S::manuel.lucas@cef.es::ba9829e6-8328-4061-8ca6-d6f53a7cb00c" providerId="AD" clId="Web-{2EEEBAE9-E9BE-58FD-3481-6DCA8C759F17}" dt="2026-09-14T16:38:22.056" v="148" actId="20577"/>
        <pc:sldMkLst>
          <pc:docMk/>
          <pc:sldMk cId="0" sldId="290"/>
        </pc:sldMkLst>
        <pc:spChg chg="mod">
          <ac:chgData name="Manuel Lucas Alonso" userId="S::manuel.lucas@cef.es::ba9829e6-8328-4061-8ca6-d6f53a7cb00c" providerId="AD" clId="Web-{2EEEBAE9-E9BE-58FD-3481-6DCA8C759F17}" dt="2026-09-14T16:38:22.056" v="148" actId="20577"/>
          <ac:spMkLst>
            <pc:docMk/>
            <pc:sldMk cId="0" sldId="290"/>
            <ac:spMk id="21514" creationId="{2AFE965A-6980-FBBA-F3C0-4EEB26636137}"/>
          </ac:spMkLst>
        </pc:spChg>
      </pc:sldChg>
      <pc:sldChg chg="modSp">
        <pc:chgData name="Manuel Lucas Alonso" userId="S::manuel.lucas@cef.es::ba9829e6-8328-4061-8ca6-d6f53a7cb00c" providerId="AD" clId="Web-{2EEEBAE9-E9BE-58FD-3481-6DCA8C759F17}" dt="2026-09-14T16:49:27.969" v="150" actId="20577"/>
        <pc:sldMkLst>
          <pc:docMk/>
          <pc:sldMk cId="0" sldId="297"/>
        </pc:sldMkLst>
        <pc:spChg chg="mod">
          <ac:chgData name="Manuel Lucas Alonso" userId="S::manuel.lucas@cef.es::ba9829e6-8328-4061-8ca6-d6f53a7cb00c" providerId="AD" clId="Web-{2EEEBAE9-E9BE-58FD-3481-6DCA8C759F17}" dt="2026-09-14T16:49:27.969" v="150" actId="20577"/>
          <ac:spMkLst>
            <pc:docMk/>
            <pc:sldMk cId="0" sldId="297"/>
            <ac:spMk id="35850" creationId="{3AA4305F-1696-0B0A-92DA-2EE186253926}"/>
          </ac:spMkLst>
        </pc:spChg>
      </pc:sldChg>
      <pc:sldChg chg="modSp">
        <pc:chgData name="Manuel Lucas Alonso" userId="S::manuel.lucas@cef.es::ba9829e6-8328-4061-8ca6-d6f53a7cb00c" providerId="AD" clId="Web-{2EEEBAE9-E9BE-58FD-3481-6DCA8C759F17}" dt="2026-09-14T19:45:54.154" v="184" actId="20577"/>
        <pc:sldMkLst>
          <pc:docMk/>
          <pc:sldMk cId="0" sldId="304"/>
        </pc:sldMkLst>
        <pc:spChg chg="mod">
          <ac:chgData name="Manuel Lucas Alonso" userId="S::manuel.lucas@cef.es::ba9829e6-8328-4061-8ca6-d6f53a7cb00c" providerId="AD" clId="Web-{2EEEBAE9-E9BE-58FD-3481-6DCA8C759F17}" dt="2026-09-14T19:45:54.154" v="184" actId="20577"/>
          <ac:spMkLst>
            <pc:docMk/>
            <pc:sldMk cId="0" sldId="304"/>
            <ac:spMk id="10" creationId="{3B487CE1-4E38-ED09-EB6A-49C5F22FBB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B3F95D29-6132-EC86-E973-874F45FAC3B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s-ES"/>
          </a:p>
        </p:txBody>
      </p:sp>
      <p:sp>
        <p:nvSpPr>
          <p:cNvPr id="22531" name="Rectangle 3">
            <a:extLst>
              <a:ext uri="{FF2B5EF4-FFF2-40B4-BE49-F238E27FC236}">
                <a16:creationId xmlns:a16="http://schemas.microsoft.com/office/drawing/2014/main" id="{7961503A-46BA-F0F5-0144-7636D28F367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s-ES"/>
          </a:p>
        </p:txBody>
      </p:sp>
      <p:sp>
        <p:nvSpPr>
          <p:cNvPr id="2052" name="Rectangle 4">
            <a:extLst>
              <a:ext uri="{FF2B5EF4-FFF2-40B4-BE49-F238E27FC236}">
                <a16:creationId xmlns:a16="http://schemas.microsoft.com/office/drawing/2014/main" id="{01E553EE-43BF-9447-B8EF-0A3A1EC73D4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14D39EF3-AB40-5A81-0F20-9BECFE16A5A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22534" name="Rectangle 6">
            <a:extLst>
              <a:ext uri="{FF2B5EF4-FFF2-40B4-BE49-F238E27FC236}">
                <a16:creationId xmlns:a16="http://schemas.microsoft.com/office/drawing/2014/main" id="{B0026F2E-4A18-1319-8880-683FE1A1FF0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s-ES"/>
          </a:p>
        </p:txBody>
      </p:sp>
      <p:sp>
        <p:nvSpPr>
          <p:cNvPr id="22535" name="Rectangle 7">
            <a:extLst>
              <a:ext uri="{FF2B5EF4-FFF2-40B4-BE49-F238E27FC236}">
                <a16:creationId xmlns:a16="http://schemas.microsoft.com/office/drawing/2014/main" id="{C3D33B7A-6D41-3185-0F27-E569554E423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1ACAD7B5-E630-4E85-8271-2E992FFFB68E}" type="slidenum">
              <a:rPr lang="es-ES" altLang="es-ES"/>
              <a:pPr/>
              <a:t>‹#›</a:t>
            </a:fld>
            <a:endParaRPr lang="es-ES" alt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1 Marcador de imagen de diapositiva">
            <a:extLst>
              <a:ext uri="{FF2B5EF4-FFF2-40B4-BE49-F238E27FC236}">
                <a16:creationId xmlns:a16="http://schemas.microsoft.com/office/drawing/2014/main" id="{31BF992A-6B6E-E06A-81C3-EEC46B0FF485}"/>
              </a:ext>
            </a:extLst>
          </p:cNvPr>
          <p:cNvSpPr>
            <a:spLocks noGrp="1" noRot="1" noChangeAspect="1" noTextEdit="1"/>
          </p:cNvSpPr>
          <p:nvPr>
            <p:ph type="sldImg"/>
          </p:nvPr>
        </p:nvSpPr>
        <p:spPr>
          <a:ln/>
        </p:spPr>
      </p:sp>
      <p:sp>
        <p:nvSpPr>
          <p:cNvPr id="4099" name="2 Marcador de notas">
            <a:extLst>
              <a:ext uri="{FF2B5EF4-FFF2-40B4-BE49-F238E27FC236}">
                <a16:creationId xmlns:a16="http://schemas.microsoft.com/office/drawing/2014/main" id="{7688F17B-B125-B022-E6FF-8FEAA10669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100" name="3 Marcador de número de diapositiva">
            <a:extLst>
              <a:ext uri="{FF2B5EF4-FFF2-40B4-BE49-F238E27FC236}">
                <a16:creationId xmlns:a16="http://schemas.microsoft.com/office/drawing/2014/main" id="{9FF9AC66-D80F-DA84-8B7D-448B6C62DE2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5365B48-58DD-4101-BB31-68F6C90175F7}" type="slidenum">
              <a:rPr lang="es-ES" altLang="es-ES"/>
              <a:pPr>
                <a:spcBef>
                  <a:spcPct val="0"/>
                </a:spcBef>
              </a:pPr>
              <a:t>1</a:t>
            </a:fld>
            <a:endParaRPr lang="es-ES" alt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a:extLst>
              <a:ext uri="{FF2B5EF4-FFF2-40B4-BE49-F238E27FC236}">
                <a16:creationId xmlns:a16="http://schemas.microsoft.com/office/drawing/2014/main" id="{CB168BB9-CF06-0840-185E-209D65D198E1}"/>
              </a:ext>
            </a:extLst>
          </p:cNvPr>
          <p:cNvSpPr>
            <a:spLocks noGrp="1" noRot="1" noChangeAspect="1" noTextEdit="1"/>
          </p:cNvSpPr>
          <p:nvPr>
            <p:ph type="sldImg"/>
          </p:nvPr>
        </p:nvSpPr>
        <p:spPr>
          <a:ln/>
        </p:spPr>
      </p:sp>
      <p:sp>
        <p:nvSpPr>
          <p:cNvPr id="6147" name="2 Marcador de notas">
            <a:extLst>
              <a:ext uri="{FF2B5EF4-FFF2-40B4-BE49-F238E27FC236}">
                <a16:creationId xmlns:a16="http://schemas.microsoft.com/office/drawing/2014/main" id="{D96B7684-F362-32EA-59CC-AF94E5B545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6148" name="3 Marcador de número de diapositiva">
            <a:extLst>
              <a:ext uri="{FF2B5EF4-FFF2-40B4-BE49-F238E27FC236}">
                <a16:creationId xmlns:a16="http://schemas.microsoft.com/office/drawing/2014/main" id="{892A9BCC-17C3-263F-AACE-3435804B1CE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DA0AE6E-513B-490B-8D1E-DA79CC2460D0}" type="slidenum">
              <a:rPr lang="es-ES" altLang="es-ES"/>
              <a:pPr>
                <a:spcBef>
                  <a:spcPct val="0"/>
                </a:spcBef>
              </a:pPr>
              <a:t>2</a:t>
            </a:fld>
            <a:endParaRPr lang="es-ES" alt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Marcador de imagen de diapositiva">
            <a:extLst>
              <a:ext uri="{FF2B5EF4-FFF2-40B4-BE49-F238E27FC236}">
                <a16:creationId xmlns:a16="http://schemas.microsoft.com/office/drawing/2014/main" id="{AD622F87-55F9-138D-8E52-92EB0A7D7BE9}"/>
              </a:ext>
            </a:extLst>
          </p:cNvPr>
          <p:cNvSpPr>
            <a:spLocks noGrp="1" noRot="1" noChangeAspect="1" noTextEdit="1"/>
          </p:cNvSpPr>
          <p:nvPr>
            <p:ph type="sldImg"/>
          </p:nvPr>
        </p:nvSpPr>
        <p:spPr>
          <a:ln/>
        </p:spPr>
      </p:sp>
      <p:sp>
        <p:nvSpPr>
          <p:cNvPr id="8195" name="2 Marcador de notas">
            <a:extLst>
              <a:ext uri="{FF2B5EF4-FFF2-40B4-BE49-F238E27FC236}">
                <a16:creationId xmlns:a16="http://schemas.microsoft.com/office/drawing/2014/main" id="{43C038B2-C718-F9CB-96EF-854FD53E1DC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8196" name="3 Marcador de número de diapositiva">
            <a:extLst>
              <a:ext uri="{FF2B5EF4-FFF2-40B4-BE49-F238E27FC236}">
                <a16:creationId xmlns:a16="http://schemas.microsoft.com/office/drawing/2014/main" id="{7F6C8954-DE69-744A-F84B-C102C07DE30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DF787C3-1AD3-45AC-B0D2-F90C3A107BD5}" type="slidenum">
              <a:rPr lang="es-ES" altLang="es-ES"/>
              <a:pPr>
                <a:spcBef>
                  <a:spcPct val="0"/>
                </a:spcBef>
              </a:pPr>
              <a:t>3</a:t>
            </a:fld>
            <a:endParaRPr lang="es-ES" alt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1 Marcador de imagen de diapositiva">
            <a:extLst>
              <a:ext uri="{FF2B5EF4-FFF2-40B4-BE49-F238E27FC236}">
                <a16:creationId xmlns:a16="http://schemas.microsoft.com/office/drawing/2014/main" id="{B36714A7-785D-1BBD-2536-5884D68D3EF7}"/>
              </a:ext>
            </a:extLst>
          </p:cNvPr>
          <p:cNvSpPr>
            <a:spLocks noGrp="1" noRot="1" noChangeAspect="1" noTextEdit="1"/>
          </p:cNvSpPr>
          <p:nvPr>
            <p:ph type="sldImg"/>
          </p:nvPr>
        </p:nvSpPr>
        <p:spPr>
          <a:ln/>
        </p:spPr>
      </p:sp>
      <p:sp>
        <p:nvSpPr>
          <p:cNvPr id="10243" name="2 Marcador de notas">
            <a:extLst>
              <a:ext uri="{FF2B5EF4-FFF2-40B4-BE49-F238E27FC236}">
                <a16:creationId xmlns:a16="http://schemas.microsoft.com/office/drawing/2014/main" id="{BE92AF9E-5227-0526-8B05-01CFEA550D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10244" name="3 Marcador de número de diapositiva">
            <a:extLst>
              <a:ext uri="{FF2B5EF4-FFF2-40B4-BE49-F238E27FC236}">
                <a16:creationId xmlns:a16="http://schemas.microsoft.com/office/drawing/2014/main" id="{93F13999-7AE6-7807-A47E-7A6F619F9BD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4B37B1B-3026-432C-AD8F-1BE58B8811BB}" type="slidenum">
              <a:rPr lang="es-ES" altLang="es-ES"/>
              <a:pPr>
                <a:spcBef>
                  <a:spcPct val="0"/>
                </a:spcBef>
              </a:pPr>
              <a:t>4</a:t>
            </a:fld>
            <a:endParaRPr lang="es-ES" alt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Marcador de imagen de diapositiva">
            <a:extLst>
              <a:ext uri="{FF2B5EF4-FFF2-40B4-BE49-F238E27FC236}">
                <a16:creationId xmlns:a16="http://schemas.microsoft.com/office/drawing/2014/main" id="{DFBD82E9-E028-9F81-8C0F-482D6F47055A}"/>
              </a:ext>
            </a:extLst>
          </p:cNvPr>
          <p:cNvSpPr>
            <a:spLocks noGrp="1" noRot="1" noChangeAspect="1" noTextEdit="1"/>
          </p:cNvSpPr>
          <p:nvPr>
            <p:ph type="sldImg"/>
          </p:nvPr>
        </p:nvSpPr>
        <p:spPr>
          <a:ln/>
        </p:spPr>
      </p:sp>
      <p:sp>
        <p:nvSpPr>
          <p:cNvPr id="12291" name="2 Marcador de notas">
            <a:extLst>
              <a:ext uri="{FF2B5EF4-FFF2-40B4-BE49-F238E27FC236}">
                <a16:creationId xmlns:a16="http://schemas.microsoft.com/office/drawing/2014/main" id="{67803BD3-DF00-CBFD-76B2-E62FAE3BBDD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dirty="0">
              <a:latin typeface="Arial" panose="020B0604020202020204" pitchFamily="34" charset="0"/>
            </a:endParaRPr>
          </a:p>
        </p:txBody>
      </p:sp>
      <p:sp>
        <p:nvSpPr>
          <p:cNvPr id="12292" name="3 Marcador de número de diapositiva">
            <a:extLst>
              <a:ext uri="{FF2B5EF4-FFF2-40B4-BE49-F238E27FC236}">
                <a16:creationId xmlns:a16="http://schemas.microsoft.com/office/drawing/2014/main" id="{B0AA849C-43EC-4D14-BF68-07A132467F5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2059331-73FF-42B7-8E7E-6278873CC08F}" type="slidenum">
              <a:rPr lang="es-ES" altLang="es-ES"/>
              <a:pPr>
                <a:spcBef>
                  <a:spcPct val="0"/>
                </a:spcBef>
              </a:pPr>
              <a:t>5</a:t>
            </a:fld>
            <a:endParaRPr lang="es-ES" altLang="es-ES"/>
          </a:p>
        </p:txBody>
      </p:sp>
    </p:spTree>
    <p:extLst>
      <p:ext uri="{BB962C8B-B14F-4D97-AF65-F5344CB8AC3E}">
        <p14:creationId xmlns:p14="http://schemas.microsoft.com/office/powerpoint/2010/main" val="3316266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Marcador de imagen de diapositiva">
            <a:extLst>
              <a:ext uri="{FF2B5EF4-FFF2-40B4-BE49-F238E27FC236}">
                <a16:creationId xmlns:a16="http://schemas.microsoft.com/office/drawing/2014/main" id="{3406C734-D075-27C8-78E8-D9D7B6155EA4}"/>
              </a:ext>
            </a:extLst>
          </p:cNvPr>
          <p:cNvSpPr>
            <a:spLocks noGrp="1" noRot="1" noChangeAspect="1" noTextEdit="1"/>
          </p:cNvSpPr>
          <p:nvPr>
            <p:ph type="sldImg"/>
          </p:nvPr>
        </p:nvSpPr>
        <p:spPr>
          <a:ln/>
        </p:spPr>
      </p:sp>
      <p:sp>
        <p:nvSpPr>
          <p:cNvPr id="14339" name="2 Marcador de notas">
            <a:extLst>
              <a:ext uri="{FF2B5EF4-FFF2-40B4-BE49-F238E27FC236}">
                <a16:creationId xmlns:a16="http://schemas.microsoft.com/office/drawing/2014/main" id="{8BCF9AF6-14A6-CCB9-DFC1-9F05D92028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14340" name="3 Marcador de número de diapositiva">
            <a:extLst>
              <a:ext uri="{FF2B5EF4-FFF2-40B4-BE49-F238E27FC236}">
                <a16:creationId xmlns:a16="http://schemas.microsoft.com/office/drawing/2014/main" id="{E2856800-FDA4-DCC8-5037-C8DDB59F7D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5E9B82-4A22-44B5-98F2-0E33C2AB4E1A}" type="slidenum">
              <a:rPr lang="es-ES" altLang="es-ES"/>
              <a:pPr>
                <a:spcBef>
                  <a:spcPct val="0"/>
                </a:spcBef>
              </a:pPr>
              <a:t>6</a:t>
            </a:fld>
            <a:endParaRPr lang="es-ES" alt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Marcador de imagen de diapositiva">
            <a:extLst>
              <a:ext uri="{FF2B5EF4-FFF2-40B4-BE49-F238E27FC236}">
                <a16:creationId xmlns:a16="http://schemas.microsoft.com/office/drawing/2014/main" id="{2FB98B27-20F5-C41B-55C7-85D860AE02F2}"/>
              </a:ext>
            </a:extLst>
          </p:cNvPr>
          <p:cNvSpPr>
            <a:spLocks noGrp="1" noRot="1" noChangeAspect="1" noTextEdit="1"/>
          </p:cNvSpPr>
          <p:nvPr>
            <p:ph type="sldImg"/>
          </p:nvPr>
        </p:nvSpPr>
        <p:spPr>
          <a:ln/>
        </p:spPr>
      </p:sp>
      <p:sp>
        <p:nvSpPr>
          <p:cNvPr id="16387" name="2 Marcador de notas">
            <a:extLst>
              <a:ext uri="{FF2B5EF4-FFF2-40B4-BE49-F238E27FC236}">
                <a16:creationId xmlns:a16="http://schemas.microsoft.com/office/drawing/2014/main" id="{06AD9C3E-865A-C680-5BA3-4712B203A4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16388" name="3 Marcador de número de diapositiva">
            <a:extLst>
              <a:ext uri="{FF2B5EF4-FFF2-40B4-BE49-F238E27FC236}">
                <a16:creationId xmlns:a16="http://schemas.microsoft.com/office/drawing/2014/main" id="{EEB0D262-EE9A-F953-C985-528C12E2A8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EA16A2A-4D6D-40F3-8391-8CA47E163545}" type="slidenum">
              <a:rPr lang="es-ES" altLang="es-ES"/>
              <a:pPr>
                <a:spcBef>
                  <a:spcPct val="0"/>
                </a:spcBef>
              </a:pPr>
              <a:t>7</a:t>
            </a:fld>
            <a:endParaRPr lang="es-ES" alt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1 Marcador de imagen de diapositiva">
            <a:extLst>
              <a:ext uri="{FF2B5EF4-FFF2-40B4-BE49-F238E27FC236}">
                <a16:creationId xmlns:a16="http://schemas.microsoft.com/office/drawing/2014/main" id="{39D7C424-1FD8-5415-9AD6-CAB5A0D53603}"/>
              </a:ext>
            </a:extLst>
          </p:cNvPr>
          <p:cNvSpPr>
            <a:spLocks noGrp="1" noRot="1" noChangeAspect="1" noTextEdit="1"/>
          </p:cNvSpPr>
          <p:nvPr>
            <p:ph type="sldImg"/>
          </p:nvPr>
        </p:nvSpPr>
        <p:spPr>
          <a:ln/>
        </p:spPr>
      </p:sp>
      <p:sp>
        <p:nvSpPr>
          <p:cNvPr id="18435" name="2 Marcador de notas">
            <a:extLst>
              <a:ext uri="{FF2B5EF4-FFF2-40B4-BE49-F238E27FC236}">
                <a16:creationId xmlns:a16="http://schemas.microsoft.com/office/drawing/2014/main" id="{FE70D143-C1A9-7ED6-8A4E-40AFA2BA34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18436" name="3 Marcador de número de diapositiva">
            <a:extLst>
              <a:ext uri="{FF2B5EF4-FFF2-40B4-BE49-F238E27FC236}">
                <a16:creationId xmlns:a16="http://schemas.microsoft.com/office/drawing/2014/main" id="{3895A670-B861-DE1A-530D-3C2C5C3E30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C48D13E-DCC5-4259-8069-741697A686CE}" type="slidenum">
              <a:rPr lang="es-ES" altLang="es-ES"/>
              <a:pPr>
                <a:spcBef>
                  <a:spcPct val="0"/>
                </a:spcBef>
              </a:pPr>
              <a:t>8</a:t>
            </a:fld>
            <a:endParaRPr lang="es-ES" alt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1 Marcador de imagen de diapositiva">
            <a:extLst>
              <a:ext uri="{FF2B5EF4-FFF2-40B4-BE49-F238E27FC236}">
                <a16:creationId xmlns:a16="http://schemas.microsoft.com/office/drawing/2014/main" id="{A8531C53-913D-5E3A-0F79-39185214A49D}"/>
              </a:ext>
            </a:extLst>
          </p:cNvPr>
          <p:cNvSpPr>
            <a:spLocks noGrp="1" noRot="1" noChangeAspect="1" noTextEdit="1"/>
          </p:cNvSpPr>
          <p:nvPr>
            <p:ph type="sldImg"/>
          </p:nvPr>
        </p:nvSpPr>
        <p:spPr>
          <a:ln/>
        </p:spPr>
      </p:sp>
      <p:sp>
        <p:nvSpPr>
          <p:cNvPr id="20483" name="2 Marcador de notas">
            <a:extLst>
              <a:ext uri="{FF2B5EF4-FFF2-40B4-BE49-F238E27FC236}">
                <a16:creationId xmlns:a16="http://schemas.microsoft.com/office/drawing/2014/main" id="{7A1C4287-EAB8-1B4E-066E-444DA18F661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20484" name="3 Marcador de número de diapositiva">
            <a:extLst>
              <a:ext uri="{FF2B5EF4-FFF2-40B4-BE49-F238E27FC236}">
                <a16:creationId xmlns:a16="http://schemas.microsoft.com/office/drawing/2014/main" id="{C07B596C-37B2-05BA-B634-6AF16C4796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7A15F8B-5F2B-4FBB-A6DD-53264C81DD32}" type="slidenum">
              <a:rPr lang="es-ES" altLang="es-ES"/>
              <a:pPr>
                <a:spcBef>
                  <a:spcPct val="0"/>
                </a:spcBef>
              </a:pPr>
              <a:t>9</a:t>
            </a:fld>
            <a:endParaRPr lang="es-ES" alt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1 Marcador de imagen de diapositiva">
            <a:extLst>
              <a:ext uri="{FF2B5EF4-FFF2-40B4-BE49-F238E27FC236}">
                <a16:creationId xmlns:a16="http://schemas.microsoft.com/office/drawing/2014/main" id="{6A4807F3-CA26-55B5-66E7-E4C3C3907005}"/>
              </a:ext>
            </a:extLst>
          </p:cNvPr>
          <p:cNvSpPr>
            <a:spLocks noGrp="1" noRot="1" noChangeAspect="1" noTextEdit="1"/>
          </p:cNvSpPr>
          <p:nvPr>
            <p:ph type="sldImg"/>
          </p:nvPr>
        </p:nvSpPr>
        <p:spPr>
          <a:ln/>
        </p:spPr>
      </p:sp>
      <p:sp>
        <p:nvSpPr>
          <p:cNvPr id="22531" name="2 Marcador de notas">
            <a:extLst>
              <a:ext uri="{FF2B5EF4-FFF2-40B4-BE49-F238E27FC236}">
                <a16:creationId xmlns:a16="http://schemas.microsoft.com/office/drawing/2014/main" id="{871028AD-079D-5614-0E02-824F63B224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22532" name="3 Marcador de número de diapositiva">
            <a:extLst>
              <a:ext uri="{FF2B5EF4-FFF2-40B4-BE49-F238E27FC236}">
                <a16:creationId xmlns:a16="http://schemas.microsoft.com/office/drawing/2014/main" id="{442F025F-BE54-2B38-D78F-B12A2BA44F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82C980D-6058-43E9-B180-6D0742AF4830}" type="slidenum">
              <a:rPr lang="es-ES" altLang="es-ES"/>
              <a:pPr>
                <a:spcBef>
                  <a:spcPct val="0"/>
                </a:spcBef>
              </a:pPr>
              <a:t>10</a:t>
            </a:fld>
            <a:endParaRPr lang="es-ES" alt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Marcador de imagen de diapositiva">
            <a:extLst>
              <a:ext uri="{FF2B5EF4-FFF2-40B4-BE49-F238E27FC236}">
                <a16:creationId xmlns:a16="http://schemas.microsoft.com/office/drawing/2014/main" id="{BB4BBD99-531F-B88D-E97B-D2E0C2DEBEA9}"/>
              </a:ext>
            </a:extLst>
          </p:cNvPr>
          <p:cNvSpPr>
            <a:spLocks noGrp="1" noRot="1" noChangeAspect="1" noTextEdit="1"/>
          </p:cNvSpPr>
          <p:nvPr>
            <p:ph type="sldImg"/>
          </p:nvPr>
        </p:nvSpPr>
        <p:spPr>
          <a:ln/>
        </p:spPr>
      </p:sp>
      <p:sp>
        <p:nvSpPr>
          <p:cNvPr id="24579" name="2 Marcador de notas">
            <a:extLst>
              <a:ext uri="{FF2B5EF4-FFF2-40B4-BE49-F238E27FC236}">
                <a16:creationId xmlns:a16="http://schemas.microsoft.com/office/drawing/2014/main" id="{84572A4C-CD8A-4A87-2A48-2A136F8071F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dirty="0">
              <a:latin typeface="Arial" panose="020B0604020202020204" pitchFamily="34" charset="0"/>
            </a:endParaRPr>
          </a:p>
        </p:txBody>
      </p:sp>
      <p:sp>
        <p:nvSpPr>
          <p:cNvPr id="24580" name="3 Marcador de número de diapositiva">
            <a:extLst>
              <a:ext uri="{FF2B5EF4-FFF2-40B4-BE49-F238E27FC236}">
                <a16:creationId xmlns:a16="http://schemas.microsoft.com/office/drawing/2014/main" id="{6301C366-BB6D-09BA-3642-83F7E3B94DD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2DEEF75-EDBD-42A6-9ABD-C10C7F2663F7}" type="slidenum">
              <a:rPr lang="es-ES" altLang="es-ES"/>
              <a:pPr>
                <a:spcBef>
                  <a:spcPct val="0"/>
                </a:spcBef>
              </a:pPr>
              <a:t>11</a:t>
            </a:fld>
            <a:endParaRPr lang="es-ES" alt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Marcador de imagen de diapositiva">
            <a:extLst>
              <a:ext uri="{FF2B5EF4-FFF2-40B4-BE49-F238E27FC236}">
                <a16:creationId xmlns:a16="http://schemas.microsoft.com/office/drawing/2014/main" id="{2C87A507-0243-58FA-FC8F-6003CE1E7227}"/>
              </a:ext>
            </a:extLst>
          </p:cNvPr>
          <p:cNvSpPr>
            <a:spLocks noGrp="1" noRot="1" noChangeAspect="1" noTextEdit="1"/>
          </p:cNvSpPr>
          <p:nvPr>
            <p:ph type="sldImg"/>
          </p:nvPr>
        </p:nvSpPr>
        <p:spPr>
          <a:ln/>
        </p:spPr>
      </p:sp>
      <p:sp>
        <p:nvSpPr>
          <p:cNvPr id="26627" name="2 Marcador de notas">
            <a:extLst>
              <a:ext uri="{FF2B5EF4-FFF2-40B4-BE49-F238E27FC236}">
                <a16:creationId xmlns:a16="http://schemas.microsoft.com/office/drawing/2014/main" id="{261BF6D7-6161-286D-FA69-661B8BF30D3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dirty="0">
              <a:latin typeface="Arial" panose="020B0604020202020204" pitchFamily="34" charset="0"/>
            </a:endParaRPr>
          </a:p>
        </p:txBody>
      </p:sp>
      <p:sp>
        <p:nvSpPr>
          <p:cNvPr id="26628" name="3 Marcador de número de diapositiva">
            <a:extLst>
              <a:ext uri="{FF2B5EF4-FFF2-40B4-BE49-F238E27FC236}">
                <a16:creationId xmlns:a16="http://schemas.microsoft.com/office/drawing/2014/main" id="{A0E39FFE-844C-AAE8-9AF4-172B8A4F19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59459C7-9A34-4798-8FA1-501DFECBBFCF}" type="slidenum">
              <a:rPr lang="es-ES" altLang="es-ES"/>
              <a:pPr>
                <a:spcBef>
                  <a:spcPct val="0"/>
                </a:spcBef>
              </a:pPr>
              <a:t>12</a:t>
            </a:fld>
            <a:endParaRPr lang="es-ES" alt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Marcador de imagen de diapositiva">
            <a:extLst>
              <a:ext uri="{FF2B5EF4-FFF2-40B4-BE49-F238E27FC236}">
                <a16:creationId xmlns:a16="http://schemas.microsoft.com/office/drawing/2014/main" id="{10CC3588-8E35-5B30-B588-F27A766CDB8C}"/>
              </a:ext>
            </a:extLst>
          </p:cNvPr>
          <p:cNvSpPr>
            <a:spLocks noGrp="1" noRot="1" noChangeAspect="1" noTextEdit="1"/>
          </p:cNvSpPr>
          <p:nvPr>
            <p:ph type="sldImg"/>
          </p:nvPr>
        </p:nvSpPr>
        <p:spPr>
          <a:ln/>
        </p:spPr>
      </p:sp>
      <p:sp>
        <p:nvSpPr>
          <p:cNvPr id="28675" name="2 Marcador de notas">
            <a:extLst>
              <a:ext uri="{FF2B5EF4-FFF2-40B4-BE49-F238E27FC236}">
                <a16:creationId xmlns:a16="http://schemas.microsoft.com/office/drawing/2014/main" id="{E66ECF63-6754-83CE-DFC6-04F7ECEF62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dirty="0">
              <a:latin typeface="Arial" panose="020B0604020202020204" pitchFamily="34" charset="0"/>
            </a:endParaRPr>
          </a:p>
        </p:txBody>
      </p:sp>
      <p:sp>
        <p:nvSpPr>
          <p:cNvPr id="28676" name="3 Marcador de número de diapositiva">
            <a:extLst>
              <a:ext uri="{FF2B5EF4-FFF2-40B4-BE49-F238E27FC236}">
                <a16:creationId xmlns:a16="http://schemas.microsoft.com/office/drawing/2014/main" id="{D0CB0ED3-CAB9-56B8-3134-55BDB1B63F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61632C4-0F7C-4C1B-936A-D48EC23070C0}" type="slidenum">
              <a:rPr lang="es-ES" altLang="es-ES"/>
              <a:pPr>
                <a:spcBef>
                  <a:spcPct val="0"/>
                </a:spcBef>
              </a:pPr>
              <a:t>13</a:t>
            </a:fld>
            <a:endParaRPr lang="es-ES" alt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Marcador de imagen de diapositiva">
            <a:extLst>
              <a:ext uri="{FF2B5EF4-FFF2-40B4-BE49-F238E27FC236}">
                <a16:creationId xmlns:a16="http://schemas.microsoft.com/office/drawing/2014/main" id="{CC6208D7-937A-50E5-DF3C-1259EC7D57F2}"/>
              </a:ext>
            </a:extLst>
          </p:cNvPr>
          <p:cNvSpPr>
            <a:spLocks noGrp="1" noRot="1" noChangeAspect="1" noTextEdit="1"/>
          </p:cNvSpPr>
          <p:nvPr>
            <p:ph type="sldImg"/>
          </p:nvPr>
        </p:nvSpPr>
        <p:spPr>
          <a:ln/>
        </p:spPr>
      </p:sp>
      <p:sp>
        <p:nvSpPr>
          <p:cNvPr id="30723" name="2 Marcador de notas">
            <a:extLst>
              <a:ext uri="{FF2B5EF4-FFF2-40B4-BE49-F238E27FC236}">
                <a16:creationId xmlns:a16="http://schemas.microsoft.com/office/drawing/2014/main" id="{680A7C7D-F504-FB28-015F-7E116BB4A9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30724" name="3 Marcador de número de diapositiva">
            <a:extLst>
              <a:ext uri="{FF2B5EF4-FFF2-40B4-BE49-F238E27FC236}">
                <a16:creationId xmlns:a16="http://schemas.microsoft.com/office/drawing/2014/main" id="{96ED2047-3ECC-042F-A0F5-0590AC1503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969AF54-1BD2-4FCF-B7EE-EB325A80AFA7}" type="slidenum">
              <a:rPr lang="es-ES" altLang="es-ES"/>
              <a:pPr>
                <a:spcBef>
                  <a:spcPct val="0"/>
                </a:spcBef>
              </a:pPr>
              <a:t>14</a:t>
            </a:fld>
            <a:endParaRPr lang="es-ES" alt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1 Marcador de imagen de diapositiva">
            <a:extLst>
              <a:ext uri="{FF2B5EF4-FFF2-40B4-BE49-F238E27FC236}">
                <a16:creationId xmlns:a16="http://schemas.microsoft.com/office/drawing/2014/main" id="{DF68A228-F8A3-90E7-BF28-7C3BC979B6D7}"/>
              </a:ext>
            </a:extLst>
          </p:cNvPr>
          <p:cNvSpPr>
            <a:spLocks noGrp="1" noRot="1" noChangeAspect="1" noTextEdit="1"/>
          </p:cNvSpPr>
          <p:nvPr>
            <p:ph type="sldImg"/>
          </p:nvPr>
        </p:nvSpPr>
        <p:spPr>
          <a:ln/>
        </p:spPr>
      </p:sp>
      <p:sp>
        <p:nvSpPr>
          <p:cNvPr id="32771" name="2 Marcador de notas">
            <a:extLst>
              <a:ext uri="{FF2B5EF4-FFF2-40B4-BE49-F238E27FC236}">
                <a16:creationId xmlns:a16="http://schemas.microsoft.com/office/drawing/2014/main" id="{4E78AA73-CF18-397E-8BB4-3F6DDD25AE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32772" name="3 Marcador de número de diapositiva">
            <a:extLst>
              <a:ext uri="{FF2B5EF4-FFF2-40B4-BE49-F238E27FC236}">
                <a16:creationId xmlns:a16="http://schemas.microsoft.com/office/drawing/2014/main" id="{317B5B3F-7ECE-D2E0-9E57-4F6D9F27293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C3C620A-6A22-4062-8922-A3A956D372FB}" type="slidenum">
              <a:rPr lang="es-ES" altLang="es-ES"/>
              <a:pPr>
                <a:spcBef>
                  <a:spcPct val="0"/>
                </a:spcBef>
              </a:pPr>
              <a:t>15</a:t>
            </a:fld>
            <a:endParaRPr lang="es-ES" alt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1 Marcador de imagen de diapositiva">
            <a:extLst>
              <a:ext uri="{FF2B5EF4-FFF2-40B4-BE49-F238E27FC236}">
                <a16:creationId xmlns:a16="http://schemas.microsoft.com/office/drawing/2014/main" id="{D8C72506-8F5D-EEFA-845E-9768D29EC8FD}"/>
              </a:ext>
            </a:extLst>
          </p:cNvPr>
          <p:cNvSpPr>
            <a:spLocks noGrp="1" noRot="1" noChangeAspect="1" noTextEdit="1"/>
          </p:cNvSpPr>
          <p:nvPr>
            <p:ph type="sldImg"/>
          </p:nvPr>
        </p:nvSpPr>
        <p:spPr>
          <a:ln/>
        </p:spPr>
      </p:sp>
      <p:sp>
        <p:nvSpPr>
          <p:cNvPr id="34819" name="2 Marcador de notas">
            <a:extLst>
              <a:ext uri="{FF2B5EF4-FFF2-40B4-BE49-F238E27FC236}">
                <a16:creationId xmlns:a16="http://schemas.microsoft.com/office/drawing/2014/main" id="{79EAD07A-1B0F-1300-5A9E-83CB40DAC8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34820" name="3 Marcador de número de diapositiva">
            <a:extLst>
              <a:ext uri="{FF2B5EF4-FFF2-40B4-BE49-F238E27FC236}">
                <a16:creationId xmlns:a16="http://schemas.microsoft.com/office/drawing/2014/main" id="{4EE872D3-7AA6-3FD6-7A74-59DB0F8647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1DB89ED-C964-48CA-B822-910CFF08C53B}" type="slidenum">
              <a:rPr lang="es-ES" altLang="es-ES"/>
              <a:pPr>
                <a:spcBef>
                  <a:spcPct val="0"/>
                </a:spcBef>
              </a:pPr>
              <a:t>16</a:t>
            </a:fld>
            <a:endParaRPr lang="es-ES" alt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1 Marcador de imagen de diapositiva">
            <a:extLst>
              <a:ext uri="{FF2B5EF4-FFF2-40B4-BE49-F238E27FC236}">
                <a16:creationId xmlns:a16="http://schemas.microsoft.com/office/drawing/2014/main" id="{8F28F611-4FD7-8B22-BE6F-8BA8A98B6D4E}"/>
              </a:ext>
            </a:extLst>
          </p:cNvPr>
          <p:cNvSpPr>
            <a:spLocks noGrp="1" noRot="1" noChangeAspect="1" noTextEdit="1"/>
          </p:cNvSpPr>
          <p:nvPr>
            <p:ph type="sldImg"/>
          </p:nvPr>
        </p:nvSpPr>
        <p:spPr>
          <a:ln/>
        </p:spPr>
      </p:sp>
      <p:sp>
        <p:nvSpPr>
          <p:cNvPr id="36867" name="2 Marcador de notas">
            <a:extLst>
              <a:ext uri="{FF2B5EF4-FFF2-40B4-BE49-F238E27FC236}">
                <a16:creationId xmlns:a16="http://schemas.microsoft.com/office/drawing/2014/main" id="{3459A164-FCB8-6A1A-830A-4F4A1B913C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36868" name="3 Marcador de número de diapositiva">
            <a:extLst>
              <a:ext uri="{FF2B5EF4-FFF2-40B4-BE49-F238E27FC236}">
                <a16:creationId xmlns:a16="http://schemas.microsoft.com/office/drawing/2014/main" id="{7DC014EA-5FB0-9B73-054C-E033A33839A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BEF14AD-505C-4465-8FF8-F9D71F69BD62}" type="slidenum">
              <a:rPr lang="es-ES" altLang="es-ES"/>
              <a:pPr>
                <a:spcBef>
                  <a:spcPct val="0"/>
                </a:spcBef>
              </a:pPr>
              <a:t>17</a:t>
            </a:fld>
            <a:endParaRPr lang="es-ES" alt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1 Marcador de imagen de diapositiva">
            <a:extLst>
              <a:ext uri="{FF2B5EF4-FFF2-40B4-BE49-F238E27FC236}">
                <a16:creationId xmlns:a16="http://schemas.microsoft.com/office/drawing/2014/main" id="{CF610B2B-7B46-CC63-EDDC-FA0DCAEC64AC}"/>
              </a:ext>
            </a:extLst>
          </p:cNvPr>
          <p:cNvSpPr>
            <a:spLocks noGrp="1" noRot="1" noChangeAspect="1" noTextEdit="1"/>
          </p:cNvSpPr>
          <p:nvPr>
            <p:ph type="sldImg"/>
          </p:nvPr>
        </p:nvSpPr>
        <p:spPr>
          <a:ln/>
        </p:spPr>
      </p:sp>
      <p:sp>
        <p:nvSpPr>
          <p:cNvPr id="38915" name="2 Marcador de notas">
            <a:extLst>
              <a:ext uri="{FF2B5EF4-FFF2-40B4-BE49-F238E27FC236}">
                <a16:creationId xmlns:a16="http://schemas.microsoft.com/office/drawing/2014/main" id="{2C7AF05F-F479-FDDB-81D7-5BC26975DE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38916" name="3 Marcador de número de diapositiva">
            <a:extLst>
              <a:ext uri="{FF2B5EF4-FFF2-40B4-BE49-F238E27FC236}">
                <a16:creationId xmlns:a16="http://schemas.microsoft.com/office/drawing/2014/main" id="{B188A04E-D99A-6F10-30CB-376505A2E75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DAB3836-8AA2-4F61-BE94-643F55E0CE59}" type="slidenum">
              <a:rPr lang="es-ES" altLang="es-ES"/>
              <a:pPr>
                <a:spcBef>
                  <a:spcPct val="0"/>
                </a:spcBef>
              </a:pPr>
              <a:t>18</a:t>
            </a:fld>
            <a:endParaRPr lang="es-ES" altLang="es-E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Marcador de imagen de diapositiva">
            <a:extLst>
              <a:ext uri="{FF2B5EF4-FFF2-40B4-BE49-F238E27FC236}">
                <a16:creationId xmlns:a16="http://schemas.microsoft.com/office/drawing/2014/main" id="{09420B56-1587-A15E-8009-7BBF180BE346}"/>
              </a:ext>
            </a:extLst>
          </p:cNvPr>
          <p:cNvSpPr>
            <a:spLocks noGrp="1" noRot="1" noChangeAspect="1" noTextEdit="1"/>
          </p:cNvSpPr>
          <p:nvPr>
            <p:ph type="sldImg"/>
          </p:nvPr>
        </p:nvSpPr>
        <p:spPr>
          <a:ln/>
        </p:spPr>
      </p:sp>
      <p:sp>
        <p:nvSpPr>
          <p:cNvPr id="40963" name="2 Marcador de notas">
            <a:extLst>
              <a:ext uri="{FF2B5EF4-FFF2-40B4-BE49-F238E27FC236}">
                <a16:creationId xmlns:a16="http://schemas.microsoft.com/office/drawing/2014/main" id="{437C01E8-FDF8-1C17-0778-ECC1889818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0964" name="3 Marcador de número de diapositiva">
            <a:extLst>
              <a:ext uri="{FF2B5EF4-FFF2-40B4-BE49-F238E27FC236}">
                <a16:creationId xmlns:a16="http://schemas.microsoft.com/office/drawing/2014/main" id="{9C0CADC8-CD5A-0F4A-EDD9-792B5039FCD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9419174-491A-4AC9-B6C6-4B2385589518}" type="slidenum">
              <a:rPr lang="es-ES" altLang="es-ES"/>
              <a:pPr>
                <a:spcBef>
                  <a:spcPct val="0"/>
                </a:spcBef>
              </a:pPr>
              <a:t>19</a:t>
            </a:fld>
            <a:endParaRPr lang="es-ES" altLang="es-E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1 Marcador de imagen de diapositiva">
            <a:extLst>
              <a:ext uri="{FF2B5EF4-FFF2-40B4-BE49-F238E27FC236}">
                <a16:creationId xmlns:a16="http://schemas.microsoft.com/office/drawing/2014/main" id="{3336C00C-CF84-8F49-7477-D5B5A235F6FE}"/>
              </a:ext>
            </a:extLst>
          </p:cNvPr>
          <p:cNvSpPr>
            <a:spLocks noGrp="1" noRot="1" noChangeAspect="1" noTextEdit="1"/>
          </p:cNvSpPr>
          <p:nvPr>
            <p:ph type="sldImg"/>
          </p:nvPr>
        </p:nvSpPr>
        <p:spPr>
          <a:ln/>
        </p:spPr>
      </p:sp>
      <p:sp>
        <p:nvSpPr>
          <p:cNvPr id="43011" name="2 Marcador de notas">
            <a:extLst>
              <a:ext uri="{FF2B5EF4-FFF2-40B4-BE49-F238E27FC236}">
                <a16:creationId xmlns:a16="http://schemas.microsoft.com/office/drawing/2014/main" id="{B9F91FC3-A2F9-964B-5185-3A3D0ABE42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3012" name="3 Marcador de número de diapositiva">
            <a:extLst>
              <a:ext uri="{FF2B5EF4-FFF2-40B4-BE49-F238E27FC236}">
                <a16:creationId xmlns:a16="http://schemas.microsoft.com/office/drawing/2014/main" id="{E980EA0D-D975-F36B-4293-D01F1E38E5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70CADBC-7637-4EAF-B3C6-54D3FB0FBE1D}" type="slidenum">
              <a:rPr lang="es-ES" altLang="es-ES"/>
              <a:pPr>
                <a:spcBef>
                  <a:spcPct val="0"/>
                </a:spcBef>
              </a:pPr>
              <a:t>20</a:t>
            </a:fld>
            <a:endParaRPr lang="es-ES" altLang="es-E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1 Marcador de imagen de diapositiva">
            <a:extLst>
              <a:ext uri="{FF2B5EF4-FFF2-40B4-BE49-F238E27FC236}">
                <a16:creationId xmlns:a16="http://schemas.microsoft.com/office/drawing/2014/main" id="{3336C00C-CF84-8F49-7477-D5B5A235F6FE}"/>
              </a:ext>
            </a:extLst>
          </p:cNvPr>
          <p:cNvSpPr>
            <a:spLocks noGrp="1" noRot="1" noChangeAspect="1" noTextEdit="1"/>
          </p:cNvSpPr>
          <p:nvPr>
            <p:ph type="sldImg"/>
          </p:nvPr>
        </p:nvSpPr>
        <p:spPr>
          <a:ln/>
        </p:spPr>
      </p:sp>
      <p:sp>
        <p:nvSpPr>
          <p:cNvPr id="43011" name="2 Marcador de notas">
            <a:extLst>
              <a:ext uri="{FF2B5EF4-FFF2-40B4-BE49-F238E27FC236}">
                <a16:creationId xmlns:a16="http://schemas.microsoft.com/office/drawing/2014/main" id="{B9F91FC3-A2F9-964B-5185-3A3D0ABE42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3012" name="3 Marcador de número de diapositiva">
            <a:extLst>
              <a:ext uri="{FF2B5EF4-FFF2-40B4-BE49-F238E27FC236}">
                <a16:creationId xmlns:a16="http://schemas.microsoft.com/office/drawing/2014/main" id="{E980EA0D-D975-F36B-4293-D01F1E38E5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70CADBC-7637-4EAF-B3C6-54D3FB0FBE1D}" type="slidenum">
              <a:rPr lang="es-ES" altLang="es-ES"/>
              <a:pPr>
                <a:spcBef>
                  <a:spcPct val="0"/>
                </a:spcBef>
              </a:pPr>
              <a:t>21</a:t>
            </a:fld>
            <a:endParaRPr lang="es-ES" altLang="es-ES"/>
          </a:p>
        </p:txBody>
      </p:sp>
    </p:spTree>
    <p:extLst>
      <p:ext uri="{BB962C8B-B14F-4D97-AF65-F5344CB8AC3E}">
        <p14:creationId xmlns:p14="http://schemas.microsoft.com/office/powerpoint/2010/main" val="2634491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1 Marcador de imagen de diapositiva">
            <a:extLst>
              <a:ext uri="{FF2B5EF4-FFF2-40B4-BE49-F238E27FC236}">
                <a16:creationId xmlns:a16="http://schemas.microsoft.com/office/drawing/2014/main" id="{5D46E35F-4B20-1716-80EB-2F4EB3477B63}"/>
              </a:ext>
            </a:extLst>
          </p:cNvPr>
          <p:cNvSpPr>
            <a:spLocks noGrp="1" noRot="1" noChangeAspect="1" noTextEdit="1"/>
          </p:cNvSpPr>
          <p:nvPr>
            <p:ph type="sldImg"/>
          </p:nvPr>
        </p:nvSpPr>
        <p:spPr>
          <a:ln/>
        </p:spPr>
      </p:sp>
      <p:sp>
        <p:nvSpPr>
          <p:cNvPr id="45059" name="2 Marcador de notas">
            <a:extLst>
              <a:ext uri="{FF2B5EF4-FFF2-40B4-BE49-F238E27FC236}">
                <a16:creationId xmlns:a16="http://schemas.microsoft.com/office/drawing/2014/main" id="{A93CBD92-6AF0-0C23-C52A-68186BFD36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5060" name="3 Marcador de número de diapositiva">
            <a:extLst>
              <a:ext uri="{FF2B5EF4-FFF2-40B4-BE49-F238E27FC236}">
                <a16:creationId xmlns:a16="http://schemas.microsoft.com/office/drawing/2014/main" id="{B1C89054-E492-9EA4-68E3-550198B150F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5395350-8CBD-4C0A-91DA-A93547FA3F09}" type="slidenum">
              <a:rPr lang="es-ES" altLang="es-ES"/>
              <a:pPr>
                <a:spcBef>
                  <a:spcPct val="0"/>
                </a:spcBef>
              </a:pPr>
              <a:t>22</a:t>
            </a:fld>
            <a:endParaRPr lang="es-ES" altLang="es-E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1 Marcador de imagen de diapositiva">
            <a:extLst>
              <a:ext uri="{FF2B5EF4-FFF2-40B4-BE49-F238E27FC236}">
                <a16:creationId xmlns:a16="http://schemas.microsoft.com/office/drawing/2014/main" id="{9EA7E0EB-1383-697B-ADFD-8BD8C17422EB}"/>
              </a:ext>
            </a:extLst>
          </p:cNvPr>
          <p:cNvSpPr>
            <a:spLocks noGrp="1" noRot="1" noChangeAspect="1" noTextEdit="1"/>
          </p:cNvSpPr>
          <p:nvPr>
            <p:ph type="sldImg"/>
          </p:nvPr>
        </p:nvSpPr>
        <p:spPr>
          <a:ln/>
        </p:spPr>
      </p:sp>
      <p:sp>
        <p:nvSpPr>
          <p:cNvPr id="47107" name="2 Marcador de notas">
            <a:extLst>
              <a:ext uri="{FF2B5EF4-FFF2-40B4-BE49-F238E27FC236}">
                <a16:creationId xmlns:a16="http://schemas.microsoft.com/office/drawing/2014/main" id="{73981B73-AF55-E6E5-FDDC-56AC90212BC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7108" name="3 Marcador de número de diapositiva">
            <a:extLst>
              <a:ext uri="{FF2B5EF4-FFF2-40B4-BE49-F238E27FC236}">
                <a16:creationId xmlns:a16="http://schemas.microsoft.com/office/drawing/2014/main" id="{34AF68C8-A240-DC9E-F8A9-50DA7055BA5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D3C61A-2D91-403C-8396-29EC5D09C4DD}" type="slidenum">
              <a:rPr lang="es-ES" altLang="es-ES"/>
              <a:pPr>
                <a:spcBef>
                  <a:spcPct val="0"/>
                </a:spcBef>
              </a:pPr>
              <a:t>23</a:t>
            </a:fld>
            <a:endParaRPr lang="es-ES" altLang="es-E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1 Marcador de imagen de diapositiva">
            <a:extLst>
              <a:ext uri="{FF2B5EF4-FFF2-40B4-BE49-F238E27FC236}">
                <a16:creationId xmlns:a16="http://schemas.microsoft.com/office/drawing/2014/main" id="{FCB2CF70-6A4C-3EA3-56C4-5B0D406FE907}"/>
              </a:ext>
            </a:extLst>
          </p:cNvPr>
          <p:cNvSpPr>
            <a:spLocks noGrp="1" noRot="1" noChangeAspect="1" noTextEdit="1"/>
          </p:cNvSpPr>
          <p:nvPr>
            <p:ph type="sldImg"/>
          </p:nvPr>
        </p:nvSpPr>
        <p:spPr>
          <a:ln/>
        </p:spPr>
      </p:sp>
      <p:sp>
        <p:nvSpPr>
          <p:cNvPr id="49155" name="2 Marcador de notas">
            <a:extLst>
              <a:ext uri="{FF2B5EF4-FFF2-40B4-BE49-F238E27FC236}">
                <a16:creationId xmlns:a16="http://schemas.microsoft.com/office/drawing/2014/main" id="{B4C2B6AA-ECE5-814D-802F-EB5CAE7EE9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49156" name="3 Marcador de número de diapositiva">
            <a:extLst>
              <a:ext uri="{FF2B5EF4-FFF2-40B4-BE49-F238E27FC236}">
                <a16:creationId xmlns:a16="http://schemas.microsoft.com/office/drawing/2014/main" id="{8CCB3E25-552C-3641-14B7-B6C54B7C378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34F180F-166D-4BAE-9413-A6B62AF491C7}" type="slidenum">
              <a:rPr lang="es-ES" altLang="es-ES"/>
              <a:pPr>
                <a:spcBef>
                  <a:spcPct val="0"/>
                </a:spcBef>
              </a:pPr>
              <a:t>24</a:t>
            </a:fld>
            <a:endParaRPr lang="es-ES" altLang="es-E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1 Marcador de imagen de diapositiva">
            <a:extLst>
              <a:ext uri="{FF2B5EF4-FFF2-40B4-BE49-F238E27FC236}">
                <a16:creationId xmlns:a16="http://schemas.microsoft.com/office/drawing/2014/main" id="{03A41020-9235-FF49-F1F9-C7094E820AA3}"/>
              </a:ext>
            </a:extLst>
          </p:cNvPr>
          <p:cNvSpPr>
            <a:spLocks noGrp="1" noRot="1" noChangeAspect="1" noTextEdit="1"/>
          </p:cNvSpPr>
          <p:nvPr>
            <p:ph type="sldImg"/>
          </p:nvPr>
        </p:nvSpPr>
        <p:spPr>
          <a:ln/>
        </p:spPr>
      </p:sp>
      <p:sp>
        <p:nvSpPr>
          <p:cNvPr id="51203" name="2 Marcador de notas">
            <a:extLst>
              <a:ext uri="{FF2B5EF4-FFF2-40B4-BE49-F238E27FC236}">
                <a16:creationId xmlns:a16="http://schemas.microsoft.com/office/drawing/2014/main" id="{11563498-D8B3-9FEC-6A5C-EC84736743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51204" name="3 Marcador de número de diapositiva">
            <a:extLst>
              <a:ext uri="{FF2B5EF4-FFF2-40B4-BE49-F238E27FC236}">
                <a16:creationId xmlns:a16="http://schemas.microsoft.com/office/drawing/2014/main" id="{AA6B184A-280C-728D-5D66-D7E2BB43740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437B30C-72A8-4705-97CC-A2031C7137AE}" type="slidenum">
              <a:rPr lang="es-ES" altLang="es-ES"/>
              <a:pPr>
                <a:spcBef>
                  <a:spcPct val="0"/>
                </a:spcBef>
              </a:pPr>
              <a:t>25</a:t>
            </a:fld>
            <a:endParaRPr lang="es-ES" altLang="es-E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1 Marcador de imagen de diapositiva">
            <a:extLst>
              <a:ext uri="{FF2B5EF4-FFF2-40B4-BE49-F238E27FC236}">
                <a16:creationId xmlns:a16="http://schemas.microsoft.com/office/drawing/2014/main" id="{B4C4F963-A343-E376-3D02-17ACE01B30B8}"/>
              </a:ext>
            </a:extLst>
          </p:cNvPr>
          <p:cNvSpPr>
            <a:spLocks noGrp="1" noRot="1" noChangeAspect="1" noTextEdit="1"/>
          </p:cNvSpPr>
          <p:nvPr>
            <p:ph type="sldImg"/>
          </p:nvPr>
        </p:nvSpPr>
        <p:spPr>
          <a:ln/>
        </p:spPr>
      </p:sp>
      <p:sp>
        <p:nvSpPr>
          <p:cNvPr id="53251" name="2 Marcador de notas">
            <a:extLst>
              <a:ext uri="{FF2B5EF4-FFF2-40B4-BE49-F238E27FC236}">
                <a16:creationId xmlns:a16="http://schemas.microsoft.com/office/drawing/2014/main" id="{65D45CA1-0446-185A-E360-68C15C528CC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53252" name="3 Marcador de número de diapositiva">
            <a:extLst>
              <a:ext uri="{FF2B5EF4-FFF2-40B4-BE49-F238E27FC236}">
                <a16:creationId xmlns:a16="http://schemas.microsoft.com/office/drawing/2014/main" id="{124F2026-8C9A-E7AD-BE7D-8715F6539CD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52F1D53-98F5-47EA-9DCD-195962718202}" type="slidenum">
              <a:rPr lang="es-ES" altLang="es-ES"/>
              <a:pPr>
                <a:spcBef>
                  <a:spcPct val="0"/>
                </a:spcBef>
              </a:pPr>
              <a:t>26</a:t>
            </a:fld>
            <a:endParaRPr lang="es-ES" altLang="es-E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1 Marcador de imagen de diapositiva">
            <a:extLst>
              <a:ext uri="{FF2B5EF4-FFF2-40B4-BE49-F238E27FC236}">
                <a16:creationId xmlns:a16="http://schemas.microsoft.com/office/drawing/2014/main" id="{4247E748-7188-5E22-BDBF-F69DCEDFEF70}"/>
              </a:ext>
            </a:extLst>
          </p:cNvPr>
          <p:cNvSpPr>
            <a:spLocks noGrp="1" noRot="1" noChangeAspect="1" noTextEdit="1"/>
          </p:cNvSpPr>
          <p:nvPr>
            <p:ph type="sldImg"/>
          </p:nvPr>
        </p:nvSpPr>
        <p:spPr>
          <a:ln/>
        </p:spPr>
      </p:sp>
      <p:sp>
        <p:nvSpPr>
          <p:cNvPr id="55299" name="2 Marcador de notas">
            <a:extLst>
              <a:ext uri="{FF2B5EF4-FFF2-40B4-BE49-F238E27FC236}">
                <a16:creationId xmlns:a16="http://schemas.microsoft.com/office/drawing/2014/main" id="{1EF2EDAA-4D67-7E2D-2ED5-21A99BCD006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ndParaRPr>
          </a:p>
        </p:txBody>
      </p:sp>
      <p:sp>
        <p:nvSpPr>
          <p:cNvPr id="55300" name="3 Marcador de número de diapositiva">
            <a:extLst>
              <a:ext uri="{FF2B5EF4-FFF2-40B4-BE49-F238E27FC236}">
                <a16:creationId xmlns:a16="http://schemas.microsoft.com/office/drawing/2014/main" id="{6FD99BF2-C889-CB23-DFE9-3B7D34204E6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99C85B3-BAE3-4DF5-A56D-E0F83D2D727F}" type="slidenum">
              <a:rPr lang="es-ES" altLang="es-ES"/>
              <a:pPr>
                <a:spcBef>
                  <a:spcPct val="0"/>
                </a:spcBef>
              </a:pPr>
              <a:t>27</a:t>
            </a:fld>
            <a:endParaRPr lang="es-ES" alt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4">
            <a:extLst>
              <a:ext uri="{FF2B5EF4-FFF2-40B4-BE49-F238E27FC236}">
                <a16:creationId xmlns:a16="http://schemas.microsoft.com/office/drawing/2014/main" id="{39EB33D7-661D-68C1-8E10-CBE04A8987D0}"/>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6E3B27AC-A089-DEE7-CDB8-D513FFAB2891}"/>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6">
            <a:extLst>
              <a:ext uri="{FF2B5EF4-FFF2-40B4-BE49-F238E27FC236}">
                <a16:creationId xmlns:a16="http://schemas.microsoft.com/office/drawing/2014/main" id="{F3C7584A-4604-C556-4815-A22D400B0692}"/>
              </a:ext>
            </a:extLst>
          </p:cNvPr>
          <p:cNvSpPr>
            <a:spLocks noGrp="1" noChangeArrowheads="1"/>
          </p:cNvSpPr>
          <p:nvPr>
            <p:ph type="sldNum" sz="quarter" idx="12"/>
          </p:nvPr>
        </p:nvSpPr>
        <p:spPr>
          <a:ln/>
        </p:spPr>
        <p:txBody>
          <a:bodyPr/>
          <a:lstStyle>
            <a:lvl1pPr>
              <a:defRPr/>
            </a:lvl1pPr>
          </a:lstStyle>
          <a:p>
            <a:fld id="{1200EC56-68B4-48D5-BAE2-4DDBAE71C2AE}" type="slidenum">
              <a:rPr lang="es-ES" altLang="es-ES"/>
              <a:pPr/>
              <a:t>‹#›</a:t>
            </a:fld>
            <a:endParaRPr lang="es-ES" altLang="es-ES"/>
          </a:p>
        </p:txBody>
      </p:sp>
    </p:spTree>
    <p:extLst>
      <p:ext uri="{BB962C8B-B14F-4D97-AF65-F5344CB8AC3E}">
        <p14:creationId xmlns:p14="http://schemas.microsoft.com/office/powerpoint/2010/main" val="8681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4">
            <a:extLst>
              <a:ext uri="{FF2B5EF4-FFF2-40B4-BE49-F238E27FC236}">
                <a16:creationId xmlns:a16="http://schemas.microsoft.com/office/drawing/2014/main" id="{8E253A7E-79E1-6967-194D-DA027366FBD4}"/>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B2A2F129-F257-E52E-772F-A4CA2D798681}"/>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6">
            <a:extLst>
              <a:ext uri="{FF2B5EF4-FFF2-40B4-BE49-F238E27FC236}">
                <a16:creationId xmlns:a16="http://schemas.microsoft.com/office/drawing/2014/main" id="{2BD7DDB4-E92B-9F56-84B0-9F86458B40F8}"/>
              </a:ext>
            </a:extLst>
          </p:cNvPr>
          <p:cNvSpPr>
            <a:spLocks noGrp="1" noChangeArrowheads="1"/>
          </p:cNvSpPr>
          <p:nvPr>
            <p:ph type="sldNum" sz="quarter" idx="12"/>
          </p:nvPr>
        </p:nvSpPr>
        <p:spPr>
          <a:ln/>
        </p:spPr>
        <p:txBody>
          <a:bodyPr/>
          <a:lstStyle>
            <a:lvl1pPr>
              <a:defRPr/>
            </a:lvl1pPr>
          </a:lstStyle>
          <a:p>
            <a:fld id="{D8F249B2-656B-44FF-A902-E306AB8510A1}" type="slidenum">
              <a:rPr lang="es-ES" altLang="es-ES"/>
              <a:pPr/>
              <a:t>‹#›</a:t>
            </a:fld>
            <a:endParaRPr lang="es-ES" altLang="es-ES"/>
          </a:p>
        </p:txBody>
      </p:sp>
    </p:spTree>
    <p:extLst>
      <p:ext uri="{BB962C8B-B14F-4D97-AF65-F5344CB8AC3E}">
        <p14:creationId xmlns:p14="http://schemas.microsoft.com/office/powerpoint/2010/main" val="728044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4">
            <a:extLst>
              <a:ext uri="{FF2B5EF4-FFF2-40B4-BE49-F238E27FC236}">
                <a16:creationId xmlns:a16="http://schemas.microsoft.com/office/drawing/2014/main" id="{C12C28F0-609E-862C-A491-C8BE06A74292}"/>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1C6C9F11-5C6C-49F5-8DEC-EABEE8DBF97D}"/>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6">
            <a:extLst>
              <a:ext uri="{FF2B5EF4-FFF2-40B4-BE49-F238E27FC236}">
                <a16:creationId xmlns:a16="http://schemas.microsoft.com/office/drawing/2014/main" id="{40E6ADF9-544B-B03E-36ED-3EECB2AA8EB1}"/>
              </a:ext>
            </a:extLst>
          </p:cNvPr>
          <p:cNvSpPr>
            <a:spLocks noGrp="1" noChangeArrowheads="1"/>
          </p:cNvSpPr>
          <p:nvPr>
            <p:ph type="sldNum" sz="quarter" idx="12"/>
          </p:nvPr>
        </p:nvSpPr>
        <p:spPr>
          <a:ln/>
        </p:spPr>
        <p:txBody>
          <a:bodyPr/>
          <a:lstStyle>
            <a:lvl1pPr>
              <a:defRPr/>
            </a:lvl1pPr>
          </a:lstStyle>
          <a:p>
            <a:fld id="{EAD602C0-4F83-4512-B934-A7430370A404}" type="slidenum">
              <a:rPr lang="es-ES" altLang="es-ES"/>
              <a:pPr/>
              <a:t>‹#›</a:t>
            </a:fld>
            <a:endParaRPr lang="es-ES" altLang="es-ES"/>
          </a:p>
        </p:txBody>
      </p:sp>
    </p:spTree>
    <p:extLst>
      <p:ext uri="{BB962C8B-B14F-4D97-AF65-F5344CB8AC3E}">
        <p14:creationId xmlns:p14="http://schemas.microsoft.com/office/powerpoint/2010/main" val="2472379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4">
            <a:extLst>
              <a:ext uri="{FF2B5EF4-FFF2-40B4-BE49-F238E27FC236}">
                <a16:creationId xmlns:a16="http://schemas.microsoft.com/office/drawing/2014/main" id="{64ADB6A6-EDF7-5EC4-278E-427D9184C6DC}"/>
              </a:ext>
            </a:extLst>
          </p:cNvPr>
          <p:cNvSpPr>
            <a:spLocks noGrp="1" noChangeArrowheads="1"/>
          </p:cNvSpPr>
          <p:nvPr>
            <p:ph type="dt" sz="half" idx="10"/>
          </p:nvPr>
        </p:nvSpPr>
        <p:spPr>
          <a:ln/>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2408FFF1-18E8-B6E2-6A0C-F3CA0D299BC8}"/>
              </a:ext>
            </a:extLst>
          </p:cNvPr>
          <p:cNvSpPr>
            <a:spLocks noGrp="1" noChangeArrowheads="1"/>
          </p:cNvSpPr>
          <p:nvPr>
            <p:ph type="ftr" sz="quarter" idx="11"/>
          </p:nvPr>
        </p:nvSpPr>
        <p:spPr>
          <a:ln/>
        </p:spPr>
        <p:txBody>
          <a:bodyPr/>
          <a:lstStyle>
            <a:lvl1pPr>
              <a:defRPr/>
            </a:lvl1pPr>
          </a:lstStyle>
          <a:p>
            <a:pPr>
              <a:defRPr/>
            </a:pPr>
            <a:endParaRPr lang="es-ES"/>
          </a:p>
        </p:txBody>
      </p:sp>
      <p:sp>
        <p:nvSpPr>
          <p:cNvPr id="7" name="Rectangle 6">
            <a:extLst>
              <a:ext uri="{FF2B5EF4-FFF2-40B4-BE49-F238E27FC236}">
                <a16:creationId xmlns:a16="http://schemas.microsoft.com/office/drawing/2014/main" id="{2BF17788-77ED-21E2-2752-84CEF1204B2C}"/>
              </a:ext>
            </a:extLst>
          </p:cNvPr>
          <p:cNvSpPr>
            <a:spLocks noGrp="1" noChangeArrowheads="1"/>
          </p:cNvSpPr>
          <p:nvPr>
            <p:ph type="sldNum" sz="quarter" idx="12"/>
          </p:nvPr>
        </p:nvSpPr>
        <p:spPr>
          <a:ln/>
        </p:spPr>
        <p:txBody>
          <a:bodyPr/>
          <a:lstStyle>
            <a:lvl1pPr>
              <a:defRPr/>
            </a:lvl1pPr>
          </a:lstStyle>
          <a:p>
            <a:fld id="{C84C920A-3E7F-4F42-83E2-B5B58B386757}" type="slidenum">
              <a:rPr lang="es-ES" altLang="es-ES"/>
              <a:pPr/>
              <a:t>‹#›</a:t>
            </a:fld>
            <a:endParaRPr lang="es-ES" altLang="es-ES"/>
          </a:p>
        </p:txBody>
      </p:sp>
    </p:spTree>
    <p:extLst>
      <p:ext uri="{BB962C8B-B14F-4D97-AF65-F5344CB8AC3E}">
        <p14:creationId xmlns:p14="http://schemas.microsoft.com/office/powerpoint/2010/main" val="153773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4">
            <a:extLst>
              <a:ext uri="{FF2B5EF4-FFF2-40B4-BE49-F238E27FC236}">
                <a16:creationId xmlns:a16="http://schemas.microsoft.com/office/drawing/2014/main" id="{A0F01E67-E2AB-13D5-E118-DC283433619A}"/>
              </a:ext>
            </a:extLst>
          </p:cNvPr>
          <p:cNvSpPr>
            <a:spLocks noGrp="1" noChangeArrowheads="1"/>
          </p:cNvSpPr>
          <p:nvPr>
            <p:ph type="dt" sz="half" idx="10"/>
          </p:nvPr>
        </p:nvSpPr>
        <p:spPr>
          <a:ln/>
        </p:spPr>
        <p:txBody>
          <a:bodyPr/>
          <a:lstStyle>
            <a:lvl1pPr>
              <a:defRPr/>
            </a:lvl1pPr>
          </a:lstStyle>
          <a:p>
            <a:pPr>
              <a:defRPr/>
            </a:pPr>
            <a:endParaRPr lang="es-ES"/>
          </a:p>
        </p:txBody>
      </p:sp>
      <p:sp>
        <p:nvSpPr>
          <p:cNvPr id="8" name="Rectangle 5">
            <a:extLst>
              <a:ext uri="{FF2B5EF4-FFF2-40B4-BE49-F238E27FC236}">
                <a16:creationId xmlns:a16="http://schemas.microsoft.com/office/drawing/2014/main" id="{1DB9E532-C0FC-F878-FC21-A09F30C14971}"/>
              </a:ext>
            </a:extLst>
          </p:cNvPr>
          <p:cNvSpPr>
            <a:spLocks noGrp="1" noChangeArrowheads="1"/>
          </p:cNvSpPr>
          <p:nvPr>
            <p:ph type="ftr" sz="quarter" idx="11"/>
          </p:nvPr>
        </p:nvSpPr>
        <p:spPr>
          <a:ln/>
        </p:spPr>
        <p:txBody>
          <a:bodyPr/>
          <a:lstStyle>
            <a:lvl1pPr>
              <a:defRPr/>
            </a:lvl1pPr>
          </a:lstStyle>
          <a:p>
            <a:pPr>
              <a:defRPr/>
            </a:pPr>
            <a:endParaRPr lang="es-ES"/>
          </a:p>
        </p:txBody>
      </p:sp>
      <p:sp>
        <p:nvSpPr>
          <p:cNvPr id="9" name="Rectangle 6">
            <a:extLst>
              <a:ext uri="{FF2B5EF4-FFF2-40B4-BE49-F238E27FC236}">
                <a16:creationId xmlns:a16="http://schemas.microsoft.com/office/drawing/2014/main" id="{2D1CC01C-395E-8AFE-7C1C-1B4FAEB76023}"/>
              </a:ext>
            </a:extLst>
          </p:cNvPr>
          <p:cNvSpPr>
            <a:spLocks noGrp="1" noChangeArrowheads="1"/>
          </p:cNvSpPr>
          <p:nvPr>
            <p:ph type="sldNum" sz="quarter" idx="12"/>
          </p:nvPr>
        </p:nvSpPr>
        <p:spPr>
          <a:ln/>
        </p:spPr>
        <p:txBody>
          <a:bodyPr/>
          <a:lstStyle>
            <a:lvl1pPr>
              <a:defRPr/>
            </a:lvl1pPr>
          </a:lstStyle>
          <a:p>
            <a:fld id="{00CED088-B712-4B3B-AA66-0D79D2121418}" type="slidenum">
              <a:rPr lang="es-ES" altLang="es-ES"/>
              <a:pPr/>
              <a:t>‹#›</a:t>
            </a:fld>
            <a:endParaRPr lang="es-ES" altLang="es-ES"/>
          </a:p>
        </p:txBody>
      </p:sp>
    </p:spTree>
    <p:extLst>
      <p:ext uri="{BB962C8B-B14F-4D97-AF65-F5344CB8AC3E}">
        <p14:creationId xmlns:p14="http://schemas.microsoft.com/office/powerpoint/2010/main" val="313584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4">
            <a:extLst>
              <a:ext uri="{FF2B5EF4-FFF2-40B4-BE49-F238E27FC236}">
                <a16:creationId xmlns:a16="http://schemas.microsoft.com/office/drawing/2014/main" id="{205B590D-E917-57DF-E0EA-25A8BFF86C08}"/>
              </a:ext>
            </a:extLst>
          </p:cNvPr>
          <p:cNvSpPr>
            <a:spLocks noGrp="1" noChangeArrowheads="1"/>
          </p:cNvSpPr>
          <p:nvPr>
            <p:ph type="dt" sz="half" idx="10"/>
          </p:nvPr>
        </p:nvSpPr>
        <p:spPr>
          <a:ln/>
        </p:spPr>
        <p:txBody>
          <a:bodyPr/>
          <a:lstStyle>
            <a:lvl1pPr>
              <a:defRPr/>
            </a:lvl1pPr>
          </a:lstStyle>
          <a:p>
            <a:pPr>
              <a:defRPr/>
            </a:pPr>
            <a:endParaRPr lang="es-ES"/>
          </a:p>
        </p:txBody>
      </p:sp>
      <p:sp>
        <p:nvSpPr>
          <p:cNvPr id="4" name="Rectangle 5">
            <a:extLst>
              <a:ext uri="{FF2B5EF4-FFF2-40B4-BE49-F238E27FC236}">
                <a16:creationId xmlns:a16="http://schemas.microsoft.com/office/drawing/2014/main" id="{6B2A73BD-90CD-234E-DF10-D77CD500C1CC}"/>
              </a:ext>
            </a:extLst>
          </p:cNvPr>
          <p:cNvSpPr>
            <a:spLocks noGrp="1" noChangeArrowheads="1"/>
          </p:cNvSpPr>
          <p:nvPr>
            <p:ph type="ftr" sz="quarter" idx="11"/>
          </p:nvPr>
        </p:nvSpPr>
        <p:spPr>
          <a:ln/>
        </p:spPr>
        <p:txBody>
          <a:bodyPr/>
          <a:lstStyle>
            <a:lvl1pPr>
              <a:defRPr/>
            </a:lvl1pPr>
          </a:lstStyle>
          <a:p>
            <a:pPr>
              <a:defRPr/>
            </a:pPr>
            <a:endParaRPr lang="es-ES"/>
          </a:p>
        </p:txBody>
      </p:sp>
      <p:sp>
        <p:nvSpPr>
          <p:cNvPr id="5" name="Rectangle 6">
            <a:extLst>
              <a:ext uri="{FF2B5EF4-FFF2-40B4-BE49-F238E27FC236}">
                <a16:creationId xmlns:a16="http://schemas.microsoft.com/office/drawing/2014/main" id="{BF895758-49F5-A02F-0EC8-7F3E2A36C218}"/>
              </a:ext>
            </a:extLst>
          </p:cNvPr>
          <p:cNvSpPr>
            <a:spLocks noGrp="1" noChangeArrowheads="1"/>
          </p:cNvSpPr>
          <p:nvPr>
            <p:ph type="sldNum" sz="quarter" idx="12"/>
          </p:nvPr>
        </p:nvSpPr>
        <p:spPr>
          <a:ln/>
        </p:spPr>
        <p:txBody>
          <a:bodyPr/>
          <a:lstStyle>
            <a:lvl1pPr>
              <a:defRPr/>
            </a:lvl1pPr>
          </a:lstStyle>
          <a:p>
            <a:fld id="{81CD7677-4096-4F28-9546-1E77DC9D4AEF}" type="slidenum">
              <a:rPr lang="es-ES" altLang="es-ES"/>
              <a:pPr/>
              <a:t>‹#›</a:t>
            </a:fld>
            <a:endParaRPr lang="es-ES" altLang="es-ES"/>
          </a:p>
        </p:txBody>
      </p:sp>
    </p:spTree>
    <p:extLst>
      <p:ext uri="{BB962C8B-B14F-4D97-AF65-F5344CB8AC3E}">
        <p14:creationId xmlns:p14="http://schemas.microsoft.com/office/powerpoint/2010/main" val="2642139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0EB0D7F-01E6-2D43-5975-625689F02532}"/>
              </a:ext>
            </a:extLst>
          </p:cNvPr>
          <p:cNvSpPr>
            <a:spLocks noGrp="1" noChangeArrowheads="1"/>
          </p:cNvSpPr>
          <p:nvPr>
            <p:ph type="dt" sz="half" idx="10"/>
          </p:nvPr>
        </p:nvSpPr>
        <p:spPr>
          <a:ln/>
        </p:spPr>
        <p:txBody>
          <a:bodyPr/>
          <a:lstStyle>
            <a:lvl1pPr>
              <a:defRPr/>
            </a:lvl1pPr>
          </a:lstStyle>
          <a:p>
            <a:pPr>
              <a:defRPr/>
            </a:pPr>
            <a:endParaRPr lang="es-ES"/>
          </a:p>
        </p:txBody>
      </p:sp>
      <p:sp>
        <p:nvSpPr>
          <p:cNvPr id="3" name="Rectangle 5">
            <a:extLst>
              <a:ext uri="{FF2B5EF4-FFF2-40B4-BE49-F238E27FC236}">
                <a16:creationId xmlns:a16="http://schemas.microsoft.com/office/drawing/2014/main" id="{B5B034F7-3369-C168-CEE5-34D5ABD37B27}"/>
              </a:ext>
            </a:extLst>
          </p:cNvPr>
          <p:cNvSpPr>
            <a:spLocks noGrp="1" noChangeArrowheads="1"/>
          </p:cNvSpPr>
          <p:nvPr>
            <p:ph type="ftr" sz="quarter" idx="11"/>
          </p:nvPr>
        </p:nvSpPr>
        <p:spPr>
          <a:ln/>
        </p:spPr>
        <p:txBody>
          <a:bodyPr/>
          <a:lstStyle>
            <a:lvl1pPr>
              <a:defRPr/>
            </a:lvl1pPr>
          </a:lstStyle>
          <a:p>
            <a:pPr>
              <a:defRPr/>
            </a:pPr>
            <a:endParaRPr lang="es-ES"/>
          </a:p>
        </p:txBody>
      </p:sp>
      <p:sp>
        <p:nvSpPr>
          <p:cNvPr id="4" name="Rectangle 6">
            <a:extLst>
              <a:ext uri="{FF2B5EF4-FFF2-40B4-BE49-F238E27FC236}">
                <a16:creationId xmlns:a16="http://schemas.microsoft.com/office/drawing/2014/main" id="{038CFB5C-2F4B-200C-13AD-CF08569A77AF}"/>
              </a:ext>
            </a:extLst>
          </p:cNvPr>
          <p:cNvSpPr>
            <a:spLocks noGrp="1" noChangeArrowheads="1"/>
          </p:cNvSpPr>
          <p:nvPr>
            <p:ph type="sldNum" sz="quarter" idx="12"/>
          </p:nvPr>
        </p:nvSpPr>
        <p:spPr>
          <a:ln/>
        </p:spPr>
        <p:txBody>
          <a:bodyPr/>
          <a:lstStyle>
            <a:lvl1pPr>
              <a:defRPr/>
            </a:lvl1pPr>
          </a:lstStyle>
          <a:p>
            <a:fld id="{5B3CA8D3-0664-42EE-BFBE-6BD13438A898}" type="slidenum">
              <a:rPr lang="es-ES" altLang="es-ES"/>
              <a:pPr/>
              <a:t>‹#›</a:t>
            </a:fld>
            <a:endParaRPr lang="es-ES" altLang="es-ES"/>
          </a:p>
        </p:txBody>
      </p:sp>
    </p:spTree>
    <p:extLst>
      <p:ext uri="{BB962C8B-B14F-4D97-AF65-F5344CB8AC3E}">
        <p14:creationId xmlns:p14="http://schemas.microsoft.com/office/powerpoint/2010/main" val="2747809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a:extLst>
              <a:ext uri="{FF2B5EF4-FFF2-40B4-BE49-F238E27FC236}">
                <a16:creationId xmlns:a16="http://schemas.microsoft.com/office/drawing/2014/main" id="{C7B37EE4-27E6-078F-25D0-BBF65B59E619}"/>
              </a:ext>
            </a:extLst>
          </p:cNvPr>
          <p:cNvSpPr>
            <a:spLocks noGrp="1" noChangeArrowheads="1"/>
          </p:cNvSpPr>
          <p:nvPr>
            <p:ph type="dt" sz="half" idx="10"/>
          </p:nvPr>
        </p:nvSpPr>
        <p:spPr>
          <a:ln/>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142677CE-7BBC-C09A-6A63-B321AF53F69F}"/>
              </a:ext>
            </a:extLst>
          </p:cNvPr>
          <p:cNvSpPr>
            <a:spLocks noGrp="1" noChangeArrowheads="1"/>
          </p:cNvSpPr>
          <p:nvPr>
            <p:ph type="ftr" sz="quarter" idx="11"/>
          </p:nvPr>
        </p:nvSpPr>
        <p:spPr>
          <a:ln/>
        </p:spPr>
        <p:txBody>
          <a:bodyPr/>
          <a:lstStyle>
            <a:lvl1pPr>
              <a:defRPr/>
            </a:lvl1pPr>
          </a:lstStyle>
          <a:p>
            <a:pPr>
              <a:defRPr/>
            </a:pPr>
            <a:endParaRPr lang="es-ES"/>
          </a:p>
        </p:txBody>
      </p:sp>
      <p:sp>
        <p:nvSpPr>
          <p:cNvPr id="7" name="Rectangle 6">
            <a:extLst>
              <a:ext uri="{FF2B5EF4-FFF2-40B4-BE49-F238E27FC236}">
                <a16:creationId xmlns:a16="http://schemas.microsoft.com/office/drawing/2014/main" id="{BD8794F3-214C-EA97-2ADA-4A9DFDE3C90C}"/>
              </a:ext>
            </a:extLst>
          </p:cNvPr>
          <p:cNvSpPr>
            <a:spLocks noGrp="1" noChangeArrowheads="1"/>
          </p:cNvSpPr>
          <p:nvPr>
            <p:ph type="sldNum" sz="quarter" idx="12"/>
          </p:nvPr>
        </p:nvSpPr>
        <p:spPr>
          <a:ln/>
        </p:spPr>
        <p:txBody>
          <a:bodyPr/>
          <a:lstStyle>
            <a:lvl1pPr>
              <a:defRPr/>
            </a:lvl1pPr>
          </a:lstStyle>
          <a:p>
            <a:fld id="{F8EF7716-B259-43F5-B28C-5C470121B5A9}" type="slidenum">
              <a:rPr lang="es-ES" altLang="es-ES"/>
              <a:pPr/>
              <a:t>‹#›</a:t>
            </a:fld>
            <a:endParaRPr lang="es-ES" altLang="es-ES"/>
          </a:p>
        </p:txBody>
      </p:sp>
    </p:spTree>
    <p:extLst>
      <p:ext uri="{BB962C8B-B14F-4D97-AF65-F5344CB8AC3E}">
        <p14:creationId xmlns:p14="http://schemas.microsoft.com/office/powerpoint/2010/main" val="2567971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a:extLst>
              <a:ext uri="{FF2B5EF4-FFF2-40B4-BE49-F238E27FC236}">
                <a16:creationId xmlns:a16="http://schemas.microsoft.com/office/drawing/2014/main" id="{6EC958A7-2AFA-DB32-A730-B154F1F46419}"/>
              </a:ext>
            </a:extLst>
          </p:cNvPr>
          <p:cNvSpPr>
            <a:spLocks noGrp="1" noChangeArrowheads="1"/>
          </p:cNvSpPr>
          <p:nvPr>
            <p:ph type="dt" sz="half" idx="10"/>
          </p:nvPr>
        </p:nvSpPr>
        <p:spPr>
          <a:ln/>
        </p:spPr>
        <p:txBody>
          <a:bodyPr/>
          <a:lstStyle>
            <a:lvl1pPr>
              <a:defRPr/>
            </a:lvl1pPr>
          </a:lstStyle>
          <a:p>
            <a:pPr>
              <a:defRPr/>
            </a:pPr>
            <a:endParaRPr lang="es-ES"/>
          </a:p>
        </p:txBody>
      </p:sp>
      <p:sp>
        <p:nvSpPr>
          <p:cNvPr id="6" name="Rectangle 5">
            <a:extLst>
              <a:ext uri="{FF2B5EF4-FFF2-40B4-BE49-F238E27FC236}">
                <a16:creationId xmlns:a16="http://schemas.microsoft.com/office/drawing/2014/main" id="{49208C5B-BCB4-C888-FACE-CF158C06B32B}"/>
              </a:ext>
            </a:extLst>
          </p:cNvPr>
          <p:cNvSpPr>
            <a:spLocks noGrp="1" noChangeArrowheads="1"/>
          </p:cNvSpPr>
          <p:nvPr>
            <p:ph type="ftr" sz="quarter" idx="11"/>
          </p:nvPr>
        </p:nvSpPr>
        <p:spPr>
          <a:ln/>
        </p:spPr>
        <p:txBody>
          <a:bodyPr/>
          <a:lstStyle>
            <a:lvl1pPr>
              <a:defRPr/>
            </a:lvl1pPr>
          </a:lstStyle>
          <a:p>
            <a:pPr>
              <a:defRPr/>
            </a:pPr>
            <a:endParaRPr lang="es-ES"/>
          </a:p>
        </p:txBody>
      </p:sp>
      <p:sp>
        <p:nvSpPr>
          <p:cNvPr id="7" name="Rectangle 6">
            <a:extLst>
              <a:ext uri="{FF2B5EF4-FFF2-40B4-BE49-F238E27FC236}">
                <a16:creationId xmlns:a16="http://schemas.microsoft.com/office/drawing/2014/main" id="{5ECA4F93-2CCD-D7A9-820F-3025A482426A}"/>
              </a:ext>
            </a:extLst>
          </p:cNvPr>
          <p:cNvSpPr>
            <a:spLocks noGrp="1" noChangeArrowheads="1"/>
          </p:cNvSpPr>
          <p:nvPr>
            <p:ph type="sldNum" sz="quarter" idx="12"/>
          </p:nvPr>
        </p:nvSpPr>
        <p:spPr>
          <a:ln/>
        </p:spPr>
        <p:txBody>
          <a:bodyPr/>
          <a:lstStyle>
            <a:lvl1pPr>
              <a:defRPr/>
            </a:lvl1pPr>
          </a:lstStyle>
          <a:p>
            <a:fld id="{67CA4D4D-CDCF-49F2-A17A-AB9C363B4726}" type="slidenum">
              <a:rPr lang="es-ES" altLang="es-ES"/>
              <a:pPr/>
              <a:t>‹#›</a:t>
            </a:fld>
            <a:endParaRPr lang="es-ES" altLang="es-ES"/>
          </a:p>
        </p:txBody>
      </p:sp>
    </p:spTree>
    <p:extLst>
      <p:ext uri="{BB962C8B-B14F-4D97-AF65-F5344CB8AC3E}">
        <p14:creationId xmlns:p14="http://schemas.microsoft.com/office/powerpoint/2010/main" val="2094627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4">
            <a:extLst>
              <a:ext uri="{FF2B5EF4-FFF2-40B4-BE49-F238E27FC236}">
                <a16:creationId xmlns:a16="http://schemas.microsoft.com/office/drawing/2014/main" id="{DDC0992F-BA2F-BEAA-5D7F-ACB5E2047035}"/>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2C9B0DA6-EF1E-1DA9-5307-0F1700E678D3}"/>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6">
            <a:extLst>
              <a:ext uri="{FF2B5EF4-FFF2-40B4-BE49-F238E27FC236}">
                <a16:creationId xmlns:a16="http://schemas.microsoft.com/office/drawing/2014/main" id="{FF7DF037-2900-E110-3225-2DC5E182F28F}"/>
              </a:ext>
            </a:extLst>
          </p:cNvPr>
          <p:cNvSpPr>
            <a:spLocks noGrp="1" noChangeArrowheads="1"/>
          </p:cNvSpPr>
          <p:nvPr>
            <p:ph type="sldNum" sz="quarter" idx="12"/>
          </p:nvPr>
        </p:nvSpPr>
        <p:spPr>
          <a:ln/>
        </p:spPr>
        <p:txBody>
          <a:bodyPr/>
          <a:lstStyle>
            <a:lvl1pPr>
              <a:defRPr/>
            </a:lvl1pPr>
          </a:lstStyle>
          <a:p>
            <a:fld id="{177326A5-7D68-422B-B40F-E2C34FCAA227}" type="slidenum">
              <a:rPr lang="es-ES" altLang="es-ES"/>
              <a:pPr/>
              <a:t>‹#›</a:t>
            </a:fld>
            <a:endParaRPr lang="es-ES" altLang="es-ES"/>
          </a:p>
        </p:txBody>
      </p:sp>
    </p:spTree>
    <p:extLst>
      <p:ext uri="{BB962C8B-B14F-4D97-AF65-F5344CB8AC3E}">
        <p14:creationId xmlns:p14="http://schemas.microsoft.com/office/powerpoint/2010/main" val="65716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4">
            <a:extLst>
              <a:ext uri="{FF2B5EF4-FFF2-40B4-BE49-F238E27FC236}">
                <a16:creationId xmlns:a16="http://schemas.microsoft.com/office/drawing/2014/main" id="{A8063C48-7382-35CF-4E3E-334F261424E7}"/>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5">
            <a:extLst>
              <a:ext uri="{FF2B5EF4-FFF2-40B4-BE49-F238E27FC236}">
                <a16:creationId xmlns:a16="http://schemas.microsoft.com/office/drawing/2014/main" id="{BE93B510-A7A2-1165-FDD4-EA1811B09687}"/>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6">
            <a:extLst>
              <a:ext uri="{FF2B5EF4-FFF2-40B4-BE49-F238E27FC236}">
                <a16:creationId xmlns:a16="http://schemas.microsoft.com/office/drawing/2014/main" id="{50E23431-9104-5145-F53E-E25479F1026D}"/>
              </a:ext>
            </a:extLst>
          </p:cNvPr>
          <p:cNvSpPr>
            <a:spLocks noGrp="1" noChangeArrowheads="1"/>
          </p:cNvSpPr>
          <p:nvPr>
            <p:ph type="sldNum" sz="quarter" idx="12"/>
          </p:nvPr>
        </p:nvSpPr>
        <p:spPr>
          <a:ln/>
        </p:spPr>
        <p:txBody>
          <a:bodyPr/>
          <a:lstStyle>
            <a:lvl1pPr>
              <a:defRPr/>
            </a:lvl1pPr>
          </a:lstStyle>
          <a:p>
            <a:fld id="{194F0B4E-517B-41D2-B62F-F5628F05FB9D}" type="slidenum">
              <a:rPr lang="es-ES" altLang="es-ES"/>
              <a:pPr/>
              <a:t>‹#›</a:t>
            </a:fld>
            <a:endParaRPr lang="es-ES" altLang="es-ES"/>
          </a:p>
        </p:txBody>
      </p:sp>
    </p:spTree>
    <p:extLst>
      <p:ext uri="{BB962C8B-B14F-4D97-AF65-F5344CB8AC3E}">
        <p14:creationId xmlns:p14="http://schemas.microsoft.com/office/powerpoint/2010/main" val="2721259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7E42EAE-E1AF-82CB-95A1-835DDBCF28FD}"/>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ES"/>
              <a:t>Haga clic para cambiar el estilo de título	</a:t>
            </a:r>
          </a:p>
        </p:txBody>
      </p:sp>
      <p:sp>
        <p:nvSpPr>
          <p:cNvPr id="1027" name="Rectangle 3">
            <a:extLst>
              <a:ext uri="{FF2B5EF4-FFF2-40B4-BE49-F238E27FC236}">
                <a16:creationId xmlns:a16="http://schemas.microsoft.com/office/drawing/2014/main" id="{5261A88B-574F-C64E-5A3A-680A8248F69B}"/>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ES"/>
              <a:t>Haga clic para modificar el estilo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p>
        </p:txBody>
      </p:sp>
      <p:sp>
        <p:nvSpPr>
          <p:cNvPr id="1028" name="Rectangle 4">
            <a:extLst>
              <a:ext uri="{FF2B5EF4-FFF2-40B4-BE49-F238E27FC236}">
                <a16:creationId xmlns:a16="http://schemas.microsoft.com/office/drawing/2014/main" id="{52B2EF10-CEA7-8721-D00E-81C58824B79E}"/>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s-ES"/>
          </a:p>
        </p:txBody>
      </p:sp>
      <p:sp>
        <p:nvSpPr>
          <p:cNvPr id="1029" name="Rectangle 5">
            <a:extLst>
              <a:ext uri="{FF2B5EF4-FFF2-40B4-BE49-F238E27FC236}">
                <a16:creationId xmlns:a16="http://schemas.microsoft.com/office/drawing/2014/main" id="{B10A9F2D-8824-BF1D-4C42-2667CC8AE29B}"/>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s-ES"/>
          </a:p>
        </p:txBody>
      </p:sp>
      <p:sp>
        <p:nvSpPr>
          <p:cNvPr id="1030" name="Rectangle 6">
            <a:extLst>
              <a:ext uri="{FF2B5EF4-FFF2-40B4-BE49-F238E27FC236}">
                <a16:creationId xmlns:a16="http://schemas.microsoft.com/office/drawing/2014/main" id="{3C7E8C95-5ACF-F6C1-8AEB-C7D9A18E6ACE}"/>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95F6C2EE-8119-481F-8B69-B8DAD1E9E217}" type="slidenum">
              <a:rPr lang="es-ES" altLang="es-ES"/>
              <a:pPr/>
              <a:t>‹#›</a:t>
            </a:fld>
            <a:endParaRPr lang="es-ES" alt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hyperlink" Target="http://es.wikipedia.org/wiki/Estado" TargetMode="External"/><Relationship Id="rId3" Type="http://schemas.openxmlformats.org/officeDocument/2006/relationships/image" Target="../media/image1.png"/><Relationship Id="rId7" Type="http://schemas.openxmlformats.org/officeDocument/2006/relationships/hyperlink" Target="http://es.wikipedia.org/wiki/Administraci%C3%B3n_de_Empresa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es.wikipedia.org/wiki/Organizaci%C3%B3n" TargetMode="External"/><Relationship Id="rId5" Type="http://schemas.openxmlformats.org/officeDocument/2006/relationships/hyperlink" Target="http://es.wikipedia.org/wiki/Lat%C3%ADn" TargetMode="External"/><Relationship Id="rId4" Type="http://schemas.openxmlformats.org/officeDocument/2006/relationships/image" Target="../media/image2.jpeg"/><Relationship Id="rId9" Type="http://schemas.openxmlformats.org/officeDocument/2006/relationships/hyperlink" Target="http://es.wikipedia.org/wiki/Ente_p%C3%BAblico"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noticias.juridicas.com/base_datos/Admin/constitucion.tp.html#a2" TargetMode="Externa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8" Type="http://schemas.openxmlformats.org/officeDocument/2006/relationships/hyperlink" Target="https://es.wikipedia.org/wiki/Instituto_Nacional_de_Estad%C3%ADstica_(Espa%C3%B1a)" TargetMode="External"/><Relationship Id="rId3" Type="http://schemas.openxmlformats.org/officeDocument/2006/relationships/image" Target="../media/image1.png"/><Relationship Id="rId7" Type="http://schemas.openxmlformats.org/officeDocument/2006/relationships/hyperlink" Target="https://es.wikipedia.org/wiki/Inspecci%C3%B3n_de_Trabajo_y_Seguridad_Social"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es.wikipedia.org/wiki/Consejo_Superior_de_Deportes" TargetMode="External"/><Relationship Id="rId11" Type="http://schemas.openxmlformats.org/officeDocument/2006/relationships/hyperlink" Target="https://es.wikipedia.org/wiki/Real_Patronato_sobre_Discapacidad" TargetMode="External"/><Relationship Id="rId5" Type="http://schemas.openxmlformats.org/officeDocument/2006/relationships/hyperlink" Target="https://es.wikipedia.org/wiki/Centro_de_Investigaciones_Sociol%C3%B3gicas" TargetMode="External"/><Relationship Id="rId10" Type="http://schemas.openxmlformats.org/officeDocument/2006/relationships/hyperlink" Target="https://es.wikipedia.org/wiki/Muface" TargetMode="External"/><Relationship Id="rId4" Type="http://schemas.openxmlformats.org/officeDocument/2006/relationships/image" Target="../media/image2.jpeg"/><Relationship Id="rId9" Type="http://schemas.openxmlformats.org/officeDocument/2006/relationships/hyperlink" Target="https://es.wikipedia.org/wiki/Instituto_de_la_Cinematograf%C3%ADa_y_de_las_Artes_Audiovisuales"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es.wikipedia.org/wiki/Sociedad_de_Salvamento_y_Seguridad_Mar%C3%ADtima" TargetMode="External"/><Relationship Id="rId13" Type="http://schemas.openxmlformats.org/officeDocument/2006/relationships/hyperlink" Target="https://es.wikipedia.org/wiki/ENAIRE" TargetMode="External"/><Relationship Id="rId3" Type="http://schemas.openxmlformats.org/officeDocument/2006/relationships/image" Target="../media/image1.png"/><Relationship Id="rId7" Type="http://schemas.openxmlformats.org/officeDocument/2006/relationships/hyperlink" Target="https://es.wikipedia.org/wiki/F%C3%A1brica_Nacional_de_Moneda_y_Timbre" TargetMode="External"/><Relationship Id="rId12" Type="http://schemas.openxmlformats.org/officeDocument/2006/relationships/hyperlink" Target="https://es.wikipedia.org/wiki/Instituto_Espa%C3%B1ol_de_Comercio_Exterior"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es.wikipedia.org/wiki/Centro_para_el_Desarrollo_Tecnol%C3%B3gico_y_la_Innovaci%C3%B3n" TargetMode="External"/><Relationship Id="rId11" Type="http://schemas.openxmlformats.org/officeDocument/2006/relationships/hyperlink" Target="https://es.wikipedia.org/wiki/Instituto_de_Cr%C3%A9dito_Oficial" TargetMode="External"/><Relationship Id="rId5" Type="http://schemas.openxmlformats.org/officeDocument/2006/relationships/hyperlink" Target="https://es.wikipedia.org/wiki/Adif" TargetMode="External"/><Relationship Id="rId15" Type="http://schemas.openxmlformats.org/officeDocument/2006/relationships/hyperlink" Target="https://es.wikipedia.org/wiki/Renfe" TargetMode="External"/><Relationship Id="rId10" Type="http://schemas.openxmlformats.org/officeDocument/2006/relationships/hyperlink" Target="https://es.wikipedia.org/wiki/Sociedad_Estatal_de_Participaciones_Industriales" TargetMode="External"/><Relationship Id="rId4" Type="http://schemas.openxmlformats.org/officeDocument/2006/relationships/image" Target="../media/image2.jpeg"/><Relationship Id="rId9" Type="http://schemas.openxmlformats.org/officeDocument/2006/relationships/hyperlink" Target="https://es.wikipedia.org/wiki/Entidad_P%C3%BAblica_Empresarial_de_Suelo" TargetMode="External"/><Relationship Id="rId14" Type="http://schemas.openxmlformats.org/officeDocument/2006/relationships/hyperlink" Target="https://es.wikipedia.org/wiki/AENA"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es.wikipedia.org/wiki/Agencia_Estatal_Antidopaje" TargetMode="External"/><Relationship Id="rId3" Type="http://schemas.openxmlformats.org/officeDocument/2006/relationships/image" Target="../media/image1.png"/><Relationship Id="rId7" Type="http://schemas.openxmlformats.org/officeDocument/2006/relationships/hyperlink" Target="https://es.wikipedia.org/wiki/Agencia_Espa%C3%B1ola_de_Supervisi%C3%B3n_de_la_Inteligencia_Artificial"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es.wikipedia.org/wiki/Agencia_Espa%C3%B1ola_de_Medicamentos_y_Productos_Sanitarios" TargetMode="External"/><Relationship Id="rId11" Type="http://schemas.openxmlformats.org/officeDocument/2006/relationships/hyperlink" Target="https://es.wikipedia.org/wiki/Agencia_Estatal_de_Meteorolog%C3%ADa" TargetMode="External"/><Relationship Id="rId5" Type="http://schemas.openxmlformats.org/officeDocument/2006/relationships/hyperlink" Target="https://es.wikipedia.org/wiki/Agencia_Espa%C3%B1ola_de_Cooperaci%C3%B3n_Internacional_para_el_Desarrollo" TargetMode="External"/><Relationship Id="rId10" Type="http://schemas.openxmlformats.org/officeDocument/2006/relationships/hyperlink" Target="https://es.wikipedia.org/wiki/Agencia_Estatal_de_Investigaci%C3%B3n" TargetMode="External"/><Relationship Id="rId4" Type="http://schemas.openxmlformats.org/officeDocument/2006/relationships/image" Target="../media/image2.jpeg"/><Relationship Id="rId9" Type="http://schemas.openxmlformats.org/officeDocument/2006/relationships/hyperlink" Target="https://es.wikipedia.org/wiki/Agencia_Estatal_Bolet%C3%ADn_Oficial_del_Estado"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es.wikipedia.org/wiki/Consejo_de_Seguridad_Nuclear" TargetMode="External"/><Relationship Id="rId3" Type="http://schemas.openxmlformats.org/officeDocument/2006/relationships/image" Target="../media/image1.png"/><Relationship Id="rId7" Type="http://schemas.openxmlformats.org/officeDocument/2006/relationships/hyperlink" Target="https://es.wikipedia.org/wiki/Comisi%C3%B3n_Nacional_del_Mercado_de_Valores"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es.wikipedia.org/wiki/Comisi%C3%B3n_Nacional_de_los_Mercados_y_la_Competencia" TargetMode="External"/><Relationship Id="rId11" Type="http://schemas.openxmlformats.org/officeDocument/2006/relationships/hyperlink" Target="https://es.wikipedia.org/wiki/Fondo_de_Reestructuraci%C3%B3n_Ordenada_Bancaria" TargetMode="External"/><Relationship Id="rId5" Type="http://schemas.openxmlformats.org/officeDocument/2006/relationships/hyperlink" Target="https://es.wikipedia.org/wiki/Agencia_Espa%C3%B1ola_de_Protecci%C3%B3n_de_Datos" TargetMode="External"/><Relationship Id="rId10" Type="http://schemas.openxmlformats.org/officeDocument/2006/relationships/hyperlink" Target="https://es.wikipedia.org/wiki/Autoridad_Independiente_de_Responsabilidad_Fiscal" TargetMode="External"/><Relationship Id="rId4" Type="http://schemas.openxmlformats.org/officeDocument/2006/relationships/image" Target="../media/image2.jpeg"/><Relationship Id="rId9" Type="http://schemas.openxmlformats.org/officeDocument/2006/relationships/hyperlink" Target="https://es.wikipedia.org/wiki/Consejo_de_Transparencia_y_Buen_Gobierno"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a:extLst>
              <a:ext uri="{FF2B5EF4-FFF2-40B4-BE49-F238E27FC236}">
                <a16:creationId xmlns:a16="http://schemas.microsoft.com/office/drawing/2014/main" id="{CF37BDE0-9113-DEAF-472B-BA266E0847CE}"/>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075" name="Rectangle 5">
            <a:extLst>
              <a:ext uri="{FF2B5EF4-FFF2-40B4-BE49-F238E27FC236}">
                <a16:creationId xmlns:a16="http://schemas.microsoft.com/office/drawing/2014/main" id="{18A7C393-5670-C5E0-FE14-47426FCE8B98}"/>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3076" name="Picture 6" descr="cefcorp_logo">
            <a:extLst>
              <a:ext uri="{FF2B5EF4-FFF2-40B4-BE49-F238E27FC236}">
                <a16:creationId xmlns:a16="http://schemas.microsoft.com/office/drawing/2014/main" id="{35D8184E-D84C-F0B2-8F50-44DBC805F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18" descr="logo-udima-horizontal-COLOR">
            <a:extLst>
              <a:ext uri="{FF2B5EF4-FFF2-40B4-BE49-F238E27FC236}">
                <a16:creationId xmlns:a16="http://schemas.microsoft.com/office/drawing/2014/main" id="{E0F36FBE-2048-9241-25CF-704089D530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Imagen 3">
            <a:extLst>
              <a:ext uri="{FF2B5EF4-FFF2-40B4-BE49-F238E27FC236}">
                <a16:creationId xmlns:a16="http://schemas.microsoft.com/office/drawing/2014/main" id="{4F5BAB42-7931-C149-8B09-BD090091AC3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4213" y="1081088"/>
            <a:ext cx="8459787" cy="530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CuadroTexto 1">
            <a:extLst>
              <a:ext uri="{FF2B5EF4-FFF2-40B4-BE49-F238E27FC236}">
                <a16:creationId xmlns:a16="http://schemas.microsoft.com/office/drawing/2014/main" id="{CD3BD3D0-CB3C-7D1F-AF8F-92F6F0E9A9B4}"/>
              </a:ext>
            </a:extLst>
          </p:cNvPr>
          <p:cNvSpPr txBox="1">
            <a:spLocks noChangeArrowheads="1"/>
          </p:cNvSpPr>
          <p:nvPr/>
        </p:nvSpPr>
        <p:spPr bwMode="auto">
          <a:xfrm>
            <a:off x="2700338" y="5373688"/>
            <a:ext cx="39592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006600"/>
                </a:solidFill>
              </a:rPr>
              <a:t>La Administración Pública Española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B8D56699-2CEB-C9A5-EE9F-C69AA7E9462C}"/>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123" name="Picture 5" descr="cefcorp_logo">
            <a:extLst>
              <a:ext uri="{FF2B5EF4-FFF2-40B4-BE49-F238E27FC236}">
                <a16:creationId xmlns:a16="http://schemas.microsoft.com/office/drawing/2014/main" id="{42D2CF72-4D68-52EC-0A66-1768A10B56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6">
            <a:extLst>
              <a:ext uri="{FF2B5EF4-FFF2-40B4-BE49-F238E27FC236}">
                <a16:creationId xmlns:a16="http://schemas.microsoft.com/office/drawing/2014/main" id="{37DD24CA-D6A9-88B5-7743-76900597FFB6}"/>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125" name="Text Box 21">
            <a:extLst>
              <a:ext uri="{FF2B5EF4-FFF2-40B4-BE49-F238E27FC236}">
                <a16:creationId xmlns:a16="http://schemas.microsoft.com/office/drawing/2014/main" id="{78C379F7-55E9-75AA-3202-8B059D87E000}"/>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126" name="Text Box 22">
            <a:extLst>
              <a:ext uri="{FF2B5EF4-FFF2-40B4-BE49-F238E27FC236}">
                <a16:creationId xmlns:a16="http://schemas.microsoft.com/office/drawing/2014/main" id="{7673A23E-F8FD-FEA0-DD96-2825568992D7}"/>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127" name="Picture 26" descr="logo-udima-horizontal-COLOR">
            <a:extLst>
              <a:ext uri="{FF2B5EF4-FFF2-40B4-BE49-F238E27FC236}">
                <a16:creationId xmlns:a16="http://schemas.microsoft.com/office/drawing/2014/main" id="{AB3A924B-C3F0-0E13-C931-6E1C74915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Rectángulo 1">
            <a:extLst>
              <a:ext uri="{FF2B5EF4-FFF2-40B4-BE49-F238E27FC236}">
                <a16:creationId xmlns:a16="http://schemas.microsoft.com/office/drawing/2014/main" id="{109BB841-D443-E6EB-F9B4-6AAB377F5B3E}"/>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129" name="CuadroTexto 3">
            <a:extLst>
              <a:ext uri="{FF2B5EF4-FFF2-40B4-BE49-F238E27FC236}">
                <a16:creationId xmlns:a16="http://schemas.microsoft.com/office/drawing/2014/main" id="{0FB99F23-77A4-1729-FAE9-0C4D48B99CD8}"/>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Pública Española</a:t>
            </a:r>
          </a:p>
        </p:txBody>
      </p:sp>
      <p:sp>
        <p:nvSpPr>
          <p:cNvPr id="5130" name="Rectángulo 1">
            <a:extLst>
              <a:ext uri="{FF2B5EF4-FFF2-40B4-BE49-F238E27FC236}">
                <a16:creationId xmlns:a16="http://schemas.microsoft.com/office/drawing/2014/main" id="{7BD27F5E-1717-3C57-82F9-D1DDCD5CBC36}"/>
              </a:ext>
            </a:extLst>
          </p:cNvPr>
          <p:cNvSpPr>
            <a:spLocks noChangeArrowheads="1"/>
          </p:cNvSpPr>
          <p:nvPr/>
        </p:nvSpPr>
        <p:spPr bwMode="auto">
          <a:xfrm>
            <a:off x="1403350" y="2300288"/>
            <a:ext cx="6697663"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s-ES_tradnl" altLang="es-ES" sz="3600" b="1">
                <a:solidFill>
                  <a:schemeClr val="hlink"/>
                </a:solidFill>
              </a:rPr>
              <a:t>Una visión  simplificada de la </a:t>
            </a:r>
          </a:p>
          <a:p>
            <a:pPr algn="ctr" eaLnBrk="1" hangingPunct="1">
              <a:spcBef>
                <a:spcPct val="0"/>
              </a:spcBef>
              <a:buFontTx/>
              <a:buNone/>
            </a:pPr>
            <a:r>
              <a:rPr lang="es-ES_tradnl" altLang="es-ES" sz="3600" b="1">
                <a:solidFill>
                  <a:schemeClr val="hlink"/>
                </a:solidFill>
              </a:rPr>
              <a:t>Administración Pública Española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a:extLst>
              <a:ext uri="{FF2B5EF4-FFF2-40B4-BE49-F238E27FC236}">
                <a16:creationId xmlns:a16="http://schemas.microsoft.com/office/drawing/2014/main" id="{06DE474A-3A16-9CEF-9107-352C210B6941}"/>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7171" name="Picture 5" descr="cefcorp_logo">
            <a:extLst>
              <a:ext uri="{FF2B5EF4-FFF2-40B4-BE49-F238E27FC236}">
                <a16:creationId xmlns:a16="http://schemas.microsoft.com/office/drawing/2014/main" id="{392A80CC-7F16-B512-5586-B2FBA49E6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Rectangle 6">
            <a:extLst>
              <a:ext uri="{FF2B5EF4-FFF2-40B4-BE49-F238E27FC236}">
                <a16:creationId xmlns:a16="http://schemas.microsoft.com/office/drawing/2014/main" id="{BF653797-06D9-094B-D3B8-8D9DA0DECF4D}"/>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7173" name="Text Box 21">
            <a:extLst>
              <a:ext uri="{FF2B5EF4-FFF2-40B4-BE49-F238E27FC236}">
                <a16:creationId xmlns:a16="http://schemas.microsoft.com/office/drawing/2014/main" id="{8FCBF4B4-AB5E-74B4-F6EF-117ABFA2F595}"/>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7174" name="Text Box 22">
            <a:extLst>
              <a:ext uri="{FF2B5EF4-FFF2-40B4-BE49-F238E27FC236}">
                <a16:creationId xmlns:a16="http://schemas.microsoft.com/office/drawing/2014/main" id="{AF80B969-4A87-337D-91AF-FE58F0EEEDD8}"/>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7175" name="Picture 26" descr="logo-udima-horizontal-COLOR">
            <a:extLst>
              <a:ext uri="{FF2B5EF4-FFF2-40B4-BE49-F238E27FC236}">
                <a16:creationId xmlns:a16="http://schemas.microsoft.com/office/drawing/2014/main" id="{4AD17A74-9641-D51D-32C0-1E8E117FFC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CuadroTexto 3">
            <a:extLst>
              <a:ext uri="{FF2B5EF4-FFF2-40B4-BE49-F238E27FC236}">
                <a16:creationId xmlns:a16="http://schemas.microsoft.com/office/drawing/2014/main" id="{6DB034B8-DA47-5817-2AA1-D3C116EEAAE0}"/>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Pública Española</a:t>
            </a:r>
          </a:p>
        </p:txBody>
      </p:sp>
      <p:sp>
        <p:nvSpPr>
          <p:cNvPr id="2" name="Rectángulo 1">
            <a:extLst>
              <a:ext uri="{FF2B5EF4-FFF2-40B4-BE49-F238E27FC236}">
                <a16:creationId xmlns:a16="http://schemas.microsoft.com/office/drawing/2014/main" id="{0A365B50-38A4-5848-1AF0-BBFE9E18458E}"/>
              </a:ext>
            </a:extLst>
          </p:cNvPr>
          <p:cNvSpPr/>
          <p:nvPr/>
        </p:nvSpPr>
        <p:spPr>
          <a:xfrm>
            <a:off x="323850" y="1055688"/>
            <a:ext cx="8496300" cy="4918075"/>
          </a:xfrm>
          <a:prstGeom prst="rect">
            <a:avLst/>
          </a:prstGeom>
          <a:ln w="57150">
            <a:solidFill>
              <a:srgbClr val="7030A0"/>
            </a:solidFill>
          </a:ln>
        </p:spPr>
        <p:txBody>
          <a:bodyPr>
            <a:spAutoFit/>
          </a:bodyPr>
          <a:lstStyle/>
          <a:p>
            <a:pPr algn="just">
              <a:defRPr/>
            </a:pPr>
            <a:r>
              <a:rPr lang="es-ES" sz="1600" dirty="0"/>
              <a:t>La palabra </a:t>
            </a:r>
            <a:r>
              <a:rPr lang="es-ES" sz="1600" b="1" dirty="0">
                <a:solidFill>
                  <a:srgbClr val="660033"/>
                </a:solidFill>
              </a:rPr>
              <a:t>"administrar"</a:t>
            </a:r>
            <a:r>
              <a:rPr lang="es-ES" sz="1600" dirty="0"/>
              <a:t> proviene del </a:t>
            </a:r>
            <a:r>
              <a:rPr lang="es-ES" sz="1600" dirty="0">
                <a:hlinkClick r:id="rId5" tooltip="Latín"/>
              </a:rPr>
              <a:t>latín</a:t>
            </a:r>
            <a:r>
              <a:rPr lang="es-ES" sz="1600" dirty="0"/>
              <a:t> </a:t>
            </a:r>
            <a:r>
              <a:rPr lang="es-ES" sz="1600" i="1" dirty="0"/>
              <a:t>"ad-</a:t>
            </a:r>
            <a:r>
              <a:rPr lang="es-ES" sz="1600" i="1" dirty="0" err="1"/>
              <a:t>ministrare"</a:t>
            </a:r>
            <a:r>
              <a:rPr lang="es-ES" sz="1600" dirty="0" err="1"/>
              <a:t>,"ad</a:t>
            </a:r>
            <a:r>
              <a:rPr lang="es-ES" sz="1600" dirty="0"/>
              <a:t>" (ir, hacia) y "ministrare" (servir, cuidar) y tiene relación con la actividad de los ministros romanos en la antigüedad.</a:t>
            </a:r>
            <a:endParaRPr lang="es-ES" sz="1600" b="1" dirty="0"/>
          </a:p>
          <a:p>
            <a:pPr algn="just">
              <a:defRPr/>
            </a:pPr>
            <a:endParaRPr lang="es-ES" sz="1600" dirty="0"/>
          </a:p>
          <a:p>
            <a:pPr algn="just">
              <a:defRPr/>
            </a:pPr>
            <a:r>
              <a:rPr lang="es-ES" sz="1600" dirty="0"/>
              <a:t>No existe como tal una definición de Administración Pública en la Constitución. </a:t>
            </a:r>
            <a:r>
              <a:rPr lang="es-ES" sz="1600" b="1" dirty="0">
                <a:solidFill>
                  <a:srgbClr val="FF0000"/>
                </a:solidFill>
              </a:rPr>
              <a:t>Es el brazo ejecutor de los fines del Estado (políticas del Estado)</a:t>
            </a:r>
            <a:r>
              <a:rPr lang="es-ES" sz="1600" dirty="0"/>
              <a:t>: </a:t>
            </a:r>
            <a:r>
              <a:rPr lang="es-ES" sz="1600" b="1" dirty="0"/>
              <a:t>representa y actúa por el Estado en sus relaciones con los ciudadanos </a:t>
            </a:r>
            <a:r>
              <a:rPr lang="es-ES" sz="1600" dirty="0"/>
              <a:t>(García de Enterría). </a:t>
            </a:r>
          </a:p>
          <a:p>
            <a:pPr algn="just">
              <a:defRPr/>
            </a:pPr>
            <a:endParaRPr lang="es-ES" sz="1600" dirty="0"/>
          </a:p>
          <a:p>
            <a:pPr algn="just">
              <a:defRPr/>
            </a:pPr>
            <a:r>
              <a:rPr lang="es-ES" sz="1600" dirty="0"/>
              <a:t>La administración es una </a:t>
            </a:r>
            <a:r>
              <a:rPr lang="es-ES" sz="1600" b="1" dirty="0">
                <a:solidFill>
                  <a:srgbClr val="FF0000"/>
                </a:solidFill>
              </a:rPr>
              <a:t>organización subordinada al gobierno </a:t>
            </a:r>
            <a:r>
              <a:rPr lang="es-ES" sz="1600" dirty="0"/>
              <a:t>y a pesar de su carácter subordinado es de máxima importancia para el funcionamiento del sistema político, ya que crea las condiciones para que el derecho de los ciudadanos se haga realidad.</a:t>
            </a:r>
          </a:p>
          <a:p>
            <a:pPr marL="381000" indent="-381000" algn="just" eaLnBrk="1" hangingPunct="1">
              <a:lnSpc>
                <a:spcPct val="80000"/>
              </a:lnSpc>
              <a:defRPr/>
            </a:pPr>
            <a:endParaRPr lang="es-ES" sz="1600" b="1" dirty="0">
              <a:solidFill>
                <a:srgbClr val="660033"/>
              </a:solidFill>
            </a:endParaRPr>
          </a:p>
          <a:p>
            <a:pPr marL="381000" indent="-381000" eaLnBrk="1" hangingPunct="1">
              <a:lnSpc>
                <a:spcPct val="80000"/>
              </a:lnSpc>
              <a:defRPr/>
            </a:pPr>
            <a:r>
              <a:rPr lang="es-ES" sz="1600" b="1" dirty="0">
                <a:solidFill>
                  <a:srgbClr val="660033"/>
                </a:solidFill>
              </a:rPr>
              <a:t>Administración Pública</a:t>
            </a:r>
            <a:r>
              <a:rPr lang="es-ES" sz="1600" dirty="0"/>
              <a:t> es un término de límites imprecisos que comprende el conjunto de </a:t>
            </a:r>
            <a:r>
              <a:rPr lang="es-ES" sz="1600" dirty="0">
                <a:hlinkClick r:id="rId6" tooltip="Organización"/>
              </a:rPr>
              <a:t>organizaciones</a:t>
            </a:r>
            <a:r>
              <a:rPr lang="es-ES" sz="1600" dirty="0"/>
              <a:t> públicas que realizan la función </a:t>
            </a:r>
            <a:r>
              <a:rPr lang="es-ES" sz="1600" dirty="0">
                <a:hlinkClick r:id="rId7" tooltip="Administración de Empresas"/>
              </a:rPr>
              <a:t>administrativa</a:t>
            </a:r>
            <a:r>
              <a:rPr lang="es-ES" sz="1600" dirty="0"/>
              <a:t> y de gestión del </a:t>
            </a:r>
            <a:r>
              <a:rPr lang="es-ES" sz="1600" dirty="0">
                <a:hlinkClick r:id="rId8" tooltip="Estado"/>
              </a:rPr>
              <a:t>Estado</a:t>
            </a:r>
            <a:r>
              <a:rPr lang="es-ES" sz="1600" dirty="0"/>
              <a:t> y de otros </a:t>
            </a:r>
            <a:r>
              <a:rPr lang="es-ES" sz="1600" dirty="0">
                <a:hlinkClick r:id="rId9" tooltip="Ente público"/>
              </a:rPr>
              <a:t>entes públicos</a:t>
            </a:r>
            <a:r>
              <a:rPr lang="es-ES" sz="1600" dirty="0"/>
              <a:t> con personalidad jurídica, ya sean de ámbito autonómico o local.</a:t>
            </a:r>
          </a:p>
          <a:p>
            <a:pPr algn="just" eaLnBrk="1" hangingPunct="1">
              <a:lnSpc>
                <a:spcPct val="80000"/>
              </a:lnSpc>
              <a:defRPr/>
            </a:pPr>
            <a:endParaRPr lang="es-ES" sz="1600" b="1" dirty="0"/>
          </a:p>
          <a:p>
            <a:pPr marL="381000" indent="-381000" algn="just" eaLnBrk="1" hangingPunct="1">
              <a:lnSpc>
                <a:spcPct val="80000"/>
              </a:lnSpc>
              <a:defRPr/>
            </a:pPr>
            <a:r>
              <a:rPr lang="es-ES" sz="1600" b="1" dirty="0">
                <a:solidFill>
                  <a:srgbClr val="660033"/>
                </a:solidFill>
              </a:rPr>
              <a:t>Elementos de la Administración Pública</a:t>
            </a:r>
          </a:p>
          <a:p>
            <a:pPr marL="800100" lvl="1" indent="-342900" algn="just" eaLnBrk="1" hangingPunct="1">
              <a:lnSpc>
                <a:spcPct val="80000"/>
              </a:lnSpc>
              <a:buFontTx/>
              <a:buAutoNum type="arabicPeriod"/>
              <a:defRPr/>
            </a:pPr>
            <a:r>
              <a:rPr lang="es-ES" sz="1600" dirty="0"/>
              <a:t>Personas físicas (empleados públicos) </a:t>
            </a:r>
          </a:p>
          <a:p>
            <a:pPr marL="800100" lvl="1" indent="-342900" algn="just" eaLnBrk="1" hangingPunct="1">
              <a:lnSpc>
                <a:spcPct val="80000"/>
              </a:lnSpc>
              <a:buFontTx/>
              <a:buAutoNum type="arabicPeriod"/>
              <a:defRPr/>
            </a:pPr>
            <a:r>
              <a:rPr lang="es-ES" sz="1600" dirty="0"/>
              <a:t>Medios económicos</a:t>
            </a:r>
          </a:p>
          <a:p>
            <a:pPr marL="800100" lvl="1" indent="-342900" algn="just" eaLnBrk="1" hangingPunct="1">
              <a:lnSpc>
                <a:spcPct val="80000"/>
              </a:lnSpc>
              <a:buFontTx/>
              <a:buAutoNum type="arabicPeriod"/>
              <a:defRPr/>
            </a:pPr>
            <a:r>
              <a:rPr lang="es-ES" sz="1600" dirty="0"/>
              <a:t>Organización, ordenación racional de los medios</a:t>
            </a:r>
          </a:p>
          <a:p>
            <a:pPr marL="800100" lvl="1" indent="-342900" algn="just" eaLnBrk="1" hangingPunct="1">
              <a:lnSpc>
                <a:spcPct val="80000"/>
              </a:lnSpc>
              <a:buFontTx/>
              <a:buAutoNum type="arabicPeriod"/>
              <a:defRPr/>
            </a:pPr>
            <a:r>
              <a:rPr lang="es-ES" sz="1600" dirty="0"/>
              <a:t>Fines, principios de la Entidad administrativa </a:t>
            </a:r>
          </a:p>
          <a:p>
            <a:pPr marL="800100" lvl="1" indent="-342900" eaLnBrk="1" hangingPunct="1">
              <a:lnSpc>
                <a:spcPct val="80000"/>
              </a:lnSpc>
              <a:buFontTx/>
              <a:buAutoNum type="arabicPeriod"/>
              <a:defRPr/>
            </a:pPr>
            <a:r>
              <a:rPr lang="es-ES" sz="1600" dirty="0"/>
              <a:t>Actuación, que ha de ser lícita, dentro de una competencia de órgano actuante.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id="{635C931A-88C0-2B56-76DD-81C502D900E3}"/>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pic>
        <p:nvPicPr>
          <p:cNvPr id="9219" name="Picture 5" descr="cefcorp_logo">
            <a:extLst>
              <a:ext uri="{FF2B5EF4-FFF2-40B4-BE49-F238E27FC236}">
                <a16:creationId xmlns:a16="http://schemas.microsoft.com/office/drawing/2014/main" id="{9F3F1F2E-FCEE-16BA-3446-92537587C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Rectangle 6">
            <a:extLst>
              <a:ext uri="{FF2B5EF4-FFF2-40B4-BE49-F238E27FC236}">
                <a16:creationId xmlns:a16="http://schemas.microsoft.com/office/drawing/2014/main" id="{43FDB2CE-5E2D-9175-3033-36FDD33D3194}"/>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9221" name="Text Box 21">
            <a:extLst>
              <a:ext uri="{FF2B5EF4-FFF2-40B4-BE49-F238E27FC236}">
                <a16:creationId xmlns:a16="http://schemas.microsoft.com/office/drawing/2014/main" id="{C3D3B6A8-262A-BFD8-3A2B-04DDF4D02254}"/>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9222" name="Text Box 22">
            <a:extLst>
              <a:ext uri="{FF2B5EF4-FFF2-40B4-BE49-F238E27FC236}">
                <a16:creationId xmlns:a16="http://schemas.microsoft.com/office/drawing/2014/main" id="{EFBE80BB-241F-FFDB-D035-FD2664B9154A}"/>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9223" name="Picture 26" descr="logo-udima-horizontal-COLOR">
            <a:extLst>
              <a:ext uri="{FF2B5EF4-FFF2-40B4-BE49-F238E27FC236}">
                <a16:creationId xmlns:a16="http://schemas.microsoft.com/office/drawing/2014/main" id="{C8B4635F-8B34-4BDD-3CA6-4F961B64F5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CuadroTexto 3">
            <a:extLst>
              <a:ext uri="{FF2B5EF4-FFF2-40B4-BE49-F238E27FC236}">
                <a16:creationId xmlns:a16="http://schemas.microsoft.com/office/drawing/2014/main" id="{766E1642-E060-33B8-CE69-8AC3DBCA06EF}"/>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Persona y Personalidad</a:t>
            </a:r>
          </a:p>
        </p:txBody>
      </p:sp>
      <p:sp>
        <p:nvSpPr>
          <p:cNvPr id="9225" name="Rectángulo 1">
            <a:extLst>
              <a:ext uri="{FF2B5EF4-FFF2-40B4-BE49-F238E27FC236}">
                <a16:creationId xmlns:a16="http://schemas.microsoft.com/office/drawing/2014/main" id="{27DC5E07-DC96-DAB7-6C5A-28F4EA4EE783}"/>
              </a:ext>
            </a:extLst>
          </p:cNvPr>
          <p:cNvSpPr>
            <a:spLocks noChangeArrowheads="1"/>
          </p:cNvSpPr>
          <p:nvPr/>
        </p:nvSpPr>
        <p:spPr bwMode="auto">
          <a:xfrm>
            <a:off x="323850" y="1444625"/>
            <a:ext cx="8496300" cy="395800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1440" tIns="45720" rIns="91440" bIns="45720" anchor="t">
            <a:spAutoFit/>
          </a:bodyPr>
          <a:lstStyle>
            <a:lvl1pPr marL="5715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80000"/>
              </a:lnSpc>
              <a:spcBef>
                <a:spcPct val="0"/>
              </a:spcBef>
              <a:buFontTx/>
              <a:buNone/>
            </a:pPr>
            <a:r>
              <a:rPr lang="es-ES_tradnl" altLang="es-ES" sz="2200" b="1" dirty="0">
                <a:solidFill>
                  <a:srgbClr val="C00000"/>
                </a:solidFill>
              </a:rPr>
              <a:t>Conceptos de Persona y Personalidad</a:t>
            </a:r>
          </a:p>
          <a:p>
            <a:pPr algn="just" eaLnBrk="1" hangingPunct="1">
              <a:lnSpc>
                <a:spcPct val="80000"/>
              </a:lnSpc>
              <a:spcBef>
                <a:spcPct val="0"/>
              </a:spcBef>
              <a:buFontTx/>
              <a:buNone/>
            </a:pPr>
            <a:endParaRPr lang="es-ES_tradnl" altLang="es-ES" sz="2200" dirty="0">
              <a:solidFill>
                <a:srgbClr val="C00000"/>
              </a:solidFill>
            </a:endParaRPr>
          </a:p>
          <a:p>
            <a:pPr algn="just" eaLnBrk="1" hangingPunct="1">
              <a:lnSpc>
                <a:spcPct val="80000"/>
              </a:lnSpc>
              <a:spcBef>
                <a:spcPct val="0"/>
              </a:spcBef>
              <a:buFontTx/>
              <a:buNone/>
            </a:pPr>
            <a:r>
              <a:rPr lang="es-ES_tradnl" altLang="es-ES" sz="1800" dirty="0">
                <a:solidFill>
                  <a:srgbClr val="C00000"/>
                </a:solidFill>
              </a:rPr>
              <a:t>Persona en sentido cotidiano</a:t>
            </a:r>
            <a:r>
              <a:rPr lang="es-ES_tradnl" altLang="es-ES" sz="1800" dirty="0"/>
              <a:t>: todo ser humano. </a:t>
            </a:r>
          </a:p>
          <a:p>
            <a:pPr algn="just" eaLnBrk="1" hangingPunct="1">
              <a:lnSpc>
                <a:spcPct val="80000"/>
              </a:lnSpc>
              <a:spcBef>
                <a:spcPct val="0"/>
              </a:spcBef>
              <a:buFontTx/>
              <a:buNone/>
            </a:pPr>
            <a:r>
              <a:rPr lang="es-ES_tradnl" altLang="es-ES" sz="1800" dirty="0">
                <a:solidFill>
                  <a:srgbClr val="C00000"/>
                </a:solidFill>
              </a:rPr>
              <a:t>Persona en sentido jurídico: </a:t>
            </a:r>
            <a:r>
              <a:rPr lang="es-ES_tradnl" altLang="es-ES" sz="1800" dirty="0"/>
              <a:t>sujeto con derecho y obligaciones.</a:t>
            </a:r>
          </a:p>
          <a:p>
            <a:pPr algn="just" eaLnBrk="1" hangingPunct="1">
              <a:lnSpc>
                <a:spcPct val="80000"/>
              </a:lnSpc>
              <a:spcBef>
                <a:spcPct val="0"/>
              </a:spcBef>
              <a:buFontTx/>
              <a:buNone/>
            </a:pPr>
            <a:endParaRPr lang="es-ES_tradnl" altLang="es-ES" sz="1800" dirty="0"/>
          </a:p>
          <a:p>
            <a:pPr algn="just" eaLnBrk="1" hangingPunct="1">
              <a:lnSpc>
                <a:spcPct val="80000"/>
              </a:lnSpc>
              <a:spcBef>
                <a:spcPct val="0"/>
              </a:spcBef>
              <a:buNone/>
            </a:pPr>
            <a:r>
              <a:rPr lang="es-ES_tradnl" altLang="es-ES" sz="1800" dirty="0">
                <a:solidFill>
                  <a:srgbClr val="C00000"/>
                </a:solidFill>
                <a:latin typeface="+mn-lt"/>
              </a:rPr>
              <a:t>Personalidad</a:t>
            </a:r>
            <a:r>
              <a:rPr lang="es-ES_tradnl" altLang="es-ES" sz="1800" dirty="0">
                <a:latin typeface="+mn-lt"/>
              </a:rPr>
              <a:t> </a:t>
            </a:r>
            <a:r>
              <a:rPr lang="es-ES_tradnl" altLang="es-ES" sz="1800" dirty="0">
                <a:solidFill>
                  <a:srgbClr val="C00000"/>
                </a:solidFill>
                <a:latin typeface="+mn-lt"/>
              </a:rPr>
              <a:t>jurídica</a:t>
            </a:r>
            <a:r>
              <a:rPr lang="es-ES_tradnl" altLang="es-ES" sz="1800" dirty="0">
                <a:latin typeface="+mn-lt"/>
              </a:rPr>
              <a:t>, </a:t>
            </a:r>
            <a:r>
              <a:rPr lang="es-ES_tradnl" sz="1800" dirty="0">
                <a:latin typeface="+mn-lt"/>
              </a:rPr>
              <a:t>es la capacidad que tiene una persona o una entidad para ser </a:t>
            </a:r>
            <a:r>
              <a:rPr lang="es-ES_tradnl" sz="1800" b="1" dirty="0">
                <a:latin typeface="+mn-lt"/>
              </a:rPr>
              <a:t>titular de derechos y obligaciones</a:t>
            </a:r>
            <a:r>
              <a:rPr lang="es-ES_tradnl" sz="1800" dirty="0">
                <a:latin typeface="+mn-lt"/>
              </a:rPr>
              <a:t> y actuar jurídicamente.</a:t>
            </a:r>
            <a:endParaRPr lang="es-ES_tradnl" altLang="es-ES" sz="1800" dirty="0"/>
          </a:p>
          <a:p>
            <a:pPr algn="just">
              <a:lnSpc>
                <a:spcPct val="80000"/>
              </a:lnSpc>
              <a:spcBef>
                <a:spcPct val="0"/>
              </a:spcBef>
              <a:buFontTx/>
              <a:buNone/>
            </a:pPr>
            <a:endParaRPr lang="es-ES_tradnl" altLang="es-ES" sz="1800" dirty="0">
              <a:cs typeface="Arial"/>
            </a:endParaRPr>
          </a:p>
          <a:p>
            <a:pPr algn="just" eaLnBrk="1" hangingPunct="1">
              <a:lnSpc>
                <a:spcPct val="80000"/>
              </a:lnSpc>
              <a:spcBef>
                <a:spcPct val="0"/>
              </a:spcBef>
              <a:buFontTx/>
              <a:buNone/>
            </a:pPr>
            <a:r>
              <a:rPr lang="es-ES" altLang="es-ES" sz="1800" dirty="0">
                <a:solidFill>
                  <a:srgbClr val="C00000"/>
                </a:solidFill>
              </a:rPr>
              <a:t>En las personas jurídicas la capacidad </a:t>
            </a:r>
            <a:r>
              <a:rPr lang="es-ES" altLang="es-ES" sz="1800" dirty="0"/>
              <a:t>para ser sujetos de derechos y obligaciones (tener personalidad jurídica) está determinada por el alcance de su objeto social y necesariamente </a:t>
            </a:r>
            <a:r>
              <a:rPr lang="es-ES" altLang="es-ES" sz="1800" b="1" dirty="0"/>
              <a:t>se ejercita por medio de la representación </a:t>
            </a:r>
            <a:r>
              <a:rPr lang="es-ES" altLang="es-ES" sz="1800" dirty="0"/>
              <a:t>a través de una persona física, tanto judicial como extrajudicialmente</a:t>
            </a:r>
          </a:p>
          <a:p>
            <a:pPr algn="just" eaLnBrk="1" hangingPunct="1">
              <a:lnSpc>
                <a:spcPct val="80000"/>
              </a:lnSpc>
              <a:spcBef>
                <a:spcPct val="0"/>
              </a:spcBef>
              <a:buFontTx/>
              <a:buNone/>
            </a:pPr>
            <a:endParaRPr lang="es-ES" altLang="es-ES" sz="1800" dirty="0"/>
          </a:p>
          <a:p>
            <a:pPr algn="just" eaLnBrk="1" hangingPunct="1">
              <a:lnSpc>
                <a:spcPct val="80000"/>
              </a:lnSpc>
              <a:spcBef>
                <a:spcPct val="0"/>
              </a:spcBef>
              <a:buFontTx/>
              <a:buNone/>
            </a:pPr>
            <a:r>
              <a:rPr lang="es-ES" sz="1800" b="0" i="0" dirty="0">
                <a:solidFill>
                  <a:srgbClr val="C00000"/>
                </a:solidFill>
                <a:effectLst/>
                <a:latin typeface="+mn-lt"/>
              </a:rPr>
              <a:t>Personalidad jurídica plena</a:t>
            </a:r>
            <a:r>
              <a:rPr lang="es-ES" sz="1800" b="0" i="0" dirty="0">
                <a:solidFill>
                  <a:srgbClr val="202124"/>
                </a:solidFill>
                <a:effectLst/>
                <a:latin typeface="+mn-lt"/>
              </a:rPr>
              <a:t>, es aquella en virtud de la cual se obtiene la capacidad para ejercer derechos, realizar actividades y/o adquirir obligaciones de forma generalizada, sin que tengan lugar limitaciones de tipo geográfico o competencial.</a:t>
            </a:r>
            <a:endParaRPr lang="es-ES_tradnl" altLang="es-ES" sz="1800" dirty="0">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94E2AB9F-D606-E233-7069-FAC1BAD8A96F}"/>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11267" name="Picture 5" descr="cefcorp_logo">
            <a:extLst>
              <a:ext uri="{FF2B5EF4-FFF2-40B4-BE49-F238E27FC236}">
                <a16:creationId xmlns:a16="http://schemas.microsoft.com/office/drawing/2014/main" id="{BE3EC73F-24CA-776D-17B8-350C42AE93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6">
            <a:extLst>
              <a:ext uri="{FF2B5EF4-FFF2-40B4-BE49-F238E27FC236}">
                <a16:creationId xmlns:a16="http://schemas.microsoft.com/office/drawing/2014/main" id="{674CEA2F-7446-DE21-3178-5CA3A0C92432}"/>
              </a:ext>
            </a:extLst>
          </p:cNvPr>
          <p:cNvSpPr>
            <a:spLocks noChangeArrowheads="1"/>
          </p:cNvSpPr>
          <p:nvPr/>
        </p:nvSpPr>
        <p:spPr bwMode="auto">
          <a:xfrm>
            <a:off x="0" y="7039086"/>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11269" name="Text Box 21">
            <a:extLst>
              <a:ext uri="{FF2B5EF4-FFF2-40B4-BE49-F238E27FC236}">
                <a16:creationId xmlns:a16="http://schemas.microsoft.com/office/drawing/2014/main" id="{BF7E2496-9F73-1E9D-DCF9-EB7196561A5A}"/>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11270" name="Text Box 22">
            <a:extLst>
              <a:ext uri="{FF2B5EF4-FFF2-40B4-BE49-F238E27FC236}">
                <a16:creationId xmlns:a16="http://schemas.microsoft.com/office/drawing/2014/main" id="{EA44E283-FA76-4921-8050-7C94F5E85329}"/>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11271" name="Picture 26" descr="logo-udima-horizontal-COLOR">
            <a:extLst>
              <a:ext uri="{FF2B5EF4-FFF2-40B4-BE49-F238E27FC236}">
                <a16:creationId xmlns:a16="http://schemas.microsoft.com/office/drawing/2014/main" id="{E40163CD-5ED3-83CB-80B7-527BC0B5E2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2" name="Rectángulo 1">
            <a:extLst>
              <a:ext uri="{FF2B5EF4-FFF2-40B4-BE49-F238E27FC236}">
                <a16:creationId xmlns:a16="http://schemas.microsoft.com/office/drawing/2014/main" id="{1BCF93B8-9650-D2B9-4C11-DC5DFA7B902D}"/>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11273" name="CuadroTexto 3">
            <a:extLst>
              <a:ext uri="{FF2B5EF4-FFF2-40B4-BE49-F238E27FC236}">
                <a16:creationId xmlns:a16="http://schemas.microsoft.com/office/drawing/2014/main" id="{902FB544-9334-4453-96B1-4BF02460179E}"/>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Artículo 103 de la C.E.</a:t>
            </a:r>
          </a:p>
          <a:p>
            <a:pPr algn="ctr">
              <a:spcBef>
                <a:spcPct val="0"/>
              </a:spcBef>
              <a:buFontTx/>
              <a:buNone/>
            </a:pPr>
            <a:endParaRPr lang="es-ES" altLang="es-ES" sz="1800" b="1">
              <a:solidFill>
                <a:srgbClr val="FF0000"/>
              </a:solidFill>
            </a:endParaRPr>
          </a:p>
        </p:txBody>
      </p:sp>
      <p:sp>
        <p:nvSpPr>
          <p:cNvPr id="11274" name="Rectángulo 2">
            <a:extLst>
              <a:ext uri="{FF2B5EF4-FFF2-40B4-BE49-F238E27FC236}">
                <a16:creationId xmlns:a16="http://schemas.microsoft.com/office/drawing/2014/main" id="{C24E7F5E-20B8-05A0-8847-4C6ABA6A5EAD}"/>
              </a:ext>
            </a:extLst>
          </p:cNvPr>
          <p:cNvSpPr>
            <a:spLocks noChangeArrowheads="1"/>
          </p:cNvSpPr>
          <p:nvPr/>
        </p:nvSpPr>
        <p:spPr bwMode="auto">
          <a:xfrm>
            <a:off x="0" y="779463"/>
            <a:ext cx="8891587" cy="6691062"/>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80000"/>
              </a:lnSpc>
              <a:spcBef>
                <a:spcPct val="0"/>
              </a:spcBef>
              <a:buFontTx/>
              <a:buNone/>
            </a:pPr>
            <a:r>
              <a:rPr lang="es-ES_tradnl" altLang="es-ES" sz="1800" b="1" dirty="0">
                <a:solidFill>
                  <a:srgbClr val="660033"/>
                </a:solidFill>
              </a:rPr>
              <a:t>Que dice la Constitución sobre la Administración Pública. Art 103</a:t>
            </a:r>
          </a:p>
          <a:p>
            <a:pPr eaLnBrk="1" hangingPunct="1">
              <a:lnSpc>
                <a:spcPct val="80000"/>
              </a:lnSpc>
              <a:spcBef>
                <a:spcPct val="0"/>
              </a:spcBef>
              <a:buFontTx/>
              <a:buNone/>
            </a:pPr>
            <a:endParaRPr lang="es-ES_tradnl" altLang="es-ES" sz="1800" b="1" dirty="0">
              <a:solidFill>
                <a:srgbClr val="660033"/>
              </a:solidFill>
            </a:endParaRPr>
          </a:p>
          <a:p>
            <a:pPr eaLnBrk="1" hangingPunct="1">
              <a:lnSpc>
                <a:spcPct val="80000"/>
              </a:lnSpc>
              <a:spcBef>
                <a:spcPct val="0"/>
              </a:spcBef>
              <a:buNone/>
            </a:pPr>
            <a:r>
              <a:rPr lang="es-ES" sz="2400" dirty="0"/>
              <a:t>La Administración es un aparato instrumental bajo la dirección del Gobierno </a:t>
            </a:r>
          </a:p>
          <a:p>
            <a:pPr eaLnBrk="1" hangingPunct="1">
              <a:lnSpc>
                <a:spcPct val="80000"/>
              </a:lnSpc>
              <a:spcBef>
                <a:spcPct val="0"/>
              </a:spcBef>
              <a:buFontTx/>
              <a:buNone/>
            </a:pPr>
            <a:endParaRPr lang="es-ES_tradnl" altLang="es-ES" sz="1800" b="1" dirty="0">
              <a:solidFill>
                <a:srgbClr val="660033"/>
              </a:solidFill>
            </a:endParaRPr>
          </a:p>
          <a:p>
            <a:pPr eaLnBrk="1" hangingPunct="1">
              <a:lnSpc>
                <a:spcPct val="80000"/>
              </a:lnSpc>
              <a:spcBef>
                <a:spcPct val="0"/>
              </a:spcBef>
              <a:buFontTx/>
              <a:buNone/>
            </a:pPr>
            <a:endParaRPr lang="es-ES_tradnl" altLang="es-ES" sz="1800" dirty="0">
              <a:solidFill>
                <a:srgbClr val="660033"/>
              </a:solidFill>
            </a:endParaRPr>
          </a:p>
          <a:p>
            <a:pPr marL="342900" indent="-342900" algn="just" eaLnBrk="1" hangingPunct="1">
              <a:lnSpc>
                <a:spcPct val="80000"/>
              </a:lnSpc>
              <a:spcBef>
                <a:spcPct val="0"/>
              </a:spcBef>
              <a:buFontTx/>
              <a:buAutoNum type="arabicPeriod"/>
            </a:pPr>
            <a:r>
              <a:rPr lang="es-ES" altLang="es-ES" sz="1800" dirty="0"/>
              <a:t>La Administración Pública sirve con </a:t>
            </a:r>
            <a:r>
              <a:rPr lang="es-ES" altLang="es-ES" sz="1800" b="1" dirty="0">
                <a:solidFill>
                  <a:srgbClr val="660033"/>
                </a:solidFill>
              </a:rPr>
              <a:t>objetividad</a:t>
            </a:r>
            <a:r>
              <a:rPr lang="es-ES" altLang="es-ES" sz="1800" dirty="0"/>
              <a:t> los intereses generales y actúa de acuerdo con los principios de </a:t>
            </a:r>
            <a:r>
              <a:rPr lang="es-ES" altLang="es-ES" sz="1800" b="1" dirty="0">
                <a:solidFill>
                  <a:srgbClr val="660033"/>
                </a:solidFill>
              </a:rPr>
              <a:t>eficacia </a:t>
            </a:r>
            <a:r>
              <a:rPr lang="es-ES" altLang="es-ES" sz="1600" dirty="0">
                <a:solidFill>
                  <a:srgbClr val="92D050"/>
                </a:solidFill>
              </a:rPr>
              <a:t>(</a:t>
            </a:r>
            <a:r>
              <a:rPr lang="es-ES" altLang="es-ES" sz="1600" b="1" dirty="0">
                <a:solidFill>
                  <a:srgbClr val="92D050"/>
                </a:solidFill>
              </a:rPr>
              <a:t>es la capacidad de alcanzar el efecto que espera o se desea tras la realización de una acción</a:t>
            </a:r>
            <a:r>
              <a:rPr lang="es-ES" altLang="es-ES" sz="1200" dirty="0">
                <a:solidFill>
                  <a:srgbClr val="92D050"/>
                </a:solidFill>
              </a:rPr>
              <a:t>)</a:t>
            </a:r>
            <a:r>
              <a:rPr lang="es-ES" altLang="es-ES" sz="1800" dirty="0"/>
              <a:t>, </a:t>
            </a:r>
            <a:r>
              <a:rPr lang="es-ES" altLang="es-ES" sz="1800" b="1" dirty="0">
                <a:solidFill>
                  <a:srgbClr val="660033"/>
                </a:solidFill>
              </a:rPr>
              <a:t>jerarquía (</a:t>
            </a:r>
            <a:r>
              <a:rPr lang="es-ES" altLang="es-ES" sz="1800" b="1" dirty="0">
                <a:solidFill>
                  <a:srgbClr val="92D050"/>
                </a:solidFill>
              </a:rPr>
              <a:t>organización piramidal y subordinación estricta)</a:t>
            </a:r>
            <a:r>
              <a:rPr lang="es-ES" altLang="es-ES" sz="1800" b="1" dirty="0">
                <a:solidFill>
                  <a:srgbClr val="660033"/>
                </a:solidFill>
              </a:rPr>
              <a:t> </a:t>
            </a:r>
            <a:r>
              <a:rPr lang="es-ES" altLang="es-ES" sz="1800" dirty="0"/>
              <a:t>, </a:t>
            </a:r>
            <a:r>
              <a:rPr lang="es-ES" altLang="es-ES" sz="1800" b="1" dirty="0">
                <a:solidFill>
                  <a:srgbClr val="660033"/>
                </a:solidFill>
              </a:rPr>
              <a:t>descentralización</a:t>
            </a:r>
            <a:r>
              <a:rPr lang="es-ES" altLang="es-ES" sz="1800" dirty="0"/>
              <a:t> </a:t>
            </a:r>
            <a:r>
              <a:rPr lang="es-ES" altLang="es-ES" sz="1600" dirty="0">
                <a:solidFill>
                  <a:schemeClr val="folHlink"/>
                </a:solidFill>
              </a:rPr>
              <a:t>(supone transferir el poder, de un gobierno central hacia autoridades que </a:t>
            </a:r>
            <a:r>
              <a:rPr lang="es-ES" altLang="es-ES" sz="1600" u="sng" dirty="0">
                <a:solidFill>
                  <a:schemeClr val="folHlink"/>
                </a:solidFill>
              </a:rPr>
              <a:t>no están jerárquicamente subordinadas</a:t>
            </a:r>
            <a:r>
              <a:rPr lang="es-ES" altLang="es-ES" sz="1600" dirty="0">
                <a:solidFill>
                  <a:schemeClr val="folHlink"/>
                </a:solidFill>
              </a:rPr>
              <a:t>)</a:t>
            </a:r>
            <a:r>
              <a:rPr lang="es-ES" altLang="es-ES" sz="1800" dirty="0"/>
              <a:t>, </a:t>
            </a:r>
            <a:r>
              <a:rPr lang="es-ES" altLang="es-ES" sz="1800" b="1" dirty="0">
                <a:solidFill>
                  <a:srgbClr val="660033"/>
                </a:solidFill>
              </a:rPr>
              <a:t>desconcentración</a:t>
            </a:r>
            <a:r>
              <a:rPr lang="es-ES" altLang="es-ES" sz="1800" dirty="0"/>
              <a:t> </a:t>
            </a:r>
            <a:r>
              <a:rPr lang="es-ES" altLang="es-ES" sz="1800" dirty="0">
                <a:solidFill>
                  <a:schemeClr val="folHlink"/>
                </a:solidFill>
              </a:rPr>
              <a:t>(traspaso de la titularidad o el ejercicio de una competencia que las normas le atribuyan como propia a un órgano administrativo en </a:t>
            </a:r>
            <a:r>
              <a:rPr lang="es-ES" altLang="es-ES" sz="1800" u="sng" dirty="0">
                <a:solidFill>
                  <a:schemeClr val="folHlink"/>
                </a:solidFill>
              </a:rPr>
              <a:t>otro órgano de la misma administración pública</a:t>
            </a:r>
            <a:r>
              <a:rPr lang="es-ES" altLang="es-ES" sz="1800" dirty="0">
                <a:solidFill>
                  <a:schemeClr val="folHlink"/>
                </a:solidFill>
              </a:rPr>
              <a:t> jerárquicamente dependiente.)</a:t>
            </a:r>
            <a:r>
              <a:rPr lang="es-ES" altLang="es-ES" sz="1800" dirty="0"/>
              <a:t> y </a:t>
            </a:r>
            <a:r>
              <a:rPr lang="es-ES" altLang="es-ES" sz="1800" b="1" dirty="0">
                <a:solidFill>
                  <a:srgbClr val="660033"/>
                </a:solidFill>
              </a:rPr>
              <a:t>coordinación </a:t>
            </a:r>
            <a:r>
              <a:rPr lang="es-ES" altLang="es-ES" sz="1800" b="1" dirty="0">
                <a:solidFill>
                  <a:srgbClr val="92D050"/>
                </a:solidFill>
              </a:rPr>
              <a:t>(entre distintas administraciones)</a:t>
            </a:r>
            <a:r>
              <a:rPr lang="es-ES" altLang="es-ES" sz="1800" dirty="0">
                <a:solidFill>
                  <a:srgbClr val="92D050"/>
                </a:solidFill>
              </a:rPr>
              <a:t>, </a:t>
            </a:r>
            <a:r>
              <a:rPr lang="es-ES" altLang="es-ES" sz="1800" b="1" dirty="0">
                <a:solidFill>
                  <a:srgbClr val="800000"/>
                </a:solidFill>
              </a:rPr>
              <a:t>con sometimiento pleno a la Ley y al Derecho</a:t>
            </a:r>
            <a:r>
              <a:rPr lang="es-ES" altLang="es-ES" sz="1800" b="1" dirty="0"/>
              <a:t>.</a:t>
            </a:r>
          </a:p>
          <a:p>
            <a:pPr marL="342900" indent="-342900" algn="just" eaLnBrk="1" hangingPunct="1">
              <a:lnSpc>
                <a:spcPct val="80000"/>
              </a:lnSpc>
              <a:spcBef>
                <a:spcPct val="0"/>
              </a:spcBef>
              <a:buFontTx/>
              <a:buAutoNum type="arabicPeriod"/>
            </a:pPr>
            <a:endParaRPr lang="es-ES" altLang="es-ES" sz="1800" b="1" dirty="0"/>
          </a:p>
          <a:p>
            <a:pPr marL="342900" indent="-342900" algn="just" eaLnBrk="1" hangingPunct="1">
              <a:lnSpc>
                <a:spcPct val="80000"/>
              </a:lnSpc>
              <a:spcBef>
                <a:spcPct val="0"/>
              </a:spcBef>
              <a:buFontTx/>
              <a:buAutoNum type="arabicPeriod"/>
            </a:pPr>
            <a:r>
              <a:rPr lang="es-ES" sz="1800" dirty="0"/>
              <a:t>La Ley 40/2015, de 1 de octubre, del Régimen Jurídico del sector Público (en adelante, LRJSP) incorpora otros principios como los de: </a:t>
            </a:r>
            <a:r>
              <a:rPr lang="es-ES" sz="1800" b="1" dirty="0">
                <a:solidFill>
                  <a:srgbClr val="800000"/>
                </a:solidFill>
              </a:rPr>
              <a:t>simplicidad, claridad, buena fe, confianza legítima, proporcionalidad, motivar la necesidad de acciones para el interés público, adecuación para los fines que se persiguen, trato no discriminatorio, etc.</a:t>
            </a:r>
          </a:p>
          <a:p>
            <a:pPr marL="342900" indent="-342900" algn="just" eaLnBrk="1" hangingPunct="1">
              <a:lnSpc>
                <a:spcPct val="80000"/>
              </a:lnSpc>
              <a:spcBef>
                <a:spcPct val="0"/>
              </a:spcBef>
              <a:buFontTx/>
              <a:buAutoNum type="arabicPeriod"/>
            </a:pPr>
            <a:endParaRPr lang="es-ES" sz="1800" b="1" dirty="0">
              <a:solidFill>
                <a:srgbClr val="800000"/>
              </a:solidFill>
            </a:endParaRPr>
          </a:p>
          <a:p>
            <a:pPr algn="just" eaLnBrk="1" hangingPunct="1">
              <a:lnSpc>
                <a:spcPct val="80000"/>
              </a:lnSpc>
              <a:spcBef>
                <a:spcPct val="0"/>
              </a:spcBef>
              <a:buNone/>
            </a:pPr>
            <a:endParaRPr lang="es-ES" sz="1400" b="1" dirty="0">
              <a:solidFill>
                <a:srgbClr val="800000"/>
              </a:solidFill>
            </a:endParaRPr>
          </a:p>
          <a:p>
            <a:pPr marL="342900" indent="-342900" algn="just" eaLnBrk="1" hangingPunct="1">
              <a:lnSpc>
                <a:spcPct val="80000"/>
              </a:lnSpc>
              <a:spcBef>
                <a:spcPct val="0"/>
              </a:spcBef>
              <a:buFontTx/>
              <a:buAutoNum type="arabicPeriod"/>
            </a:pPr>
            <a:r>
              <a:rPr lang="es-ES" altLang="es-ES" sz="1600" dirty="0"/>
              <a:t>La </a:t>
            </a:r>
            <a:r>
              <a:rPr lang="es-ES" altLang="es-ES" sz="1600" b="1" dirty="0">
                <a:solidFill>
                  <a:srgbClr val="660033"/>
                </a:solidFill>
              </a:rPr>
              <a:t>ley regulará el estatuto de los funcionarios públicos</a:t>
            </a:r>
            <a:r>
              <a:rPr lang="es-ES" altLang="es-ES" sz="1600" dirty="0"/>
              <a:t>, el acceso a la función pública de acuerdo con los principios de mérito y capacidad, las peculiaridades del ejercicio de su derecho a sindicación, el sistema de incompatibilidades y las garantías para la imparcialidad en el ejercicio de sus funciones. (Real Decreto Legislativo 5/2015 de 30 de octubre)</a:t>
            </a:r>
            <a:endParaRPr lang="es-ES" sz="1600" b="1" dirty="0">
              <a:solidFill>
                <a:srgbClr val="800000"/>
              </a:solidFill>
            </a:endParaRPr>
          </a:p>
          <a:p>
            <a:pPr marL="342900" indent="-342900" algn="just" eaLnBrk="1" hangingPunct="1">
              <a:lnSpc>
                <a:spcPct val="80000"/>
              </a:lnSpc>
              <a:spcBef>
                <a:spcPct val="0"/>
              </a:spcBef>
              <a:buFontTx/>
              <a:buAutoNum type="arabicPeriod"/>
            </a:pPr>
            <a:endParaRPr lang="es-ES" altLang="es-ES" sz="1600" b="1" dirty="0">
              <a:solidFill>
                <a:srgbClr val="800000"/>
              </a:solidFill>
            </a:endParaRPr>
          </a:p>
          <a:p>
            <a:pPr marL="342900" indent="-342900" algn="just" eaLnBrk="1" hangingPunct="1">
              <a:lnSpc>
                <a:spcPct val="80000"/>
              </a:lnSpc>
              <a:spcBef>
                <a:spcPct val="0"/>
              </a:spcBef>
              <a:buFontTx/>
              <a:buAutoNum type="arabicPeriod"/>
            </a:pPr>
            <a:endParaRPr lang="es-ES" altLang="es-ES" sz="1800" dirty="0"/>
          </a:p>
        </p:txBody>
      </p:sp>
    </p:spTree>
    <p:extLst>
      <p:ext uri="{BB962C8B-B14F-4D97-AF65-F5344CB8AC3E}">
        <p14:creationId xmlns:p14="http://schemas.microsoft.com/office/powerpoint/2010/main" val="439251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D79603E9-D060-3D56-FF5C-D7DA8A9B6238}"/>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13315" name="Picture 5" descr="cefcorp_logo">
            <a:extLst>
              <a:ext uri="{FF2B5EF4-FFF2-40B4-BE49-F238E27FC236}">
                <a16:creationId xmlns:a16="http://schemas.microsoft.com/office/drawing/2014/main" id="{B779CF75-35B3-32DA-4FAF-8E019DF2C4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Rectangle 6">
            <a:extLst>
              <a:ext uri="{FF2B5EF4-FFF2-40B4-BE49-F238E27FC236}">
                <a16:creationId xmlns:a16="http://schemas.microsoft.com/office/drawing/2014/main" id="{E8BA9A0A-843E-E608-8F40-41B34B6D858B}"/>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13317" name="Text Box 21">
            <a:extLst>
              <a:ext uri="{FF2B5EF4-FFF2-40B4-BE49-F238E27FC236}">
                <a16:creationId xmlns:a16="http://schemas.microsoft.com/office/drawing/2014/main" id="{FA61D0DD-6D71-357C-79A4-7087AA5EC163}"/>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13318" name="Text Box 22">
            <a:extLst>
              <a:ext uri="{FF2B5EF4-FFF2-40B4-BE49-F238E27FC236}">
                <a16:creationId xmlns:a16="http://schemas.microsoft.com/office/drawing/2014/main" id="{7604DEA7-14C5-C2F7-5D34-635988A50078}"/>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13319" name="Picture 26" descr="logo-udima-horizontal-COLOR">
            <a:extLst>
              <a:ext uri="{FF2B5EF4-FFF2-40B4-BE49-F238E27FC236}">
                <a16:creationId xmlns:a16="http://schemas.microsoft.com/office/drawing/2014/main" id="{F44D64F4-7D1C-B53B-4A3D-3350CFBC22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0" name="Rectángulo 1">
            <a:extLst>
              <a:ext uri="{FF2B5EF4-FFF2-40B4-BE49-F238E27FC236}">
                <a16:creationId xmlns:a16="http://schemas.microsoft.com/office/drawing/2014/main" id="{965BA5C0-2EE4-98EC-46C9-B8D102F83EAF}"/>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13321" name="CuadroTexto 3">
            <a:extLst>
              <a:ext uri="{FF2B5EF4-FFF2-40B4-BE49-F238E27FC236}">
                <a16:creationId xmlns:a16="http://schemas.microsoft.com/office/drawing/2014/main" id="{EAA37B89-C36F-96E8-28AE-D99FECD24CA1}"/>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Organización Territorial de España</a:t>
            </a:r>
          </a:p>
          <a:p>
            <a:pPr algn="ctr">
              <a:spcBef>
                <a:spcPct val="0"/>
              </a:spcBef>
              <a:buFontTx/>
              <a:buNone/>
            </a:pPr>
            <a:endParaRPr lang="es-ES" altLang="es-ES" sz="1800" b="1">
              <a:solidFill>
                <a:srgbClr val="FF0000"/>
              </a:solidFill>
            </a:endParaRPr>
          </a:p>
        </p:txBody>
      </p:sp>
      <p:sp>
        <p:nvSpPr>
          <p:cNvPr id="13322" name="Rectángulo 1">
            <a:extLst>
              <a:ext uri="{FF2B5EF4-FFF2-40B4-BE49-F238E27FC236}">
                <a16:creationId xmlns:a16="http://schemas.microsoft.com/office/drawing/2014/main" id="{58B334EF-E4CC-F7D5-234C-9A5FE2780B11}"/>
              </a:ext>
            </a:extLst>
          </p:cNvPr>
          <p:cNvSpPr>
            <a:spLocks noChangeArrowheads="1"/>
          </p:cNvSpPr>
          <p:nvPr/>
        </p:nvSpPr>
        <p:spPr bwMode="auto">
          <a:xfrm>
            <a:off x="323850" y="1858963"/>
            <a:ext cx="8496300" cy="3970337"/>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s-ES_tradnl" altLang="es-ES" sz="2800" dirty="0">
                <a:solidFill>
                  <a:schemeClr val="hlink"/>
                </a:solidFill>
              </a:rPr>
              <a:t>Que dice la C.E.  sobre la Organización Territorial del Estado: Art. 137</a:t>
            </a:r>
          </a:p>
          <a:p>
            <a:pPr eaLnBrk="1" hangingPunct="1">
              <a:spcBef>
                <a:spcPct val="0"/>
              </a:spcBef>
              <a:buFontTx/>
              <a:buNone/>
            </a:pPr>
            <a:endParaRPr lang="es-ES_tradnl" altLang="es-ES" sz="2800" dirty="0">
              <a:solidFill>
                <a:schemeClr val="hlink"/>
              </a:solidFill>
            </a:endParaRPr>
          </a:p>
          <a:p>
            <a:pPr algn="just" eaLnBrk="1" hangingPunct="1">
              <a:spcBef>
                <a:spcPct val="0"/>
              </a:spcBef>
              <a:buFontTx/>
              <a:buNone/>
            </a:pPr>
            <a:r>
              <a:rPr lang="es-ES" altLang="es-ES" sz="2800" dirty="0"/>
              <a:t>El Estado se organiza territorialmente en municipios, en provincias y en las Comunidades Autónomas que se constituyan.</a:t>
            </a:r>
          </a:p>
          <a:p>
            <a:pPr algn="just" eaLnBrk="1" hangingPunct="1">
              <a:spcBef>
                <a:spcPct val="0"/>
              </a:spcBef>
              <a:buFontTx/>
              <a:buNone/>
            </a:pPr>
            <a:endParaRPr lang="es-ES" altLang="es-ES" sz="2800" dirty="0"/>
          </a:p>
          <a:p>
            <a:pPr algn="just" eaLnBrk="1" hangingPunct="1">
              <a:spcBef>
                <a:spcPct val="0"/>
              </a:spcBef>
              <a:buFontTx/>
              <a:buNone/>
            </a:pPr>
            <a:r>
              <a:rPr lang="es-ES" altLang="es-ES" sz="2800" dirty="0"/>
              <a:t>Todas estas entidades gozan de autonomía para la gestión de sus respectivos intereses.</a:t>
            </a:r>
            <a:endParaRPr lang="es-ES_tradnl" altLang="es-E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D3FB5EA8-B24E-A86E-4E83-55D39F6AEDA0}"/>
              </a:ext>
            </a:extLst>
          </p:cNvPr>
          <p:cNvSpPr>
            <a:spLocks noChangeArrowheads="1"/>
          </p:cNvSpPr>
          <p:nvPr/>
        </p:nvSpPr>
        <p:spPr bwMode="auto">
          <a:xfrm>
            <a:off x="323850" y="13335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15363" name="Picture 5" descr="cefcorp_logo">
            <a:extLst>
              <a:ext uri="{FF2B5EF4-FFF2-40B4-BE49-F238E27FC236}">
                <a16:creationId xmlns:a16="http://schemas.microsoft.com/office/drawing/2014/main" id="{4AFA2B55-B649-0B09-7737-08A87A8B77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6">
            <a:extLst>
              <a:ext uri="{FF2B5EF4-FFF2-40B4-BE49-F238E27FC236}">
                <a16:creationId xmlns:a16="http://schemas.microsoft.com/office/drawing/2014/main" id="{49B34F02-F774-60D5-C275-076E47F8D6DE}"/>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15365" name="Text Box 21">
            <a:extLst>
              <a:ext uri="{FF2B5EF4-FFF2-40B4-BE49-F238E27FC236}">
                <a16:creationId xmlns:a16="http://schemas.microsoft.com/office/drawing/2014/main" id="{9C5EC834-8AA0-A1FB-5DD5-AD74CB3EB03E}"/>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15366" name="Text Box 22">
            <a:extLst>
              <a:ext uri="{FF2B5EF4-FFF2-40B4-BE49-F238E27FC236}">
                <a16:creationId xmlns:a16="http://schemas.microsoft.com/office/drawing/2014/main" id="{F4A15323-2059-830C-3B4E-1B375C6CA676}"/>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15367" name="Picture 26" descr="logo-udima-horizontal-COLOR">
            <a:extLst>
              <a:ext uri="{FF2B5EF4-FFF2-40B4-BE49-F238E27FC236}">
                <a16:creationId xmlns:a16="http://schemas.microsoft.com/office/drawing/2014/main" id="{45A2A106-DEAF-5FAC-E931-7F7FA8DF99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Rectángulo 1">
            <a:extLst>
              <a:ext uri="{FF2B5EF4-FFF2-40B4-BE49-F238E27FC236}">
                <a16:creationId xmlns:a16="http://schemas.microsoft.com/office/drawing/2014/main" id="{FDF1B35A-8DDD-4736-47A4-E6573C055395}"/>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15369" name="CuadroTexto 3">
            <a:extLst>
              <a:ext uri="{FF2B5EF4-FFF2-40B4-BE49-F238E27FC236}">
                <a16:creationId xmlns:a16="http://schemas.microsoft.com/office/drawing/2014/main" id="{6DFE8337-4B14-0C92-006D-CDE093522755}"/>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local</a:t>
            </a:r>
          </a:p>
          <a:p>
            <a:pPr algn="ctr">
              <a:spcBef>
                <a:spcPct val="0"/>
              </a:spcBef>
              <a:buFontTx/>
              <a:buNone/>
            </a:pPr>
            <a:endParaRPr lang="es-ES" altLang="es-ES" sz="1800" b="1">
              <a:solidFill>
                <a:srgbClr val="FF0000"/>
              </a:solidFill>
            </a:endParaRPr>
          </a:p>
        </p:txBody>
      </p:sp>
      <p:sp>
        <p:nvSpPr>
          <p:cNvPr id="15370" name="Rectángulo 1">
            <a:extLst>
              <a:ext uri="{FF2B5EF4-FFF2-40B4-BE49-F238E27FC236}">
                <a16:creationId xmlns:a16="http://schemas.microsoft.com/office/drawing/2014/main" id="{DC514858-85EE-B47F-B26C-7FCC362A8711}"/>
              </a:ext>
            </a:extLst>
          </p:cNvPr>
          <p:cNvSpPr>
            <a:spLocks noChangeArrowheads="1"/>
          </p:cNvSpPr>
          <p:nvPr/>
        </p:nvSpPr>
        <p:spPr bwMode="auto">
          <a:xfrm>
            <a:off x="395288" y="1381125"/>
            <a:ext cx="8496300" cy="4992136"/>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80000"/>
              </a:lnSpc>
              <a:spcBef>
                <a:spcPct val="0"/>
              </a:spcBef>
              <a:buFontTx/>
              <a:buNone/>
            </a:pPr>
            <a:r>
              <a:rPr lang="es-ES_tradnl" altLang="es-ES" sz="2000" b="1" dirty="0">
                <a:solidFill>
                  <a:schemeClr val="hlink"/>
                </a:solidFill>
              </a:rPr>
              <a:t>Que dice la C.E.  sobre la Administración Local: Art. 140 y 141</a:t>
            </a:r>
          </a:p>
          <a:p>
            <a:pPr algn="just" eaLnBrk="1" hangingPunct="1">
              <a:lnSpc>
                <a:spcPct val="80000"/>
              </a:lnSpc>
              <a:spcBef>
                <a:spcPct val="0"/>
              </a:spcBef>
              <a:buFontTx/>
              <a:buNone/>
            </a:pPr>
            <a:r>
              <a:rPr lang="es-ES_tradnl" altLang="es-ES" sz="1800" b="1" dirty="0">
                <a:solidFill>
                  <a:schemeClr val="hlink"/>
                </a:solidFill>
              </a:rPr>
              <a:t>(</a:t>
            </a:r>
            <a:r>
              <a:rPr lang="es-ES_tradnl" altLang="es-ES" sz="1800" b="1" dirty="0">
                <a:solidFill>
                  <a:srgbClr val="589883"/>
                </a:solidFill>
              </a:rPr>
              <a:t>ley 7/1985 de regulación de bases del régimen local, </a:t>
            </a:r>
            <a:r>
              <a:rPr lang="es-ES" altLang="es-ES" sz="1800" b="1" dirty="0">
                <a:solidFill>
                  <a:srgbClr val="589883"/>
                </a:solidFill>
              </a:rPr>
              <a:t>modificada por la  Ley 27/2013, de 27 de diciembre, de Racionalización y Sostenibilidad de la Administración Local (LRSAL </a:t>
            </a:r>
            <a:r>
              <a:rPr lang="es-ES_tradnl" altLang="es-ES" sz="1800" b="1" dirty="0">
                <a:solidFill>
                  <a:srgbClr val="589883"/>
                </a:solidFill>
              </a:rPr>
              <a:t>)</a:t>
            </a:r>
          </a:p>
          <a:p>
            <a:pPr algn="just" eaLnBrk="1" hangingPunct="1">
              <a:lnSpc>
                <a:spcPct val="80000"/>
              </a:lnSpc>
              <a:spcBef>
                <a:spcPct val="0"/>
              </a:spcBef>
              <a:buFontTx/>
              <a:buNone/>
            </a:pPr>
            <a:endParaRPr lang="es-ES_tradnl" altLang="es-ES" sz="1800" b="1" dirty="0">
              <a:solidFill>
                <a:srgbClr val="589883"/>
              </a:solidFill>
            </a:endParaRPr>
          </a:p>
          <a:p>
            <a:pPr eaLnBrk="1" hangingPunct="1">
              <a:lnSpc>
                <a:spcPct val="80000"/>
              </a:lnSpc>
              <a:spcBef>
                <a:spcPct val="0"/>
              </a:spcBef>
              <a:buFontTx/>
              <a:buNone/>
            </a:pPr>
            <a:r>
              <a:rPr lang="es-ES" altLang="es-ES" sz="1800" b="1" dirty="0"/>
              <a:t>Artículo 140.</a:t>
            </a:r>
            <a:r>
              <a:rPr lang="es-ES" altLang="es-ES" sz="1800" dirty="0"/>
              <a:t> </a:t>
            </a:r>
          </a:p>
          <a:p>
            <a:pPr algn="just" eaLnBrk="1" hangingPunct="1">
              <a:lnSpc>
                <a:spcPct val="80000"/>
              </a:lnSpc>
              <a:spcBef>
                <a:spcPct val="0"/>
              </a:spcBef>
              <a:buFontTx/>
              <a:buNone/>
            </a:pPr>
            <a:r>
              <a:rPr lang="es-ES" altLang="es-ES" sz="1800" dirty="0">
                <a:solidFill>
                  <a:srgbClr val="660033"/>
                </a:solidFill>
              </a:rPr>
              <a:t>La Constitución garantiza la autonomía de los municipios</a:t>
            </a:r>
            <a:r>
              <a:rPr lang="es-ES" altLang="es-ES" sz="1800" dirty="0"/>
              <a:t>. Estos gozarán de personalidad jurídica plena (sin ninguna limitación). Su gobierno y administración corresponde sus respectivos Ayuntamientos, integrados por los Alcaldes, tenientes de alcalde y los Concejales. Los Alcaldes serán elegidos por los Concejales o por los vecinos. </a:t>
            </a:r>
          </a:p>
          <a:p>
            <a:pPr algn="just" eaLnBrk="1" hangingPunct="1">
              <a:lnSpc>
                <a:spcPct val="80000"/>
              </a:lnSpc>
              <a:spcBef>
                <a:spcPct val="0"/>
              </a:spcBef>
              <a:buFontTx/>
              <a:buNone/>
            </a:pPr>
            <a:endParaRPr lang="es-ES" altLang="es-ES" sz="1800" dirty="0"/>
          </a:p>
          <a:p>
            <a:pPr algn="just" eaLnBrk="1" hangingPunct="1">
              <a:lnSpc>
                <a:spcPct val="80000"/>
              </a:lnSpc>
              <a:spcBef>
                <a:spcPct val="0"/>
              </a:spcBef>
              <a:buFontTx/>
              <a:buNone/>
            </a:pPr>
            <a:r>
              <a:rPr lang="es-ES" altLang="es-ES" sz="1800" b="1" dirty="0"/>
              <a:t>Artículo 141.</a:t>
            </a:r>
            <a:r>
              <a:rPr lang="es-ES" altLang="es-ES" sz="1800" dirty="0"/>
              <a:t> </a:t>
            </a:r>
          </a:p>
          <a:p>
            <a:pPr algn="just" eaLnBrk="1" hangingPunct="1">
              <a:lnSpc>
                <a:spcPct val="80000"/>
              </a:lnSpc>
              <a:spcBef>
                <a:spcPct val="0"/>
              </a:spcBef>
              <a:buFontTx/>
              <a:buNone/>
            </a:pPr>
            <a:r>
              <a:rPr lang="es-ES" altLang="es-ES" sz="1800" dirty="0">
                <a:solidFill>
                  <a:srgbClr val="660033"/>
                </a:solidFill>
              </a:rPr>
              <a:t>La provincia es una entidad local con personalidad jurídica propia</a:t>
            </a:r>
            <a:r>
              <a:rPr lang="es-ES" altLang="es-ES" sz="1800" dirty="0"/>
              <a:t>, </a:t>
            </a:r>
            <a:r>
              <a:rPr lang="es-ES" altLang="es-ES" sz="1800" dirty="0">
                <a:solidFill>
                  <a:srgbClr val="660033"/>
                </a:solidFill>
              </a:rPr>
              <a:t>determinada por la agrupación de municipios y división territorial para el cumplimiento de las actividades del Estado. Cualquier alteración de los límites provinciales habrá de ser aprobada por las Cortes Generales mediante ley orgánica</a:t>
            </a:r>
          </a:p>
          <a:p>
            <a:pPr algn="just" eaLnBrk="1" hangingPunct="1">
              <a:lnSpc>
                <a:spcPct val="80000"/>
              </a:lnSpc>
              <a:spcBef>
                <a:spcPct val="0"/>
              </a:spcBef>
              <a:buFontTx/>
              <a:buNone/>
            </a:pPr>
            <a:endParaRPr lang="es-ES" altLang="es-ES" sz="1800" dirty="0"/>
          </a:p>
          <a:p>
            <a:pPr algn="just" eaLnBrk="1" hangingPunct="1">
              <a:lnSpc>
                <a:spcPct val="80000"/>
              </a:lnSpc>
              <a:spcBef>
                <a:spcPct val="0"/>
              </a:spcBef>
              <a:buFontTx/>
              <a:buNone/>
            </a:pPr>
            <a:r>
              <a:rPr lang="es-ES" altLang="es-ES" sz="1800" u="sng" dirty="0"/>
              <a:t>El gobierno y la administración autónoma de las provincias </a:t>
            </a:r>
            <a:r>
              <a:rPr lang="es-ES" altLang="es-ES" sz="1800" dirty="0"/>
              <a:t>estarán encomendados a </a:t>
            </a:r>
            <a:r>
              <a:rPr lang="es-ES" altLang="es-ES" sz="1800" dirty="0">
                <a:solidFill>
                  <a:srgbClr val="C00000"/>
                </a:solidFill>
              </a:rPr>
              <a:t>diputaciones</a:t>
            </a:r>
            <a:r>
              <a:rPr lang="es-ES" altLang="es-ES" sz="1800" dirty="0"/>
              <a:t> u otras Corporaciones de carácter representativo, tales como Cabildos e incluso Comunidades autónomas uniprovinciales (Madrid, Murcia, etc.)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14AFC246-7A1D-0A28-CDB8-64343857AF65}"/>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17411" name="Picture 5" descr="cefcorp_logo">
            <a:extLst>
              <a:ext uri="{FF2B5EF4-FFF2-40B4-BE49-F238E27FC236}">
                <a16:creationId xmlns:a16="http://schemas.microsoft.com/office/drawing/2014/main" id="{452B8612-D881-CC60-2268-E33F565DCD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6">
            <a:extLst>
              <a:ext uri="{FF2B5EF4-FFF2-40B4-BE49-F238E27FC236}">
                <a16:creationId xmlns:a16="http://schemas.microsoft.com/office/drawing/2014/main" id="{F0AF32F3-A7DF-0BF5-3215-CD36826D31A6}"/>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17413" name="Text Box 21">
            <a:extLst>
              <a:ext uri="{FF2B5EF4-FFF2-40B4-BE49-F238E27FC236}">
                <a16:creationId xmlns:a16="http://schemas.microsoft.com/office/drawing/2014/main" id="{107E3F2F-244E-331F-B3C5-E3F35A9FBABF}"/>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17414" name="Text Box 22">
            <a:extLst>
              <a:ext uri="{FF2B5EF4-FFF2-40B4-BE49-F238E27FC236}">
                <a16:creationId xmlns:a16="http://schemas.microsoft.com/office/drawing/2014/main" id="{69407565-058C-E504-91D9-74B198A81D09}"/>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17415" name="Picture 26" descr="logo-udima-horizontal-COLOR">
            <a:extLst>
              <a:ext uri="{FF2B5EF4-FFF2-40B4-BE49-F238E27FC236}">
                <a16:creationId xmlns:a16="http://schemas.microsoft.com/office/drawing/2014/main" id="{F3F75880-D3FA-7884-54D5-1B813D0A27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Rectángulo 1">
            <a:extLst>
              <a:ext uri="{FF2B5EF4-FFF2-40B4-BE49-F238E27FC236}">
                <a16:creationId xmlns:a16="http://schemas.microsoft.com/office/drawing/2014/main" id="{26FF6803-0D15-566D-3542-A8AE9AFE9465}"/>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17417" name="CuadroTexto 3">
            <a:extLst>
              <a:ext uri="{FF2B5EF4-FFF2-40B4-BE49-F238E27FC236}">
                <a16:creationId xmlns:a16="http://schemas.microsoft.com/office/drawing/2014/main" id="{8022DAB9-BC0D-27F1-17DE-17C0095EEA74}"/>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Administración autonómica</a:t>
            </a:r>
          </a:p>
          <a:p>
            <a:pPr algn="ctr">
              <a:spcBef>
                <a:spcPct val="0"/>
              </a:spcBef>
              <a:buFontTx/>
              <a:buNone/>
            </a:pPr>
            <a:endParaRPr lang="es-ES" altLang="es-ES" sz="1800" b="1">
              <a:solidFill>
                <a:srgbClr val="FF0000"/>
              </a:solidFill>
            </a:endParaRPr>
          </a:p>
        </p:txBody>
      </p:sp>
      <p:sp>
        <p:nvSpPr>
          <p:cNvPr id="17418" name="Rectángulo 1">
            <a:extLst>
              <a:ext uri="{FF2B5EF4-FFF2-40B4-BE49-F238E27FC236}">
                <a16:creationId xmlns:a16="http://schemas.microsoft.com/office/drawing/2014/main" id="{4DAF3481-6CB2-399F-41D0-DE9CB940D5E1}"/>
              </a:ext>
            </a:extLst>
          </p:cNvPr>
          <p:cNvSpPr>
            <a:spLocks noChangeArrowheads="1"/>
          </p:cNvSpPr>
          <p:nvPr/>
        </p:nvSpPr>
        <p:spPr bwMode="auto">
          <a:xfrm>
            <a:off x="323850" y="1243013"/>
            <a:ext cx="8569325" cy="4697412"/>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81000" indent="-3810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80000"/>
              </a:lnSpc>
              <a:spcBef>
                <a:spcPct val="0"/>
              </a:spcBef>
              <a:buFontTx/>
              <a:buNone/>
            </a:pPr>
            <a:r>
              <a:rPr lang="es-ES_tradnl" altLang="es-ES" sz="2200" b="1">
                <a:solidFill>
                  <a:schemeClr val="hlink"/>
                </a:solidFill>
              </a:rPr>
              <a:t>Que dice la C.E.  sobre las Comunidades Autónomas: Art 143</a:t>
            </a:r>
          </a:p>
          <a:p>
            <a:pPr eaLnBrk="1" hangingPunct="1">
              <a:lnSpc>
                <a:spcPct val="80000"/>
              </a:lnSpc>
              <a:spcBef>
                <a:spcPct val="0"/>
              </a:spcBef>
              <a:buFontTx/>
              <a:buNone/>
            </a:pPr>
            <a:endParaRPr lang="es-ES_tradnl" altLang="es-ES" sz="2200">
              <a:solidFill>
                <a:schemeClr val="hlink"/>
              </a:solidFill>
            </a:endParaRPr>
          </a:p>
          <a:p>
            <a:pPr algn="just" eaLnBrk="1" hangingPunct="1">
              <a:lnSpc>
                <a:spcPct val="80000"/>
              </a:lnSpc>
              <a:spcBef>
                <a:spcPct val="0"/>
              </a:spcBef>
              <a:buFontTx/>
              <a:buAutoNum type="arabicPeriod"/>
            </a:pPr>
            <a:r>
              <a:rPr lang="es-ES" altLang="es-ES" sz="2200"/>
              <a:t>En el ejercicio del derecho a la autonomía reconocido en el </a:t>
            </a:r>
            <a:r>
              <a:rPr lang="es-ES" altLang="es-ES" sz="2200">
                <a:hlinkClick r:id="rId5"/>
              </a:rPr>
              <a:t>artículo 2 de la Constitución</a:t>
            </a:r>
            <a:r>
              <a:rPr lang="es-ES" altLang="es-ES" sz="2200"/>
              <a:t>, </a:t>
            </a:r>
            <a:r>
              <a:rPr lang="es-ES" altLang="es-ES" sz="2200">
                <a:solidFill>
                  <a:srgbClr val="660033"/>
                </a:solidFill>
              </a:rPr>
              <a:t>las provincias limítrofes con características históricas, culturales y económicas comunes, los territorios insulares y las provincias</a:t>
            </a:r>
            <a:r>
              <a:rPr lang="es-ES" altLang="es-ES" sz="2200"/>
              <a:t> con entidad regional histórica podrán acceder a su autogobierno y constituirse en Comunidades Autónomas.</a:t>
            </a:r>
          </a:p>
          <a:p>
            <a:pPr algn="just" eaLnBrk="1" hangingPunct="1">
              <a:lnSpc>
                <a:spcPct val="80000"/>
              </a:lnSpc>
              <a:spcBef>
                <a:spcPct val="0"/>
              </a:spcBef>
              <a:buFontTx/>
              <a:buNone/>
            </a:pPr>
            <a:endParaRPr lang="es-ES" altLang="es-ES" sz="2200"/>
          </a:p>
          <a:p>
            <a:pPr algn="just" eaLnBrk="1" hangingPunct="1">
              <a:lnSpc>
                <a:spcPct val="80000"/>
              </a:lnSpc>
              <a:spcBef>
                <a:spcPct val="0"/>
              </a:spcBef>
              <a:buFontTx/>
              <a:buNone/>
            </a:pPr>
            <a:r>
              <a:rPr lang="es-ES" altLang="es-ES" sz="2200"/>
              <a:t>2. La iniciativa del proceso Autonómico corresponde a todas las Diputaciones interesadas o al órgano interinsular correspondiente y a las dos terceras partes de los municipios cuya población represente, al menos, la mayoría del censo electoral de cada provincia o isla. Estos requisitos deberán ser cumplidos en el plazo de seis meses desde el primer acuerdo adoptado al respecto por alguna de las Corporaciones locales interesadas.</a:t>
            </a:r>
            <a:endParaRPr lang="es-ES_tradnl" altLang="es-ES" sz="2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E802D14D-4575-963F-6534-5F317AB2F23E}"/>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19459" name="Picture 5" descr="cefcorp_logo">
            <a:extLst>
              <a:ext uri="{FF2B5EF4-FFF2-40B4-BE49-F238E27FC236}">
                <a16:creationId xmlns:a16="http://schemas.microsoft.com/office/drawing/2014/main" id="{9E83EC64-3EE0-7717-3EF1-D1C23E818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Rectangle 6">
            <a:extLst>
              <a:ext uri="{FF2B5EF4-FFF2-40B4-BE49-F238E27FC236}">
                <a16:creationId xmlns:a16="http://schemas.microsoft.com/office/drawing/2014/main" id="{90E8A7D0-1526-C99F-7360-4598B9002708}"/>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19461" name="Text Box 21">
            <a:extLst>
              <a:ext uri="{FF2B5EF4-FFF2-40B4-BE49-F238E27FC236}">
                <a16:creationId xmlns:a16="http://schemas.microsoft.com/office/drawing/2014/main" id="{7DFEF477-CA2C-6432-D24D-8D602CB3D76D}"/>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19462" name="Text Box 22">
            <a:extLst>
              <a:ext uri="{FF2B5EF4-FFF2-40B4-BE49-F238E27FC236}">
                <a16:creationId xmlns:a16="http://schemas.microsoft.com/office/drawing/2014/main" id="{08C6E1B4-9D47-29EF-D067-9BF6FD048C4C}"/>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19463" name="Picture 26" descr="logo-udima-horizontal-COLOR">
            <a:extLst>
              <a:ext uri="{FF2B5EF4-FFF2-40B4-BE49-F238E27FC236}">
                <a16:creationId xmlns:a16="http://schemas.microsoft.com/office/drawing/2014/main" id="{45161656-5627-872C-2A66-2E91767429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Rectángulo 1">
            <a:extLst>
              <a:ext uri="{FF2B5EF4-FFF2-40B4-BE49-F238E27FC236}">
                <a16:creationId xmlns:a16="http://schemas.microsoft.com/office/drawing/2014/main" id="{2A36DE58-5966-788E-3494-D4831B349E99}"/>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19465" name="CuadroTexto 3">
            <a:extLst>
              <a:ext uri="{FF2B5EF4-FFF2-40B4-BE49-F238E27FC236}">
                <a16:creationId xmlns:a16="http://schemas.microsoft.com/office/drawing/2014/main" id="{42F79664-93CE-24BA-55AB-6CA645D037C1}"/>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Competencias transferibles</a:t>
            </a:r>
          </a:p>
          <a:p>
            <a:pPr algn="ctr">
              <a:spcBef>
                <a:spcPct val="0"/>
              </a:spcBef>
              <a:buFontTx/>
              <a:buNone/>
            </a:pPr>
            <a:r>
              <a:rPr lang="es-ES" altLang="es-ES" sz="1800" b="1">
                <a:solidFill>
                  <a:srgbClr val="FF0000"/>
                </a:solidFill>
              </a:rPr>
              <a:t> y no transferibles</a:t>
            </a:r>
          </a:p>
        </p:txBody>
      </p:sp>
      <p:sp>
        <p:nvSpPr>
          <p:cNvPr id="19466" name="Rectángulo 1">
            <a:extLst>
              <a:ext uri="{FF2B5EF4-FFF2-40B4-BE49-F238E27FC236}">
                <a16:creationId xmlns:a16="http://schemas.microsoft.com/office/drawing/2014/main" id="{0E082164-31C0-1353-1F64-45E8D0EDC112}"/>
              </a:ext>
            </a:extLst>
          </p:cNvPr>
          <p:cNvSpPr>
            <a:spLocks noChangeArrowheads="1"/>
          </p:cNvSpPr>
          <p:nvPr/>
        </p:nvSpPr>
        <p:spPr bwMode="auto">
          <a:xfrm>
            <a:off x="287338" y="1257300"/>
            <a:ext cx="8424862" cy="5078413"/>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81000" indent="-3810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es-ES_tradnl" altLang="es-ES" sz="3600"/>
              <a:t>El Articulo 148 (competencias transferibles) y 149(competencias no transferibles) regulan las competencias que pueden ser transferidas a las Comunidades Autónomas y por ende a las provincias y municipios, y las competencias que son de uso exclusivo del Estado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1C2D8888-74D3-ECCE-6DBB-39AC160F0B9E}"/>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21507" name="Picture 5" descr="cefcorp_logo">
            <a:extLst>
              <a:ext uri="{FF2B5EF4-FFF2-40B4-BE49-F238E27FC236}">
                <a16:creationId xmlns:a16="http://schemas.microsoft.com/office/drawing/2014/main" id="{ACE4B1CC-2D9A-051E-A5E9-3ACF69BB7E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0325"/>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6">
            <a:extLst>
              <a:ext uri="{FF2B5EF4-FFF2-40B4-BE49-F238E27FC236}">
                <a16:creationId xmlns:a16="http://schemas.microsoft.com/office/drawing/2014/main" id="{51763278-BB21-1071-3ADF-6AEBAE1D98B2}"/>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21509" name="Text Box 21">
            <a:extLst>
              <a:ext uri="{FF2B5EF4-FFF2-40B4-BE49-F238E27FC236}">
                <a16:creationId xmlns:a16="http://schemas.microsoft.com/office/drawing/2014/main" id="{F5005754-0C99-C06A-EF95-593CA4CEF23F}"/>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21510" name="Text Box 22">
            <a:extLst>
              <a:ext uri="{FF2B5EF4-FFF2-40B4-BE49-F238E27FC236}">
                <a16:creationId xmlns:a16="http://schemas.microsoft.com/office/drawing/2014/main" id="{3DD4BBE5-DC90-18C7-A4F9-985A1342AE9F}"/>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21511" name="Picture 26" descr="logo-udima-horizontal-COLOR">
            <a:extLst>
              <a:ext uri="{FF2B5EF4-FFF2-40B4-BE49-F238E27FC236}">
                <a16:creationId xmlns:a16="http://schemas.microsoft.com/office/drawing/2014/main" id="{76839654-FEDF-E43E-93DE-5C2A722A0E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Rectángulo 1">
            <a:extLst>
              <a:ext uri="{FF2B5EF4-FFF2-40B4-BE49-F238E27FC236}">
                <a16:creationId xmlns:a16="http://schemas.microsoft.com/office/drawing/2014/main" id="{CB042CEE-690E-E896-2F10-3B234FDE415F}"/>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21513" name="CuadroTexto 3">
            <a:extLst>
              <a:ext uri="{FF2B5EF4-FFF2-40B4-BE49-F238E27FC236}">
                <a16:creationId xmlns:a16="http://schemas.microsoft.com/office/drawing/2014/main" id="{7BDA67E3-9F0F-48B5-BB07-2D893FDC05C7}"/>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Órganos Constitucionales</a:t>
            </a:r>
          </a:p>
        </p:txBody>
      </p:sp>
      <p:sp>
        <p:nvSpPr>
          <p:cNvPr id="21514" name="Rectángulo 1">
            <a:extLst>
              <a:ext uri="{FF2B5EF4-FFF2-40B4-BE49-F238E27FC236}">
                <a16:creationId xmlns:a16="http://schemas.microsoft.com/office/drawing/2014/main" id="{2AFE965A-6980-FBBA-F3C0-4EEB26636137}"/>
              </a:ext>
            </a:extLst>
          </p:cNvPr>
          <p:cNvSpPr>
            <a:spLocks noChangeArrowheads="1"/>
          </p:cNvSpPr>
          <p:nvPr/>
        </p:nvSpPr>
        <p:spPr bwMode="auto">
          <a:xfrm>
            <a:off x="166688" y="1230313"/>
            <a:ext cx="8653462" cy="4795159"/>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lIns="91440" tIns="45720" rIns="91440" bIns="45720" anchor="t">
            <a:spAutoFit/>
          </a:bodyPr>
          <a:lstStyle>
            <a:lvl1pPr marL="609600" indent="-609600">
              <a:spcBef>
                <a:spcPct val="20000"/>
              </a:spcBef>
              <a:buChar char="•"/>
              <a:defRPr sz="3200">
                <a:solidFill>
                  <a:schemeClr val="tx1"/>
                </a:solidFill>
                <a:latin typeface="Arial" panose="020B0604020202020204" pitchFamily="34" charset="0"/>
              </a:defRPr>
            </a:lvl1pPr>
            <a:lvl2pPr marL="990600" indent="-53340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80000"/>
              </a:lnSpc>
              <a:spcBef>
                <a:spcPct val="0"/>
              </a:spcBef>
              <a:buFontTx/>
              <a:buNone/>
            </a:pPr>
            <a:r>
              <a:rPr lang="es-ES" altLang="es-ES" sz="2400" dirty="0">
                <a:latin typeface="Arial"/>
                <a:cs typeface="Arial"/>
              </a:rPr>
              <a:t>Órganos creados y regulados por la Constitución, cuyas relaciones configuran la forma de gobierno. Tienen</a:t>
            </a:r>
            <a:r>
              <a:rPr lang="es-ES_tradnl" altLang="es-ES" sz="2400" dirty="0">
                <a:latin typeface="Arial"/>
                <a:cs typeface="Arial"/>
              </a:rPr>
              <a:t> dotación diferenciada en los Presupuestos Generales del Estado.</a:t>
            </a:r>
          </a:p>
          <a:p>
            <a:pPr lvl="1" eaLnBrk="1" hangingPunct="1">
              <a:lnSpc>
                <a:spcPct val="80000"/>
              </a:lnSpc>
              <a:spcBef>
                <a:spcPct val="0"/>
              </a:spcBef>
              <a:buFontTx/>
              <a:buAutoNum type="arabicPeriod"/>
            </a:pPr>
            <a:r>
              <a:rPr lang="es-ES_tradnl" altLang="es-ES" sz="2200" b="1" dirty="0">
                <a:solidFill>
                  <a:schemeClr val="hlink"/>
                </a:solidFill>
                <a:latin typeface="Arial"/>
                <a:cs typeface="Arial"/>
              </a:rPr>
              <a:t>La Corona.- (Artículo 56 de la C.E.)</a:t>
            </a:r>
          </a:p>
          <a:p>
            <a:pPr lvl="1" eaLnBrk="1" hangingPunct="1">
              <a:lnSpc>
                <a:spcPct val="80000"/>
              </a:lnSpc>
              <a:spcBef>
                <a:spcPct val="0"/>
              </a:spcBef>
              <a:buFontTx/>
              <a:buAutoNum type="arabicPeriod"/>
            </a:pPr>
            <a:r>
              <a:rPr lang="es-ES_tradnl" altLang="es-ES" sz="2200" b="1" dirty="0">
                <a:solidFill>
                  <a:schemeClr val="hlink"/>
                </a:solidFill>
                <a:latin typeface="Arial"/>
                <a:cs typeface="Arial"/>
              </a:rPr>
              <a:t>Las Cortes Generales.- (Artículo 66 de la C.E.)</a:t>
            </a:r>
          </a:p>
          <a:p>
            <a:pPr lvl="1" eaLnBrk="1" hangingPunct="1">
              <a:lnSpc>
                <a:spcPct val="80000"/>
              </a:lnSpc>
              <a:spcBef>
                <a:spcPct val="0"/>
              </a:spcBef>
              <a:buFontTx/>
              <a:buAutoNum type="arabicPeriod"/>
            </a:pPr>
            <a:r>
              <a:rPr lang="es-ES_tradnl" altLang="es-ES" sz="2200" b="1" dirty="0">
                <a:solidFill>
                  <a:schemeClr val="hlink"/>
                </a:solidFill>
                <a:latin typeface="Arial"/>
                <a:cs typeface="Arial"/>
              </a:rPr>
              <a:t>El Gobierno (</a:t>
            </a:r>
            <a:r>
              <a:rPr lang="es-ES_tradnl" altLang="es-ES" sz="2200" b="1" dirty="0" err="1">
                <a:solidFill>
                  <a:schemeClr val="hlink"/>
                </a:solidFill>
                <a:latin typeface="Arial"/>
                <a:cs typeface="Arial"/>
              </a:rPr>
              <a:t>Tit</a:t>
            </a:r>
            <a:r>
              <a:rPr lang="es-ES_tradnl" altLang="es-ES" sz="2200" b="1" dirty="0">
                <a:solidFill>
                  <a:schemeClr val="hlink"/>
                </a:solidFill>
                <a:latin typeface="Arial"/>
                <a:cs typeface="Arial"/>
              </a:rPr>
              <a:t>. IV de la C.E.)</a:t>
            </a:r>
          </a:p>
          <a:p>
            <a:pPr lvl="1" eaLnBrk="1" hangingPunct="1">
              <a:lnSpc>
                <a:spcPct val="80000"/>
              </a:lnSpc>
              <a:spcBef>
                <a:spcPct val="0"/>
              </a:spcBef>
              <a:buFontTx/>
              <a:buAutoNum type="arabicPeriod"/>
            </a:pPr>
            <a:r>
              <a:rPr lang="es-ES_tradnl" altLang="es-ES" sz="2200" b="1" dirty="0">
                <a:solidFill>
                  <a:schemeClr val="hlink"/>
                </a:solidFill>
                <a:latin typeface="Arial"/>
                <a:cs typeface="Arial"/>
              </a:rPr>
              <a:t>Consejo General del Poder Judicial (</a:t>
            </a:r>
            <a:r>
              <a:rPr lang="es-ES_tradnl" altLang="es-ES" sz="2200" b="1" dirty="0" err="1">
                <a:solidFill>
                  <a:schemeClr val="hlink"/>
                </a:solidFill>
                <a:latin typeface="Arial"/>
                <a:cs typeface="Arial"/>
              </a:rPr>
              <a:t>Tit</a:t>
            </a:r>
            <a:r>
              <a:rPr lang="es-ES_tradnl" altLang="es-ES" sz="2200" b="1" dirty="0">
                <a:solidFill>
                  <a:schemeClr val="hlink"/>
                </a:solidFill>
                <a:latin typeface="Arial"/>
                <a:cs typeface="Arial"/>
              </a:rPr>
              <a:t>. VI de la C.E)</a:t>
            </a:r>
          </a:p>
          <a:p>
            <a:pPr lvl="1" eaLnBrk="1" hangingPunct="1">
              <a:lnSpc>
                <a:spcPct val="80000"/>
              </a:lnSpc>
              <a:spcBef>
                <a:spcPct val="0"/>
              </a:spcBef>
              <a:buFontTx/>
              <a:buAutoNum type="arabicPeriod"/>
            </a:pPr>
            <a:r>
              <a:rPr lang="es-ES_tradnl" altLang="es-ES" sz="2200" b="1" dirty="0">
                <a:solidFill>
                  <a:schemeClr val="hlink"/>
                </a:solidFill>
                <a:latin typeface="Arial"/>
                <a:cs typeface="Arial"/>
              </a:rPr>
              <a:t>El Tribunal Constitucional (Artículo 161 de C.E.)</a:t>
            </a:r>
          </a:p>
          <a:p>
            <a:pPr lvl="1">
              <a:lnSpc>
                <a:spcPct val="80000"/>
              </a:lnSpc>
              <a:spcBef>
                <a:spcPct val="0"/>
              </a:spcBef>
              <a:buFontTx/>
              <a:buAutoNum type="arabicPeriod"/>
            </a:pPr>
            <a:r>
              <a:rPr lang="es-ES" sz="2200" b="1" dirty="0">
                <a:solidFill>
                  <a:schemeClr val="hlink"/>
                </a:solidFill>
                <a:latin typeface="Arial"/>
                <a:cs typeface="Arial"/>
              </a:rPr>
              <a:t>Tribunal de Cuentas (Artículo 136 C.E.) </a:t>
            </a:r>
            <a:endParaRPr lang="es-ES" dirty="0">
              <a:solidFill>
                <a:schemeClr val="hlink"/>
              </a:solidFill>
            </a:endParaRPr>
          </a:p>
          <a:p>
            <a:pPr lvl="1">
              <a:lnSpc>
                <a:spcPct val="80000"/>
              </a:lnSpc>
              <a:spcBef>
                <a:spcPct val="0"/>
              </a:spcBef>
              <a:buAutoNum type="arabicPeriod"/>
            </a:pPr>
            <a:endParaRPr lang="es-ES_tradnl" altLang="es-ES" sz="2200" b="1" dirty="0">
              <a:solidFill>
                <a:schemeClr val="hlink"/>
              </a:solidFill>
              <a:latin typeface="Arial"/>
              <a:cs typeface="Arial"/>
            </a:endParaRPr>
          </a:p>
          <a:p>
            <a:pPr marL="457200" lvl="1" indent="0">
              <a:lnSpc>
                <a:spcPct val="80000"/>
              </a:lnSpc>
              <a:spcBef>
                <a:spcPct val="0"/>
              </a:spcBef>
              <a:buNone/>
            </a:pPr>
            <a:r>
              <a:rPr lang="es-ES_tradnl" altLang="es-ES" sz="2200" b="1" dirty="0">
                <a:solidFill>
                  <a:schemeClr val="hlink"/>
                </a:solidFill>
                <a:latin typeface="Arial"/>
                <a:cs typeface="Arial"/>
              </a:rPr>
              <a:t>ORGANOS DE RELEVANCIA CONSTITUCIONAL</a:t>
            </a:r>
          </a:p>
          <a:p>
            <a:pPr marL="457200" lvl="1" indent="0">
              <a:lnSpc>
                <a:spcPct val="80000"/>
              </a:lnSpc>
              <a:spcBef>
                <a:spcPct val="0"/>
              </a:spcBef>
              <a:buNone/>
            </a:pPr>
            <a:endParaRPr lang="es-ES_tradnl" altLang="es-ES" sz="2200" b="1" dirty="0">
              <a:solidFill>
                <a:schemeClr val="hlink"/>
              </a:solidFill>
              <a:latin typeface="Arial"/>
              <a:cs typeface="Arial"/>
            </a:endParaRPr>
          </a:p>
          <a:p>
            <a:pPr lvl="1">
              <a:lnSpc>
                <a:spcPct val="80000"/>
              </a:lnSpc>
              <a:spcBef>
                <a:spcPct val="0"/>
              </a:spcBef>
              <a:buFontTx/>
              <a:buAutoNum type="arabicPeriod"/>
            </a:pPr>
            <a:r>
              <a:rPr lang="es-ES" sz="2200" b="1" dirty="0">
                <a:solidFill>
                  <a:schemeClr val="hlink"/>
                </a:solidFill>
                <a:latin typeface="Arial"/>
                <a:cs typeface="Arial"/>
              </a:rPr>
              <a:t>Consejo de Estado.- (Artículo 107 de la C.E.) </a:t>
            </a:r>
          </a:p>
          <a:p>
            <a:pPr lvl="1">
              <a:lnSpc>
                <a:spcPct val="80000"/>
              </a:lnSpc>
              <a:spcBef>
                <a:spcPct val="0"/>
              </a:spcBef>
              <a:buFontTx/>
              <a:buAutoNum type="arabicPeriod"/>
            </a:pPr>
            <a:r>
              <a:rPr lang="es-ES_tradnl" altLang="es-ES" sz="2200" b="1" dirty="0">
                <a:solidFill>
                  <a:schemeClr val="hlink"/>
                </a:solidFill>
                <a:latin typeface="Arial"/>
                <a:cs typeface="Arial"/>
              </a:rPr>
              <a:t>El Defensor del Pueblo (Artículo 54 de la C.E.) </a:t>
            </a:r>
            <a:endParaRPr lang="es-ES_tradnl" altLang="es-ES" sz="2200" b="1">
              <a:solidFill>
                <a:schemeClr val="hlink"/>
              </a:solidFill>
              <a:cs typeface="Arial"/>
            </a:endParaRPr>
          </a:p>
          <a:p>
            <a:pPr lvl="1">
              <a:lnSpc>
                <a:spcPct val="80000"/>
              </a:lnSpc>
              <a:spcBef>
                <a:spcPct val="0"/>
              </a:spcBef>
              <a:buFontTx/>
              <a:buAutoNum type="arabicPeriod"/>
            </a:pPr>
            <a:r>
              <a:rPr lang="es-ES_tradnl" altLang="es-ES" sz="2200" b="1" dirty="0">
                <a:solidFill>
                  <a:schemeClr val="hlink"/>
                </a:solidFill>
                <a:latin typeface="Arial"/>
                <a:cs typeface="Arial"/>
              </a:rPr>
              <a:t>El Ministerio Fiscal (Art. 124 de la C.E.</a:t>
            </a:r>
            <a:endParaRPr lang="es-ES_tradnl" altLang="es-ES" sz="2200" b="1">
              <a:solidFill>
                <a:schemeClr val="hlink"/>
              </a:solidFill>
              <a:cs typeface="Arial"/>
            </a:endParaRPr>
          </a:p>
          <a:p>
            <a:pPr lvl="1">
              <a:lnSpc>
                <a:spcPct val="80000"/>
              </a:lnSpc>
              <a:spcBef>
                <a:spcPct val="0"/>
              </a:spcBef>
              <a:buFontTx/>
              <a:buAutoNum type="arabicPeriod"/>
            </a:pPr>
            <a:r>
              <a:rPr lang="es-ES_tradnl" altLang="es-ES" sz="2200" b="1" dirty="0">
                <a:solidFill>
                  <a:schemeClr val="hlink"/>
                </a:solidFill>
                <a:latin typeface="Arial"/>
                <a:cs typeface="Arial"/>
              </a:rPr>
              <a:t>El Consejo Económico y Social (Ley 21/1991)</a:t>
            </a:r>
            <a:endParaRPr lang="es-ES_tradnl" altLang="es-ES" sz="2200" b="1">
              <a:solidFill>
                <a:schemeClr val="hlink"/>
              </a:solidFil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D733EFF-C9B7-EF43-D7D0-FEA2875F54A6}"/>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23555" name="Picture 5" descr="cefcorp_logo">
            <a:extLst>
              <a:ext uri="{FF2B5EF4-FFF2-40B4-BE49-F238E27FC236}">
                <a16:creationId xmlns:a16="http://schemas.microsoft.com/office/drawing/2014/main" id="{7C400FA6-152A-F542-5596-5D4A867DBB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Rectangle 6">
            <a:extLst>
              <a:ext uri="{FF2B5EF4-FFF2-40B4-BE49-F238E27FC236}">
                <a16:creationId xmlns:a16="http://schemas.microsoft.com/office/drawing/2014/main" id="{3D8A1343-2A6C-3D48-27C8-1B879E336225}"/>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23557" name="Text Box 21">
            <a:extLst>
              <a:ext uri="{FF2B5EF4-FFF2-40B4-BE49-F238E27FC236}">
                <a16:creationId xmlns:a16="http://schemas.microsoft.com/office/drawing/2014/main" id="{E394E161-BDF6-5391-E57A-5DA2C9F1A86B}"/>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23558" name="Text Box 22">
            <a:extLst>
              <a:ext uri="{FF2B5EF4-FFF2-40B4-BE49-F238E27FC236}">
                <a16:creationId xmlns:a16="http://schemas.microsoft.com/office/drawing/2014/main" id="{B4AF2BB7-DCC4-40CD-FA66-2DFAB2E8BC16}"/>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23559" name="Picture 26" descr="logo-udima-horizontal-COLOR">
            <a:extLst>
              <a:ext uri="{FF2B5EF4-FFF2-40B4-BE49-F238E27FC236}">
                <a16:creationId xmlns:a16="http://schemas.microsoft.com/office/drawing/2014/main" id="{CE7C8175-B32D-04A0-65D4-F16E4C5807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Rectángulo 1">
            <a:extLst>
              <a:ext uri="{FF2B5EF4-FFF2-40B4-BE49-F238E27FC236}">
                <a16:creationId xmlns:a16="http://schemas.microsoft.com/office/drawing/2014/main" id="{95053848-0BD2-C633-C683-C206068C246A}"/>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23561" name="CuadroTexto 3">
            <a:extLst>
              <a:ext uri="{FF2B5EF4-FFF2-40B4-BE49-F238E27FC236}">
                <a16:creationId xmlns:a16="http://schemas.microsoft.com/office/drawing/2014/main" id="{22BB6B96-5593-ECE3-867A-66B435580471}"/>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Pública Española</a:t>
            </a:r>
          </a:p>
        </p:txBody>
      </p:sp>
      <p:pic>
        <p:nvPicPr>
          <p:cNvPr id="23562" name="Imagen 1">
            <a:extLst>
              <a:ext uri="{FF2B5EF4-FFF2-40B4-BE49-F238E27FC236}">
                <a16:creationId xmlns:a16="http://schemas.microsoft.com/office/drawing/2014/main" id="{E1B7CFF4-1731-AF0F-36FF-81F369D1AD8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87338" y="1333500"/>
            <a:ext cx="8229600" cy="49466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DF538605-2193-773B-F210-FC7731C7FB9B}"/>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25603" name="Picture 5" descr="cefcorp_logo">
            <a:extLst>
              <a:ext uri="{FF2B5EF4-FFF2-40B4-BE49-F238E27FC236}">
                <a16:creationId xmlns:a16="http://schemas.microsoft.com/office/drawing/2014/main" id="{63B4FFA5-27EE-50A6-6C44-243701CB76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Rectangle 6">
            <a:extLst>
              <a:ext uri="{FF2B5EF4-FFF2-40B4-BE49-F238E27FC236}">
                <a16:creationId xmlns:a16="http://schemas.microsoft.com/office/drawing/2014/main" id="{7FAA814D-D28E-5685-3FAE-017A430CE861}"/>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25605" name="Text Box 21">
            <a:extLst>
              <a:ext uri="{FF2B5EF4-FFF2-40B4-BE49-F238E27FC236}">
                <a16:creationId xmlns:a16="http://schemas.microsoft.com/office/drawing/2014/main" id="{33F32F64-DB06-A4DD-687E-FB66CDAFB934}"/>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25606" name="Text Box 22">
            <a:extLst>
              <a:ext uri="{FF2B5EF4-FFF2-40B4-BE49-F238E27FC236}">
                <a16:creationId xmlns:a16="http://schemas.microsoft.com/office/drawing/2014/main" id="{017312E6-6E6C-EBB2-5D9D-0F90398C083F}"/>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25607" name="Picture 26" descr="logo-udima-horizontal-COLOR">
            <a:extLst>
              <a:ext uri="{FF2B5EF4-FFF2-40B4-BE49-F238E27FC236}">
                <a16:creationId xmlns:a16="http://schemas.microsoft.com/office/drawing/2014/main" id="{2EE5E749-551C-5CE3-E8CD-20CE57A58A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Rectángulo 1">
            <a:extLst>
              <a:ext uri="{FF2B5EF4-FFF2-40B4-BE49-F238E27FC236}">
                <a16:creationId xmlns:a16="http://schemas.microsoft.com/office/drawing/2014/main" id="{CBBC9D2E-1371-3C76-77D3-83D20EEE0F29}"/>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25609" name="CuadroTexto 3">
            <a:extLst>
              <a:ext uri="{FF2B5EF4-FFF2-40B4-BE49-F238E27FC236}">
                <a16:creationId xmlns:a16="http://schemas.microsoft.com/office/drawing/2014/main" id="{7053C5EE-617E-29ED-1E96-40B201EECBEF}"/>
              </a:ext>
            </a:extLst>
          </p:cNvPr>
          <p:cNvSpPr txBox="1">
            <a:spLocks noChangeArrowheads="1"/>
          </p:cNvSpPr>
          <p:nvPr/>
        </p:nvSpPr>
        <p:spPr bwMode="auto">
          <a:xfrm>
            <a:off x="2011363" y="133350"/>
            <a:ext cx="5591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Organizaciones Administrativas en el ámbito ESTATAL</a:t>
            </a:r>
          </a:p>
        </p:txBody>
      </p:sp>
      <p:sp>
        <p:nvSpPr>
          <p:cNvPr id="2" name="Rectángulo 1">
            <a:extLst>
              <a:ext uri="{FF2B5EF4-FFF2-40B4-BE49-F238E27FC236}">
                <a16:creationId xmlns:a16="http://schemas.microsoft.com/office/drawing/2014/main" id="{5CB743F1-2491-B2DE-2133-D179AD0218D6}"/>
              </a:ext>
            </a:extLst>
          </p:cNvPr>
          <p:cNvSpPr/>
          <p:nvPr/>
        </p:nvSpPr>
        <p:spPr>
          <a:xfrm>
            <a:off x="431800" y="1211263"/>
            <a:ext cx="8423275" cy="5127558"/>
          </a:xfrm>
          <a:prstGeom prst="rect">
            <a:avLst/>
          </a:prstGeom>
          <a:ln w="38100">
            <a:solidFill>
              <a:srgbClr val="7030A0"/>
            </a:solidFill>
          </a:ln>
        </p:spPr>
        <p:txBody>
          <a:bodyPr lIns="91440" tIns="45720" rIns="91440" bIns="45720" anchor="t">
            <a:spAutoFit/>
          </a:bodyPr>
          <a:lstStyle/>
          <a:p>
            <a:pPr eaLnBrk="1" hangingPunct="1">
              <a:lnSpc>
                <a:spcPct val="80000"/>
              </a:lnSpc>
              <a:defRPr/>
            </a:pPr>
            <a:r>
              <a:rPr lang="es-ES_tradnl" altLang="es-ES" sz="1600" b="1" dirty="0">
                <a:solidFill>
                  <a:srgbClr val="7030A0"/>
                </a:solidFill>
              </a:rPr>
              <a:t>Administración General del Estado: </a:t>
            </a:r>
          </a:p>
          <a:p>
            <a:pPr marL="742950" lvl="1" indent="-285750" eaLnBrk="1" hangingPunct="1">
              <a:lnSpc>
                <a:spcPct val="80000"/>
              </a:lnSpc>
              <a:buFont typeface="Arial" panose="020B0604020202020204" pitchFamily="34" charset="0"/>
              <a:buChar char="•"/>
              <a:defRPr/>
            </a:pPr>
            <a:r>
              <a:rPr lang="es-ES_tradnl" altLang="es-ES" sz="1600" b="1" dirty="0">
                <a:solidFill>
                  <a:srgbClr val="008000"/>
                </a:solidFill>
              </a:rPr>
              <a:t>Administración Central: Ministerios y servicios comunes (art. 68 Ley 40/2015 LRJSP)</a:t>
            </a:r>
          </a:p>
          <a:p>
            <a:pPr marL="742950" lvl="1" indent="-285750" eaLnBrk="1" hangingPunct="1">
              <a:lnSpc>
                <a:spcPct val="80000"/>
              </a:lnSpc>
              <a:buFont typeface="Arial" panose="020B0604020202020204" pitchFamily="34" charset="0"/>
              <a:buChar char="•"/>
              <a:defRPr/>
            </a:pPr>
            <a:r>
              <a:rPr lang="es-ES_tradnl" altLang="es-ES" sz="1600" b="1" dirty="0">
                <a:solidFill>
                  <a:srgbClr val="008000"/>
                </a:solidFill>
              </a:rPr>
              <a:t>Organización Territorial de la AGE</a:t>
            </a:r>
          </a:p>
          <a:p>
            <a:pPr marL="742950" lvl="1" indent="-285750" eaLnBrk="1" hangingPunct="1">
              <a:lnSpc>
                <a:spcPct val="80000"/>
              </a:lnSpc>
              <a:buFont typeface="Arial" panose="020B0604020202020204" pitchFamily="34" charset="0"/>
              <a:buChar char="•"/>
              <a:defRPr/>
            </a:pPr>
            <a:r>
              <a:rPr lang="es-ES_tradnl" altLang="es-ES" sz="1600" b="1" dirty="0">
                <a:solidFill>
                  <a:srgbClr val="008000"/>
                </a:solidFill>
              </a:rPr>
              <a:t>La Administración General del Estado en el EXTERIOR</a:t>
            </a:r>
          </a:p>
          <a:p>
            <a:pPr eaLnBrk="1" hangingPunct="1">
              <a:lnSpc>
                <a:spcPct val="80000"/>
              </a:lnSpc>
              <a:defRPr/>
            </a:pPr>
            <a:endParaRPr lang="es-ES_tradnl" altLang="es-ES" sz="1600" b="1" dirty="0">
              <a:solidFill>
                <a:srgbClr val="7030A0"/>
              </a:solidFill>
            </a:endParaRPr>
          </a:p>
          <a:p>
            <a:pPr eaLnBrk="1" hangingPunct="1">
              <a:lnSpc>
                <a:spcPct val="80000"/>
              </a:lnSpc>
              <a:defRPr/>
            </a:pPr>
            <a:r>
              <a:rPr lang="es-ES_tradnl" altLang="es-ES" sz="1600" b="1" dirty="0">
                <a:solidFill>
                  <a:srgbClr val="7030A0"/>
                </a:solidFill>
              </a:rPr>
              <a:t>Administración Institucional del Estado (INVENTE)</a:t>
            </a:r>
            <a:endParaRPr lang="es-ES_tradnl" altLang="es-ES" sz="1600" b="1" dirty="0">
              <a:solidFill>
                <a:srgbClr val="7030A0"/>
              </a:solidFill>
              <a:effectLst>
                <a:outerShdw blurRad="38100" dist="38100" dir="2700000" algn="tl">
                  <a:srgbClr val="000000">
                    <a:alpha val="43137"/>
                  </a:srgbClr>
                </a:outerShdw>
              </a:effectLst>
            </a:endParaRPr>
          </a:p>
          <a:p>
            <a:pPr marL="742950" lvl="1" indent="-285750" eaLnBrk="1" hangingPunct="1">
              <a:lnSpc>
                <a:spcPct val="90000"/>
              </a:lnSpc>
              <a:buFont typeface="Arial" panose="020B0604020202020204" pitchFamily="34" charset="0"/>
              <a:buChar char="•"/>
              <a:defRPr/>
            </a:pPr>
            <a:r>
              <a:rPr lang="es-ES" altLang="es-ES" sz="1600" b="1" dirty="0">
                <a:solidFill>
                  <a:srgbClr val="008000"/>
                </a:solidFill>
                <a:latin typeface="Arial"/>
                <a:cs typeface="Arial"/>
              </a:rPr>
              <a:t>Los </a:t>
            </a:r>
            <a:r>
              <a:rPr lang="es-ES" altLang="es-ES" sz="1600" b="1" u="sng" dirty="0">
                <a:solidFill>
                  <a:srgbClr val="008000"/>
                </a:solidFill>
                <a:latin typeface="Arial"/>
                <a:cs typeface="Arial"/>
              </a:rPr>
              <a:t>organismos públicos </a:t>
            </a:r>
            <a:r>
              <a:rPr lang="es-ES" altLang="es-ES" sz="1600" b="1" dirty="0">
                <a:solidFill>
                  <a:srgbClr val="008000"/>
                </a:solidFill>
                <a:latin typeface="Arial"/>
                <a:cs typeface="Arial"/>
              </a:rPr>
              <a:t>vinculados o dependientes de la Administración General del Estado, los cuales se clasifican en: 1.º Organismos autónomos. 2.º Entidades Públicas Empresariales. 3º Agencias Estatales</a:t>
            </a:r>
            <a:endParaRPr lang="es-ES" altLang="es-ES" sz="1600" b="1" dirty="0">
              <a:solidFill>
                <a:srgbClr val="008000"/>
              </a:solidFill>
              <a:cs typeface="Arial"/>
            </a:endParaRPr>
          </a:p>
          <a:p>
            <a:pPr marL="742950" lvl="1" indent="-285750" eaLnBrk="1" hangingPunct="1">
              <a:lnSpc>
                <a:spcPct val="90000"/>
              </a:lnSpc>
              <a:buFont typeface="Arial" panose="020B0604020202020204" pitchFamily="34" charset="0"/>
              <a:buChar char="•"/>
              <a:defRPr/>
            </a:pPr>
            <a:r>
              <a:rPr lang="es-ES" altLang="es-ES" sz="1600" b="1" dirty="0">
                <a:solidFill>
                  <a:srgbClr val="008000"/>
                </a:solidFill>
              </a:rPr>
              <a:t>Las autoridades administrativas independientes. </a:t>
            </a:r>
          </a:p>
          <a:p>
            <a:pPr marL="742950" lvl="1" indent="-285750" eaLnBrk="1" hangingPunct="1">
              <a:lnSpc>
                <a:spcPct val="90000"/>
              </a:lnSpc>
              <a:buFont typeface="Arial" panose="020B0604020202020204" pitchFamily="34" charset="0"/>
              <a:buChar char="•"/>
              <a:defRPr/>
            </a:pPr>
            <a:r>
              <a:rPr lang="es-ES" altLang="es-ES" sz="1600" b="1" dirty="0">
                <a:solidFill>
                  <a:srgbClr val="008000"/>
                </a:solidFill>
              </a:rPr>
              <a:t>Las sociedades mercantiles estatales</a:t>
            </a:r>
            <a:r>
              <a:rPr lang="es-ES" altLang="es-ES" sz="1600" b="1" u="sng" dirty="0">
                <a:solidFill>
                  <a:srgbClr val="008000"/>
                </a:solidFill>
              </a:rPr>
              <a:t>. </a:t>
            </a:r>
          </a:p>
          <a:p>
            <a:pPr marL="742950" lvl="1" indent="-285750" eaLnBrk="1" hangingPunct="1">
              <a:lnSpc>
                <a:spcPct val="90000"/>
              </a:lnSpc>
              <a:buFont typeface="Arial" panose="020B0604020202020204" pitchFamily="34" charset="0"/>
              <a:buChar char="•"/>
              <a:defRPr/>
            </a:pPr>
            <a:r>
              <a:rPr lang="es-ES" altLang="es-ES" sz="1600" b="1" dirty="0">
                <a:solidFill>
                  <a:srgbClr val="008000"/>
                </a:solidFill>
              </a:rPr>
              <a:t>Los consorcios. </a:t>
            </a:r>
          </a:p>
          <a:p>
            <a:pPr marL="742950" lvl="1" indent="-285750" eaLnBrk="1" hangingPunct="1">
              <a:lnSpc>
                <a:spcPct val="90000"/>
              </a:lnSpc>
              <a:buFont typeface="Arial" panose="020B0604020202020204" pitchFamily="34" charset="0"/>
              <a:buChar char="•"/>
              <a:defRPr/>
            </a:pPr>
            <a:r>
              <a:rPr lang="es-ES" altLang="es-ES" sz="1600" b="1" dirty="0">
                <a:solidFill>
                  <a:srgbClr val="008000"/>
                </a:solidFill>
              </a:rPr>
              <a:t>Las fundaciones del sector público. </a:t>
            </a:r>
          </a:p>
          <a:p>
            <a:pPr marL="742950" lvl="1" indent="-285750" eaLnBrk="1" hangingPunct="1">
              <a:lnSpc>
                <a:spcPct val="90000"/>
              </a:lnSpc>
              <a:buFont typeface="Arial" panose="020B0604020202020204" pitchFamily="34" charset="0"/>
              <a:buChar char="•"/>
              <a:defRPr/>
            </a:pPr>
            <a:r>
              <a:rPr lang="es-ES" altLang="es-ES" sz="1600" b="1" dirty="0">
                <a:solidFill>
                  <a:srgbClr val="008000"/>
                </a:solidFill>
              </a:rPr>
              <a:t>Los fondos sin personalidad jurídica. </a:t>
            </a:r>
          </a:p>
          <a:p>
            <a:pPr marL="742950" lvl="1" indent="-285750" eaLnBrk="1" hangingPunct="1">
              <a:lnSpc>
                <a:spcPct val="90000"/>
              </a:lnSpc>
              <a:buFont typeface="Arial" panose="020B0604020202020204" pitchFamily="34" charset="0"/>
              <a:buChar char="•"/>
              <a:defRPr/>
            </a:pPr>
            <a:r>
              <a:rPr lang="es-ES" altLang="es-ES" sz="1600" b="1" dirty="0">
                <a:solidFill>
                  <a:srgbClr val="008000"/>
                </a:solidFill>
              </a:rPr>
              <a:t>Las universidades públicas no transferidas. </a:t>
            </a:r>
          </a:p>
          <a:p>
            <a:pPr marL="742950" lvl="1" indent="-285750" eaLnBrk="1" hangingPunct="1">
              <a:lnSpc>
                <a:spcPct val="90000"/>
              </a:lnSpc>
              <a:buFont typeface="Arial" panose="020B0604020202020204" pitchFamily="34" charset="0"/>
              <a:buChar char="•"/>
              <a:defRPr/>
            </a:pPr>
            <a:r>
              <a:rPr lang="es-ES" sz="1600" b="1" dirty="0">
                <a:solidFill>
                  <a:srgbClr val="008000"/>
                </a:solidFill>
              </a:rPr>
              <a:t>Las entidades gestoras, servicios comunes y las mutuas colaboradoras con la Seguridad Social en su función pública de colaboración en la gestión de la Seguridad Social, así como sus centros mancomunados.</a:t>
            </a:r>
          </a:p>
          <a:p>
            <a:pPr marL="742950" lvl="1" indent="-285750" eaLnBrk="1" hangingPunct="1">
              <a:lnSpc>
                <a:spcPct val="90000"/>
              </a:lnSpc>
              <a:buFont typeface="Arial" panose="020B0604020202020204" pitchFamily="34" charset="0"/>
              <a:buChar char="•"/>
              <a:defRPr/>
            </a:pPr>
            <a:r>
              <a:rPr lang="es-ES" sz="1600" b="1" dirty="0">
                <a:solidFill>
                  <a:srgbClr val="008000"/>
                </a:solidFill>
              </a:rPr>
              <a:t>Cualesquiera organismos y entidades de derecho público vinculados o dependientes de la Administración General del Estado.</a:t>
            </a:r>
          </a:p>
          <a:p>
            <a:pPr eaLnBrk="1" hangingPunct="1">
              <a:lnSpc>
                <a:spcPct val="90000"/>
              </a:lnSpc>
              <a:defRPr/>
            </a:pPr>
            <a:endParaRPr lang="es-ES_tradnl" sz="1600" b="1" dirty="0">
              <a:solidFill>
                <a:srgbClr val="008000"/>
              </a:solidFill>
            </a:endParaRPr>
          </a:p>
          <a:p>
            <a:pPr eaLnBrk="1" hangingPunct="1">
              <a:lnSpc>
                <a:spcPct val="90000"/>
              </a:lnSpc>
              <a:defRPr/>
            </a:pPr>
            <a:r>
              <a:rPr lang="es-ES" sz="1200" b="1" dirty="0"/>
              <a:t>http://www.pap.hacienda.gob.es/invespe/controlador.aspx?0907070116172009073918051729220512110906162005123901170107</a:t>
            </a:r>
            <a:endParaRPr lang="es-E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C6EDF40-9574-E0C1-760E-E40DD30711CF}"/>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27651" name="Picture 5" descr="cefcorp_logo">
            <a:extLst>
              <a:ext uri="{FF2B5EF4-FFF2-40B4-BE49-F238E27FC236}">
                <a16:creationId xmlns:a16="http://schemas.microsoft.com/office/drawing/2014/main" id="{C4B63BAF-47E5-EC51-005E-F1B813956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60325"/>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Rectangle 6">
            <a:extLst>
              <a:ext uri="{FF2B5EF4-FFF2-40B4-BE49-F238E27FC236}">
                <a16:creationId xmlns:a16="http://schemas.microsoft.com/office/drawing/2014/main" id="{0B4B55AD-B74A-C1E3-F99D-1BE5A007532B}"/>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27653" name="Text Box 21">
            <a:extLst>
              <a:ext uri="{FF2B5EF4-FFF2-40B4-BE49-F238E27FC236}">
                <a16:creationId xmlns:a16="http://schemas.microsoft.com/office/drawing/2014/main" id="{1A49A4F3-3135-4068-B6A3-FDCE32E5854F}"/>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27654" name="Text Box 22">
            <a:extLst>
              <a:ext uri="{FF2B5EF4-FFF2-40B4-BE49-F238E27FC236}">
                <a16:creationId xmlns:a16="http://schemas.microsoft.com/office/drawing/2014/main" id="{A8E91D53-42C1-10C4-5C77-CB176156519F}"/>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27655" name="Picture 26" descr="logo-udima-horizontal-COLOR">
            <a:extLst>
              <a:ext uri="{FF2B5EF4-FFF2-40B4-BE49-F238E27FC236}">
                <a16:creationId xmlns:a16="http://schemas.microsoft.com/office/drawing/2014/main" id="{44D057CD-AFC9-18C9-F836-A350E6DE1D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Rectángulo 1">
            <a:extLst>
              <a:ext uri="{FF2B5EF4-FFF2-40B4-BE49-F238E27FC236}">
                <a16:creationId xmlns:a16="http://schemas.microsoft.com/office/drawing/2014/main" id="{968FBDAC-0EA8-D174-F7C9-88A57DDC233E}"/>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27657" name="CuadroTexto 3">
            <a:extLst>
              <a:ext uri="{FF2B5EF4-FFF2-40B4-BE49-F238E27FC236}">
                <a16:creationId xmlns:a16="http://schemas.microsoft.com/office/drawing/2014/main" id="{41A6D5C4-6ACA-18B1-B4C7-3B34D788BF98}"/>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General del Estado</a:t>
            </a:r>
          </a:p>
        </p:txBody>
      </p:sp>
      <p:sp>
        <p:nvSpPr>
          <p:cNvPr id="2" name="Rectángulo 1">
            <a:extLst>
              <a:ext uri="{FF2B5EF4-FFF2-40B4-BE49-F238E27FC236}">
                <a16:creationId xmlns:a16="http://schemas.microsoft.com/office/drawing/2014/main" id="{43642838-AB56-CA4E-B97A-79C09B0CB24A}"/>
              </a:ext>
            </a:extLst>
          </p:cNvPr>
          <p:cNvSpPr/>
          <p:nvPr/>
        </p:nvSpPr>
        <p:spPr>
          <a:xfrm>
            <a:off x="350838" y="1341438"/>
            <a:ext cx="8424862" cy="4919662"/>
          </a:xfrm>
          <a:prstGeom prst="rect">
            <a:avLst/>
          </a:prstGeom>
          <a:ln w="28575">
            <a:solidFill>
              <a:srgbClr val="7030A0"/>
            </a:solidFill>
          </a:ln>
        </p:spPr>
        <p:txBody>
          <a:bodyPr>
            <a:spAutoFit/>
          </a:bodyPr>
          <a:lstStyle/>
          <a:p>
            <a:pPr eaLnBrk="1" hangingPunct="1">
              <a:lnSpc>
                <a:spcPct val="80000"/>
              </a:lnSpc>
              <a:defRPr/>
            </a:pPr>
            <a:r>
              <a:rPr lang="es-ES_tradnl" altLang="es-ES" sz="2000" dirty="0">
                <a:solidFill>
                  <a:srgbClr val="660033"/>
                </a:solidFill>
              </a:rPr>
              <a:t>Administración General del Estado: Ley 40/2015 LRJSP se organiza en:</a:t>
            </a:r>
          </a:p>
          <a:p>
            <a:pPr eaLnBrk="1" hangingPunct="1">
              <a:lnSpc>
                <a:spcPct val="80000"/>
              </a:lnSpc>
              <a:defRPr/>
            </a:pPr>
            <a:endParaRPr lang="es-ES_tradnl" altLang="es-ES" sz="1600" dirty="0">
              <a:solidFill>
                <a:srgbClr val="660033"/>
              </a:solidFill>
            </a:endParaRPr>
          </a:p>
          <a:p>
            <a:pPr marL="285750" indent="-285750" eaLnBrk="1" hangingPunct="1">
              <a:lnSpc>
                <a:spcPct val="80000"/>
              </a:lnSpc>
              <a:buFont typeface="Arial" panose="020B0604020202020204" pitchFamily="34" charset="0"/>
              <a:buChar char="•"/>
              <a:defRPr/>
            </a:pPr>
            <a:r>
              <a:rPr lang="es-ES_tradnl" altLang="es-ES" sz="1600" dirty="0">
                <a:solidFill>
                  <a:srgbClr val="660033"/>
                </a:solidFill>
              </a:rPr>
              <a:t>Gobierno (Presidente, Vicepresidentes si los hay y Ministros)</a:t>
            </a:r>
          </a:p>
          <a:p>
            <a:pPr marL="285750" indent="-285750" eaLnBrk="1" hangingPunct="1">
              <a:lnSpc>
                <a:spcPct val="80000"/>
              </a:lnSpc>
              <a:buFont typeface="Arial" panose="020B0604020202020204" pitchFamily="34" charset="0"/>
              <a:buChar char="•"/>
              <a:defRPr/>
            </a:pPr>
            <a:endParaRPr lang="es-ES_tradnl" altLang="es-ES" sz="1600" dirty="0">
              <a:solidFill>
                <a:srgbClr val="660033"/>
              </a:solidFill>
            </a:endParaRPr>
          </a:p>
          <a:p>
            <a:pPr marL="285750" indent="-285750" eaLnBrk="1" hangingPunct="1">
              <a:lnSpc>
                <a:spcPct val="80000"/>
              </a:lnSpc>
              <a:buFont typeface="Arial" panose="020B0604020202020204" pitchFamily="34" charset="0"/>
              <a:buChar char="•"/>
              <a:defRPr/>
            </a:pPr>
            <a:r>
              <a:rPr lang="es-ES_tradnl" altLang="es-ES" sz="1600" dirty="0">
                <a:solidFill>
                  <a:srgbClr val="660033"/>
                </a:solidFill>
              </a:rPr>
              <a:t>Consejo de Ministros: órgano colegiado de decisión</a:t>
            </a:r>
          </a:p>
          <a:p>
            <a:pPr marL="285750" indent="-285750" eaLnBrk="1" hangingPunct="1">
              <a:lnSpc>
                <a:spcPct val="80000"/>
              </a:lnSpc>
              <a:buFont typeface="Arial" panose="020B0604020202020204" pitchFamily="34" charset="0"/>
              <a:buChar char="•"/>
              <a:defRPr/>
            </a:pPr>
            <a:endParaRPr lang="es-ES_tradnl" altLang="es-ES" sz="1600" dirty="0">
              <a:solidFill>
                <a:srgbClr val="660033"/>
              </a:solidFill>
            </a:endParaRPr>
          </a:p>
          <a:p>
            <a:pPr marL="285750" indent="-285750" eaLnBrk="1" hangingPunct="1">
              <a:lnSpc>
                <a:spcPct val="80000"/>
              </a:lnSpc>
              <a:buFont typeface="Arial" panose="020B0604020202020204" pitchFamily="34" charset="0"/>
              <a:buChar char="•"/>
              <a:defRPr/>
            </a:pPr>
            <a:r>
              <a:rPr lang="es-ES_tradnl" altLang="es-ES" sz="1600" dirty="0">
                <a:solidFill>
                  <a:srgbClr val="660033"/>
                </a:solidFill>
              </a:rPr>
              <a:t>Órganos Ministeriales: </a:t>
            </a:r>
          </a:p>
          <a:p>
            <a:pPr marL="1200150" lvl="2" indent="-285750" eaLnBrk="1" hangingPunct="1">
              <a:lnSpc>
                <a:spcPct val="80000"/>
              </a:lnSpc>
              <a:buFont typeface="Arial" panose="020B0604020202020204" pitchFamily="34" charset="0"/>
              <a:buChar char="•"/>
              <a:defRPr/>
            </a:pPr>
            <a:r>
              <a:rPr lang="es-ES_tradnl" altLang="es-ES" sz="1600" dirty="0">
                <a:solidFill>
                  <a:srgbClr val="589883"/>
                </a:solidFill>
              </a:rPr>
              <a:t>Ministerios y sus órganos (Superiores y Directivos)</a:t>
            </a:r>
            <a:endParaRPr lang="es-ES_tradnl" altLang="es-ES" sz="1600" dirty="0">
              <a:solidFill>
                <a:schemeClr val="hlink"/>
              </a:solidFill>
            </a:endParaRPr>
          </a:p>
          <a:p>
            <a:pPr marL="285750" indent="-285750" algn="just" eaLnBrk="1" hangingPunct="1">
              <a:lnSpc>
                <a:spcPct val="80000"/>
              </a:lnSpc>
              <a:buFont typeface="Arial" panose="020B0604020202020204" pitchFamily="34" charset="0"/>
              <a:buChar char="•"/>
              <a:defRPr/>
            </a:pPr>
            <a:endParaRPr lang="es-ES_tradnl" altLang="es-ES" sz="1600" dirty="0">
              <a:solidFill>
                <a:srgbClr val="660033"/>
              </a:solidFill>
            </a:endParaRPr>
          </a:p>
          <a:p>
            <a:pPr marL="285750" indent="-285750" algn="just" eaLnBrk="1" hangingPunct="1">
              <a:lnSpc>
                <a:spcPct val="80000"/>
              </a:lnSpc>
              <a:buFont typeface="Arial" panose="020B0604020202020204" pitchFamily="34" charset="0"/>
              <a:buChar char="•"/>
              <a:defRPr/>
            </a:pPr>
            <a:r>
              <a:rPr lang="es-ES_tradnl" altLang="es-ES" sz="1600" dirty="0" err="1">
                <a:solidFill>
                  <a:srgbClr val="660033"/>
                </a:solidFill>
              </a:rPr>
              <a:t>Órganización</a:t>
            </a:r>
            <a:r>
              <a:rPr lang="es-ES_tradnl" altLang="es-ES" sz="1600" dirty="0">
                <a:solidFill>
                  <a:srgbClr val="660033"/>
                </a:solidFill>
              </a:rPr>
              <a:t> Territorial:</a:t>
            </a:r>
          </a:p>
          <a:p>
            <a:pPr marL="1200150" lvl="2" indent="-285750" algn="just" eaLnBrk="1" hangingPunct="1">
              <a:lnSpc>
                <a:spcPct val="80000"/>
              </a:lnSpc>
              <a:buFont typeface="Arial" panose="020B0604020202020204" pitchFamily="34" charset="0"/>
              <a:buChar char="•"/>
              <a:defRPr/>
            </a:pPr>
            <a:r>
              <a:rPr lang="es-ES" altLang="es-ES" sz="1600" dirty="0">
                <a:solidFill>
                  <a:srgbClr val="609060"/>
                </a:solidFill>
              </a:rPr>
              <a:t>En la organización territorial de la Administración General del Estado son órganos directivos tanto los Delegados del Gobierno en las Comunidades Autónomas, que tendrán rango de Subsecretario, como los Subdelegados del Gobierno en las provincias, los cuales tendrán nivel de Subdirector general.</a:t>
            </a:r>
            <a:r>
              <a:rPr lang="es-ES_tradnl" altLang="es-ES" sz="1600" dirty="0">
                <a:solidFill>
                  <a:schemeClr val="hlink"/>
                </a:solidFill>
              </a:rPr>
              <a:t>		</a:t>
            </a:r>
          </a:p>
          <a:p>
            <a:pPr marL="285750" indent="-285750" eaLnBrk="1" hangingPunct="1">
              <a:lnSpc>
                <a:spcPct val="80000"/>
              </a:lnSpc>
              <a:buFont typeface="Arial" panose="020B0604020202020204" pitchFamily="34" charset="0"/>
              <a:buChar char="•"/>
              <a:defRPr/>
            </a:pPr>
            <a:r>
              <a:rPr lang="es-ES_tradnl" altLang="es-ES" sz="1600" dirty="0">
                <a:solidFill>
                  <a:srgbClr val="660033"/>
                </a:solidFill>
              </a:rPr>
              <a:t>Órganos en el exterior:</a:t>
            </a:r>
          </a:p>
          <a:p>
            <a:pPr marL="1200150" lvl="2" indent="-285750" eaLnBrk="1" hangingPunct="1">
              <a:lnSpc>
                <a:spcPct val="80000"/>
              </a:lnSpc>
              <a:buFont typeface="Arial" panose="020B0604020202020204" pitchFamily="34" charset="0"/>
              <a:buChar char="•"/>
              <a:defRPr/>
            </a:pPr>
            <a:r>
              <a:rPr lang="es-ES_tradnl" altLang="es-ES" sz="1600" dirty="0">
                <a:solidFill>
                  <a:srgbClr val="009900"/>
                </a:solidFill>
              </a:rPr>
              <a:t>a) </a:t>
            </a:r>
            <a:r>
              <a:rPr lang="es-ES_tradnl" altLang="es-ES" sz="1600" dirty="0">
                <a:solidFill>
                  <a:srgbClr val="609060"/>
                </a:solidFill>
              </a:rPr>
              <a:t>Las Misiones Diplomáticas, Permanentes o Especiales. </a:t>
            </a:r>
            <a:br>
              <a:rPr lang="es-ES_tradnl" altLang="es-ES" sz="1600" dirty="0">
                <a:solidFill>
                  <a:srgbClr val="609060"/>
                </a:solidFill>
              </a:rPr>
            </a:br>
            <a:r>
              <a:rPr lang="es-ES_tradnl" altLang="es-ES" sz="1600" dirty="0">
                <a:solidFill>
                  <a:srgbClr val="609060"/>
                </a:solidFill>
              </a:rPr>
              <a:t>b) Las Representaciones o Misiones Permanentes. </a:t>
            </a:r>
            <a:br>
              <a:rPr lang="es-ES_tradnl" altLang="es-ES" sz="1600" dirty="0">
                <a:solidFill>
                  <a:srgbClr val="609060"/>
                </a:solidFill>
              </a:rPr>
            </a:br>
            <a:r>
              <a:rPr lang="es-ES_tradnl" altLang="es-ES" sz="1600" dirty="0">
                <a:solidFill>
                  <a:srgbClr val="609060"/>
                </a:solidFill>
              </a:rPr>
              <a:t>c) Las Delegaciones. </a:t>
            </a:r>
            <a:br>
              <a:rPr lang="es-ES_tradnl" altLang="es-ES" sz="1600" dirty="0">
                <a:solidFill>
                  <a:srgbClr val="609060"/>
                </a:solidFill>
              </a:rPr>
            </a:br>
            <a:r>
              <a:rPr lang="es-ES_tradnl" altLang="es-ES" sz="1600" dirty="0">
                <a:solidFill>
                  <a:srgbClr val="609060"/>
                </a:solidFill>
              </a:rPr>
              <a:t>d) Las Oficinas Consulares. </a:t>
            </a:r>
            <a:br>
              <a:rPr lang="es-ES_tradnl" altLang="es-ES" sz="1600" dirty="0">
                <a:solidFill>
                  <a:srgbClr val="609060"/>
                </a:solidFill>
              </a:rPr>
            </a:br>
            <a:r>
              <a:rPr lang="es-ES_tradnl" altLang="es-ES" sz="1600" dirty="0">
                <a:solidFill>
                  <a:srgbClr val="609060"/>
                </a:solidFill>
              </a:rPr>
              <a:t>e) Las Instituciones y Organismos públicos de </a:t>
            </a:r>
            <a:r>
              <a:rPr lang="es-ES_tradnl" altLang="es-ES" sz="1600" dirty="0">
                <a:solidFill>
                  <a:srgbClr val="589883"/>
                </a:solidFill>
              </a:rPr>
              <a:t>la Administración General del Estado cuya actuación se desarrolle en el exterior. </a:t>
            </a:r>
          </a:p>
          <a:p>
            <a:pPr eaLnBrk="1" hangingPunct="1">
              <a:lnSpc>
                <a:spcPct val="80000"/>
              </a:lnSpc>
              <a:defRPr/>
            </a:pPr>
            <a:endParaRPr lang="es-ES_tradnl" altLang="es-ES" sz="1400" dirty="0">
              <a:solidFill>
                <a:srgbClr val="800080"/>
              </a:solidFill>
            </a:endParaRPr>
          </a:p>
          <a:p>
            <a:pPr eaLnBrk="1" hangingPunct="1">
              <a:lnSpc>
                <a:spcPct val="80000"/>
              </a:lnSpc>
              <a:defRPr/>
            </a:pPr>
            <a:r>
              <a:rPr lang="es-ES_tradnl" altLang="es-ES" sz="1100" dirty="0">
                <a:solidFill>
                  <a:srgbClr val="800080"/>
                </a:solidFill>
              </a:rPr>
              <a:t>NOTA: </a:t>
            </a:r>
            <a:r>
              <a:rPr lang="es-ES_tradnl" altLang="es-ES" sz="1100" dirty="0">
                <a:solidFill>
                  <a:srgbClr val="589883"/>
                </a:solidFill>
              </a:rPr>
              <a:t>Tendrán la consideración de órganos administrativos aquellas unidades administrativas que tengan atribuidas funciones que tengan efectos jurídicos frente a terceros o cuya actuación tenga carácter preceptivo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CD14D2B9-F1E6-E60C-9044-ABA5199851DE}"/>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29699" name="Picture 5" descr="cefcorp_logo">
            <a:extLst>
              <a:ext uri="{FF2B5EF4-FFF2-40B4-BE49-F238E27FC236}">
                <a16:creationId xmlns:a16="http://schemas.microsoft.com/office/drawing/2014/main" id="{27B176E7-24DD-E627-A4E5-4E5B94B56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6">
            <a:extLst>
              <a:ext uri="{FF2B5EF4-FFF2-40B4-BE49-F238E27FC236}">
                <a16:creationId xmlns:a16="http://schemas.microsoft.com/office/drawing/2014/main" id="{9FC226C4-6210-422B-D06A-C3F5ABC8FEBD}"/>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29701" name="Text Box 21">
            <a:extLst>
              <a:ext uri="{FF2B5EF4-FFF2-40B4-BE49-F238E27FC236}">
                <a16:creationId xmlns:a16="http://schemas.microsoft.com/office/drawing/2014/main" id="{325955CC-7E85-8035-C326-DA87CBB898EB}"/>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29702" name="Text Box 22">
            <a:extLst>
              <a:ext uri="{FF2B5EF4-FFF2-40B4-BE49-F238E27FC236}">
                <a16:creationId xmlns:a16="http://schemas.microsoft.com/office/drawing/2014/main" id="{C985BB64-BB4E-A0A4-64D9-C66E07359AE1}"/>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29703" name="Picture 26" descr="logo-udima-horizontal-COLOR">
            <a:extLst>
              <a:ext uri="{FF2B5EF4-FFF2-40B4-BE49-F238E27FC236}">
                <a16:creationId xmlns:a16="http://schemas.microsoft.com/office/drawing/2014/main" id="{5FABEBBD-613B-EB3C-05D4-F7E3416D58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4" name="Rectángulo 1">
            <a:extLst>
              <a:ext uri="{FF2B5EF4-FFF2-40B4-BE49-F238E27FC236}">
                <a16:creationId xmlns:a16="http://schemas.microsoft.com/office/drawing/2014/main" id="{371D1B42-4713-0DF8-4D07-6252F1A49846}"/>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29705" name="CuadroTexto 3">
            <a:extLst>
              <a:ext uri="{FF2B5EF4-FFF2-40B4-BE49-F238E27FC236}">
                <a16:creationId xmlns:a16="http://schemas.microsoft.com/office/drawing/2014/main" id="{31A27E5D-B9E8-E8BD-790A-6ED5C66EE435}"/>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Órgano administrativo y unidad administrativa</a:t>
            </a:r>
          </a:p>
        </p:txBody>
      </p:sp>
      <p:sp>
        <p:nvSpPr>
          <p:cNvPr id="29706" name="Rectángulo 1">
            <a:extLst>
              <a:ext uri="{FF2B5EF4-FFF2-40B4-BE49-F238E27FC236}">
                <a16:creationId xmlns:a16="http://schemas.microsoft.com/office/drawing/2014/main" id="{759F538C-0A19-1FE7-D120-1181CD594335}"/>
              </a:ext>
            </a:extLst>
          </p:cNvPr>
          <p:cNvSpPr>
            <a:spLocks noChangeArrowheads="1"/>
          </p:cNvSpPr>
          <p:nvPr/>
        </p:nvSpPr>
        <p:spPr bwMode="auto">
          <a:xfrm>
            <a:off x="287338" y="1130300"/>
            <a:ext cx="8496300" cy="4802188"/>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s-ES" altLang="es-ES" sz="1800" b="1" dirty="0">
                <a:solidFill>
                  <a:srgbClr val="C00000"/>
                </a:solidFill>
              </a:rPr>
              <a:t>ORGANIZACIÓN / CREACIÓN DE ÓRGANOS DE LA AGE </a:t>
            </a:r>
            <a:endParaRPr lang="es-ES" altLang="es-ES" sz="1800" dirty="0">
              <a:solidFill>
                <a:srgbClr val="C00000"/>
              </a:solidFill>
            </a:endParaRPr>
          </a:p>
          <a:p>
            <a:pPr>
              <a:spcBef>
                <a:spcPct val="0"/>
              </a:spcBef>
              <a:buFontTx/>
              <a:buNone/>
            </a:pPr>
            <a:r>
              <a:rPr lang="es-ES" altLang="es-ES" sz="1800" b="1" dirty="0"/>
              <a:t>Diferencia entre Órgano y Unidad Administrativa: </a:t>
            </a:r>
            <a:endParaRPr lang="es-ES" altLang="es-ES" sz="1800" dirty="0"/>
          </a:p>
          <a:p>
            <a:pPr>
              <a:spcBef>
                <a:spcPct val="0"/>
              </a:spcBef>
              <a:buFontTx/>
              <a:buNone/>
            </a:pPr>
            <a:endParaRPr lang="es-ES" altLang="es-ES" sz="1800" dirty="0"/>
          </a:p>
          <a:p>
            <a:pPr algn="just">
              <a:spcBef>
                <a:spcPct val="0"/>
              </a:spcBef>
              <a:buFontTx/>
              <a:buNone/>
            </a:pPr>
            <a:r>
              <a:rPr lang="es-ES" altLang="es-ES" sz="1800" dirty="0"/>
              <a:t>El </a:t>
            </a:r>
            <a:r>
              <a:rPr lang="es-ES" altLang="es-ES" sz="1800" b="1" dirty="0"/>
              <a:t>Órgano Administrativo </a:t>
            </a:r>
            <a:r>
              <a:rPr lang="es-ES" altLang="es-ES" sz="1800" dirty="0"/>
              <a:t>tiene responsabilidad jurídica frente a terceros y su actuación es preceptiva. Las </a:t>
            </a:r>
            <a:r>
              <a:rPr lang="es-ES" altLang="es-ES" sz="1800" b="1" dirty="0"/>
              <a:t>Unidades Administrativas </a:t>
            </a:r>
            <a:r>
              <a:rPr lang="es-ES" altLang="es-ES" sz="1800" dirty="0"/>
              <a:t>no tienen estas dos facultades. Por regla general, un órgano Administrativo tiene funciones de decisión dentro del Procedimiento Administrativo, mientras que las Unidades, solamente de tramitación. </a:t>
            </a:r>
          </a:p>
          <a:p>
            <a:pPr>
              <a:spcBef>
                <a:spcPct val="0"/>
              </a:spcBef>
              <a:buFontTx/>
              <a:buNone/>
            </a:pPr>
            <a:endParaRPr lang="es-ES" altLang="es-ES" sz="1800" dirty="0"/>
          </a:p>
          <a:p>
            <a:pPr algn="just">
              <a:spcBef>
                <a:spcPct val="0"/>
              </a:spcBef>
              <a:buFontTx/>
              <a:buNone/>
            </a:pPr>
            <a:r>
              <a:rPr lang="es-ES" altLang="es-ES" sz="1800" b="1" dirty="0">
                <a:solidFill>
                  <a:srgbClr val="C00000"/>
                </a:solidFill>
              </a:rPr>
              <a:t>Artículo 103.2 CE</a:t>
            </a:r>
            <a:r>
              <a:rPr lang="es-ES" altLang="es-ES" sz="1800" b="1" dirty="0"/>
              <a:t>: Los órganos de la AGE son creados, regidos y coordinados de acuerdo a la ley. </a:t>
            </a:r>
          </a:p>
          <a:p>
            <a:pPr>
              <a:spcBef>
                <a:spcPct val="0"/>
              </a:spcBef>
              <a:buFontTx/>
              <a:buNone/>
            </a:pPr>
            <a:endParaRPr lang="es-ES" altLang="es-ES" sz="1800" dirty="0"/>
          </a:p>
          <a:p>
            <a:pPr algn="just">
              <a:spcBef>
                <a:spcPct val="0"/>
              </a:spcBef>
              <a:buFontTx/>
              <a:buNone/>
            </a:pPr>
            <a:r>
              <a:rPr lang="es-ES" altLang="es-ES" sz="1800" b="1" dirty="0">
                <a:solidFill>
                  <a:srgbClr val="C00000"/>
                </a:solidFill>
              </a:rPr>
              <a:t>Artículo 5, Ley 40/2015 – LRJSP </a:t>
            </a:r>
            <a:r>
              <a:rPr lang="es-ES" altLang="es-ES" sz="1800" b="1" dirty="0"/>
              <a:t>Indica que la creación de cualquier órgano de la AGE exigirá: </a:t>
            </a:r>
            <a:endParaRPr lang="es-ES" altLang="es-ES" sz="1800" dirty="0"/>
          </a:p>
          <a:p>
            <a:pPr lvl="1" algn="just">
              <a:spcBef>
                <a:spcPct val="0"/>
              </a:spcBef>
              <a:buFontTx/>
              <a:buNone/>
            </a:pPr>
            <a:r>
              <a:rPr lang="es-ES" altLang="es-ES" sz="1800" dirty="0"/>
              <a:t>Forma de integración en la Administración y su dependencia jerárquica. </a:t>
            </a:r>
          </a:p>
          <a:p>
            <a:pPr lvl="1" algn="just">
              <a:spcBef>
                <a:spcPct val="0"/>
              </a:spcBef>
              <a:buFontTx/>
              <a:buNone/>
            </a:pPr>
            <a:r>
              <a:rPr lang="es-ES" altLang="es-ES" sz="1800" dirty="0"/>
              <a:t>Delimitación de sus funciones y competencias. </a:t>
            </a:r>
          </a:p>
          <a:p>
            <a:pPr lvl="1" algn="just">
              <a:spcBef>
                <a:spcPct val="0"/>
              </a:spcBef>
              <a:buFontTx/>
              <a:buNone/>
            </a:pPr>
            <a:r>
              <a:rPr lang="es-ES" altLang="es-ES" sz="1800" dirty="0"/>
              <a:t>Dotación de los créditos necesarios para su puesta en marcha.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05EE6D51-2102-9A8A-94C7-DD837B63EB89}"/>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31747" name="Picture 5" descr="cefcorp_logo">
            <a:extLst>
              <a:ext uri="{FF2B5EF4-FFF2-40B4-BE49-F238E27FC236}">
                <a16:creationId xmlns:a16="http://schemas.microsoft.com/office/drawing/2014/main" id="{DA858637-814F-61A8-AFC1-338B87640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Rectangle 6">
            <a:extLst>
              <a:ext uri="{FF2B5EF4-FFF2-40B4-BE49-F238E27FC236}">
                <a16:creationId xmlns:a16="http://schemas.microsoft.com/office/drawing/2014/main" id="{4660D1FA-583D-B497-7C3A-136C7792ACC0}"/>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1749" name="Text Box 21">
            <a:extLst>
              <a:ext uri="{FF2B5EF4-FFF2-40B4-BE49-F238E27FC236}">
                <a16:creationId xmlns:a16="http://schemas.microsoft.com/office/drawing/2014/main" id="{983A8B99-B7F0-3CB8-E5C1-0ECD1522C8E9}"/>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31750" name="Text Box 22">
            <a:extLst>
              <a:ext uri="{FF2B5EF4-FFF2-40B4-BE49-F238E27FC236}">
                <a16:creationId xmlns:a16="http://schemas.microsoft.com/office/drawing/2014/main" id="{F2DC2B3A-B24D-4D49-8707-CBA6B39175A5}"/>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31751" name="Picture 26" descr="logo-udima-horizontal-COLOR">
            <a:extLst>
              <a:ext uri="{FF2B5EF4-FFF2-40B4-BE49-F238E27FC236}">
                <a16:creationId xmlns:a16="http://schemas.microsoft.com/office/drawing/2014/main" id="{5E57F9E3-3886-D6E7-56E6-94A90EE81E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2" name="Rectángulo 1">
            <a:extLst>
              <a:ext uri="{FF2B5EF4-FFF2-40B4-BE49-F238E27FC236}">
                <a16:creationId xmlns:a16="http://schemas.microsoft.com/office/drawing/2014/main" id="{27DEC608-CD34-DE6E-DED0-4E092ABAA58E}"/>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31753" name="CuadroTexto 3">
            <a:extLst>
              <a:ext uri="{FF2B5EF4-FFF2-40B4-BE49-F238E27FC236}">
                <a16:creationId xmlns:a16="http://schemas.microsoft.com/office/drawing/2014/main" id="{03B87F3E-8817-BE67-F8A4-F0037AE87050}"/>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Órganos superiores y directivos</a:t>
            </a:r>
          </a:p>
        </p:txBody>
      </p:sp>
      <p:sp>
        <p:nvSpPr>
          <p:cNvPr id="31754" name="Rectángulo 1">
            <a:extLst>
              <a:ext uri="{FF2B5EF4-FFF2-40B4-BE49-F238E27FC236}">
                <a16:creationId xmlns:a16="http://schemas.microsoft.com/office/drawing/2014/main" id="{D57BA1B9-780E-47B2-44BE-8C3E60094D9F}"/>
              </a:ext>
            </a:extLst>
          </p:cNvPr>
          <p:cNvSpPr>
            <a:spLocks noChangeArrowheads="1"/>
          </p:cNvSpPr>
          <p:nvPr/>
        </p:nvSpPr>
        <p:spPr bwMode="auto">
          <a:xfrm>
            <a:off x="287338" y="1012825"/>
            <a:ext cx="8461375" cy="5170488"/>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s-ES" altLang="es-ES" sz="2200" b="1" dirty="0"/>
              <a:t>ÓRGANOS EN LA ADMINISTRACIÓN GENERAL DEL ESTADO. </a:t>
            </a:r>
            <a:endParaRPr lang="es-ES" altLang="es-ES" sz="2200" dirty="0"/>
          </a:p>
          <a:p>
            <a:pPr>
              <a:spcBef>
                <a:spcPct val="0"/>
              </a:spcBef>
              <a:buFontTx/>
              <a:buNone/>
            </a:pPr>
            <a:r>
              <a:rPr lang="es-ES" altLang="es-ES" sz="2200" b="1" dirty="0"/>
              <a:t>Órganos superiores: </a:t>
            </a:r>
          </a:p>
          <a:p>
            <a:pPr lvl="1">
              <a:spcBef>
                <a:spcPct val="0"/>
              </a:spcBef>
              <a:buFont typeface="Wingdings" panose="05000000000000000000" pitchFamily="2" charset="2"/>
              <a:buChar char="Ø"/>
            </a:pPr>
            <a:r>
              <a:rPr lang="es-ES" altLang="es-ES" sz="2200" dirty="0">
                <a:solidFill>
                  <a:srgbClr val="FF0000"/>
                </a:solidFill>
              </a:rPr>
              <a:t>Ministros (Alto Cargo) </a:t>
            </a:r>
          </a:p>
          <a:p>
            <a:pPr lvl="1">
              <a:spcBef>
                <a:spcPct val="0"/>
              </a:spcBef>
              <a:buFont typeface="Wingdings" panose="05000000000000000000" pitchFamily="2" charset="2"/>
              <a:buChar char="Ø"/>
            </a:pPr>
            <a:r>
              <a:rPr lang="es-ES" altLang="es-ES" sz="2200" dirty="0">
                <a:solidFill>
                  <a:srgbClr val="FF0000"/>
                </a:solidFill>
              </a:rPr>
              <a:t>Secretarios de Estado (opcionales) (Altos Cargos) </a:t>
            </a:r>
          </a:p>
          <a:p>
            <a:pPr>
              <a:spcBef>
                <a:spcPct val="0"/>
              </a:spcBef>
              <a:buFontTx/>
              <a:buNone/>
            </a:pPr>
            <a:r>
              <a:rPr lang="es-ES" altLang="es-ES" sz="2200" b="1" dirty="0"/>
              <a:t>Órganos directivos: </a:t>
            </a:r>
          </a:p>
          <a:p>
            <a:pPr lvl="1">
              <a:spcBef>
                <a:spcPct val="0"/>
              </a:spcBef>
              <a:buFont typeface="Wingdings" panose="05000000000000000000" pitchFamily="2" charset="2"/>
              <a:buChar char="Ø"/>
            </a:pPr>
            <a:r>
              <a:rPr lang="es-ES" altLang="es-ES" sz="2200" dirty="0">
                <a:solidFill>
                  <a:srgbClr val="008000"/>
                </a:solidFill>
              </a:rPr>
              <a:t>Subsecretarios (Altos Cargos) y Secretarios Generales (Altos Cargos) </a:t>
            </a:r>
          </a:p>
          <a:p>
            <a:pPr lvl="1">
              <a:spcBef>
                <a:spcPct val="0"/>
              </a:spcBef>
              <a:buFont typeface="Wingdings" panose="05000000000000000000" pitchFamily="2" charset="2"/>
              <a:buChar char="Ø"/>
            </a:pPr>
            <a:r>
              <a:rPr lang="es-ES" altLang="es-ES" sz="2200" dirty="0">
                <a:solidFill>
                  <a:srgbClr val="008000"/>
                </a:solidFill>
              </a:rPr>
              <a:t>Secretarios Generales Técnicos (Altos Cargos) </a:t>
            </a:r>
            <a:r>
              <a:rPr lang="es-ES" altLang="es-ES" sz="2200" dirty="0"/>
              <a:t>y </a:t>
            </a:r>
            <a:r>
              <a:rPr lang="es-ES" altLang="es-ES" sz="2200" dirty="0">
                <a:solidFill>
                  <a:srgbClr val="002060"/>
                </a:solidFill>
              </a:rPr>
              <a:t>Directores Generales (Altos Cargos) </a:t>
            </a:r>
          </a:p>
          <a:p>
            <a:pPr lvl="1">
              <a:spcBef>
                <a:spcPct val="0"/>
              </a:spcBef>
              <a:buFont typeface="Wingdings" panose="05000000000000000000" pitchFamily="2" charset="2"/>
              <a:buChar char="Ø"/>
            </a:pPr>
            <a:r>
              <a:rPr lang="es-ES" altLang="es-ES" sz="2200" dirty="0">
                <a:solidFill>
                  <a:srgbClr val="008000"/>
                </a:solidFill>
              </a:rPr>
              <a:t>Subdirectores Generales (único sin consideración de Alto Cargo) </a:t>
            </a:r>
          </a:p>
          <a:p>
            <a:pPr>
              <a:spcBef>
                <a:spcPct val="0"/>
              </a:spcBef>
              <a:buFontTx/>
              <a:buNone/>
            </a:pPr>
            <a:endParaRPr lang="es-ES" altLang="es-ES" sz="2200" dirty="0">
              <a:solidFill>
                <a:srgbClr val="008000"/>
              </a:solidFill>
            </a:endParaRPr>
          </a:p>
          <a:p>
            <a:pPr>
              <a:spcBef>
                <a:spcPct val="0"/>
              </a:spcBef>
              <a:buFontTx/>
              <a:buNone/>
            </a:pPr>
            <a:r>
              <a:rPr lang="es-ES" altLang="es-ES" sz="2200" dirty="0">
                <a:solidFill>
                  <a:srgbClr val="008000"/>
                </a:solidFill>
              </a:rPr>
              <a:t>Verde</a:t>
            </a:r>
            <a:r>
              <a:rPr lang="es-ES" altLang="es-ES" sz="2200" dirty="0"/>
              <a:t>: Tienen que ser obligatoriamente Funcionarios </a:t>
            </a:r>
          </a:p>
          <a:p>
            <a:pPr>
              <a:spcBef>
                <a:spcPct val="0"/>
              </a:spcBef>
              <a:buFontTx/>
              <a:buNone/>
            </a:pPr>
            <a:r>
              <a:rPr lang="es-ES" altLang="es-ES" sz="2200" dirty="0">
                <a:solidFill>
                  <a:srgbClr val="FF0000"/>
                </a:solidFill>
              </a:rPr>
              <a:t>Rojo:</a:t>
            </a:r>
            <a:r>
              <a:rPr lang="es-ES" altLang="es-ES" sz="2200" dirty="0"/>
              <a:t> No tienen por qué ser Funcionarios </a:t>
            </a:r>
          </a:p>
          <a:p>
            <a:pPr>
              <a:spcBef>
                <a:spcPct val="0"/>
              </a:spcBef>
              <a:buFontTx/>
              <a:buNone/>
            </a:pPr>
            <a:r>
              <a:rPr lang="es-ES" altLang="es-ES" sz="2200" dirty="0">
                <a:solidFill>
                  <a:srgbClr val="002060"/>
                </a:solidFill>
              </a:rPr>
              <a:t>Azul:</a:t>
            </a:r>
            <a:r>
              <a:rPr lang="es-ES" altLang="es-ES" sz="2200" dirty="0"/>
              <a:t> Tienen que ser Funcionarios como norma General </a:t>
            </a:r>
            <a:endParaRPr lang="es-ES_tradnl" altLang="es-E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1945701D-B58F-D704-6E40-D0615D6F9A19}"/>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33795" name="Picture 5" descr="cefcorp_logo">
            <a:extLst>
              <a:ext uri="{FF2B5EF4-FFF2-40B4-BE49-F238E27FC236}">
                <a16:creationId xmlns:a16="http://schemas.microsoft.com/office/drawing/2014/main" id="{6C0AA53E-EF14-79C1-2D24-E75D0BDC0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Rectangle 6">
            <a:extLst>
              <a:ext uri="{FF2B5EF4-FFF2-40B4-BE49-F238E27FC236}">
                <a16:creationId xmlns:a16="http://schemas.microsoft.com/office/drawing/2014/main" id="{83568A0C-35C3-DF62-04B5-DD6E9C95C725}"/>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3797" name="Text Box 21">
            <a:extLst>
              <a:ext uri="{FF2B5EF4-FFF2-40B4-BE49-F238E27FC236}">
                <a16:creationId xmlns:a16="http://schemas.microsoft.com/office/drawing/2014/main" id="{87517BA9-BC38-31B0-AD77-6964E9A82C19}"/>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33798" name="Text Box 22">
            <a:extLst>
              <a:ext uri="{FF2B5EF4-FFF2-40B4-BE49-F238E27FC236}">
                <a16:creationId xmlns:a16="http://schemas.microsoft.com/office/drawing/2014/main" id="{9D4CFC53-B974-8948-B810-0798C1185142}"/>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33799" name="Picture 26" descr="logo-udima-horizontal-COLOR">
            <a:extLst>
              <a:ext uri="{FF2B5EF4-FFF2-40B4-BE49-F238E27FC236}">
                <a16:creationId xmlns:a16="http://schemas.microsoft.com/office/drawing/2014/main" id="{DA60E2D5-0B19-7ABD-B579-0C978887C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0" name="Rectángulo 1">
            <a:extLst>
              <a:ext uri="{FF2B5EF4-FFF2-40B4-BE49-F238E27FC236}">
                <a16:creationId xmlns:a16="http://schemas.microsoft.com/office/drawing/2014/main" id="{218A4B73-765C-ABB5-04A9-5F31D1F1CDED}"/>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33801" name="CuadroTexto 3">
            <a:extLst>
              <a:ext uri="{FF2B5EF4-FFF2-40B4-BE49-F238E27FC236}">
                <a16:creationId xmlns:a16="http://schemas.microsoft.com/office/drawing/2014/main" id="{95AF1593-9445-ACDF-DC30-DC50CD939594}"/>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Órganos superiores y directivos</a:t>
            </a:r>
          </a:p>
        </p:txBody>
      </p:sp>
      <p:pic>
        <p:nvPicPr>
          <p:cNvPr id="33802" name="Marcador de contenido 3">
            <a:extLst>
              <a:ext uri="{FF2B5EF4-FFF2-40B4-BE49-F238E27FC236}">
                <a16:creationId xmlns:a16="http://schemas.microsoft.com/office/drawing/2014/main" id="{AC95FE65-34D1-EC2D-301D-EDA99056AFD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179513"/>
            <a:ext cx="8229600" cy="4946650"/>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556F232B-F4CC-E48D-D663-10FAF0DA50DF}"/>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35843" name="Picture 5" descr="cefcorp_logo">
            <a:extLst>
              <a:ext uri="{FF2B5EF4-FFF2-40B4-BE49-F238E27FC236}">
                <a16:creationId xmlns:a16="http://schemas.microsoft.com/office/drawing/2014/main" id="{9D8F17F9-5682-ECBF-A2C4-7B27CC4663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Rectangle 6">
            <a:extLst>
              <a:ext uri="{FF2B5EF4-FFF2-40B4-BE49-F238E27FC236}">
                <a16:creationId xmlns:a16="http://schemas.microsoft.com/office/drawing/2014/main" id="{148E4AEF-2298-9215-116A-454FAEB5136A}"/>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5845" name="Text Box 21">
            <a:extLst>
              <a:ext uri="{FF2B5EF4-FFF2-40B4-BE49-F238E27FC236}">
                <a16:creationId xmlns:a16="http://schemas.microsoft.com/office/drawing/2014/main" id="{E6BAC1FB-0067-8715-F0CD-2FABC0B67CF0}"/>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35846" name="Text Box 22">
            <a:extLst>
              <a:ext uri="{FF2B5EF4-FFF2-40B4-BE49-F238E27FC236}">
                <a16:creationId xmlns:a16="http://schemas.microsoft.com/office/drawing/2014/main" id="{FB5BDC85-B6A7-96C4-5C22-314C42D0AD98}"/>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35847" name="Picture 26" descr="logo-udima-horizontal-COLOR">
            <a:extLst>
              <a:ext uri="{FF2B5EF4-FFF2-40B4-BE49-F238E27FC236}">
                <a16:creationId xmlns:a16="http://schemas.microsoft.com/office/drawing/2014/main" id="{6840242D-E740-2CB0-8F3F-2D257E0BD2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Rectángulo 1">
            <a:extLst>
              <a:ext uri="{FF2B5EF4-FFF2-40B4-BE49-F238E27FC236}">
                <a16:creationId xmlns:a16="http://schemas.microsoft.com/office/drawing/2014/main" id="{3DD20E0B-19C7-DD39-4922-8A6B153DBF93}"/>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35849" name="CuadroTexto 3">
            <a:extLst>
              <a:ext uri="{FF2B5EF4-FFF2-40B4-BE49-F238E27FC236}">
                <a16:creationId xmlns:a16="http://schemas.microsoft.com/office/drawing/2014/main" id="{41723E63-9040-ACC4-F68F-5EF46411C4A7}"/>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Seguridad Social</a:t>
            </a:r>
          </a:p>
        </p:txBody>
      </p:sp>
      <p:sp>
        <p:nvSpPr>
          <p:cNvPr id="35850" name="Rectángulo 1">
            <a:extLst>
              <a:ext uri="{FF2B5EF4-FFF2-40B4-BE49-F238E27FC236}">
                <a16:creationId xmlns:a16="http://schemas.microsoft.com/office/drawing/2014/main" id="{3AA4305F-1696-0B0A-92DA-2EE186253926}"/>
              </a:ext>
            </a:extLst>
          </p:cNvPr>
          <p:cNvSpPr>
            <a:spLocks noChangeArrowheads="1"/>
          </p:cNvSpPr>
          <p:nvPr/>
        </p:nvSpPr>
        <p:spPr bwMode="auto">
          <a:xfrm>
            <a:off x="341313" y="952500"/>
            <a:ext cx="8461375" cy="5213735"/>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lIns="91440" tIns="45720" rIns="91440" bIns="45720" anchor="t">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80000"/>
              </a:lnSpc>
              <a:spcBef>
                <a:spcPct val="0"/>
              </a:spcBef>
              <a:buFontTx/>
              <a:buNone/>
            </a:pPr>
            <a:r>
              <a:rPr lang="es-ES_tradnl" altLang="es-ES" sz="2200" b="1" dirty="0">
                <a:solidFill>
                  <a:srgbClr val="660033"/>
                </a:solidFill>
              </a:rPr>
              <a:t>Seguridad Social: (Secretaría de Estado de la Seguridad Social)</a:t>
            </a:r>
          </a:p>
          <a:p>
            <a:pPr algn="just" eaLnBrk="1" hangingPunct="1">
              <a:lnSpc>
                <a:spcPct val="80000"/>
              </a:lnSpc>
              <a:spcBef>
                <a:spcPct val="0"/>
              </a:spcBef>
              <a:buFontTx/>
              <a:buNone/>
            </a:pPr>
            <a:r>
              <a:rPr lang="es-ES" altLang="es-ES" sz="2200" b="1" dirty="0"/>
              <a:t>Artículo 41 C.E.: Los poderes públicos mantendrán un régimen público de Seguridad Social para todos los ciudadanos, que garantice la asistencia y prestaciones sociales suficientes ante situaciones de necesidad, especialmente en caso de desempleo. La asistencia y prestaciones complementarias serán libres.</a:t>
            </a:r>
            <a:endParaRPr lang="es-ES_tradnl" altLang="es-ES" sz="2200" b="1" dirty="0">
              <a:solidFill>
                <a:srgbClr val="660033"/>
              </a:solidFill>
            </a:endParaRPr>
          </a:p>
          <a:p>
            <a:pPr eaLnBrk="1" hangingPunct="1">
              <a:lnSpc>
                <a:spcPct val="80000"/>
              </a:lnSpc>
              <a:spcBef>
                <a:spcPct val="0"/>
              </a:spcBef>
              <a:buFontTx/>
              <a:buNone/>
            </a:pPr>
            <a:r>
              <a:rPr lang="es-ES_tradnl" altLang="es-ES" sz="2000" b="1" dirty="0">
                <a:solidFill>
                  <a:srgbClr val="660033"/>
                </a:solidFill>
              </a:rPr>
              <a:t> Órganos Directivos:</a:t>
            </a:r>
          </a:p>
          <a:p>
            <a:pPr lvl="3" eaLnBrk="1" hangingPunct="1">
              <a:lnSpc>
                <a:spcPct val="80000"/>
              </a:lnSpc>
              <a:spcBef>
                <a:spcPct val="0"/>
              </a:spcBef>
              <a:buFontTx/>
              <a:buNone/>
            </a:pPr>
            <a:r>
              <a:rPr lang="es-ES_tradnl" altLang="es-ES" dirty="0">
                <a:solidFill>
                  <a:schemeClr val="hlink"/>
                </a:solidFill>
              </a:rPr>
              <a:t>Dirección General de Ordenación de la SS.SS</a:t>
            </a:r>
          </a:p>
          <a:p>
            <a:pPr lvl="3" eaLnBrk="1" hangingPunct="1">
              <a:lnSpc>
                <a:spcPct val="80000"/>
              </a:lnSpc>
              <a:spcBef>
                <a:spcPct val="0"/>
              </a:spcBef>
              <a:buFontTx/>
              <a:buNone/>
            </a:pPr>
            <a:r>
              <a:rPr lang="es-ES_tradnl" altLang="es-ES" dirty="0">
                <a:solidFill>
                  <a:schemeClr val="hlink"/>
                </a:solidFill>
              </a:rPr>
              <a:t>Intervención General de la SS.SS</a:t>
            </a:r>
          </a:p>
          <a:p>
            <a:pPr lvl="3" eaLnBrk="1" hangingPunct="1">
              <a:lnSpc>
                <a:spcPct val="80000"/>
              </a:lnSpc>
              <a:spcBef>
                <a:spcPct val="0"/>
              </a:spcBef>
              <a:buFontTx/>
              <a:buNone/>
            </a:pPr>
            <a:r>
              <a:rPr lang="es-ES_tradnl" altLang="es-ES" dirty="0">
                <a:solidFill>
                  <a:schemeClr val="hlink"/>
                </a:solidFill>
              </a:rPr>
              <a:t>Servicio Jurídico de la Administración de la Seguridad Social</a:t>
            </a:r>
          </a:p>
          <a:p>
            <a:pPr lvl="3" eaLnBrk="1" hangingPunct="1">
              <a:lnSpc>
                <a:spcPct val="80000"/>
              </a:lnSpc>
              <a:spcBef>
                <a:spcPct val="0"/>
              </a:spcBef>
              <a:buFontTx/>
              <a:buNone/>
            </a:pPr>
            <a:r>
              <a:rPr lang="es-ES_tradnl" altLang="es-ES" dirty="0">
                <a:solidFill>
                  <a:schemeClr val="hlink"/>
                </a:solidFill>
              </a:rPr>
              <a:t>Gerencia de Informática de la Seguridad Social</a:t>
            </a:r>
          </a:p>
          <a:p>
            <a:pPr eaLnBrk="1" hangingPunct="1">
              <a:lnSpc>
                <a:spcPct val="80000"/>
              </a:lnSpc>
              <a:spcBef>
                <a:spcPct val="0"/>
              </a:spcBef>
              <a:buFontTx/>
              <a:buNone/>
            </a:pPr>
            <a:r>
              <a:rPr lang="es-ES_tradnl" altLang="es-ES" sz="2000" b="1" dirty="0">
                <a:solidFill>
                  <a:srgbClr val="660033"/>
                </a:solidFill>
              </a:rPr>
              <a:t>Entidades Gestoras</a:t>
            </a:r>
            <a:r>
              <a:rPr lang="es-ES_tradnl" altLang="es-ES" sz="2000" dirty="0">
                <a:solidFill>
                  <a:srgbClr val="660033"/>
                </a:solidFill>
              </a:rPr>
              <a:t>:</a:t>
            </a:r>
          </a:p>
          <a:p>
            <a:pPr lvl="3" eaLnBrk="1" hangingPunct="1">
              <a:lnSpc>
                <a:spcPct val="80000"/>
              </a:lnSpc>
              <a:spcBef>
                <a:spcPct val="0"/>
              </a:spcBef>
              <a:buFontTx/>
              <a:buNone/>
            </a:pPr>
            <a:r>
              <a:rPr lang="es-ES_tradnl" altLang="es-ES" b="1" dirty="0">
                <a:solidFill>
                  <a:schemeClr val="hlink"/>
                </a:solidFill>
              </a:rPr>
              <a:t>Instituto Nacional de la Seguridad Social (INSS)</a:t>
            </a:r>
          </a:p>
          <a:p>
            <a:pPr lvl="3" eaLnBrk="1" hangingPunct="1">
              <a:lnSpc>
                <a:spcPct val="80000"/>
              </a:lnSpc>
              <a:spcBef>
                <a:spcPct val="0"/>
              </a:spcBef>
              <a:buFontTx/>
              <a:buNone/>
            </a:pPr>
            <a:r>
              <a:rPr lang="es-ES_tradnl" altLang="es-ES" b="1" dirty="0">
                <a:solidFill>
                  <a:schemeClr val="hlink"/>
                </a:solidFill>
              </a:rPr>
              <a:t>Instituto Nacional de Gestión Sanitaria (INGESA)</a:t>
            </a:r>
          </a:p>
          <a:p>
            <a:pPr lvl="3" eaLnBrk="1" hangingPunct="1">
              <a:lnSpc>
                <a:spcPct val="80000"/>
              </a:lnSpc>
              <a:spcBef>
                <a:spcPct val="0"/>
              </a:spcBef>
              <a:buFontTx/>
              <a:buNone/>
            </a:pPr>
            <a:r>
              <a:rPr lang="es-ES_tradnl" altLang="es-ES" b="1" dirty="0">
                <a:solidFill>
                  <a:schemeClr val="hlink"/>
                </a:solidFill>
              </a:rPr>
              <a:t>Instituto de Mayores y Servicios Sociales (IMSERSO)</a:t>
            </a:r>
          </a:p>
          <a:p>
            <a:pPr lvl="3" eaLnBrk="1" hangingPunct="1">
              <a:lnSpc>
                <a:spcPct val="80000"/>
              </a:lnSpc>
              <a:spcBef>
                <a:spcPct val="0"/>
              </a:spcBef>
              <a:buFontTx/>
              <a:buNone/>
            </a:pPr>
            <a:r>
              <a:rPr lang="es-ES_tradnl" altLang="es-ES" b="1" dirty="0">
                <a:solidFill>
                  <a:schemeClr val="hlink"/>
                </a:solidFill>
              </a:rPr>
              <a:t>Tesorería General de la Seguridad Social (TGSS)</a:t>
            </a:r>
          </a:p>
          <a:p>
            <a:pPr lvl="3" eaLnBrk="1" hangingPunct="1">
              <a:lnSpc>
                <a:spcPct val="80000"/>
              </a:lnSpc>
              <a:spcBef>
                <a:spcPct val="0"/>
              </a:spcBef>
              <a:buFontTx/>
              <a:buNone/>
            </a:pPr>
            <a:r>
              <a:rPr lang="es-ES_tradnl" altLang="es-ES" b="1" dirty="0">
                <a:solidFill>
                  <a:schemeClr val="hlink"/>
                </a:solidFill>
              </a:rPr>
              <a:t>Instituto Social de la Marina (ISM)</a:t>
            </a:r>
          </a:p>
          <a:p>
            <a:pPr lvl="3" eaLnBrk="1" hangingPunct="1">
              <a:lnSpc>
                <a:spcPct val="80000"/>
              </a:lnSpc>
              <a:spcBef>
                <a:spcPct val="0"/>
              </a:spcBef>
              <a:buFontTx/>
              <a:buNone/>
            </a:pPr>
            <a:r>
              <a:rPr lang="es-ES_tradnl" altLang="es-ES" b="1" dirty="0">
                <a:solidFill>
                  <a:schemeClr val="hlink"/>
                </a:solidFill>
              </a:rPr>
              <a:t>Mutuas Colaboradoras de la SS.SS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89131C02-620F-4A2F-F8F0-31053B98D7C9}"/>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37891" name="Picture 5" descr="cefcorp_logo">
            <a:extLst>
              <a:ext uri="{FF2B5EF4-FFF2-40B4-BE49-F238E27FC236}">
                <a16:creationId xmlns:a16="http://schemas.microsoft.com/office/drawing/2014/main" id="{E33E3D1C-9B02-AFFC-EC80-2F3BA6537F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Rectangle 6">
            <a:extLst>
              <a:ext uri="{FF2B5EF4-FFF2-40B4-BE49-F238E27FC236}">
                <a16:creationId xmlns:a16="http://schemas.microsoft.com/office/drawing/2014/main" id="{1DBE13E2-9460-9B87-9804-1C7C0B8EAC4D}"/>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7893" name="Text Box 21">
            <a:extLst>
              <a:ext uri="{FF2B5EF4-FFF2-40B4-BE49-F238E27FC236}">
                <a16:creationId xmlns:a16="http://schemas.microsoft.com/office/drawing/2014/main" id="{37D8311F-64FB-D598-E29A-2C29CEA86CAE}"/>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37894" name="Text Box 22">
            <a:extLst>
              <a:ext uri="{FF2B5EF4-FFF2-40B4-BE49-F238E27FC236}">
                <a16:creationId xmlns:a16="http://schemas.microsoft.com/office/drawing/2014/main" id="{69E1A40B-D207-3FAD-DBDC-5A41881588C9}"/>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37895" name="Picture 26" descr="logo-udima-horizontal-COLOR">
            <a:extLst>
              <a:ext uri="{FF2B5EF4-FFF2-40B4-BE49-F238E27FC236}">
                <a16:creationId xmlns:a16="http://schemas.microsoft.com/office/drawing/2014/main" id="{0753B5B7-F0F4-BC63-87D6-7C7F1CA184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Rectángulo 1">
            <a:extLst>
              <a:ext uri="{FF2B5EF4-FFF2-40B4-BE49-F238E27FC236}">
                <a16:creationId xmlns:a16="http://schemas.microsoft.com/office/drawing/2014/main" id="{F473D8ED-29BA-478E-DDC4-1482C8659AD1}"/>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37897" name="CuadroTexto 3">
            <a:extLst>
              <a:ext uri="{FF2B5EF4-FFF2-40B4-BE49-F238E27FC236}">
                <a16:creationId xmlns:a16="http://schemas.microsoft.com/office/drawing/2014/main" id="{DFD2E87D-71A0-DCBF-FF6A-53EF0F815A75}"/>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Organigrama de ejemplo</a:t>
            </a:r>
          </a:p>
        </p:txBody>
      </p:sp>
      <p:sp>
        <p:nvSpPr>
          <p:cNvPr id="4" name="Rectángulo 3">
            <a:extLst>
              <a:ext uri="{FF2B5EF4-FFF2-40B4-BE49-F238E27FC236}">
                <a16:creationId xmlns:a16="http://schemas.microsoft.com/office/drawing/2014/main" id="{9CB1A5A5-032F-71DD-D86D-04E6B151FFC3}"/>
              </a:ext>
            </a:extLst>
          </p:cNvPr>
          <p:cNvSpPr/>
          <p:nvPr/>
        </p:nvSpPr>
        <p:spPr>
          <a:xfrm>
            <a:off x="1122363" y="1042988"/>
            <a:ext cx="7115175" cy="358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Ministerio de Transformación Digital y de la Función Pública</a:t>
            </a:r>
          </a:p>
        </p:txBody>
      </p:sp>
      <p:pic>
        <p:nvPicPr>
          <p:cNvPr id="2" name="Imagen 1">
            <a:extLst>
              <a:ext uri="{FF2B5EF4-FFF2-40B4-BE49-F238E27FC236}">
                <a16:creationId xmlns:a16="http://schemas.microsoft.com/office/drawing/2014/main" id="{BDA5EDF5-EB39-9D6F-4628-541FDA890D18}"/>
              </a:ext>
            </a:extLst>
          </p:cNvPr>
          <p:cNvPicPr>
            <a:picLocks noChangeAspect="1"/>
          </p:cNvPicPr>
          <p:nvPr/>
        </p:nvPicPr>
        <p:blipFill>
          <a:blip r:embed="rId5"/>
          <a:stretch>
            <a:fillRect/>
          </a:stretch>
        </p:blipFill>
        <p:spPr>
          <a:xfrm>
            <a:off x="0" y="1599484"/>
            <a:ext cx="9144000" cy="444889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D6647ECB-A085-06BB-66EC-E037BE8215BA}"/>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39939" name="Picture 5" descr="cefcorp_logo">
            <a:extLst>
              <a:ext uri="{FF2B5EF4-FFF2-40B4-BE49-F238E27FC236}">
                <a16:creationId xmlns:a16="http://schemas.microsoft.com/office/drawing/2014/main" id="{D1D088C3-1B58-D740-7037-9582EE895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Rectangle 6">
            <a:extLst>
              <a:ext uri="{FF2B5EF4-FFF2-40B4-BE49-F238E27FC236}">
                <a16:creationId xmlns:a16="http://schemas.microsoft.com/office/drawing/2014/main" id="{855F3FE8-3ED9-7C2D-D370-7E566837A197}"/>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39941" name="Text Box 21">
            <a:extLst>
              <a:ext uri="{FF2B5EF4-FFF2-40B4-BE49-F238E27FC236}">
                <a16:creationId xmlns:a16="http://schemas.microsoft.com/office/drawing/2014/main" id="{B8212D7D-F9DF-054D-5794-990906017601}"/>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39942" name="Text Box 22">
            <a:extLst>
              <a:ext uri="{FF2B5EF4-FFF2-40B4-BE49-F238E27FC236}">
                <a16:creationId xmlns:a16="http://schemas.microsoft.com/office/drawing/2014/main" id="{C08F83AF-3BB0-2A12-516D-04D100A832D9}"/>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39943" name="Picture 26" descr="logo-udima-horizontal-COLOR">
            <a:extLst>
              <a:ext uri="{FF2B5EF4-FFF2-40B4-BE49-F238E27FC236}">
                <a16:creationId xmlns:a16="http://schemas.microsoft.com/office/drawing/2014/main" id="{65AB771D-8104-4DFF-1897-B3E11B13D4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4" name="Rectángulo 1">
            <a:extLst>
              <a:ext uri="{FF2B5EF4-FFF2-40B4-BE49-F238E27FC236}">
                <a16:creationId xmlns:a16="http://schemas.microsoft.com/office/drawing/2014/main" id="{264AFB81-459A-7FE0-5272-9CE295374B9A}"/>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39945" name="CuadroTexto 3">
            <a:extLst>
              <a:ext uri="{FF2B5EF4-FFF2-40B4-BE49-F238E27FC236}">
                <a16:creationId xmlns:a16="http://schemas.microsoft.com/office/drawing/2014/main" id="{ED3EE226-A2A8-0883-B5DE-A6D058519845}"/>
              </a:ext>
            </a:extLst>
          </p:cNvPr>
          <p:cNvSpPr txBox="1">
            <a:spLocks noChangeArrowheads="1"/>
          </p:cNvSpPr>
          <p:nvPr/>
        </p:nvSpPr>
        <p:spPr bwMode="auto">
          <a:xfrm>
            <a:off x="1752600" y="187325"/>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Institucional. Organismos autónomos</a:t>
            </a:r>
          </a:p>
        </p:txBody>
      </p:sp>
      <p:sp>
        <p:nvSpPr>
          <p:cNvPr id="10" name="Rectangle 3">
            <a:extLst>
              <a:ext uri="{FF2B5EF4-FFF2-40B4-BE49-F238E27FC236}">
                <a16:creationId xmlns:a16="http://schemas.microsoft.com/office/drawing/2014/main" id="{07B7A0BE-A561-0BCC-1F8D-11A5DA704655}"/>
              </a:ext>
            </a:extLst>
          </p:cNvPr>
          <p:cNvSpPr txBox="1">
            <a:spLocks noChangeArrowheads="1"/>
          </p:cNvSpPr>
          <p:nvPr/>
        </p:nvSpPr>
        <p:spPr bwMode="auto">
          <a:xfrm>
            <a:off x="457200" y="969963"/>
            <a:ext cx="8229600" cy="5156200"/>
          </a:xfrm>
          <a:prstGeom prst="rect">
            <a:avLst/>
          </a:prstGeom>
          <a:noFill/>
          <a:ln w="317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algn="just" eaLnBrk="1" hangingPunct="1">
              <a:lnSpc>
                <a:spcPct val="80000"/>
              </a:lnSpc>
              <a:defRPr/>
            </a:pPr>
            <a:endParaRPr lang="es-ES" altLang="es-ES" sz="2000" kern="0" dirty="0"/>
          </a:p>
          <a:p>
            <a:pPr algn="just" eaLnBrk="1" hangingPunct="1">
              <a:lnSpc>
                <a:spcPct val="80000"/>
              </a:lnSpc>
              <a:defRPr/>
            </a:pPr>
            <a:r>
              <a:rPr lang="es-ES" altLang="es-ES" sz="1900" b="1" kern="0" dirty="0">
                <a:solidFill>
                  <a:srgbClr val="7030A0"/>
                </a:solidFill>
              </a:rPr>
              <a:t>Son entidades de derecho público (</a:t>
            </a:r>
            <a:r>
              <a:rPr lang="es-ES" sz="1900" b="0" i="0" dirty="0">
                <a:solidFill>
                  <a:srgbClr val="202124"/>
                </a:solidFill>
                <a:effectLst/>
              </a:rPr>
              <a:t>El Derecho Público, </a:t>
            </a:r>
            <a:r>
              <a:rPr lang="es-ES" sz="1900" b="1" i="0" dirty="0">
                <a:solidFill>
                  <a:srgbClr val="202124"/>
                </a:solidFill>
                <a:effectLst/>
              </a:rPr>
              <a:t>regula las relaciones del estado y las administraciones públicas con los ciudadanos</a:t>
            </a:r>
            <a:r>
              <a:rPr lang="es-ES" sz="1900" dirty="0">
                <a:solidFill>
                  <a:srgbClr val="202124"/>
                </a:solidFill>
              </a:rPr>
              <a:t>)</a:t>
            </a:r>
            <a:r>
              <a:rPr lang="es-ES" altLang="es-ES" sz="1900" b="1" kern="0" dirty="0">
                <a:solidFill>
                  <a:srgbClr val="7030A0"/>
                </a:solidFill>
              </a:rPr>
              <a:t>, con personalidad jurídica propia, tesorería y patrimonio propios y autonomía en su gestión</a:t>
            </a:r>
            <a:r>
              <a:rPr lang="es-ES" altLang="es-ES" sz="1900" b="1" kern="0" dirty="0"/>
              <a:t>, que desarrollan actividades propias de la Administración Pública, tanto actividades de fomento, prestacionales, de gestión de servicios públicos o de producción de bienes de interés público, susceptibles de contraprestación, en calidad de organizaciones instrumentales diferenciadas y dependientes de ésta. </a:t>
            </a:r>
          </a:p>
          <a:p>
            <a:pPr algn="just" eaLnBrk="1" hangingPunct="1">
              <a:lnSpc>
                <a:spcPct val="80000"/>
              </a:lnSpc>
              <a:defRPr/>
            </a:pPr>
            <a:endParaRPr lang="es-ES" altLang="es-ES" sz="1900" b="1" kern="0" dirty="0"/>
          </a:p>
          <a:p>
            <a:pPr algn="just" eaLnBrk="1" hangingPunct="1">
              <a:lnSpc>
                <a:spcPct val="80000"/>
              </a:lnSpc>
              <a:defRPr/>
            </a:pPr>
            <a:r>
              <a:rPr lang="es-ES" altLang="es-ES" sz="1900" b="1" kern="0" dirty="0"/>
              <a:t>Los organismos autónomos dependen de la Administración General del Estado a la que corresponde su dirección estratégica, la evaluación de los resultados de su actividad y el control de eficacia</a:t>
            </a:r>
            <a:r>
              <a:rPr lang="es-ES" altLang="es-ES" sz="1900" kern="0" dirty="0"/>
              <a:t>.</a:t>
            </a:r>
          </a:p>
          <a:p>
            <a:pPr algn="just" eaLnBrk="1" hangingPunct="1">
              <a:lnSpc>
                <a:spcPct val="80000"/>
              </a:lnSpc>
              <a:defRPr/>
            </a:pPr>
            <a:endParaRPr lang="es-ES" altLang="es-ES" sz="1900" i="1" u="sng" kern="0" dirty="0">
              <a:solidFill>
                <a:srgbClr val="660033"/>
              </a:solidFill>
            </a:endParaRPr>
          </a:p>
          <a:p>
            <a:pPr algn="just" eaLnBrk="1" hangingPunct="1">
              <a:lnSpc>
                <a:spcPct val="80000"/>
              </a:lnSpc>
              <a:defRPr/>
            </a:pPr>
            <a:r>
              <a:rPr lang="es-ES" altLang="es-ES" sz="1900" i="1" u="sng" kern="0" dirty="0">
                <a:highlight>
                  <a:srgbClr val="FFFF00"/>
                </a:highlight>
              </a:rPr>
              <a:t>EJEMPLOS: </a:t>
            </a:r>
            <a:r>
              <a:rPr lang="es-ES" sz="1900" b="0" i="1" u="none" strike="noStrike" dirty="0">
                <a:effectLst/>
                <a:highlight>
                  <a:srgbClr val="FFFF00"/>
                </a:highlight>
                <a:hlinkClick r:id="rId5" tooltip="Centro de Investigaciones Sociológicas">
                  <a:extLst>
                    <a:ext uri="{A12FA001-AC4F-418D-AE19-62706E023703}">
                      <ahyp:hlinkClr xmlns:ahyp="http://schemas.microsoft.com/office/drawing/2018/hyperlinkcolor" val="tx"/>
                    </a:ext>
                  </a:extLst>
                </a:hlinkClick>
              </a:rPr>
              <a:t>Centro de Investigaciones Sociológicas</a:t>
            </a:r>
            <a:r>
              <a:rPr lang="es-ES" sz="1900" b="0" i="1" u="none" strike="noStrike" dirty="0">
                <a:effectLst/>
                <a:highlight>
                  <a:srgbClr val="FFFF00"/>
                </a:highlight>
              </a:rPr>
              <a:t> (CIS), </a:t>
            </a:r>
            <a:r>
              <a:rPr lang="es-ES" sz="1900" b="0" i="1" u="none" strike="noStrike" dirty="0">
                <a:effectLst/>
                <a:highlight>
                  <a:srgbClr val="FFFF00"/>
                </a:highlight>
                <a:hlinkClick r:id="rId6" tooltip="Consejo Superior de Deportes">
                  <a:extLst>
                    <a:ext uri="{A12FA001-AC4F-418D-AE19-62706E023703}">
                      <ahyp:hlinkClr xmlns:ahyp="http://schemas.microsoft.com/office/drawing/2018/hyperlinkcolor" val="tx"/>
                    </a:ext>
                  </a:extLst>
                </a:hlinkClick>
              </a:rPr>
              <a:t>Consejo Superior de Deportes</a:t>
            </a:r>
            <a:r>
              <a:rPr lang="es-ES" sz="1900" b="0" i="1" u="none" strike="noStrike" dirty="0">
                <a:effectLst/>
                <a:highlight>
                  <a:srgbClr val="FFFF00"/>
                </a:highlight>
              </a:rPr>
              <a:t> (CSD), </a:t>
            </a:r>
            <a:r>
              <a:rPr lang="es-ES" sz="1900" b="0" i="1" u="none" strike="noStrike" dirty="0">
                <a:effectLst/>
                <a:highlight>
                  <a:srgbClr val="FFFF00"/>
                </a:highlight>
                <a:hlinkClick r:id="rId7" tooltip="Inspección de Trabajo y Seguridad Social">
                  <a:extLst>
                    <a:ext uri="{A12FA001-AC4F-418D-AE19-62706E023703}">
                      <ahyp:hlinkClr xmlns:ahyp="http://schemas.microsoft.com/office/drawing/2018/hyperlinkcolor" val="tx"/>
                    </a:ext>
                  </a:extLst>
                </a:hlinkClick>
              </a:rPr>
              <a:t>Inspección de Trabajo y Seguridad Social</a:t>
            </a:r>
            <a:r>
              <a:rPr lang="es-ES" sz="1900" b="0" i="1" u="none" strike="noStrike" dirty="0">
                <a:effectLst/>
                <a:highlight>
                  <a:srgbClr val="FFFF00"/>
                </a:highlight>
              </a:rPr>
              <a:t>, </a:t>
            </a:r>
            <a:r>
              <a:rPr lang="es-ES" sz="1900" b="0" i="1" u="none" strike="noStrike" dirty="0">
                <a:effectLst/>
                <a:highlight>
                  <a:srgbClr val="FFFF00"/>
                </a:highlight>
                <a:hlinkClick r:id="rId8" tooltip="Instituto Nacional de Estadística (España)">
                  <a:extLst>
                    <a:ext uri="{A12FA001-AC4F-418D-AE19-62706E023703}">
                      <ahyp:hlinkClr xmlns:ahyp="http://schemas.microsoft.com/office/drawing/2018/hyperlinkcolor" val="tx"/>
                    </a:ext>
                  </a:extLst>
                </a:hlinkClick>
              </a:rPr>
              <a:t>Instituto Nacional de Estadística</a:t>
            </a:r>
            <a:r>
              <a:rPr lang="es-ES" sz="1900" b="0" i="1" u="none" strike="noStrike" dirty="0">
                <a:effectLst/>
                <a:highlight>
                  <a:srgbClr val="FFFF00"/>
                </a:highlight>
              </a:rPr>
              <a:t> (INE), </a:t>
            </a:r>
            <a:r>
              <a:rPr lang="es-ES" sz="1900" b="0" i="1" u="none" strike="noStrike" dirty="0">
                <a:effectLst/>
                <a:highlight>
                  <a:srgbClr val="FFFF00"/>
                </a:highlight>
                <a:hlinkClick r:id="rId9" tooltip="Instituto de la Cinematografía y de las Artes Audiovisuales">
                  <a:extLst>
                    <a:ext uri="{A12FA001-AC4F-418D-AE19-62706E023703}">
                      <ahyp:hlinkClr xmlns:ahyp="http://schemas.microsoft.com/office/drawing/2018/hyperlinkcolor" val="tx"/>
                    </a:ext>
                  </a:extLst>
                </a:hlinkClick>
              </a:rPr>
              <a:t>Instituto de la Cinematografía y de las Artes Audiovisuales</a:t>
            </a:r>
            <a:r>
              <a:rPr lang="es-ES" sz="1900" b="0" i="1" u="none" strike="noStrike" dirty="0">
                <a:effectLst/>
                <a:highlight>
                  <a:srgbClr val="FFFF00"/>
                </a:highlight>
              </a:rPr>
              <a:t> (ICAA), </a:t>
            </a:r>
            <a:r>
              <a:rPr lang="es-ES" sz="1900" b="0" i="1" u="none" strike="noStrike" dirty="0" err="1">
                <a:effectLst/>
                <a:highlight>
                  <a:srgbClr val="FFFF00"/>
                </a:highlight>
                <a:hlinkClick r:id="rId10" tooltip="Muface">
                  <a:extLst>
                    <a:ext uri="{A12FA001-AC4F-418D-AE19-62706E023703}">
                      <ahyp:hlinkClr xmlns:ahyp="http://schemas.microsoft.com/office/drawing/2018/hyperlinkcolor" val="tx"/>
                    </a:ext>
                  </a:extLst>
                </a:hlinkClick>
              </a:rPr>
              <a:t>Muface</a:t>
            </a:r>
            <a:r>
              <a:rPr lang="es-ES" sz="1900" b="0" i="1" u="none" strike="noStrike" dirty="0">
                <a:effectLst/>
                <a:highlight>
                  <a:srgbClr val="FFFF00"/>
                </a:highlight>
              </a:rPr>
              <a:t>, </a:t>
            </a:r>
            <a:r>
              <a:rPr lang="es-ES" sz="1900" b="0" i="1" u="none" strike="noStrike" dirty="0">
                <a:effectLst/>
                <a:highlight>
                  <a:srgbClr val="FFFF00"/>
                </a:highlight>
                <a:hlinkClick r:id="rId11" tooltip="Real Patronato sobre Discapacidad">
                  <a:extLst>
                    <a:ext uri="{A12FA001-AC4F-418D-AE19-62706E023703}">
                      <ahyp:hlinkClr xmlns:ahyp="http://schemas.microsoft.com/office/drawing/2018/hyperlinkcolor" val="tx"/>
                    </a:ext>
                  </a:extLst>
                </a:hlinkClick>
              </a:rPr>
              <a:t>Real Patronato sobre Discapacidad</a:t>
            </a:r>
            <a:r>
              <a:rPr lang="es-ES" sz="1900" b="0" i="1" u="none" strike="noStrike" dirty="0">
                <a:effectLst/>
                <a:highlight>
                  <a:srgbClr val="FFFF00"/>
                </a:highlight>
              </a:rPr>
              <a:t> </a:t>
            </a:r>
            <a:endParaRPr lang="es-ES" sz="1900" b="0" i="1" dirty="0">
              <a:effectLst/>
              <a:highlight>
                <a:srgbClr val="FFFF00"/>
              </a:highlight>
            </a:endParaRPr>
          </a:p>
          <a:p>
            <a:pPr algn="just" eaLnBrk="1" hangingPunct="1">
              <a:lnSpc>
                <a:spcPct val="80000"/>
              </a:lnSpc>
              <a:defRPr/>
            </a:pPr>
            <a:endParaRPr lang="es-ES_tradnl" altLang="es-ES" sz="1800" i="1" u="sng" kern="0" dirty="0">
              <a:solidFill>
                <a:srgbClr val="66003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288D98D4-F35B-A3A8-3B7D-E2152C54F124}"/>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41987" name="Picture 5" descr="cefcorp_logo">
            <a:extLst>
              <a:ext uri="{FF2B5EF4-FFF2-40B4-BE49-F238E27FC236}">
                <a16:creationId xmlns:a16="http://schemas.microsoft.com/office/drawing/2014/main" id="{012C4F56-0E0C-C576-F7AC-830764D09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6">
            <a:extLst>
              <a:ext uri="{FF2B5EF4-FFF2-40B4-BE49-F238E27FC236}">
                <a16:creationId xmlns:a16="http://schemas.microsoft.com/office/drawing/2014/main" id="{893D3D9A-1322-BE4F-AFEC-5735AF10AE21}"/>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41989" name="Text Box 21">
            <a:extLst>
              <a:ext uri="{FF2B5EF4-FFF2-40B4-BE49-F238E27FC236}">
                <a16:creationId xmlns:a16="http://schemas.microsoft.com/office/drawing/2014/main" id="{085B4B7C-DACC-28D4-010B-D2FC90BED3E9}"/>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41990" name="Text Box 22">
            <a:extLst>
              <a:ext uri="{FF2B5EF4-FFF2-40B4-BE49-F238E27FC236}">
                <a16:creationId xmlns:a16="http://schemas.microsoft.com/office/drawing/2014/main" id="{8D257A76-2BAF-40DB-554A-B8DC4C249A43}"/>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41991" name="Picture 26" descr="logo-udima-horizontal-COLOR">
            <a:extLst>
              <a:ext uri="{FF2B5EF4-FFF2-40B4-BE49-F238E27FC236}">
                <a16:creationId xmlns:a16="http://schemas.microsoft.com/office/drawing/2014/main" id="{FC955CDA-47D9-87F7-7FFB-D21C663356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2" name="Rectángulo 1">
            <a:extLst>
              <a:ext uri="{FF2B5EF4-FFF2-40B4-BE49-F238E27FC236}">
                <a16:creationId xmlns:a16="http://schemas.microsoft.com/office/drawing/2014/main" id="{EA847658-9582-6A3F-8E5C-2A2F727FA17C}"/>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41993" name="CuadroTexto 3">
            <a:extLst>
              <a:ext uri="{FF2B5EF4-FFF2-40B4-BE49-F238E27FC236}">
                <a16:creationId xmlns:a16="http://schemas.microsoft.com/office/drawing/2014/main" id="{4529E4FD-0D2E-1607-2087-F9C7BF1A331D}"/>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Institucional. Entidades Públicas Empresariales</a:t>
            </a:r>
          </a:p>
        </p:txBody>
      </p:sp>
      <p:sp>
        <p:nvSpPr>
          <p:cNvPr id="10" name="Rectangle 3">
            <a:extLst>
              <a:ext uri="{FF2B5EF4-FFF2-40B4-BE49-F238E27FC236}">
                <a16:creationId xmlns:a16="http://schemas.microsoft.com/office/drawing/2014/main" id="{A0B757E5-5726-79D5-F568-01E52659CB73}"/>
              </a:ext>
            </a:extLst>
          </p:cNvPr>
          <p:cNvSpPr txBox="1">
            <a:spLocks noChangeArrowheads="1"/>
          </p:cNvSpPr>
          <p:nvPr/>
        </p:nvSpPr>
        <p:spPr bwMode="auto">
          <a:xfrm>
            <a:off x="457200" y="1125538"/>
            <a:ext cx="8229600" cy="5000625"/>
          </a:xfrm>
          <a:prstGeom prst="rect">
            <a:avLst/>
          </a:prstGeom>
          <a:noFill/>
          <a:ln w="317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algn="just">
              <a:defRPr/>
            </a:pPr>
            <a:r>
              <a:rPr lang="es-ES" altLang="es-ES" sz="1600" b="1" kern="0" dirty="0">
                <a:solidFill>
                  <a:srgbClr val="7030A0"/>
                </a:solidFill>
              </a:rPr>
              <a:t>Las entidades públicas empresariales </a:t>
            </a:r>
            <a:r>
              <a:rPr lang="es-ES" altLang="es-ES" sz="1600" b="1" kern="0" dirty="0"/>
              <a:t>son entidades de Derecho público/privado, con personalidad jurídica propia, patrimonio propio y autonomía en su gestión, que </a:t>
            </a:r>
            <a:r>
              <a:rPr lang="es-ES" altLang="es-ES" sz="1600" b="1" kern="0" dirty="0">
                <a:solidFill>
                  <a:srgbClr val="7030A0"/>
                </a:solidFill>
              </a:rPr>
              <a:t>se financian mayoritariamente con ingresos de mercado</a:t>
            </a:r>
            <a:r>
              <a:rPr lang="es-ES" altLang="es-ES" sz="1600" b="1" kern="0" dirty="0"/>
              <a:t> y que junto con el ejercicio de potestades administrativas desarrollan actividades prestacionales, de gestión de servicios o de producción de bienes de interés público, susceptibles de contraprestación.</a:t>
            </a:r>
          </a:p>
          <a:p>
            <a:pPr algn="just">
              <a:defRPr/>
            </a:pPr>
            <a:endParaRPr lang="es-ES" altLang="es-ES" sz="1600" b="1" kern="0" dirty="0"/>
          </a:p>
          <a:p>
            <a:pPr algn="just">
              <a:defRPr/>
            </a:pPr>
            <a:r>
              <a:rPr lang="es-ES" altLang="es-ES" sz="1600" b="1" kern="0" dirty="0"/>
              <a:t>Las entidades públicas empresariales </a:t>
            </a:r>
            <a:r>
              <a:rPr lang="es-ES" altLang="es-ES" sz="1600" b="1" kern="0" dirty="0">
                <a:solidFill>
                  <a:srgbClr val="7030A0"/>
                </a:solidFill>
              </a:rPr>
              <a:t>dependen de la Administración General del Estado o de un Organismo autónomo vinculado o dependiente de ésta, </a:t>
            </a:r>
            <a:r>
              <a:rPr lang="es-ES" altLang="es-ES" sz="1600" b="1" kern="0" dirty="0"/>
              <a:t>al que le corresponde la dirección estratégica, la evaluación de los resultados de su actividad y el control de eficacia.</a:t>
            </a:r>
          </a:p>
          <a:p>
            <a:pPr algn="just">
              <a:defRPr/>
            </a:pPr>
            <a:endParaRPr lang="es-ES" altLang="es-ES" sz="1600" b="1" kern="0" dirty="0"/>
          </a:p>
          <a:p>
            <a:pPr algn="just"/>
            <a:r>
              <a:rPr lang="es-ES" altLang="es-ES" sz="1600" b="1" i="1" kern="0" dirty="0">
                <a:highlight>
                  <a:srgbClr val="FFFF00"/>
                </a:highlight>
              </a:rPr>
              <a:t>EJEMPLOS: </a:t>
            </a:r>
            <a:r>
              <a:rPr lang="es-ES" sz="1600" b="0" i="1" u="none" strike="noStrike" dirty="0">
                <a:effectLst/>
                <a:highlight>
                  <a:srgbClr val="FFFF00"/>
                </a:highlight>
                <a:latin typeface="Arial" panose="020B0604020202020204" pitchFamily="34" charset="0"/>
                <a:hlinkClick r:id="rId5" tooltip="Adif">
                  <a:extLst>
                    <a:ext uri="{A12FA001-AC4F-418D-AE19-62706E023703}">
                      <ahyp:hlinkClr xmlns:ahyp="http://schemas.microsoft.com/office/drawing/2018/hyperlinkcolor" val="tx"/>
                    </a:ext>
                  </a:extLst>
                </a:hlinkClick>
              </a:rPr>
              <a:t>Administrador de Infraestructuras Ferroviarias</a:t>
            </a:r>
            <a:r>
              <a:rPr lang="es-ES" sz="1600" b="0" i="1" dirty="0">
                <a:effectLst/>
                <a:highlight>
                  <a:srgbClr val="FFFF00"/>
                </a:highlight>
                <a:latin typeface="Arial" panose="020B0604020202020204" pitchFamily="34" charset="0"/>
              </a:rPr>
              <a:t> (ADIF), </a:t>
            </a:r>
            <a:r>
              <a:rPr lang="es-ES" sz="1600" b="0" i="1" u="none" strike="noStrike" dirty="0">
                <a:effectLst/>
                <a:highlight>
                  <a:srgbClr val="FFFF00"/>
                </a:highlight>
                <a:latin typeface="Arial" panose="020B0604020202020204" pitchFamily="34" charset="0"/>
                <a:hlinkClick r:id="rId6" tooltip="Centro para el Desarrollo Tecnológico y la Innovación">
                  <a:extLst>
                    <a:ext uri="{A12FA001-AC4F-418D-AE19-62706E023703}">
                      <ahyp:hlinkClr xmlns:ahyp="http://schemas.microsoft.com/office/drawing/2018/hyperlinkcolor" val="tx"/>
                    </a:ext>
                  </a:extLst>
                </a:hlinkClick>
              </a:rPr>
              <a:t>Centro para el Desarrollo Tecnológico y la Innovación</a:t>
            </a:r>
            <a:r>
              <a:rPr lang="es-ES" sz="1600" b="0" i="1" dirty="0">
                <a:effectLst/>
                <a:highlight>
                  <a:srgbClr val="FFFF00"/>
                </a:highlight>
                <a:latin typeface="Arial" panose="020B0604020202020204" pitchFamily="34" charset="0"/>
              </a:rPr>
              <a:t> (CDTI), </a:t>
            </a:r>
            <a:r>
              <a:rPr lang="es-ES" sz="1600" b="0" i="1" u="none" strike="noStrike" dirty="0">
                <a:effectLst/>
                <a:highlight>
                  <a:srgbClr val="FFFF00"/>
                </a:highlight>
                <a:latin typeface="Arial" panose="020B0604020202020204" pitchFamily="34" charset="0"/>
                <a:hlinkClick r:id="rId7" tooltip="Fábrica Nacional de Moneda y Timbre">
                  <a:extLst>
                    <a:ext uri="{A12FA001-AC4F-418D-AE19-62706E023703}">
                      <ahyp:hlinkClr xmlns:ahyp="http://schemas.microsoft.com/office/drawing/2018/hyperlinkcolor" val="tx"/>
                    </a:ext>
                  </a:extLst>
                </a:hlinkClick>
              </a:rPr>
              <a:t>Fábrica Nacional de Moneda y Timbre</a:t>
            </a:r>
            <a:r>
              <a:rPr lang="es-ES" sz="1600" b="0" i="1" dirty="0">
                <a:effectLst/>
                <a:highlight>
                  <a:srgbClr val="FFFF00"/>
                </a:highlight>
                <a:latin typeface="Arial" panose="020B0604020202020204" pitchFamily="34" charset="0"/>
              </a:rPr>
              <a:t> (FNMT), </a:t>
            </a:r>
            <a:r>
              <a:rPr lang="es-ES" sz="1600" b="0" i="1" u="none" strike="noStrike" dirty="0">
                <a:effectLst/>
                <a:highlight>
                  <a:srgbClr val="FFFF00"/>
                </a:highlight>
                <a:latin typeface="Arial" panose="020B0604020202020204" pitchFamily="34" charset="0"/>
                <a:hlinkClick r:id="rId8" tooltip="Sociedad de Salvamento y Seguridad Marítima">
                  <a:extLst>
                    <a:ext uri="{A12FA001-AC4F-418D-AE19-62706E023703}">
                      <ahyp:hlinkClr xmlns:ahyp="http://schemas.microsoft.com/office/drawing/2018/hyperlinkcolor" val="tx"/>
                    </a:ext>
                  </a:extLst>
                </a:hlinkClick>
              </a:rPr>
              <a:t>Sociedad de Salvamento y Seguridad Marítima</a:t>
            </a:r>
            <a:r>
              <a:rPr lang="es-ES" sz="1600" b="0" i="1" dirty="0">
                <a:effectLst/>
                <a:highlight>
                  <a:srgbClr val="FFFF00"/>
                </a:highlight>
                <a:latin typeface="Arial" panose="020B0604020202020204" pitchFamily="34" charset="0"/>
              </a:rPr>
              <a:t> (SASEMAR), </a:t>
            </a:r>
            <a:r>
              <a:rPr lang="es-ES" sz="1600" b="0" i="1" u="none" strike="noStrike" dirty="0">
                <a:effectLst/>
                <a:highlight>
                  <a:srgbClr val="FFFF00"/>
                </a:highlight>
                <a:latin typeface="Arial" panose="020B0604020202020204" pitchFamily="34" charset="0"/>
                <a:hlinkClick r:id="rId9" tooltip="Entidad Pública Empresarial de Suelo">
                  <a:extLst>
                    <a:ext uri="{A12FA001-AC4F-418D-AE19-62706E023703}">
                      <ahyp:hlinkClr xmlns:ahyp="http://schemas.microsoft.com/office/drawing/2018/hyperlinkcolor" val="tx"/>
                    </a:ext>
                  </a:extLst>
                </a:hlinkClick>
              </a:rPr>
              <a:t>Entidad Pública Empresarial de Suelo</a:t>
            </a:r>
            <a:r>
              <a:rPr lang="es-ES" sz="1600" b="0" i="1" dirty="0">
                <a:effectLst/>
                <a:highlight>
                  <a:srgbClr val="FFFF00"/>
                </a:highlight>
                <a:latin typeface="Arial" panose="020B0604020202020204" pitchFamily="34" charset="0"/>
              </a:rPr>
              <a:t> (SEPES), </a:t>
            </a:r>
            <a:r>
              <a:rPr lang="es-ES" sz="1600" b="0" i="1" u="none" strike="noStrike" dirty="0">
                <a:effectLst/>
                <a:highlight>
                  <a:srgbClr val="FFFF00"/>
                </a:highlight>
                <a:latin typeface="Arial" panose="020B0604020202020204" pitchFamily="34" charset="0"/>
                <a:hlinkClick r:id="rId10" tooltip="Sociedad Estatal de Participaciones Industriales">
                  <a:extLst>
                    <a:ext uri="{A12FA001-AC4F-418D-AE19-62706E023703}">
                      <ahyp:hlinkClr xmlns:ahyp="http://schemas.microsoft.com/office/drawing/2018/hyperlinkcolor" val="tx"/>
                    </a:ext>
                  </a:extLst>
                </a:hlinkClick>
              </a:rPr>
              <a:t>Sociedad Estatal de Participaciones Industriales</a:t>
            </a:r>
            <a:r>
              <a:rPr lang="es-ES" sz="1600" b="0" i="1" dirty="0">
                <a:effectLst/>
                <a:highlight>
                  <a:srgbClr val="FFFF00"/>
                </a:highlight>
                <a:latin typeface="Arial" panose="020B0604020202020204" pitchFamily="34" charset="0"/>
              </a:rPr>
              <a:t> (SEPI), </a:t>
            </a:r>
            <a:r>
              <a:rPr lang="es-ES" sz="1600" b="0" i="1" u="none" strike="noStrike" dirty="0">
                <a:effectLst/>
                <a:highlight>
                  <a:srgbClr val="FFFF00"/>
                </a:highlight>
                <a:latin typeface="Arial" panose="020B0604020202020204" pitchFamily="34" charset="0"/>
                <a:hlinkClick r:id="rId11" tooltip="Instituto de Crédito Oficial">
                  <a:extLst>
                    <a:ext uri="{A12FA001-AC4F-418D-AE19-62706E023703}">
                      <ahyp:hlinkClr xmlns:ahyp="http://schemas.microsoft.com/office/drawing/2018/hyperlinkcolor" val="tx"/>
                    </a:ext>
                  </a:extLst>
                </a:hlinkClick>
              </a:rPr>
              <a:t>Instituto de Crédito Oficial</a:t>
            </a:r>
            <a:r>
              <a:rPr lang="es-ES" sz="1600" b="0" i="1" dirty="0">
                <a:effectLst/>
                <a:highlight>
                  <a:srgbClr val="FFFF00"/>
                </a:highlight>
                <a:latin typeface="Arial" panose="020B0604020202020204" pitchFamily="34" charset="0"/>
              </a:rPr>
              <a:t> (ICO), </a:t>
            </a:r>
            <a:r>
              <a:rPr lang="es-ES" sz="1600" b="0" i="1" u="none" strike="noStrike" dirty="0">
                <a:effectLst/>
                <a:highlight>
                  <a:srgbClr val="FFFF00"/>
                </a:highlight>
                <a:latin typeface="Arial" panose="020B0604020202020204" pitchFamily="34" charset="0"/>
                <a:hlinkClick r:id="rId12" tooltip="Instituto Español de Comercio Exterior">
                  <a:extLst>
                    <a:ext uri="{A12FA001-AC4F-418D-AE19-62706E023703}">
                      <ahyp:hlinkClr xmlns:ahyp="http://schemas.microsoft.com/office/drawing/2018/hyperlinkcolor" val="tx"/>
                    </a:ext>
                  </a:extLst>
                </a:hlinkClick>
              </a:rPr>
              <a:t>Instituto Español de Comercio Exterior</a:t>
            </a:r>
            <a:r>
              <a:rPr lang="es-ES" sz="1600" b="0" i="1" dirty="0">
                <a:effectLst/>
                <a:highlight>
                  <a:srgbClr val="FFFF00"/>
                </a:highlight>
                <a:latin typeface="Arial" panose="020B0604020202020204" pitchFamily="34" charset="0"/>
              </a:rPr>
              <a:t> (ICEX España Exportación e Inversiones), </a:t>
            </a:r>
            <a:r>
              <a:rPr lang="es-ES" sz="1600" b="0" i="1" u="none" strike="noStrike" dirty="0">
                <a:effectLst/>
                <a:highlight>
                  <a:srgbClr val="FFFF00"/>
                </a:highlight>
                <a:latin typeface="Arial" panose="020B0604020202020204" pitchFamily="34" charset="0"/>
                <a:hlinkClick r:id="rId13" tooltip="ENAIRE">
                  <a:extLst>
                    <a:ext uri="{A12FA001-AC4F-418D-AE19-62706E023703}">
                      <ahyp:hlinkClr xmlns:ahyp="http://schemas.microsoft.com/office/drawing/2018/hyperlinkcolor" val="tx"/>
                    </a:ext>
                  </a:extLst>
                </a:hlinkClick>
              </a:rPr>
              <a:t>ENAIRE</a:t>
            </a:r>
            <a:r>
              <a:rPr lang="es-ES" sz="1600" b="0" i="1" dirty="0">
                <a:effectLst/>
                <a:highlight>
                  <a:srgbClr val="FFFF00"/>
                </a:highlight>
                <a:latin typeface="Arial" panose="020B0604020202020204" pitchFamily="34" charset="0"/>
              </a:rPr>
              <a:t>, de la cual depende </a:t>
            </a:r>
            <a:r>
              <a:rPr lang="es-ES" sz="1600" b="0" i="1" u="none" strike="noStrike" dirty="0">
                <a:effectLst/>
                <a:highlight>
                  <a:srgbClr val="FFFF00"/>
                </a:highlight>
                <a:latin typeface="Arial" panose="020B0604020202020204" pitchFamily="34" charset="0"/>
                <a:hlinkClick r:id="rId14" tooltip="AENA">
                  <a:extLst>
                    <a:ext uri="{A12FA001-AC4F-418D-AE19-62706E023703}">
                      <ahyp:hlinkClr xmlns:ahyp="http://schemas.microsoft.com/office/drawing/2018/hyperlinkcolor" val="tx"/>
                    </a:ext>
                  </a:extLst>
                </a:hlinkClick>
              </a:rPr>
              <a:t>AENA</a:t>
            </a:r>
            <a:r>
              <a:rPr lang="es-ES" sz="1600" b="0" i="1" dirty="0">
                <a:effectLst/>
                <a:highlight>
                  <a:srgbClr val="FFFF00"/>
                </a:highlight>
                <a:latin typeface="Arial" panose="020B0604020202020204" pitchFamily="34" charset="0"/>
              </a:rPr>
              <a:t>., </a:t>
            </a:r>
            <a:r>
              <a:rPr lang="es-ES" sz="1600" b="0" i="1" u="none" strike="noStrike" dirty="0">
                <a:effectLst/>
                <a:highlight>
                  <a:srgbClr val="FFFF00"/>
                </a:highlight>
                <a:latin typeface="Arial" panose="020B0604020202020204" pitchFamily="34" charset="0"/>
                <a:hlinkClick r:id="rId15" tooltip="Renfe">
                  <a:extLst>
                    <a:ext uri="{A12FA001-AC4F-418D-AE19-62706E023703}">
                      <ahyp:hlinkClr xmlns:ahyp="http://schemas.microsoft.com/office/drawing/2018/hyperlinkcolor" val="tx"/>
                    </a:ext>
                  </a:extLst>
                </a:hlinkClick>
              </a:rPr>
              <a:t>Renfe</a:t>
            </a:r>
            <a:endParaRPr lang="es-ES" sz="1600" b="0" i="1" dirty="0">
              <a:effectLst/>
              <a:highlight>
                <a:srgbClr val="FFFF00"/>
              </a:highlight>
              <a:latin typeface="Arial" panose="020B0604020202020204" pitchFamily="34" charset="0"/>
            </a:endParaRPr>
          </a:p>
          <a:p>
            <a:pPr algn="just">
              <a:defRPr/>
            </a:pPr>
            <a:endParaRPr lang="es-ES" altLang="es-ES" sz="2000" b="1" kern="0" dirty="0"/>
          </a:p>
          <a:p>
            <a:pPr algn="just">
              <a:defRPr/>
            </a:pPr>
            <a:endParaRPr lang="es-ES_tradnl" altLang="es-ES" sz="2000" b="1" i="1" u="sng" kern="0" dirty="0">
              <a:solidFill>
                <a:srgbClr val="66003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288D98D4-F35B-A3A8-3B7D-E2152C54F124}"/>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41987" name="Picture 5" descr="cefcorp_logo">
            <a:extLst>
              <a:ext uri="{FF2B5EF4-FFF2-40B4-BE49-F238E27FC236}">
                <a16:creationId xmlns:a16="http://schemas.microsoft.com/office/drawing/2014/main" id="{012C4F56-0E0C-C576-F7AC-830764D09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6">
            <a:extLst>
              <a:ext uri="{FF2B5EF4-FFF2-40B4-BE49-F238E27FC236}">
                <a16:creationId xmlns:a16="http://schemas.microsoft.com/office/drawing/2014/main" id="{893D3D9A-1322-BE4F-AFEC-5735AF10AE21}"/>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41989" name="Text Box 21">
            <a:extLst>
              <a:ext uri="{FF2B5EF4-FFF2-40B4-BE49-F238E27FC236}">
                <a16:creationId xmlns:a16="http://schemas.microsoft.com/office/drawing/2014/main" id="{085B4B7C-DACC-28D4-010B-D2FC90BED3E9}"/>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41990" name="Text Box 22">
            <a:extLst>
              <a:ext uri="{FF2B5EF4-FFF2-40B4-BE49-F238E27FC236}">
                <a16:creationId xmlns:a16="http://schemas.microsoft.com/office/drawing/2014/main" id="{8D257A76-2BAF-40DB-554A-B8DC4C249A43}"/>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41991" name="Picture 26" descr="logo-udima-horizontal-COLOR">
            <a:extLst>
              <a:ext uri="{FF2B5EF4-FFF2-40B4-BE49-F238E27FC236}">
                <a16:creationId xmlns:a16="http://schemas.microsoft.com/office/drawing/2014/main" id="{FC955CDA-47D9-87F7-7FFB-D21C663356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2" name="Rectángulo 1">
            <a:extLst>
              <a:ext uri="{FF2B5EF4-FFF2-40B4-BE49-F238E27FC236}">
                <a16:creationId xmlns:a16="http://schemas.microsoft.com/office/drawing/2014/main" id="{EA847658-9582-6A3F-8E5C-2A2F727FA17C}"/>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41993" name="CuadroTexto 3">
            <a:extLst>
              <a:ext uri="{FF2B5EF4-FFF2-40B4-BE49-F238E27FC236}">
                <a16:creationId xmlns:a16="http://schemas.microsoft.com/office/drawing/2014/main" id="{4529E4FD-0D2E-1607-2087-F9C7BF1A331D}"/>
              </a:ext>
            </a:extLst>
          </p:cNvPr>
          <p:cNvSpPr txBox="1">
            <a:spLocks noChangeArrowheads="1"/>
          </p:cNvSpPr>
          <p:nvPr/>
        </p:nvSpPr>
        <p:spPr bwMode="auto">
          <a:xfrm>
            <a:off x="2011363" y="133350"/>
            <a:ext cx="5591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None/>
            </a:pPr>
            <a:r>
              <a:rPr lang="es-ES" altLang="es-ES" sz="1800" b="1" dirty="0">
                <a:solidFill>
                  <a:srgbClr val="FF0000"/>
                </a:solidFill>
                <a:latin typeface="Arial"/>
                <a:cs typeface="Arial"/>
              </a:rPr>
              <a:t>La Administración Institucional. Agencias Estatales</a:t>
            </a:r>
            <a:endParaRPr lang="es-ES" altLang="es-ES" sz="1800" b="1" dirty="0">
              <a:solidFill>
                <a:srgbClr val="FF0000"/>
              </a:solidFill>
            </a:endParaRPr>
          </a:p>
        </p:txBody>
      </p:sp>
      <p:sp>
        <p:nvSpPr>
          <p:cNvPr id="10" name="Rectangle 3">
            <a:extLst>
              <a:ext uri="{FF2B5EF4-FFF2-40B4-BE49-F238E27FC236}">
                <a16:creationId xmlns:a16="http://schemas.microsoft.com/office/drawing/2014/main" id="{A0B757E5-5726-79D5-F568-01E52659CB73}"/>
              </a:ext>
            </a:extLst>
          </p:cNvPr>
          <p:cNvSpPr txBox="1">
            <a:spLocks noChangeArrowheads="1"/>
          </p:cNvSpPr>
          <p:nvPr/>
        </p:nvSpPr>
        <p:spPr bwMode="auto">
          <a:xfrm>
            <a:off x="457200" y="1125538"/>
            <a:ext cx="8229600" cy="5000625"/>
          </a:xfrm>
          <a:prstGeom prst="rect">
            <a:avLst/>
          </a:prstGeom>
          <a:noFill/>
          <a:ln w="317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lIns="91440" tIns="45720" rIns="91440" bIns="45720" anchor="t"/>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algn="just">
              <a:defRPr/>
            </a:pPr>
            <a:r>
              <a:rPr lang="es-ES" sz="1600" b="1" kern="0" dirty="0">
                <a:solidFill>
                  <a:srgbClr val="7030A0"/>
                </a:solidFill>
                <a:ea typeface="+mn-lt"/>
                <a:cs typeface="+mn-lt"/>
              </a:rPr>
              <a:t>Las Agencias Estatales</a:t>
            </a:r>
            <a:r>
              <a:rPr lang="es-ES" sz="1600" b="1" kern="0" dirty="0">
                <a:ea typeface="+mn-lt"/>
                <a:cs typeface="+mn-lt"/>
              </a:rPr>
              <a:t> son entidades de derecho público, dotadas de personalidad jurídica pública, patrimonio propio y autonomía en su gestión, facultadas para ejercer potestades administrativas, que son creadas por el Gobierno para el cumplimiento de los programas correspondientes a las políticas públicas que desarrolle la Administración General del Estado en el ámbito de sus competencias.</a:t>
            </a:r>
            <a:endParaRPr lang="es-ES" sz="1600" b="1" dirty="0">
              <a:cs typeface="Arial"/>
            </a:endParaRPr>
          </a:p>
          <a:p>
            <a:pPr algn="just">
              <a:defRPr/>
            </a:pPr>
            <a:r>
              <a:rPr lang="es-ES" sz="1600" b="1" kern="0" dirty="0">
                <a:solidFill>
                  <a:srgbClr val="7030A0"/>
                </a:solidFill>
                <a:ea typeface="+mn-lt"/>
                <a:cs typeface="+mn-lt"/>
              </a:rPr>
              <a:t>Las agencias estatales están dotadas de los mecanismos de autonomía funcional, responsabilidad por la gestión y control de resultados establecidos en esta ley.</a:t>
            </a:r>
            <a:endParaRPr lang="es-ES" sz="1600" b="1" dirty="0">
              <a:solidFill>
                <a:srgbClr val="7030A0"/>
              </a:solidFill>
              <a:cs typeface="Arial"/>
            </a:endParaRPr>
          </a:p>
          <a:p>
            <a:pPr algn="just">
              <a:defRPr/>
            </a:pPr>
            <a:r>
              <a:rPr lang="es-ES" sz="1600" b="1" kern="0" dirty="0">
                <a:ea typeface="+mn-lt"/>
                <a:cs typeface="+mn-lt"/>
              </a:rPr>
              <a:t>Con independencia de cuál sea su denominación, </a:t>
            </a:r>
            <a:r>
              <a:rPr lang="es-ES" sz="1600" b="1" kern="0" dirty="0">
                <a:solidFill>
                  <a:srgbClr val="7030A0"/>
                </a:solidFill>
                <a:ea typeface="+mn-lt"/>
                <a:cs typeface="+mn-lt"/>
              </a:rPr>
              <a:t>cuando un organismo público tenga naturaleza de Agencia Estatales deberá figurar en su denominación la indicación de “Agencia Estatal”. (ver artículo 108 bis y siguientes de la ley 40/2015)</a:t>
            </a:r>
          </a:p>
          <a:p>
            <a:pPr algn="just">
              <a:defRPr/>
            </a:pPr>
            <a:endParaRPr lang="es-ES" sz="1600" b="1" kern="0" dirty="0">
              <a:solidFill>
                <a:srgbClr val="7030A0"/>
              </a:solidFill>
              <a:ea typeface="+mn-lt"/>
              <a:cs typeface="+mn-lt"/>
            </a:endParaRPr>
          </a:p>
          <a:p>
            <a:pPr algn="just">
              <a:defRPr/>
            </a:pPr>
            <a:r>
              <a:rPr lang="es-ES" sz="1600" b="1" kern="0" dirty="0">
                <a:highlight>
                  <a:srgbClr val="FFFF00"/>
                </a:highlight>
                <a:ea typeface="+mn-lt"/>
                <a:cs typeface="+mn-lt"/>
              </a:rPr>
              <a:t>EJEMPLOS: </a:t>
            </a:r>
            <a:r>
              <a:rPr lang="es-ES" sz="1600" b="0" i="0" u="none" strike="noStrike" dirty="0">
                <a:effectLst/>
                <a:highlight>
                  <a:srgbClr val="FFFF00"/>
                </a:highlight>
                <a:hlinkClick r:id="rId5" tooltip="Agencia Española de Cooperación Internacional para el Desarrollo">
                  <a:extLst>
                    <a:ext uri="{A12FA001-AC4F-418D-AE19-62706E023703}">
                      <ahyp:hlinkClr xmlns:ahyp="http://schemas.microsoft.com/office/drawing/2018/hyperlinkcolor" val="tx"/>
                    </a:ext>
                  </a:extLst>
                </a:hlinkClick>
              </a:rPr>
              <a:t>Agencia Española de Cooperación Internacional para el Desarrollo</a:t>
            </a:r>
            <a:r>
              <a:rPr lang="es-ES" sz="1600" b="0" i="0" u="none" strike="noStrike" dirty="0">
                <a:effectLst/>
                <a:highlight>
                  <a:srgbClr val="FFFF00"/>
                </a:highlight>
              </a:rPr>
              <a:t> (AECID), </a:t>
            </a:r>
            <a:r>
              <a:rPr lang="es-ES" sz="1600" b="0" i="0" u="none" strike="noStrike" dirty="0">
                <a:effectLst/>
                <a:highlight>
                  <a:srgbClr val="FFFF00"/>
                </a:highlight>
                <a:hlinkClick r:id="rId6" tooltip="Agencia Española de Medicamentos y Productos Sanitarios">
                  <a:extLst>
                    <a:ext uri="{A12FA001-AC4F-418D-AE19-62706E023703}">
                      <ahyp:hlinkClr xmlns:ahyp="http://schemas.microsoft.com/office/drawing/2018/hyperlinkcolor" val="tx"/>
                    </a:ext>
                  </a:extLst>
                </a:hlinkClick>
              </a:rPr>
              <a:t>Agencia Española de Medicamentos y Productos Sanitarios</a:t>
            </a:r>
            <a:r>
              <a:rPr lang="es-ES" sz="1600" b="0" i="0" u="none" strike="noStrike" dirty="0">
                <a:effectLst/>
                <a:highlight>
                  <a:srgbClr val="FFFF00"/>
                </a:highlight>
              </a:rPr>
              <a:t> (AEMPS), </a:t>
            </a:r>
            <a:r>
              <a:rPr lang="es-ES" sz="1600" b="0" i="0" u="none" strike="noStrike" dirty="0">
                <a:effectLst/>
                <a:highlight>
                  <a:srgbClr val="FFFF00"/>
                </a:highlight>
                <a:hlinkClick r:id="rId7" tooltip="Agencia Española de Supervisión de la Inteligencia Artificial">
                  <a:extLst>
                    <a:ext uri="{A12FA001-AC4F-418D-AE19-62706E023703}">
                      <ahyp:hlinkClr xmlns:ahyp="http://schemas.microsoft.com/office/drawing/2018/hyperlinkcolor" val="tx"/>
                    </a:ext>
                  </a:extLst>
                </a:hlinkClick>
              </a:rPr>
              <a:t>Agencia Española de Supervisión de la Inteligencia Artificial</a:t>
            </a:r>
            <a:r>
              <a:rPr lang="es-ES" sz="1600" b="0" i="0" u="none" strike="noStrike" dirty="0">
                <a:effectLst/>
                <a:highlight>
                  <a:srgbClr val="FFFF00"/>
                </a:highlight>
              </a:rPr>
              <a:t> (AESIA),  </a:t>
            </a:r>
            <a:r>
              <a:rPr lang="es-ES" sz="1600" b="0" i="0" u="none" strike="noStrike" dirty="0">
                <a:effectLst/>
                <a:highlight>
                  <a:srgbClr val="FFFF00"/>
                </a:highlight>
                <a:hlinkClick r:id="rId8" tooltip="Agencia Estatal Antidopaje">
                  <a:extLst>
                    <a:ext uri="{A12FA001-AC4F-418D-AE19-62706E023703}">
                      <ahyp:hlinkClr xmlns:ahyp="http://schemas.microsoft.com/office/drawing/2018/hyperlinkcolor" val="tx"/>
                    </a:ext>
                  </a:extLst>
                </a:hlinkClick>
              </a:rPr>
              <a:t>Agencia Estatal Antidopaje</a:t>
            </a:r>
            <a:r>
              <a:rPr lang="es-ES" sz="1600" b="0" i="0" u="none" strike="noStrike" dirty="0">
                <a:effectLst/>
                <a:highlight>
                  <a:srgbClr val="FFFF00"/>
                </a:highlight>
              </a:rPr>
              <a:t> (AEA), </a:t>
            </a:r>
            <a:r>
              <a:rPr lang="es-ES" sz="1600" b="0" i="0" u="none" strike="noStrike" dirty="0">
                <a:effectLst/>
                <a:highlight>
                  <a:srgbClr val="FFFF00"/>
                </a:highlight>
                <a:hlinkClick r:id="rId9" tooltip="Agencia Estatal Boletín Oficial del Estado">
                  <a:extLst>
                    <a:ext uri="{A12FA001-AC4F-418D-AE19-62706E023703}">
                      <ahyp:hlinkClr xmlns:ahyp="http://schemas.microsoft.com/office/drawing/2018/hyperlinkcolor" val="tx"/>
                    </a:ext>
                  </a:extLst>
                </a:hlinkClick>
              </a:rPr>
              <a:t>Agencia Estatal Boletín Oficial del Estado</a:t>
            </a:r>
            <a:r>
              <a:rPr lang="es-ES" sz="1600" b="0" i="0" u="none" strike="noStrike" dirty="0">
                <a:effectLst/>
                <a:highlight>
                  <a:srgbClr val="FFFF00"/>
                </a:highlight>
              </a:rPr>
              <a:t> (ABOE), </a:t>
            </a:r>
            <a:r>
              <a:rPr lang="es-ES" sz="1600" b="0" i="0" u="none" strike="noStrike" dirty="0">
                <a:effectLst/>
                <a:highlight>
                  <a:srgbClr val="FFFF00"/>
                </a:highlight>
                <a:hlinkClick r:id="rId10" tooltip="Agencia Estatal de Investigación">
                  <a:extLst>
                    <a:ext uri="{A12FA001-AC4F-418D-AE19-62706E023703}">
                      <ahyp:hlinkClr xmlns:ahyp="http://schemas.microsoft.com/office/drawing/2018/hyperlinkcolor" val="tx"/>
                    </a:ext>
                  </a:extLst>
                </a:hlinkClick>
              </a:rPr>
              <a:t>Agencia Estatal de Investigación</a:t>
            </a:r>
            <a:r>
              <a:rPr lang="es-ES" sz="1600" b="0" i="0" u="none" strike="noStrike" dirty="0">
                <a:effectLst/>
                <a:highlight>
                  <a:srgbClr val="FFFF00"/>
                </a:highlight>
              </a:rPr>
              <a:t> )AEI), </a:t>
            </a:r>
            <a:r>
              <a:rPr lang="es-ES" sz="1600" b="0" i="0" u="none" strike="noStrike" dirty="0">
                <a:effectLst/>
                <a:highlight>
                  <a:srgbClr val="FFFF00"/>
                </a:highlight>
                <a:hlinkClick r:id="rId11" tooltip="Agencia Estatal de Meteorología">
                  <a:extLst>
                    <a:ext uri="{A12FA001-AC4F-418D-AE19-62706E023703}">
                      <ahyp:hlinkClr xmlns:ahyp="http://schemas.microsoft.com/office/drawing/2018/hyperlinkcolor" val="tx"/>
                    </a:ext>
                  </a:extLst>
                </a:hlinkClick>
              </a:rPr>
              <a:t>Agencia Estatal de Meteorología</a:t>
            </a:r>
            <a:r>
              <a:rPr lang="es-ES" sz="1600" b="0" i="0" u="none" strike="noStrike" dirty="0">
                <a:effectLst/>
                <a:highlight>
                  <a:srgbClr val="FFFF00"/>
                </a:highlight>
              </a:rPr>
              <a:t> (AEMET)</a:t>
            </a:r>
            <a:endParaRPr lang="es-ES" sz="1600" b="0" i="0" dirty="0">
              <a:effectLst/>
              <a:highlight>
                <a:srgbClr val="FFFF00"/>
              </a:highlight>
            </a:endParaRPr>
          </a:p>
          <a:p>
            <a:pPr algn="just">
              <a:defRPr/>
            </a:pPr>
            <a:endParaRPr lang="es-ES" sz="1600" b="1" dirty="0">
              <a:solidFill>
                <a:srgbClr val="7030A0"/>
              </a:solidFill>
              <a:cs typeface="Arial"/>
            </a:endParaRPr>
          </a:p>
          <a:p>
            <a:pPr algn="just">
              <a:defRPr/>
            </a:pPr>
            <a:endParaRPr lang="es-ES" altLang="es-ES" sz="2000" b="1" kern="0" dirty="0">
              <a:cs typeface="Arial"/>
            </a:endParaRPr>
          </a:p>
          <a:p>
            <a:pPr algn="just">
              <a:defRPr/>
            </a:pPr>
            <a:endParaRPr lang="es-ES_tradnl" altLang="es-ES" sz="2000" b="1" i="1" u="sng" kern="0" dirty="0">
              <a:solidFill>
                <a:srgbClr val="660033"/>
              </a:solidFill>
            </a:endParaRPr>
          </a:p>
        </p:txBody>
      </p:sp>
    </p:spTree>
    <p:extLst>
      <p:ext uri="{BB962C8B-B14F-4D97-AF65-F5344CB8AC3E}">
        <p14:creationId xmlns:p14="http://schemas.microsoft.com/office/powerpoint/2010/main" val="3934665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466D8FEA-D7A4-AF64-5DBF-C31590E6BDB5}"/>
              </a:ext>
            </a:extLst>
          </p:cNvPr>
          <p:cNvSpPr>
            <a:spLocks noChangeArrowheads="1"/>
          </p:cNvSpPr>
          <p:nvPr/>
        </p:nvSpPr>
        <p:spPr bwMode="auto">
          <a:xfrm>
            <a:off x="144463" y="115888"/>
            <a:ext cx="9144000" cy="836612"/>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44035" name="Picture 5" descr="cefcorp_logo">
            <a:extLst>
              <a:ext uri="{FF2B5EF4-FFF2-40B4-BE49-F238E27FC236}">
                <a16:creationId xmlns:a16="http://schemas.microsoft.com/office/drawing/2014/main" id="{9DD9B691-B58E-D66A-00BC-D052A50C8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Rectangle 6">
            <a:extLst>
              <a:ext uri="{FF2B5EF4-FFF2-40B4-BE49-F238E27FC236}">
                <a16:creationId xmlns:a16="http://schemas.microsoft.com/office/drawing/2014/main" id="{CF99D843-4E36-284B-7B3E-C640D825DC17}"/>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44037" name="Text Box 21">
            <a:extLst>
              <a:ext uri="{FF2B5EF4-FFF2-40B4-BE49-F238E27FC236}">
                <a16:creationId xmlns:a16="http://schemas.microsoft.com/office/drawing/2014/main" id="{E6305899-81D6-C88F-D2CF-61A28F90D2DD}"/>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44038" name="Text Box 22">
            <a:extLst>
              <a:ext uri="{FF2B5EF4-FFF2-40B4-BE49-F238E27FC236}">
                <a16:creationId xmlns:a16="http://schemas.microsoft.com/office/drawing/2014/main" id="{FA026C69-27CA-9A2A-7BED-4A8B23CF5B69}"/>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44039" name="Picture 26" descr="logo-udima-horizontal-COLOR">
            <a:extLst>
              <a:ext uri="{FF2B5EF4-FFF2-40B4-BE49-F238E27FC236}">
                <a16:creationId xmlns:a16="http://schemas.microsoft.com/office/drawing/2014/main" id="{2E422083-9CA9-D595-EA25-A7D9FA5992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0" name="Rectángulo 1">
            <a:extLst>
              <a:ext uri="{FF2B5EF4-FFF2-40B4-BE49-F238E27FC236}">
                <a16:creationId xmlns:a16="http://schemas.microsoft.com/office/drawing/2014/main" id="{0B960AFF-2F28-51F0-F724-77BE55731EF4}"/>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44041" name="CuadroTexto 3">
            <a:extLst>
              <a:ext uri="{FF2B5EF4-FFF2-40B4-BE49-F238E27FC236}">
                <a16:creationId xmlns:a16="http://schemas.microsoft.com/office/drawing/2014/main" id="{CA807C04-4F9E-CD8B-C4B6-746D22A7117D}"/>
              </a:ext>
            </a:extLst>
          </p:cNvPr>
          <p:cNvSpPr txBox="1">
            <a:spLocks noChangeArrowheads="1"/>
          </p:cNvSpPr>
          <p:nvPr/>
        </p:nvSpPr>
        <p:spPr bwMode="auto">
          <a:xfrm>
            <a:off x="2005013" y="325438"/>
            <a:ext cx="55911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Institucional. Autoridades Administrativas Independientes</a:t>
            </a:r>
          </a:p>
        </p:txBody>
      </p:sp>
      <p:sp>
        <p:nvSpPr>
          <p:cNvPr id="44042" name="Rectángulo 2">
            <a:extLst>
              <a:ext uri="{FF2B5EF4-FFF2-40B4-BE49-F238E27FC236}">
                <a16:creationId xmlns:a16="http://schemas.microsoft.com/office/drawing/2014/main" id="{9BD85951-08B5-1F4A-972B-2A2659E815D3}"/>
              </a:ext>
            </a:extLst>
          </p:cNvPr>
          <p:cNvSpPr>
            <a:spLocks noChangeArrowheads="1"/>
          </p:cNvSpPr>
          <p:nvPr/>
        </p:nvSpPr>
        <p:spPr bwMode="auto">
          <a:xfrm>
            <a:off x="279400" y="995363"/>
            <a:ext cx="8532813" cy="5693866"/>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s-ES" altLang="es-ES" sz="2000" b="1" dirty="0">
                <a:solidFill>
                  <a:srgbClr val="7030A0"/>
                </a:solidFill>
              </a:rPr>
              <a:t>Son autoridades administrativas independientes de ámbito estatal </a:t>
            </a:r>
            <a:r>
              <a:rPr lang="es-ES" altLang="es-ES" sz="2000" b="1" dirty="0"/>
              <a:t>las entidades de derecho público que, vinculadas a la Administración General del Estado y con personalidad jurídica propia, tienen atribuidas </a:t>
            </a:r>
            <a:r>
              <a:rPr lang="es-ES" altLang="es-ES" sz="2000" b="1" dirty="0">
                <a:solidFill>
                  <a:srgbClr val="7030A0"/>
                </a:solidFill>
              </a:rPr>
              <a:t>funciones de regulación o supervisión de carácter externo sobre sectores económicos o actividades determinadas</a:t>
            </a:r>
            <a:r>
              <a:rPr lang="es-ES" altLang="es-ES" sz="2000" b="1" dirty="0"/>
              <a:t>, por requerir su desempeño de independencia funcional o una especial autonomía respecto de la Administración General del Estado, lo que deberá determinarse en una norma con rango de Ley.</a:t>
            </a:r>
          </a:p>
          <a:p>
            <a:pPr algn="just">
              <a:spcBef>
                <a:spcPct val="0"/>
              </a:spcBef>
              <a:buFontTx/>
              <a:buNone/>
            </a:pPr>
            <a:endParaRPr lang="es-ES" altLang="es-ES" sz="2000" b="1" dirty="0"/>
          </a:p>
          <a:p>
            <a:pPr algn="just">
              <a:spcBef>
                <a:spcPct val="0"/>
              </a:spcBef>
              <a:buFontTx/>
              <a:buNone/>
            </a:pPr>
            <a:r>
              <a:rPr lang="es-ES" altLang="es-ES" sz="2000" b="1" dirty="0"/>
              <a:t>Las autoridades administrativas independientes actuarán, en el desarrollo de su actividad y para el cumplimiento de sus fines, con independencia de cualquier interés empresarial o comercial.</a:t>
            </a:r>
          </a:p>
          <a:p>
            <a:pPr algn="just">
              <a:spcBef>
                <a:spcPct val="0"/>
              </a:spcBef>
              <a:buFontTx/>
              <a:buNone/>
            </a:pPr>
            <a:endParaRPr lang="es-ES" altLang="es-ES" sz="2000" b="1" dirty="0"/>
          </a:p>
          <a:p>
            <a:pPr algn="just">
              <a:spcBef>
                <a:spcPct val="0"/>
              </a:spcBef>
              <a:buFontTx/>
              <a:buNone/>
            </a:pPr>
            <a:r>
              <a:rPr lang="es-ES" altLang="es-ES" sz="1800" b="1" i="1" dirty="0">
                <a:highlight>
                  <a:srgbClr val="FFFF00"/>
                </a:highlight>
              </a:rPr>
              <a:t>EJEMPLOS: </a:t>
            </a:r>
            <a:r>
              <a:rPr lang="es-ES" sz="1400" b="0" i="1" strike="noStrike" dirty="0">
                <a:effectLst/>
                <a:highlight>
                  <a:srgbClr val="FFFF00"/>
                </a:highlight>
                <a:latin typeface="Arial" panose="020B0604020202020204" pitchFamily="34" charset="0"/>
                <a:hlinkClick r:id="rId5" tooltip="Agencia Española de Protección de Datos">
                  <a:extLst>
                    <a:ext uri="{A12FA001-AC4F-418D-AE19-62706E023703}">
                      <ahyp:hlinkClr xmlns:ahyp="http://schemas.microsoft.com/office/drawing/2018/hyperlinkcolor" val="tx"/>
                    </a:ext>
                  </a:extLst>
                </a:hlinkClick>
              </a:rPr>
              <a:t>Agencia Española de Protección de Datos</a:t>
            </a:r>
            <a:r>
              <a:rPr lang="es-ES" sz="1400" b="0" i="1" dirty="0">
                <a:effectLst/>
                <a:highlight>
                  <a:srgbClr val="FFFF00"/>
                </a:highlight>
                <a:latin typeface="Arial" panose="020B0604020202020204" pitchFamily="34" charset="0"/>
              </a:rPr>
              <a:t> (AEPD), </a:t>
            </a:r>
            <a:r>
              <a:rPr lang="es-ES" sz="1400" b="0" i="1" strike="noStrike" dirty="0">
                <a:effectLst/>
                <a:highlight>
                  <a:srgbClr val="FFFF00"/>
                </a:highlight>
                <a:latin typeface="Arial" panose="020B0604020202020204" pitchFamily="34" charset="0"/>
                <a:hlinkClick r:id="rId6" tooltip="Comisión Nacional de los Mercados y la Competencia">
                  <a:extLst>
                    <a:ext uri="{A12FA001-AC4F-418D-AE19-62706E023703}">
                      <ahyp:hlinkClr xmlns:ahyp="http://schemas.microsoft.com/office/drawing/2018/hyperlinkcolor" val="tx"/>
                    </a:ext>
                  </a:extLst>
                </a:hlinkClick>
              </a:rPr>
              <a:t>Comisión Nacional de los Mercados y la Competencia</a:t>
            </a:r>
            <a:r>
              <a:rPr lang="es-ES" sz="1400" b="0" i="1" dirty="0">
                <a:effectLst/>
                <a:highlight>
                  <a:srgbClr val="FFFF00"/>
                </a:highlight>
                <a:latin typeface="Arial" panose="020B0604020202020204" pitchFamily="34" charset="0"/>
              </a:rPr>
              <a:t> (CNMC), </a:t>
            </a:r>
            <a:r>
              <a:rPr lang="es-ES" sz="1400" b="0" i="1" strike="noStrike" dirty="0">
                <a:effectLst/>
                <a:highlight>
                  <a:srgbClr val="FFFF00"/>
                </a:highlight>
                <a:latin typeface="Arial" panose="020B0604020202020204" pitchFamily="34" charset="0"/>
                <a:hlinkClick r:id="rId7" tooltip="Comisión Nacional del Mercado de Valores">
                  <a:extLst>
                    <a:ext uri="{A12FA001-AC4F-418D-AE19-62706E023703}">
                      <ahyp:hlinkClr xmlns:ahyp="http://schemas.microsoft.com/office/drawing/2018/hyperlinkcolor" val="tx"/>
                    </a:ext>
                  </a:extLst>
                </a:hlinkClick>
              </a:rPr>
              <a:t>Comisión Nacional del Mercado de Valores</a:t>
            </a:r>
            <a:r>
              <a:rPr lang="es-ES" sz="1400" b="0" i="1" dirty="0">
                <a:effectLst/>
                <a:highlight>
                  <a:srgbClr val="FFFF00"/>
                </a:highlight>
                <a:latin typeface="Arial" panose="020B0604020202020204" pitchFamily="34" charset="0"/>
              </a:rPr>
              <a:t> (CNMV), </a:t>
            </a:r>
            <a:r>
              <a:rPr lang="es-ES" sz="1400" b="0" i="1" strike="noStrike" dirty="0">
                <a:effectLst/>
                <a:highlight>
                  <a:srgbClr val="FFFF00"/>
                </a:highlight>
                <a:latin typeface="Arial" panose="020B0604020202020204" pitchFamily="34" charset="0"/>
                <a:hlinkClick r:id="rId8" tooltip="Consejo de Seguridad Nuclear">
                  <a:extLst>
                    <a:ext uri="{A12FA001-AC4F-418D-AE19-62706E023703}">
                      <ahyp:hlinkClr xmlns:ahyp="http://schemas.microsoft.com/office/drawing/2018/hyperlinkcolor" val="tx"/>
                    </a:ext>
                  </a:extLst>
                </a:hlinkClick>
              </a:rPr>
              <a:t>Consejo de Seguridad Nuclear</a:t>
            </a:r>
            <a:r>
              <a:rPr lang="es-ES" sz="1400" b="0" i="1" dirty="0">
                <a:effectLst/>
                <a:highlight>
                  <a:srgbClr val="FFFF00"/>
                </a:highlight>
                <a:latin typeface="Arial" panose="020B0604020202020204" pitchFamily="34" charset="0"/>
              </a:rPr>
              <a:t> (CSN), </a:t>
            </a:r>
            <a:r>
              <a:rPr lang="es-ES" sz="1400" b="0" i="1" strike="noStrike" dirty="0">
                <a:effectLst/>
                <a:highlight>
                  <a:srgbClr val="FFFF00"/>
                </a:highlight>
                <a:latin typeface="Arial" panose="020B0604020202020204" pitchFamily="34" charset="0"/>
                <a:hlinkClick r:id="rId9" tooltip="Consejo de Transparencia y Buen Gobierno">
                  <a:extLst>
                    <a:ext uri="{A12FA001-AC4F-418D-AE19-62706E023703}">
                      <ahyp:hlinkClr xmlns:ahyp="http://schemas.microsoft.com/office/drawing/2018/hyperlinkcolor" val="tx"/>
                    </a:ext>
                  </a:extLst>
                </a:hlinkClick>
              </a:rPr>
              <a:t>Consejo de Transparencia y Buen Gobierno</a:t>
            </a:r>
            <a:r>
              <a:rPr lang="es-ES" sz="1400" b="0" i="1" dirty="0">
                <a:effectLst/>
                <a:highlight>
                  <a:srgbClr val="FFFF00"/>
                </a:highlight>
                <a:latin typeface="Arial" panose="020B0604020202020204" pitchFamily="34" charset="0"/>
              </a:rPr>
              <a:t> (CTBG), </a:t>
            </a:r>
            <a:r>
              <a:rPr lang="es-ES" sz="1400" b="0" i="1" strike="noStrike" dirty="0">
                <a:effectLst/>
                <a:highlight>
                  <a:srgbClr val="FFFF00"/>
                </a:highlight>
                <a:latin typeface="Arial" panose="020B0604020202020204" pitchFamily="34" charset="0"/>
                <a:hlinkClick r:id="rId10" tooltip="Autoridad Independiente de Responsabilidad Fiscal">
                  <a:extLst>
                    <a:ext uri="{A12FA001-AC4F-418D-AE19-62706E023703}">
                      <ahyp:hlinkClr xmlns:ahyp="http://schemas.microsoft.com/office/drawing/2018/hyperlinkcolor" val="tx"/>
                    </a:ext>
                  </a:extLst>
                </a:hlinkClick>
              </a:rPr>
              <a:t>Autoridad Independiente de Responsabilidad Fiscal</a:t>
            </a:r>
            <a:r>
              <a:rPr lang="es-ES" sz="1400" b="0" i="1" dirty="0">
                <a:effectLst/>
                <a:highlight>
                  <a:srgbClr val="FFFF00"/>
                </a:highlight>
                <a:latin typeface="Arial" panose="020B0604020202020204" pitchFamily="34" charset="0"/>
              </a:rPr>
              <a:t> (</a:t>
            </a:r>
            <a:r>
              <a:rPr lang="es-ES" sz="1400" b="0" i="1" dirty="0" err="1">
                <a:effectLst/>
                <a:highlight>
                  <a:srgbClr val="FFFF00"/>
                </a:highlight>
                <a:latin typeface="Arial" panose="020B0604020202020204" pitchFamily="34" charset="0"/>
              </a:rPr>
              <a:t>AIReF</a:t>
            </a:r>
            <a:r>
              <a:rPr lang="es-ES" sz="1400" b="0" i="1" dirty="0">
                <a:effectLst/>
                <a:highlight>
                  <a:srgbClr val="FFFF00"/>
                </a:highlight>
                <a:latin typeface="Arial" panose="020B0604020202020204" pitchFamily="34" charset="0"/>
              </a:rPr>
              <a:t>), </a:t>
            </a:r>
            <a:r>
              <a:rPr lang="es-ES" sz="1400" b="0" i="1" strike="noStrike" dirty="0">
                <a:effectLst/>
                <a:highlight>
                  <a:srgbClr val="FFFF00"/>
                </a:highlight>
                <a:latin typeface="Arial" panose="020B0604020202020204" pitchFamily="34" charset="0"/>
                <a:hlinkClick r:id="rId11" tooltip="Fondo de Reestructuración Ordenada Bancaria">
                  <a:extLst>
                    <a:ext uri="{A12FA001-AC4F-418D-AE19-62706E023703}">
                      <ahyp:hlinkClr xmlns:ahyp="http://schemas.microsoft.com/office/drawing/2018/hyperlinkcolor" val="tx"/>
                    </a:ext>
                  </a:extLst>
                </a:hlinkClick>
              </a:rPr>
              <a:t>Fondo de Reestructuración Ordenada Bancaria</a:t>
            </a:r>
            <a:r>
              <a:rPr lang="es-ES" sz="1400" b="0" i="1" dirty="0">
                <a:effectLst/>
                <a:highlight>
                  <a:srgbClr val="FFFF00"/>
                </a:highlight>
                <a:latin typeface="Arial" panose="020B0604020202020204" pitchFamily="34" charset="0"/>
              </a:rPr>
              <a:t> (FROB)</a:t>
            </a:r>
          </a:p>
          <a:p>
            <a:pPr algn="just">
              <a:spcBef>
                <a:spcPct val="0"/>
              </a:spcBef>
              <a:buFontTx/>
              <a:buNone/>
            </a:pPr>
            <a:endParaRPr lang="es-ES" altLang="es-ES" sz="24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3203F69D-D4E8-4DEA-44EC-87BCF69DF028}"/>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46083" name="Picture 5" descr="cefcorp_logo">
            <a:extLst>
              <a:ext uri="{FF2B5EF4-FFF2-40B4-BE49-F238E27FC236}">
                <a16:creationId xmlns:a16="http://schemas.microsoft.com/office/drawing/2014/main" id="{F61E88ED-D22D-8CA7-E27A-BE173923E0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Rectangle 6">
            <a:extLst>
              <a:ext uri="{FF2B5EF4-FFF2-40B4-BE49-F238E27FC236}">
                <a16:creationId xmlns:a16="http://schemas.microsoft.com/office/drawing/2014/main" id="{040E1C0C-385F-CF6D-DABB-E22315F55056}"/>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46085" name="Text Box 21">
            <a:extLst>
              <a:ext uri="{FF2B5EF4-FFF2-40B4-BE49-F238E27FC236}">
                <a16:creationId xmlns:a16="http://schemas.microsoft.com/office/drawing/2014/main" id="{AA66A69B-C3F9-D71C-4709-40C1B2CDD0CD}"/>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46086" name="Text Box 22">
            <a:extLst>
              <a:ext uri="{FF2B5EF4-FFF2-40B4-BE49-F238E27FC236}">
                <a16:creationId xmlns:a16="http://schemas.microsoft.com/office/drawing/2014/main" id="{9BCE561B-6AFA-86BA-4FDB-598E41008BCF}"/>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46087" name="Picture 26" descr="logo-udima-horizontal-COLOR">
            <a:extLst>
              <a:ext uri="{FF2B5EF4-FFF2-40B4-BE49-F238E27FC236}">
                <a16:creationId xmlns:a16="http://schemas.microsoft.com/office/drawing/2014/main" id="{89406550-4C76-EBA5-3541-BB8EA601F5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8" name="Rectángulo 1">
            <a:extLst>
              <a:ext uri="{FF2B5EF4-FFF2-40B4-BE49-F238E27FC236}">
                <a16:creationId xmlns:a16="http://schemas.microsoft.com/office/drawing/2014/main" id="{F20125B2-C5B0-9A72-027A-D56DA7F07342}"/>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46089" name="CuadroTexto 3">
            <a:extLst>
              <a:ext uri="{FF2B5EF4-FFF2-40B4-BE49-F238E27FC236}">
                <a16:creationId xmlns:a16="http://schemas.microsoft.com/office/drawing/2014/main" id="{C4BC1977-7286-8159-3BAC-1BA1041DE8CB}"/>
              </a:ext>
            </a:extLst>
          </p:cNvPr>
          <p:cNvSpPr txBox="1">
            <a:spLocks noChangeArrowheads="1"/>
          </p:cNvSpPr>
          <p:nvPr/>
        </p:nvSpPr>
        <p:spPr bwMode="auto">
          <a:xfrm>
            <a:off x="2011363" y="133350"/>
            <a:ext cx="55911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dirty="0">
                <a:solidFill>
                  <a:srgbClr val="FF0000"/>
                </a:solidFill>
              </a:rPr>
              <a:t>La Administración Institucional. Sociedad Mercantil Estatal</a:t>
            </a:r>
          </a:p>
          <a:p>
            <a:pPr algn="ctr">
              <a:spcBef>
                <a:spcPct val="0"/>
              </a:spcBef>
              <a:buFontTx/>
              <a:buNone/>
            </a:pPr>
            <a:endParaRPr lang="es-ES" altLang="es-ES" sz="1800" b="1" dirty="0">
              <a:solidFill>
                <a:srgbClr val="FF0000"/>
              </a:solidFill>
            </a:endParaRPr>
          </a:p>
        </p:txBody>
      </p:sp>
      <p:sp>
        <p:nvSpPr>
          <p:cNvPr id="46090" name="Rectangle 3">
            <a:extLst>
              <a:ext uri="{FF2B5EF4-FFF2-40B4-BE49-F238E27FC236}">
                <a16:creationId xmlns:a16="http://schemas.microsoft.com/office/drawing/2014/main" id="{00721490-D293-3206-A555-3138237763C6}"/>
              </a:ext>
            </a:extLst>
          </p:cNvPr>
          <p:cNvSpPr txBox="1">
            <a:spLocks noChangeArrowheads="1"/>
          </p:cNvSpPr>
          <p:nvPr/>
        </p:nvSpPr>
        <p:spPr bwMode="auto">
          <a:xfrm>
            <a:off x="457200" y="936625"/>
            <a:ext cx="8229600" cy="5300663"/>
          </a:xfrm>
          <a:prstGeom prst="rect">
            <a:avLst/>
          </a:prstGeom>
          <a:noFill/>
          <a:ln w="317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buFontTx/>
              <a:buNone/>
            </a:pPr>
            <a:r>
              <a:rPr lang="es-ES" altLang="es-ES" sz="2000" b="1" dirty="0">
                <a:solidFill>
                  <a:srgbClr val="7030A0"/>
                </a:solidFill>
              </a:rPr>
              <a:t>Se entiende por sociedad mercantil estatal aquella sociedad mercantil sobre la que se ejerce control estatal, </a:t>
            </a:r>
          </a:p>
          <a:p>
            <a:pPr algn="just">
              <a:buFontTx/>
              <a:buNone/>
            </a:pPr>
            <a:r>
              <a:rPr lang="es-ES" altLang="es-ES" sz="1600" b="1" dirty="0"/>
              <a:t>a) bien porque la participación directa, en su capital social de la Administración General del Estado o alguna de las entidades que, conforme a lo dispuesto en el artículo 84 de la LRJSP, integran el sector público institucional estatal, incluidas las sociedades mercantiles estatales, sea superior al 50 por 100. Para la determinación de este porcentaje, se sumarán las participaciones correspondientes a la Administración General del Estado y a todas las entidades integradas en el sector público institucional estatal, en el caso de que en el capital social participen varias de ellas.</a:t>
            </a:r>
          </a:p>
          <a:p>
            <a:pPr algn="just">
              <a:buNone/>
            </a:pPr>
            <a:endParaRPr lang="es-ES" altLang="es-ES" sz="1600" b="1" dirty="0"/>
          </a:p>
          <a:p>
            <a:pPr algn="just">
              <a:buNone/>
            </a:pPr>
            <a:r>
              <a:rPr lang="es-ES" altLang="es-ES" sz="1600" b="1" dirty="0"/>
              <a:t>b) bien porque la sociedad mercantil se encuentre en el supuesto previsto en el artículo 4 de la Ley 24/1988, de 28 de julio, del Mercado de Valores respecto de la Administración General del Estado o de sus organismos públicos vinculados o dependientes (remite al Art. 42 del código de Comercio).</a:t>
            </a:r>
          </a:p>
          <a:p>
            <a:pPr algn="just">
              <a:buNone/>
            </a:pPr>
            <a:endParaRPr lang="es-ES" altLang="es-ES" sz="1600" b="1" dirty="0"/>
          </a:p>
          <a:p>
            <a:pPr algn="just">
              <a:buNone/>
            </a:pPr>
            <a:r>
              <a:rPr lang="es-ES" sz="2000" b="0" i="1" dirty="0">
                <a:solidFill>
                  <a:srgbClr val="040C28"/>
                </a:solidFill>
                <a:effectLst/>
                <a:highlight>
                  <a:srgbClr val="FFFF00"/>
                </a:highlight>
                <a:latin typeface="Google Sans"/>
              </a:rPr>
              <a:t>EJEMPLOS: El Museo del Prado, </a:t>
            </a:r>
            <a:r>
              <a:rPr lang="es-ES" sz="2000" i="1" dirty="0">
                <a:solidFill>
                  <a:srgbClr val="040C28"/>
                </a:solidFill>
                <a:highlight>
                  <a:srgbClr val="FFFF00"/>
                </a:highlight>
                <a:latin typeface="Google Sans"/>
              </a:rPr>
              <a:t>Agencia</a:t>
            </a:r>
            <a:r>
              <a:rPr lang="es-ES" sz="2000" b="0" i="1" dirty="0">
                <a:solidFill>
                  <a:srgbClr val="040C28"/>
                </a:solidFill>
                <a:effectLst/>
                <a:highlight>
                  <a:srgbClr val="FFFF00"/>
                </a:highlight>
                <a:latin typeface="Google Sans"/>
              </a:rPr>
              <a:t> EFE, Correos, AENA, RTVE, Paradores, Sociedad Publicas de Alquiler, o Loterías y apuestas del Estado,</a:t>
            </a:r>
            <a:endParaRPr lang="es-ES_tradnl" altLang="es-ES" sz="2000" b="1" i="1" u="sng" dirty="0">
              <a:solidFill>
                <a:srgbClr val="660033"/>
              </a:solidFill>
              <a:highlight>
                <a:srgbClr val="FFFF00"/>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B9E5BC29-19E6-E79B-EA9D-DC2F29DD9405}"/>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48131" name="Picture 5" descr="cefcorp_logo">
            <a:extLst>
              <a:ext uri="{FF2B5EF4-FFF2-40B4-BE49-F238E27FC236}">
                <a16:creationId xmlns:a16="http://schemas.microsoft.com/office/drawing/2014/main" id="{A7269153-7ADF-5183-8DF1-A836CCC67B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Rectangle 6">
            <a:extLst>
              <a:ext uri="{FF2B5EF4-FFF2-40B4-BE49-F238E27FC236}">
                <a16:creationId xmlns:a16="http://schemas.microsoft.com/office/drawing/2014/main" id="{D7314AD5-C891-9FDB-53CE-9B4CEB5980A8}"/>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48133" name="Text Box 21">
            <a:extLst>
              <a:ext uri="{FF2B5EF4-FFF2-40B4-BE49-F238E27FC236}">
                <a16:creationId xmlns:a16="http://schemas.microsoft.com/office/drawing/2014/main" id="{AA399ADE-11BD-9AAE-0171-166065D6B1A8}"/>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48134" name="Text Box 22">
            <a:extLst>
              <a:ext uri="{FF2B5EF4-FFF2-40B4-BE49-F238E27FC236}">
                <a16:creationId xmlns:a16="http://schemas.microsoft.com/office/drawing/2014/main" id="{69BE3216-DCD9-DDB7-D8B4-1105EA32E149}"/>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48135" name="Picture 26" descr="logo-udima-horizontal-COLOR">
            <a:extLst>
              <a:ext uri="{FF2B5EF4-FFF2-40B4-BE49-F238E27FC236}">
                <a16:creationId xmlns:a16="http://schemas.microsoft.com/office/drawing/2014/main" id="{5633EC0A-741A-8F0C-2708-762FC4677B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6" name="Rectángulo 1">
            <a:extLst>
              <a:ext uri="{FF2B5EF4-FFF2-40B4-BE49-F238E27FC236}">
                <a16:creationId xmlns:a16="http://schemas.microsoft.com/office/drawing/2014/main" id="{23D67F36-683C-2AD2-CF30-2D2A712CB01A}"/>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48137" name="CuadroTexto 3">
            <a:extLst>
              <a:ext uri="{FF2B5EF4-FFF2-40B4-BE49-F238E27FC236}">
                <a16:creationId xmlns:a16="http://schemas.microsoft.com/office/drawing/2014/main" id="{F62BF384-982D-ADF0-1BC1-3EE3CADAE59A}"/>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Institucional. Los Consorcios</a:t>
            </a:r>
          </a:p>
        </p:txBody>
      </p:sp>
      <p:sp>
        <p:nvSpPr>
          <p:cNvPr id="10" name="Rectangle 3">
            <a:extLst>
              <a:ext uri="{FF2B5EF4-FFF2-40B4-BE49-F238E27FC236}">
                <a16:creationId xmlns:a16="http://schemas.microsoft.com/office/drawing/2014/main" id="{3B487CE1-4E38-ED09-EB6A-49C5F22FBB1A}"/>
              </a:ext>
            </a:extLst>
          </p:cNvPr>
          <p:cNvSpPr txBox="1">
            <a:spLocks noChangeArrowheads="1"/>
          </p:cNvSpPr>
          <p:nvPr/>
        </p:nvSpPr>
        <p:spPr bwMode="auto">
          <a:xfrm>
            <a:off x="457200" y="1179513"/>
            <a:ext cx="8229600" cy="4946650"/>
          </a:xfrm>
          <a:prstGeom prst="rect">
            <a:avLst/>
          </a:prstGeom>
          <a:noFill/>
          <a:ln w="317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lIns="91440" tIns="45720" rIns="91440" bIns="45720" anchor="t"/>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algn="just">
              <a:defRPr/>
            </a:pPr>
            <a:r>
              <a:rPr lang="es-ES" altLang="es-ES" sz="2000" b="1" kern="0" dirty="0">
                <a:solidFill>
                  <a:srgbClr val="7030A0"/>
                </a:solidFill>
              </a:rPr>
              <a:t>Los consorcios son entidades de derecho público</a:t>
            </a:r>
            <a:r>
              <a:rPr lang="es-ES" altLang="es-ES" sz="2000" b="1" kern="0" dirty="0"/>
              <a:t>, con personalidad jurídica propia y diferenciada, </a:t>
            </a:r>
            <a:r>
              <a:rPr lang="es-ES" altLang="es-ES" sz="2000" b="1" kern="0" dirty="0">
                <a:solidFill>
                  <a:srgbClr val="7030A0"/>
                </a:solidFill>
              </a:rPr>
              <a:t>creadas por varias Administraciones Públicas o entidades integrantes del sector público institucional, entre sí o con participación de entidades privadas,</a:t>
            </a:r>
            <a:r>
              <a:rPr lang="es-ES" altLang="es-ES" sz="2000" b="1" kern="0" dirty="0">
                <a:solidFill>
                  <a:srgbClr val="C00000"/>
                </a:solidFill>
              </a:rPr>
              <a:t> </a:t>
            </a:r>
            <a:r>
              <a:rPr lang="es-ES" altLang="es-ES" sz="2000" b="1" kern="0" dirty="0"/>
              <a:t>para el desarrollo de actividades de interés común a todas ellas dentro del ámbito de sus competencias.</a:t>
            </a:r>
          </a:p>
          <a:p>
            <a:pPr algn="just">
              <a:defRPr/>
            </a:pPr>
            <a:r>
              <a:rPr lang="es-ES" altLang="es-ES" sz="2000" b="1" kern="0" dirty="0"/>
              <a:t>Los consorcios podrán utilizarse para la gestión de los servicios públicos, en el marco de los convenios de cooperación transfronteriza en que participen las Administraciones españolas, y de acuerdo con las previsiones de los convenios internacionales ratificados por España en la materia.</a:t>
            </a:r>
          </a:p>
          <a:p>
            <a:pPr algn="just">
              <a:defRPr/>
            </a:pPr>
            <a:endParaRPr lang="es-ES" altLang="es-ES" sz="2000" b="1" kern="0" dirty="0">
              <a:solidFill>
                <a:srgbClr val="000000"/>
              </a:solidFill>
              <a:ea typeface="+mn-lt"/>
              <a:cs typeface="+mn-lt"/>
            </a:endParaRPr>
          </a:p>
          <a:p>
            <a:pPr algn="just">
              <a:defRPr/>
            </a:pPr>
            <a:r>
              <a:rPr lang="es-ES" sz="1600" b="1" kern="0" dirty="0">
                <a:solidFill>
                  <a:srgbClr val="000000"/>
                </a:solidFill>
                <a:highlight>
                  <a:srgbClr val="FFFF00"/>
                </a:highlight>
                <a:ea typeface="+mn-lt"/>
                <a:cs typeface="+mn-lt"/>
              </a:rPr>
              <a:t>Consorcio de la Zona Franca de Barcelona, Consorcio de la Zona Franca de Vigo, Consorcio Casa de América, Consorcio Casa </a:t>
            </a:r>
            <a:r>
              <a:rPr lang="es-ES" sz="1600" b="1" kern="0" dirty="0" err="1">
                <a:solidFill>
                  <a:srgbClr val="000000"/>
                </a:solidFill>
                <a:highlight>
                  <a:srgbClr val="FFFF00"/>
                </a:highlight>
                <a:ea typeface="+mn-lt"/>
                <a:cs typeface="+mn-lt"/>
              </a:rPr>
              <a:t>Árabe,Consorcio</a:t>
            </a:r>
            <a:r>
              <a:rPr lang="es-ES" sz="1600" b="1" kern="0" dirty="0">
                <a:solidFill>
                  <a:srgbClr val="000000"/>
                </a:solidFill>
                <a:highlight>
                  <a:srgbClr val="FFFF00"/>
                </a:highlight>
                <a:ea typeface="+mn-lt"/>
                <a:cs typeface="+mn-lt"/>
              </a:rPr>
              <a:t> Casa Asia, Consorcio Casa África, Consorcio Centro Sefarad-Israel, Consorcio de Santiago de Compostela, Consorcio de Toledo</a:t>
            </a:r>
            <a:r>
              <a:rPr lang="es-ES" sz="1600" kern="0" dirty="0">
                <a:solidFill>
                  <a:srgbClr val="000000"/>
                </a:solidFill>
                <a:highlight>
                  <a:srgbClr val="FFFF00"/>
                </a:highlight>
                <a:ea typeface="+mn-lt"/>
                <a:cs typeface="+mn-lt"/>
              </a:rPr>
              <a:t>.</a:t>
            </a:r>
            <a:endParaRPr lang="es-ES" sz="1600">
              <a:solidFill>
                <a:srgbClr val="000000"/>
              </a:solidFill>
              <a:highlight>
                <a:srgbClr val="FFFF00"/>
              </a:highlight>
              <a:cs typeface="Arial"/>
            </a:endParaRPr>
          </a:p>
          <a:p>
            <a:pPr algn="just">
              <a:defRPr/>
            </a:pPr>
            <a:endParaRPr lang="es-ES" altLang="es-ES" sz="2000" b="1" kern="0" dirty="0">
              <a:solidFill>
                <a:srgbClr val="000000"/>
              </a:solidFill>
              <a:highlight>
                <a:srgbClr val="FFFF00"/>
              </a:highlight>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46E27198-86DE-998C-E697-21926B009302}"/>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0179" name="Picture 5" descr="cefcorp_logo">
            <a:extLst>
              <a:ext uri="{FF2B5EF4-FFF2-40B4-BE49-F238E27FC236}">
                <a16:creationId xmlns:a16="http://schemas.microsoft.com/office/drawing/2014/main" id="{194C623F-A8DC-25C0-EE47-52A8A7E99D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Rectangle 6">
            <a:extLst>
              <a:ext uri="{FF2B5EF4-FFF2-40B4-BE49-F238E27FC236}">
                <a16:creationId xmlns:a16="http://schemas.microsoft.com/office/drawing/2014/main" id="{F4474C3F-DA70-7EB8-B388-EB688F64A729}"/>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0181" name="Text Box 21">
            <a:extLst>
              <a:ext uri="{FF2B5EF4-FFF2-40B4-BE49-F238E27FC236}">
                <a16:creationId xmlns:a16="http://schemas.microsoft.com/office/drawing/2014/main" id="{7E07B2B7-6CE9-52A5-62F0-0A3F3A581C52}"/>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0182" name="Text Box 22">
            <a:extLst>
              <a:ext uri="{FF2B5EF4-FFF2-40B4-BE49-F238E27FC236}">
                <a16:creationId xmlns:a16="http://schemas.microsoft.com/office/drawing/2014/main" id="{81A340B8-EB47-74DB-1BE2-FF5B200ACE12}"/>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0183" name="Picture 26" descr="logo-udima-horizontal-COLOR">
            <a:extLst>
              <a:ext uri="{FF2B5EF4-FFF2-40B4-BE49-F238E27FC236}">
                <a16:creationId xmlns:a16="http://schemas.microsoft.com/office/drawing/2014/main" id="{5DBBB55D-D7FB-C53A-5DBB-5CD1904CA3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4" name="Rectángulo 1">
            <a:extLst>
              <a:ext uri="{FF2B5EF4-FFF2-40B4-BE49-F238E27FC236}">
                <a16:creationId xmlns:a16="http://schemas.microsoft.com/office/drawing/2014/main" id="{3222A351-02B8-C7DD-3D6B-44C245EC262B}"/>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0185" name="CuadroTexto 3">
            <a:extLst>
              <a:ext uri="{FF2B5EF4-FFF2-40B4-BE49-F238E27FC236}">
                <a16:creationId xmlns:a16="http://schemas.microsoft.com/office/drawing/2014/main" id="{2C088143-706B-3E32-F806-43610FDA8C34}"/>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Institucional. Fundaciones del sector público estatal</a:t>
            </a:r>
          </a:p>
        </p:txBody>
      </p:sp>
      <p:sp>
        <p:nvSpPr>
          <p:cNvPr id="10" name="Rectangle 3">
            <a:extLst>
              <a:ext uri="{FF2B5EF4-FFF2-40B4-BE49-F238E27FC236}">
                <a16:creationId xmlns:a16="http://schemas.microsoft.com/office/drawing/2014/main" id="{1D537748-DAC1-3A1B-A314-CD51D8670661}"/>
              </a:ext>
            </a:extLst>
          </p:cNvPr>
          <p:cNvSpPr txBox="1">
            <a:spLocks noChangeArrowheads="1"/>
          </p:cNvSpPr>
          <p:nvPr/>
        </p:nvSpPr>
        <p:spPr bwMode="auto">
          <a:xfrm>
            <a:off x="457200" y="969963"/>
            <a:ext cx="8229600" cy="5156200"/>
          </a:xfrm>
          <a:prstGeom prst="rect">
            <a:avLst/>
          </a:prstGeom>
          <a:noFill/>
          <a:ln w="317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algn="just">
              <a:defRPr/>
            </a:pPr>
            <a:r>
              <a:rPr lang="es-ES" sz="2200" b="1" kern="0" dirty="0">
                <a:solidFill>
                  <a:srgbClr val="7030A0"/>
                </a:solidFill>
              </a:rPr>
              <a:t>Son fundaciones del sector público estatal </a:t>
            </a:r>
            <a:r>
              <a:rPr lang="es-ES" sz="2200" b="1" kern="0" dirty="0"/>
              <a:t>aquellas que reúnan alguno de los requisitos siguientes:</a:t>
            </a:r>
          </a:p>
          <a:p>
            <a:pPr algn="just">
              <a:defRPr/>
            </a:pPr>
            <a:r>
              <a:rPr lang="es-ES" sz="1900" b="1" kern="0" dirty="0"/>
              <a:t>a) Que se constituyan de forma inicial, con una aportación mayoritaria, directa o indirecta, de la Administración General del Estado o cualquiera de los sujetos integrantes del sector público institucional estatal, o bien reciban dicha aportación con posterioridad a su constitución.</a:t>
            </a:r>
          </a:p>
          <a:p>
            <a:pPr algn="just">
              <a:defRPr/>
            </a:pPr>
            <a:r>
              <a:rPr lang="es-ES" sz="1900" b="1" kern="0" dirty="0"/>
              <a:t>b) Que el patrimonio de la fundación esté integrado en más de un 50 por ciento por bienes o derechos aportados o cedidos por sujetos integrantes del sector público institucional estatal con carácter permanente.</a:t>
            </a:r>
          </a:p>
          <a:p>
            <a:pPr algn="just">
              <a:defRPr/>
            </a:pPr>
            <a:r>
              <a:rPr lang="es-ES" sz="1900" b="1" kern="0" dirty="0"/>
              <a:t>c) La mayoría </a:t>
            </a:r>
            <a:r>
              <a:rPr lang="es-ES" sz="1900" b="1" kern="0"/>
              <a:t>de los derechos </a:t>
            </a:r>
            <a:r>
              <a:rPr lang="es-ES" sz="1900" b="1" kern="0" dirty="0"/>
              <a:t>de voto en su patronato corresponda a representantes del sector público institucional estatal.</a:t>
            </a:r>
          </a:p>
          <a:p>
            <a:pPr algn="just">
              <a:defRPr/>
            </a:pPr>
            <a:r>
              <a:rPr lang="es-ES_tradnl" altLang="es-ES" sz="1800" i="1" u="sng" kern="0" dirty="0" err="1">
                <a:highlight>
                  <a:srgbClr val="FFFF00"/>
                </a:highlight>
              </a:rPr>
              <a:t>Ejempos</a:t>
            </a:r>
            <a:r>
              <a:rPr lang="es-ES_tradnl" altLang="es-ES" sz="1800" i="1" u="sng" kern="0" dirty="0">
                <a:highlight>
                  <a:srgbClr val="FFFF00"/>
                </a:highlight>
              </a:rPr>
              <a:t>: Fundación Ramón Areces, Nacional para el desarrollo de la educación infantil (</a:t>
            </a:r>
            <a:r>
              <a:rPr lang="es-ES_tradnl" altLang="es-ES" sz="1800" i="1" u="sng" kern="0" dirty="0" err="1">
                <a:highlight>
                  <a:srgbClr val="FFFF00"/>
                </a:highlight>
              </a:rPr>
              <a:t>fundei</a:t>
            </a:r>
            <a:r>
              <a:rPr lang="es-ES_tradnl" altLang="es-ES" sz="1800" i="1" u="sng" kern="0" dirty="0">
                <a:highlight>
                  <a:srgbClr val="FFFF00"/>
                </a:highlight>
              </a:rPr>
              <a:t>), Francisco Giner de los Ríos, Pablo Iglesias, Antonio Nebrija…</a:t>
            </a:r>
          </a:p>
          <a:p>
            <a:pPr algn="just">
              <a:defRPr/>
            </a:pPr>
            <a:endParaRPr lang="es-ES_tradnl" altLang="es-ES" sz="2200" b="1" i="1" u="sng" kern="0" dirty="0">
              <a:solidFill>
                <a:srgbClr val="660033"/>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A5472387-79EB-552D-8C2A-CB007EC73D16}"/>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2227" name="Picture 5" descr="cefcorp_logo">
            <a:extLst>
              <a:ext uri="{FF2B5EF4-FFF2-40B4-BE49-F238E27FC236}">
                <a16:creationId xmlns:a16="http://schemas.microsoft.com/office/drawing/2014/main" id="{B9E35A40-2315-A627-0395-0511D80490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Rectangle 6">
            <a:extLst>
              <a:ext uri="{FF2B5EF4-FFF2-40B4-BE49-F238E27FC236}">
                <a16:creationId xmlns:a16="http://schemas.microsoft.com/office/drawing/2014/main" id="{637826E6-40DB-9234-B905-224B9BF28A03}"/>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2229" name="Text Box 21">
            <a:extLst>
              <a:ext uri="{FF2B5EF4-FFF2-40B4-BE49-F238E27FC236}">
                <a16:creationId xmlns:a16="http://schemas.microsoft.com/office/drawing/2014/main" id="{4B656774-A2E1-EE06-20B4-93544CDDD777}"/>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2230" name="Text Box 22">
            <a:extLst>
              <a:ext uri="{FF2B5EF4-FFF2-40B4-BE49-F238E27FC236}">
                <a16:creationId xmlns:a16="http://schemas.microsoft.com/office/drawing/2014/main" id="{716301A0-1C9C-C0D3-6401-8D4748A5BDAE}"/>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2231" name="Picture 26" descr="logo-udima-horizontal-COLOR">
            <a:extLst>
              <a:ext uri="{FF2B5EF4-FFF2-40B4-BE49-F238E27FC236}">
                <a16:creationId xmlns:a16="http://schemas.microsoft.com/office/drawing/2014/main" id="{492F2766-8B92-4B78-0F63-7448153831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2" name="Rectángulo 1">
            <a:extLst>
              <a:ext uri="{FF2B5EF4-FFF2-40B4-BE49-F238E27FC236}">
                <a16:creationId xmlns:a16="http://schemas.microsoft.com/office/drawing/2014/main" id="{DE3D156F-8740-D3FA-375F-52DF62129A89}"/>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2233" name="CuadroTexto 3">
            <a:extLst>
              <a:ext uri="{FF2B5EF4-FFF2-40B4-BE49-F238E27FC236}">
                <a16:creationId xmlns:a16="http://schemas.microsoft.com/office/drawing/2014/main" id="{915CC211-AA08-DEAE-3757-7BD10B32B98C}"/>
              </a:ext>
            </a:extLst>
          </p:cNvPr>
          <p:cNvSpPr txBox="1">
            <a:spLocks noChangeArrowheads="1"/>
          </p:cNvSpPr>
          <p:nvPr/>
        </p:nvSpPr>
        <p:spPr bwMode="auto">
          <a:xfrm>
            <a:off x="2011363" y="133350"/>
            <a:ext cx="5591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Institucional. Fondos sin personalidad jurídica</a:t>
            </a:r>
          </a:p>
        </p:txBody>
      </p:sp>
      <p:sp>
        <p:nvSpPr>
          <p:cNvPr id="11" name="Rectangle 3">
            <a:extLst>
              <a:ext uri="{FF2B5EF4-FFF2-40B4-BE49-F238E27FC236}">
                <a16:creationId xmlns:a16="http://schemas.microsoft.com/office/drawing/2014/main" id="{A64B891D-DC0E-F852-A869-7DFF22106BBA}"/>
              </a:ext>
            </a:extLst>
          </p:cNvPr>
          <p:cNvSpPr txBox="1">
            <a:spLocks noChangeArrowheads="1"/>
          </p:cNvSpPr>
          <p:nvPr/>
        </p:nvSpPr>
        <p:spPr bwMode="auto">
          <a:xfrm>
            <a:off x="457200" y="952500"/>
            <a:ext cx="8229600" cy="5173663"/>
          </a:xfrm>
          <a:prstGeom prst="rect">
            <a:avLst/>
          </a:prstGeom>
          <a:noFill/>
          <a:ln w="317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algn="just">
              <a:defRPr/>
            </a:pPr>
            <a:r>
              <a:rPr lang="es-ES" sz="2400" b="1" kern="0" dirty="0">
                <a:solidFill>
                  <a:srgbClr val="7030A0"/>
                </a:solidFill>
              </a:rPr>
              <a:t>Los Fondos sin personalidad jurídica</a:t>
            </a:r>
            <a:r>
              <a:rPr lang="es-ES" sz="2400" b="1" kern="0" dirty="0"/>
              <a:t>, se referencian en el artículo 2.2 de la Ley 47/2003 General presupuestaria los menciona como integrantes de los PGE.</a:t>
            </a:r>
          </a:p>
          <a:p>
            <a:pPr algn="just">
              <a:defRPr/>
            </a:pPr>
            <a:r>
              <a:rPr lang="es-ES" sz="2400" b="1" kern="0" dirty="0"/>
              <a:t>La creación de fondos carentes de personalidad jurídica en el sector público estatal se efectuará por Ley. La norma de creación determinará expresamente su adscripción a la Administración General del Estado.</a:t>
            </a:r>
          </a:p>
          <a:p>
            <a:pPr algn="just">
              <a:defRPr/>
            </a:pPr>
            <a:r>
              <a:rPr lang="es-ES" sz="2400" b="1" kern="0" dirty="0"/>
              <a:t>Con independencia de su creación por Ley se extinguirán por norma de rango reglamentario.</a:t>
            </a:r>
          </a:p>
          <a:p>
            <a:pPr algn="just">
              <a:defRPr/>
            </a:pPr>
            <a:r>
              <a:rPr lang="es-ES" sz="2400" b="1" kern="0" dirty="0"/>
              <a:t>Los fondos carentes de personalidad jurídica estarán sujetos al régimen de </a:t>
            </a:r>
            <a:r>
              <a:rPr lang="es-ES" sz="2400" b="1" kern="0" dirty="0" err="1"/>
              <a:t>presupuestación</a:t>
            </a:r>
            <a:r>
              <a:rPr lang="es-ES" sz="2400" b="1" kern="0" dirty="0"/>
              <a:t>, contabilidad y control previsto en la Ley 47/2003, de 26 de noviembre. </a:t>
            </a:r>
            <a:endParaRPr lang="es-ES_tradnl" altLang="es-ES" sz="2400" b="1" i="1" u="sng" kern="0" dirty="0">
              <a:solidFill>
                <a:srgbClr val="66003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28758A4E-7B56-31BE-9A1E-7D8634D38084}"/>
              </a:ext>
            </a:extLst>
          </p:cNvPr>
          <p:cNvSpPr>
            <a:spLocks noChangeArrowheads="1"/>
          </p:cNvSpPr>
          <p:nvPr/>
        </p:nvSpPr>
        <p:spPr bwMode="auto">
          <a:xfrm>
            <a:off x="0" y="0"/>
            <a:ext cx="9144000" cy="836613"/>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s-ES" altLang="es-ES" sz="1800">
              <a:ln w="0"/>
              <a:effectLst>
                <a:outerShdw blurRad="38100" dist="19050" dir="2700000" algn="tl" rotWithShape="0">
                  <a:schemeClr val="dk1">
                    <a:alpha val="40000"/>
                  </a:schemeClr>
                </a:outerShdw>
              </a:effectLst>
            </a:endParaRPr>
          </a:p>
        </p:txBody>
      </p:sp>
      <p:pic>
        <p:nvPicPr>
          <p:cNvPr id="54275" name="Picture 5" descr="cefcorp_logo">
            <a:extLst>
              <a:ext uri="{FF2B5EF4-FFF2-40B4-BE49-F238E27FC236}">
                <a16:creationId xmlns:a16="http://schemas.microsoft.com/office/drawing/2014/main" id="{F0F26D9C-ED20-45CA-48A8-D430D40D5C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15888"/>
            <a:ext cx="16097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Rectangle 6">
            <a:extLst>
              <a:ext uri="{FF2B5EF4-FFF2-40B4-BE49-F238E27FC236}">
                <a16:creationId xmlns:a16="http://schemas.microsoft.com/office/drawing/2014/main" id="{E1BA93BF-07A7-36FE-E22E-72024E812531}"/>
              </a:ext>
            </a:extLst>
          </p:cNvPr>
          <p:cNvSpPr>
            <a:spLocks noChangeArrowheads="1"/>
          </p:cNvSpPr>
          <p:nvPr/>
        </p:nvSpPr>
        <p:spPr bwMode="auto">
          <a:xfrm>
            <a:off x="0" y="6381750"/>
            <a:ext cx="9144000" cy="476250"/>
          </a:xfrm>
          <a:prstGeom prst="rect">
            <a:avLst/>
          </a:prstGeom>
          <a:solidFill>
            <a:srgbClr val="204434"/>
          </a:solidFill>
          <a:ln w="9525">
            <a:solidFill>
              <a:srgbClr val="27533F"/>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ES" altLang="es-ES" sz="1800"/>
          </a:p>
        </p:txBody>
      </p:sp>
      <p:sp>
        <p:nvSpPr>
          <p:cNvPr id="54277" name="Text Box 21">
            <a:extLst>
              <a:ext uri="{FF2B5EF4-FFF2-40B4-BE49-F238E27FC236}">
                <a16:creationId xmlns:a16="http://schemas.microsoft.com/office/drawing/2014/main" id="{AC422464-8738-210F-2C31-27B1471CFE76}"/>
              </a:ext>
            </a:extLst>
          </p:cNvPr>
          <p:cNvSpPr txBox="1">
            <a:spLocks noChangeArrowheads="1"/>
          </p:cNvSpPr>
          <p:nvPr/>
        </p:nvSpPr>
        <p:spPr bwMode="auto">
          <a:xfrm>
            <a:off x="5867400" y="3284538"/>
            <a:ext cx="12255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Oposiciones</a:t>
            </a:r>
          </a:p>
        </p:txBody>
      </p:sp>
      <p:sp>
        <p:nvSpPr>
          <p:cNvPr id="54278" name="Text Box 22">
            <a:extLst>
              <a:ext uri="{FF2B5EF4-FFF2-40B4-BE49-F238E27FC236}">
                <a16:creationId xmlns:a16="http://schemas.microsoft.com/office/drawing/2014/main" id="{BD2C7320-4EC1-C9C3-3458-E231A2EFD33A}"/>
              </a:ext>
            </a:extLst>
          </p:cNvPr>
          <p:cNvSpPr txBox="1">
            <a:spLocks noChangeArrowheads="1"/>
          </p:cNvSpPr>
          <p:nvPr/>
        </p:nvSpPr>
        <p:spPr bwMode="auto">
          <a:xfrm>
            <a:off x="4067175" y="5013325"/>
            <a:ext cx="11525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s-ES" altLang="es-ES" sz="1800" b="1">
                <a:solidFill>
                  <a:schemeClr val="bg1"/>
                </a:solidFill>
              </a:rPr>
              <a:t>CEF.-</a:t>
            </a:r>
          </a:p>
          <a:p>
            <a:pPr algn="ctr" eaLnBrk="1" hangingPunct="1">
              <a:spcBef>
                <a:spcPct val="50000"/>
              </a:spcBef>
              <a:buFontTx/>
              <a:buNone/>
            </a:pPr>
            <a:r>
              <a:rPr lang="es-ES" altLang="es-ES" sz="1400">
                <a:solidFill>
                  <a:schemeClr val="bg1"/>
                </a:solidFill>
              </a:rPr>
              <a:t> Medida</a:t>
            </a:r>
          </a:p>
        </p:txBody>
      </p:sp>
      <p:pic>
        <p:nvPicPr>
          <p:cNvPr id="54279" name="Picture 26" descr="logo-udima-horizontal-COLOR">
            <a:extLst>
              <a:ext uri="{FF2B5EF4-FFF2-40B4-BE49-F238E27FC236}">
                <a16:creationId xmlns:a16="http://schemas.microsoft.com/office/drawing/2014/main" id="{597C84B6-F024-AE1B-BBD0-9708939A25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0325"/>
            <a:ext cx="11525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0" name="Rectángulo 1">
            <a:extLst>
              <a:ext uri="{FF2B5EF4-FFF2-40B4-BE49-F238E27FC236}">
                <a16:creationId xmlns:a16="http://schemas.microsoft.com/office/drawing/2014/main" id="{3CB4DF7C-D3D4-C061-B65C-63B7D5E4176E}"/>
              </a:ext>
            </a:extLst>
          </p:cNvPr>
          <p:cNvSpPr>
            <a:spLocks noChangeArrowheads="1"/>
          </p:cNvSpPr>
          <p:nvPr/>
        </p:nvSpPr>
        <p:spPr bwMode="auto">
          <a:xfrm>
            <a:off x="611188" y="841375"/>
            <a:ext cx="82089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endParaRPr lang="es-ES" altLang="es-ES" sz="1800" b="1"/>
          </a:p>
          <a:p>
            <a:pPr algn="just">
              <a:spcBef>
                <a:spcPct val="0"/>
              </a:spcBef>
              <a:buFontTx/>
              <a:buNone/>
            </a:pPr>
            <a:endParaRPr lang="es-ES" altLang="es-ES" sz="1800" b="1"/>
          </a:p>
        </p:txBody>
      </p:sp>
      <p:sp>
        <p:nvSpPr>
          <p:cNvPr id="54281" name="CuadroTexto 3">
            <a:extLst>
              <a:ext uri="{FF2B5EF4-FFF2-40B4-BE49-F238E27FC236}">
                <a16:creationId xmlns:a16="http://schemas.microsoft.com/office/drawing/2014/main" id="{546A28FC-554A-76E0-CA6F-B886197C6B8B}"/>
              </a:ext>
            </a:extLst>
          </p:cNvPr>
          <p:cNvSpPr txBox="1">
            <a:spLocks noChangeArrowheads="1"/>
          </p:cNvSpPr>
          <p:nvPr/>
        </p:nvSpPr>
        <p:spPr bwMode="auto">
          <a:xfrm>
            <a:off x="2011363" y="133350"/>
            <a:ext cx="559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s-ES" altLang="es-ES" sz="1800" b="1">
                <a:solidFill>
                  <a:srgbClr val="FF0000"/>
                </a:solidFill>
              </a:rPr>
              <a:t>La Administración Pública Española</a:t>
            </a:r>
          </a:p>
        </p:txBody>
      </p:sp>
      <p:sp>
        <p:nvSpPr>
          <p:cNvPr id="12" name="Rectangle 3">
            <a:extLst>
              <a:ext uri="{FF2B5EF4-FFF2-40B4-BE49-F238E27FC236}">
                <a16:creationId xmlns:a16="http://schemas.microsoft.com/office/drawing/2014/main" id="{92DBCFBB-39E3-C2E9-FD18-23B22D1082BB}"/>
              </a:ext>
            </a:extLst>
          </p:cNvPr>
          <p:cNvSpPr txBox="1">
            <a:spLocks noChangeArrowheads="1"/>
          </p:cNvSpPr>
          <p:nvPr/>
        </p:nvSpPr>
        <p:spPr bwMode="auto">
          <a:xfrm>
            <a:off x="468313" y="969963"/>
            <a:ext cx="8229600" cy="5184775"/>
          </a:xfrm>
          <a:prstGeom prst="rect">
            <a:avLst/>
          </a:prstGeom>
          <a:noFill/>
          <a:ln w="190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marL="381000" indent="-381000" eaLnBrk="1" hangingPunct="1">
              <a:defRPr/>
            </a:pPr>
            <a:endParaRPr lang="es-ES_tradnl" altLang="es-ES" kern="0" dirty="0">
              <a:solidFill>
                <a:schemeClr val="hlink"/>
              </a:solidFill>
            </a:endParaRPr>
          </a:p>
          <a:p>
            <a:pPr marL="381000" indent="-381000" eaLnBrk="1" hangingPunct="1">
              <a:defRPr/>
            </a:pPr>
            <a:endParaRPr lang="es-ES_tradnl" altLang="es-ES" kern="0" dirty="0">
              <a:solidFill>
                <a:schemeClr val="hlink"/>
              </a:solidFill>
            </a:endParaRPr>
          </a:p>
          <a:p>
            <a:pPr marL="381000" indent="-381000" eaLnBrk="1" hangingPunct="1">
              <a:defRPr/>
            </a:pPr>
            <a:endParaRPr lang="es-ES_tradnl" altLang="es-ES" kern="0" dirty="0">
              <a:solidFill>
                <a:schemeClr val="hlink"/>
              </a:solidFill>
            </a:endParaRPr>
          </a:p>
          <a:p>
            <a:pPr marL="381000" indent="-381000" eaLnBrk="1" hangingPunct="1">
              <a:defRPr/>
            </a:pPr>
            <a:r>
              <a:rPr lang="es-ES_tradnl" altLang="es-ES" sz="4800" kern="0" dirty="0">
                <a:solidFill>
                  <a:schemeClr val="hlink"/>
                </a:solidFill>
              </a:rPr>
              <a:t>FIN DE LA PRESENTACIÓN</a:t>
            </a:r>
          </a:p>
        </p:txBody>
      </p:sp>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2843</TotalTime>
  <Words>3587</Words>
  <Application>Microsoft Office PowerPoint</Application>
  <PresentationFormat>On-screen Show (4:3)</PresentationFormat>
  <Paragraphs>344</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Diseño predeterminado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publicidad</dc:creator>
  <cp:lastModifiedBy>Manuel Lucas Alonso</cp:lastModifiedBy>
  <cp:revision>251</cp:revision>
  <dcterms:created xsi:type="dcterms:W3CDTF">2010-07-19T10:28:12Z</dcterms:created>
  <dcterms:modified xsi:type="dcterms:W3CDTF">2026-09-14T19:46:04Z</dcterms:modified>
</cp:coreProperties>
</file>