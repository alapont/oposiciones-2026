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9" r:id="rId2"/>
    <p:sldId id="260" r:id="rId3"/>
    <p:sldId id="261" r:id="rId4"/>
    <p:sldId id="262" r:id="rId5"/>
    <p:sldId id="264" r:id="rId6"/>
    <p:sldId id="263" r:id="rId7"/>
    <p:sldId id="266" r:id="rId8"/>
    <p:sldId id="265" r:id="rId9"/>
    <p:sldId id="267" r:id="rId10"/>
    <p:sldId id="268" r:id="rId11"/>
    <p:sldId id="270" r:id="rId12"/>
    <p:sldId id="271" r:id="rId13"/>
    <p:sldId id="272" r:id="rId14"/>
    <p:sldId id="273" r:id="rId15"/>
    <p:sldId id="274" r:id="rId16"/>
    <p:sldId id="275" r:id="rId1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autoAdjust="0"/>
    <p:restoredTop sz="94660"/>
  </p:normalViewPr>
  <p:slideViewPr>
    <p:cSldViewPr snapToGrid="0">
      <p:cViewPr varScale="1">
        <p:scale>
          <a:sx n="104" d="100"/>
          <a:sy n="104" d="100"/>
        </p:scale>
        <p:origin x="208"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AE20DD-D21B-46C4-8B46-FA4E9FFFF224}" type="datetimeFigureOut">
              <a:rPr lang="es-ES" smtClean="0"/>
              <a:t>17/10/24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8BC25-DB81-4C07-A064-F19A688D546C}" type="slidenum">
              <a:rPr lang="es-ES" smtClean="0"/>
              <a:t>‹Nº›</a:t>
            </a:fld>
            <a:endParaRPr lang="es-ES"/>
          </a:p>
        </p:txBody>
      </p:sp>
    </p:spTree>
    <p:extLst>
      <p:ext uri="{BB962C8B-B14F-4D97-AF65-F5344CB8AC3E}">
        <p14:creationId xmlns:p14="http://schemas.microsoft.com/office/powerpoint/2010/main" val="1435645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Marcador de imagen de diapositiva"/>
          <p:cNvSpPr>
            <a:spLocks noGrp="1" noRot="1" noChangeAspect="1" noTextEdit="1"/>
          </p:cNvSpPr>
          <p:nvPr>
            <p:ph type="sldImg"/>
          </p:nvPr>
        </p:nvSpPr>
        <p:spPr>
          <a:ln/>
        </p:spPr>
      </p:sp>
      <p:sp>
        <p:nvSpPr>
          <p:cNvPr id="4099"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100"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5C6ED2-E030-4989-8646-5DEE8BC3FDE8}" type="slidenum">
              <a:rPr lang="es-ES" altLang="es-ES" smtClean="0"/>
              <a:pPr>
                <a:spcBef>
                  <a:spcPct val="0"/>
                </a:spcBef>
              </a:pPr>
              <a:t>1</a:t>
            </a:fld>
            <a:endParaRPr lang="es-ES" altLang="es-ES"/>
          </a:p>
        </p:txBody>
      </p:sp>
    </p:spTree>
    <p:extLst>
      <p:ext uri="{BB962C8B-B14F-4D97-AF65-F5344CB8AC3E}">
        <p14:creationId xmlns:p14="http://schemas.microsoft.com/office/powerpoint/2010/main" val="2954391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2</a:t>
            </a:fld>
            <a:endParaRPr lang="es-ES" altLang="es-ES"/>
          </a:p>
        </p:txBody>
      </p:sp>
    </p:spTree>
    <p:extLst>
      <p:ext uri="{BB962C8B-B14F-4D97-AF65-F5344CB8AC3E}">
        <p14:creationId xmlns:p14="http://schemas.microsoft.com/office/powerpoint/2010/main" val="1747883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3</a:t>
            </a:fld>
            <a:endParaRPr lang="es-ES" altLang="es-ES"/>
          </a:p>
        </p:txBody>
      </p:sp>
    </p:spTree>
    <p:extLst>
      <p:ext uri="{BB962C8B-B14F-4D97-AF65-F5344CB8AC3E}">
        <p14:creationId xmlns:p14="http://schemas.microsoft.com/office/powerpoint/2010/main" val="713635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4</a:t>
            </a:fld>
            <a:endParaRPr lang="es-ES" altLang="es-ES"/>
          </a:p>
        </p:txBody>
      </p:sp>
    </p:spTree>
    <p:extLst>
      <p:ext uri="{BB962C8B-B14F-4D97-AF65-F5344CB8AC3E}">
        <p14:creationId xmlns:p14="http://schemas.microsoft.com/office/powerpoint/2010/main" val="2157721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5</a:t>
            </a:fld>
            <a:endParaRPr lang="es-ES" altLang="es-ES"/>
          </a:p>
        </p:txBody>
      </p:sp>
    </p:spTree>
    <p:extLst>
      <p:ext uri="{BB962C8B-B14F-4D97-AF65-F5344CB8AC3E}">
        <p14:creationId xmlns:p14="http://schemas.microsoft.com/office/powerpoint/2010/main" val="1991100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6</a:t>
            </a:fld>
            <a:endParaRPr lang="es-ES" altLang="es-ES"/>
          </a:p>
        </p:txBody>
      </p:sp>
    </p:spTree>
    <p:extLst>
      <p:ext uri="{BB962C8B-B14F-4D97-AF65-F5344CB8AC3E}">
        <p14:creationId xmlns:p14="http://schemas.microsoft.com/office/powerpoint/2010/main" val="3220224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7</a:t>
            </a:fld>
            <a:endParaRPr lang="es-ES" altLang="es-ES"/>
          </a:p>
        </p:txBody>
      </p:sp>
    </p:spTree>
    <p:extLst>
      <p:ext uri="{BB962C8B-B14F-4D97-AF65-F5344CB8AC3E}">
        <p14:creationId xmlns:p14="http://schemas.microsoft.com/office/powerpoint/2010/main" val="1904102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8</a:t>
            </a:fld>
            <a:endParaRPr lang="es-ES" altLang="es-ES"/>
          </a:p>
        </p:txBody>
      </p:sp>
    </p:spTree>
    <p:extLst>
      <p:ext uri="{BB962C8B-B14F-4D97-AF65-F5344CB8AC3E}">
        <p14:creationId xmlns:p14="http://schemas.microsoft.com/office/powerpoint/2010/main" val="3067696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9</a:t>
            </a:fld>
            <a:endParaRPr lang="es-ES" altLang="es-ES"/>
          </a:p>
        </p:txBody>
      </p:sp>
    </p:spTree>
    <p:extLst>
      <p:ext uri="{BB962C8B-B14F-4D97-AF65-F5344CB8AC3E}">
        <p14:creationId xmlns:p14="http://schemas.microsoft.com/office/powerpoint/2010/main" val="3578726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10</a:t>
            </a:fld>
            <a:endParaRPr lang="es-ES" altLang="es-ES"/>
          </a:p>
        </p:txBody>
      </p:sp>
    </p:spTree>
    <p:extLst>
      <p:ext uri="{BB962C8B-B14F-4D97-AF65-F5344CB8AC3E}">
        <p14:creationId xmlns:p14="http://schemas.microsoft.com/office/powerpoint/2010/main" val="1742734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11</a:t>
            </a:fld>
            <a:endParaRPr lang="es-ES" altLang="es-ES"/>
          </a:p>
        </p:txBody>
      </p:sp>
    </p:spTree>
    <p:extLst>
      <p:ext uri="{BB962C8B-B14F-4D97-AF65-F5344CB8AC3E}">
        <p14:creationId xmlns:p14="http://schemas.microsoft.com/office/powerpoint/2010/main" val="1282603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12</a:t>
            </a:fld>
            <a:endParaRPr lang="es-ES" altLang="es-ES"/>
          </a:p>
        </p:txBody>
      </p:sp>
    </p:spTree>
    <p:extLst>
      <p:ext uri="{BB962C8B-B14F-4D97-AF65-F5344CB8AC3E}">
        <p14:creationId xmlns:p14="http://schemas.microsoft.com/office/powerpoint/2010/main" val="3717643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13</a:t>
            </a:fld>
            <a:endParaRPr lang="es-ES" altLang="es-ES"/>
          </a:p>
        </p:txBody>
      </p:sp>
    </p:spTree>
    <p:extLst>
      <p:ext uri="{BB962C8B-B14F-4D97-AF65-F5344CB8AC3E}">
        <p14:creationId xmlns:p14="http://schemas.microsoft.com/office/powerpoint/2010/main" val="13455276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14</a:t>
            </a:fld>
            <a:endParaRPr lang="es-ES" altLang="es-ES"/>
          </a:p>
        </p:txBody>
      </p:sp>
    </p:spTree>
    <p:extLst>
      <p:ext uri="{BB962C8B-B14F-4D97-AF65-F5344CB8AC3E}">
        <p14:creationId xmlns:p14="http://schemas.microsoft.com/office/powerpoint/2010/main" val="1673905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15</a:t>
            </a:fld>
            <a:endParaRPr lang="es-ES" altLang="es-ES"/>
          </a:p>
        </p:txBody>
      </p:sp>
    </p:spTree>
    <p:extLst>
      <p:ext uri="{BB962C8B-B14F-4D97-AF65-F5344CB8AC3E}">
        <p14:creationId xmlns:p14="http://schemas.microsoft.com/office/powerpoint/2010/main" val="2717898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p:cNvSpPr>
            <a:spLocks noGrp="1" noRot="1" noChangeAspect="1" noTextEdit="1"/>
          </p:cNvSpPr>
          <p:nvPr>
            <p:ph type="sldImg"/>
          </p:nvPr>
        </p:nvSpPr>
        <p:spPr>
          <a:ln/>
        </p:spPr>
      </p:sp>
      <p:sp>
        <p:nvSpPr>
          <p:cNvPr id="61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41945-3533-4E7E-95F5-418AB1920089}" type="slidenum">
              <a:rPr lang="es-ES" altLang="es-ES" smtClean="0"/>
              <a:pPr>
                <a:spcBef>
                  <a:spcPct val="0"/>
                </a:spcBef>
              </a:pPr>
              <a:t>16</a:t>
            </a:fld>
            <a:endParaRPr lang="es-ES" altLang="es-ES"/>
          </a:p>
        </p:txBody>
      </p:sp>
    </p:spTree>
    <p:extLst>
      <p:ext uri="{BB962C8B-B14F-4D97-AF65-F5344CB8AC3E}">
        <p14:creationId xmlns:p14="http://schemas.microsoft.com/office/powerpoint/2010/main" val="256020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1B8ED767-0489-4BB5-ABD4-E9C769EB5B2E}" type="datetimeFigureOut">
              <a:rPr lang="es-ES" smtClean="0"/>
              <a:t>17/10/24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923539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B8ED767-0489-4BB5-ABD4-E9C769EB5B2E}" type="datetimeFigureOut">
              <a:rPr lang="es-ES" smtClean="0"/>
              <a:t>17/10/24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110080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1B8ED767-0489-4BB5-ABD4-E9C769EB5B2E}" type="datetimeFigureOut">
              <a:rPr lang="es-ES" smtClean="0"/>
              <a:t>17/10/24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3657824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1B8ED767-0489-4BB5-ABD4-E9C769EB5B2E}" type="datetimeFigureOut">
              <a:rPr lang="es-ES" smtClean="0"/>
              <a:t>17/10/24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233879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1B8ED767-0489-4BB5-ABD4-E9C769EB5B2E}" type="datetimeFigureOut">
              <a:rPr lang="es-ES" smtClean="0"/>
              <a:t>17/10/24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4087830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1B8ED767-0489-4BB5-ABD4-E9C769EB5B2E}" type="datetimeFigureOut">
              <a:rPr lang="es-ES" smtClean="0"/>
              <a:t>17/10/24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591263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B8ED767-0489-4BB5-ABD4-E9C769EB5B2E}" type="datetimeFigureOut">
              <a:rPr lang="es-ES" smtClean="0"/>
              <a:t>17/10/24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2099476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B8ED767-0489-4BB5-ABD4-E9C769EB5B2E}" type="datetimeFigureOut">
              <a:rPr lang="es-ES" smtClean="0"/>
              <a:t>17/10/24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2994556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B8ED767-0489-4BB5-ABD4-E9C769EB5B2E}" type="datetimeFigureOut">
              <a:rPr lang="es-ES" smtClean="0"/>
              <a:t>17/10/24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3490066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B8ED767-0489-4BB5-ABD4-E9C769EB5B2E}" type="datetimeFigureOut">
              <a:rPr lang="es-ES" smtClean="0"/>
              <a:t>17/10/24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394495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B8ED767-0489-4BB5-ABD4-E9C769EB5B2E}" type="datetimeFigureOut">
              <a:rPr lang="es-ES" smtClean="0"/>
              <a:t>17/10/24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E1E5D56-DD17-44A6-86B6-51D2FC98C6CC}" type="slidenum">
              <a:rPr lang="es-ES" smtClean="0"/>
              <a:t>‹Nº›</a:t>
            </a:fld>
            <a:endParaRPr lang="es-ES"/>
          </a:p>
        </p:txBody>
      </p:sp>
    </p:spTree>
    <p:extLst>
      <p:ext uri="{BB962C8B-B14F-4D97-AF65-F5344CB8AC3E}">
        <p14:creationId xmlns:p14="http://schemas.microsoft.com/office/powerpoint/2010/main" val="3107614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8ED767-0489-4BB5-ABD4-E9C769EB5B2E}" type="datetimeFigureOut">
              <a:rPr lang="es-ES" smtClean="0"/>
              <a:t>17/10/24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E5D56-DD17-44A6-86B6-51D2FC98C6CC}" type="slidenum">
              <a:rPr lang="es-ES" smtClean="0"/>
              <a:t>‹Nº›</a:t>
            </a:fld>
            <a:endParaRPr lang="es-ES"/>
          </a:p>
        </p:txBody>
      </p:sp>
    </p:spTree>
    <p:extLst>
      <p:ext uri="{BB962C8B-B14F-4D97-AF65-F5344CB8AC3E}">
        <p14:creationId xmlns:p14="http://schemas.microsoft.com/office/powerpoint/2010/main" val="2945199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hyperlink" Target="http://es.wikipedia.org/wiki/Derecho_de_la_Uni%C3%B3n_Europea" TargetMode="External"/><Relationship Id="rId13" Type="http://schemas.openxmlformats.org/officeDocument/2006/relationships/hyperlink" Target="http://es.wikipedia.org/wiki/Ley_ordinaria" TargetMode="External"/><Relationship Id="rId1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hyperlink" Target="http://es.wikipedia.org/wiki/Poder_Judicial" TargetMode="External"/><Relationship Id="rId12" Type="http://schemas.openxmlformats.org/officeDocument/2006/relationships/hyperlink" Target="http://es.wikipedia.org/wiki/Ley_Org%C3%A1nica" TargetMode="External"/><Relationship Id="rId17" Type="http://schemas.openxmlformats.org/officeDocument/2006/relationships/hyperlink" Target="http://es.wikipedia.org/wiki/Orden_ministerial" TargetMode="External"/><Relationship Id="rId2" Type="http://schemas.openxmlformats.org/officeDocument/2006/relationships/notesSlide" Target="../notesSlides/notesSlide4.xml"/><Relationship Id="rId16" Type="http://schemas.openxmlformats.org/officeDocument/2006/relationships/hyperlink" Target="http://es.wikipedia.org/wiki/Real_Decreto" TargetMode="External"/><Relationship Id="rId1" Type="http://schemas.openxmlformats.org/officeDocument/2006/relationships/slideLayout" Target="../slideLayouts/slideLayout1.xml"/><Relationship Id="rId6" Type="http://schemas.openxmlformats.org/officeDocument/2006/relationships/hyperlink" Target="http://es.wikipedia.org/wiki/Norma_jur%C3%ADdica" TargetMode="External"/><Relationship Id="rId11" Type="http://schemas.openxmlformats.org/officeDocument/2006/relationships/hyperlink" Target="http://es.wikipedia.org/wiki/Tratado_internacional" TargetMode="External"/><Relationship Id="rId5" Type="http://schemas.openxmlformats.org/officeDocument/2006/relationships/hyperlink" Target="http://es.wikipedia.org/wiki/Constituci%C3%B3n_espa%C3%B1ola_de_1978" TargetMode="External"/><Relationship Id="rId15" Type="http://schemas.openxmlformats.org/officeDocument/2006/relationships/hyperlink" Target="http://es.wikipedia.org/wiki/Real_Decreto_Legislativo" TargetMode="External"/><Relationship Id="rId10" Type="http://schemas.openxmlformats.org/officeDocument/2006/relationships/hyperlink" Target="http://es.wikipedia.org/wiki/Derecho_internacional" TargetMode="External"/><Relationship Id="rId4" Type="http://schemas.openxmlformats.org/officeDocument/2006/relationships/image" Target="../media/image2.jpeg"/><Relationship Id="rId9" Type="http://schemas.openxmlformats.org/officeDocument/2006/relationships/hyperlink" Target="http://es.wikipedia.org/wiki/Reglamento_Comunitario_Europeo" TargetMode="External"/><Relationship Id="rId14" Type="http://schemas.openxmlformats.org/officeDocument/2006/relationships/hyperlink" Target="http://es.wikipedia.org/wiki/Real_Decreto_Ley"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es.wikipedia.org/wiki/Sui_generis" TargetMode="External"/><Relationship Id="rId3" Type="http://schemas.openxmlformats.org/officeDocument/2006/relationships/image" Target="../media/image1.png"/><Relationship Id="rId7" Type="http://schemas.openxmlformats.org/officeDocument/2006/relationships/hyperlink" Target="http://es.wikipedia.org/wiki/Uni%C3%B3n_Europea"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es.wikipedia.org/wiki/Principio_jur%C3%ADdico" TargetMode="External"/><Relationship Id="rId11" Type="http://schemas.openxmlformats.org/officeDocument/2006/relationships/hyperlink" Target="http://es.wikipedia.org/wiki/Marco_institucional_de_la_Uni%C3%B3n_Europea" TargetMode="External"/><Relationship Id="rId5" Type="http://schemas.openxmlformats.org/officeDocument/2006/relationships/hyperlink" Target="http://es.wikipedia.org/wiki/Norma" TargetMode="External"/><Relationship Id="rId10" Type="http://schemas.openxmlformats.org/officeDocument/2006/relationships/hyperlink" Target="http://es.wikipedia.org/wiki/Derecho_comunitario_europeo" TargetMode="External"/><Relationship Id="rId4" Type="http://schemas.openxmlformats.org/officeDocument/2006/relationships/image" Target="../media/image2.jpeg"/><Relationship Id="rId9" Type="http://schemas.openxmlformats.org/officeDocument/2006/relationships/hyperlink" Target="http://es.wikipedia.org/wiki/Derecho_internaciona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es.wikipedia.org/wiki/Estatuto_de_Autonom%C3%ADa" TargetMode="Externa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hyperlink" Target="http://es.wikipedia.org/wiki/Senado" TargetMode="External"/><Relationship Id="rId3" Type="http://schemas.openxmlformats.org/officeDocument/2006/relationships/image" Target="../media/image1.png"/><Relationship Id="rId7" Type="http://schemas.openxmlformats.org/officeDocument/2006/relationships/hyperlink" Target="http://es.wikipedia.org/wiki/Congreso_de_los_Diputad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es.wikipedia.org/wiki/Iniciativa_legislativa" TargetMode="External"/><Relationship Id="rId5" Type="http://schemas.openxmlformats.org/officeDocument/2006/relationships/hyperlink" Target="http://es.wikipedia.org/wiki/Constituci%C3%B3n_espa%C3%B1ola_de_1978" TargetMode="External"/><Relationship Id="rId4" Type="http://schemas.openxmlformats.org/officeDocument/2006/relationships/image" Target="../media/image2.jpeg"/><Relationship Id="rId9" Type="http://schemas.openxmlformats.org/officeDocument/2006/relationships/hyperlink" Target="http://es.wikipedia.org/wiki/Iniciativa_legislativa_popula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es.wikipedia.org/wiki/Organizaci%C3%B3n_internacional"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es.wikipedia.org/wiki/Derecho_internacional" TargetMode="External"/><Relationship Id="rId5" Type="http://schemas.openxmlformats.org/officeDocument/2006/relationships/hyperlink" Target="http://es.wikipedia.org/wiki/Estado" TargetMode="Externa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8" Type="http://schemas.openxmlformats.org/officeDocument/2006/relationships/hyperlink" Target="http://es.wikipedia.org/wiki/Constituci%C3%B3n" TargetMode="External"/><Relationship Id="rId3" Type="http://schemas.openxmlformats.org/officeDocument/2006/relationships/image" Target="../media/image1.png"/><Relationship Id="rId7" Type="http://schemas.openxmlformats.org/officeDocument/2006/relationships/hyperlink" Target="http://es.wikipedia.org/wiki/Estatuto_de_Autonom%C3%ADa"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es.wikipedia.org/wiki/Congreso_de_los_Diputados" TargetMode="External"/><Relationship Id="rId5" Type="http://schemas.openxmlformats.org/officeDocument/2006/relationships/hyperlink" Target="http://es.wikipedia.org/wiki/Constituci%C3%B3n_Espa%C3%B1ola_de_1978" TargetMode="External"/><Relationship Id="rId10" Type="http://schemas.openxmlformats.org/officeDocument/2006/relationships/hyperlink" Target="http://es.wikipedia.org/wiki/Constituci%C3%B3n_francesa_de_1958" TargetMode="External"/><Relationship Id="rId4" Type="http://schemas.openxmlformats.org/officeDocument/2006/relationships/image" Target="../media/image2.jpeg"/><Relationship Id="rId9" Type="http://schemas.openxmlformats.org/officeDocument/2006/relationships/hyperlink" Target="http://es.wikipedia.org/wiki/1978"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es.wikipedia.org/wiki/Iniciativa_popular" TargetMode="External"/><Relationship Id="rId3" Type="http://schemas.openxmlformats.org/officeDocument/2006/relationships/image" Target="../media/image1.png"/><Relationship Id="rId7" Type="http://schemas.openxmlformats.org/officeDocument/2006/relationships/hyperlink" Target="http://es.wikipedia.org/wiki/Poder_ejecutivo"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es.wikipedia.org/wiki/Mayor%C3%ADa_simple" TargetMode="External"/><Relationship Id="rId5" Type="http://schemas.openxmlformats.org/officeDocument/2006/relationships/hyperlink" Target="http://es.wikipedia.org/wiki/Poder_legislativo" TargetMode="External"/><Relationship Id="rId4" Type="http://schemas.openxmlformats.org/officeDocument/2006/relationships/image" Target="../media/image2.jpeg"/><Relationship Id="rId9" Type="http://schemas.openxmlformats.org/officeDocument/2006/relationships/hyperlink" Target="http://es.wikipedia.org/wiki/Comunidad_Aut%C3%B3noma"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es.wikipedia.org/wiki/Constituci%C3%B3n_espa%C3%B1ola_de_1978" TargetMode="External"/><Relationship Id="rId3" Type="http://schemas.openxmlformats.org/officeDocument/2006/relationships/image" Target="../media/image1.png"/><Relationship Id="rId7" Type="http://schemas.openxmlformats.org/officeDocument/2006/relationships/hyperlink" Target="http://es.wikipedia.org/wiki/Poder_legislativo"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es.wikipedia.org/wiki/Ley" TargetMode="External"/><Relationship Id="rId5" Type="http://schemas.openxmlformats.org/officeDocument/2006/relationships/hyperlink" Target="http://es.wikipedia.org/wiki/Norma_jur%C3%ADdica" TargetMode="Externa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8" Type="http://schemas.openxmlformats.org/officeDocument/2006/relationships/hyperlink" Target="http://es.wikipedia.org/wiki/Poder_legislativo" TargetMode="External"/><Relationship Id="rId3" Type="http://schemas.openxmlformats.org/officeDocument/2006/relationships/image" Target="../media/image1.png"/><Relationship Id="rId7" Type="http://schemas.openxmlformats.org/officeDocument/2006/relationships/hyperlink" Target="http://es.wikipedia.org/wiki/Poder_ejecutivo"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es.wikipedia.org/wiki/Ley" TargetMode="External"/><Relationship Id="rId5" Type="http://schemas.openxmlformats.org/officeDocument/2006/relationships/hyperlink" Target="http://es.wikipedia.org/wiki/Norma_jur%C3%ADdica" TargetMode="External"/><Relationship Id="rId4" Type="http://schemas.openxmlformats.org/officeDocument/2006/relationships/image" Target="../media/image2.jpeg"/><Relationship Id="rId9" Type="http://schemas.openxmlformats.org/officeDocument/2006/relationships/hyperlink" Target="https://sede.agenciatributaria.gob.es/Sede/normativa-criterios-interpretativos/otras-normas-relevancia-fiscal-tributaria/reales-decretos-legislativos.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es.wikipedia.org/w/index.php?title=Jerarqu%C3%ADa_normativa&amp;action=edit" TargetMode="External"/><Relationship Id="rId5" Type="http://schemas.openxmlformats.org/officeDocument/2006/relationships/hyperlink" Target="http://es.wikipedia.org/wiki/Reglamento" TargetMode="Externa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www.derecho-administrativo.com/2012/12/consejo-de-estado.html" TargetMode="Externa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075" name="Rectangle 5"/>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3076" name="Picture 6"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18"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Imagen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208214" y="1081088"/>
            <a:ext cx="8459787"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CuadroTexto 1"/>
          <p:cNvSpPr txBox="1">
            <a:spLocks noChangeArrowheads="1"/>
          </p:cNvSpPr>
          <p:nvPr/>
        </p:nvSpPr>
        <p:spPr bwMode="auto">
          <a:xfrm>
            <a:off x="4224339" y="5373688"/>
            <a:ext cx="3959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chemeClr val="accent6">
                    <a:lumMod val="50000"/>
                  </a:schemeClr>
                </a:solidFill>
              </a:rPr>
              <a:t>Prelación de leyes</a:t>
            </a:r>
          </a:p>
        </p:txBody>
      </p:sp>
    </p:spTree>
    <p:extLst>
      <p:ext uri="{BB962C8B-B14F-4D97-AF65-F5344CB8AC3E}">
        <p14:creationId xmlns:p14="http://schemas.microsoft.com/office/powerpoint/2010/main" val="3166330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5130" name="Rectángulo 1"/>
          <p:cNvSpPr>
            <a:spLocks noChangeArrowheads="1"/>
          </p:cNvSpPr>
          <p:nvPr/>
        </p:nvSpPr>
        <p:spPr bwMode="auto">
          <a:xfrm>
            <a:off x="1524001" y="1088967"/>
            <a:ext cx="8101014" cy="5355312"/>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81000" indent="-3810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s-ES_tradnl" altLang="es-ES" sz="5400" b="1" dirty="0">
                <a:solidFill>
                  <a:schemeClr val="accent6">
                    <a:lumMod val="50000"/>
                  </a:schemeClr>
                </a:solidFill>
              </a:rPr>
              <a:t>PRELACIÓN DE LEYES EN EL ORDENAMIENTO JURÍDICO ESPAÑOL</a:t>
            </a:r>
          </a:p>
          <a:p>
            <a:pPr algn="ctr">
              <a:lnSpc>
                <a:spcPct val="80000"/>
              </a:lnSpc>
            </a:pPr>
            <a:r>
              <a:rPr lang="es-ES_tradnl" altLang="es-ES" sz="3600" dirty="0">
                <a:solidFill>
                  <a:srgbClr val="660033"/>
                </a:solidFill>
              </a:rPr>
              <a:t>Se recomienda leer los Art. </a:t>
            </a:r>
          </a:p>
          <a:p>
            <a:pPr algn="ctr">
              <a:lnSpc>
                <a:spcPct val="80000"/>
              </a:lnSpc>
            </a:pPr>
            <a:r>
              <a:rPr lang="es-ES_tradnl" altLang="es-ES" sz="3600" dirty="0">
                <a:solidFill>
                  <a:srgbClr val="660033"/>
                </a:solidFill>
              </a:rPr>
              <a:t>81 a 96 de la C.E</a:t>
            </a:r>
            <a:endParaRPr lang="es-ES" altLang="es-ES" sz="3600" dirty="0"/>
          </a:p>
          <a:p>
            <a:pPr algn="ctr" eaLnBrk="1" hangingPunct="1">
              <a:spcBef>
                <a:spcPct val="0"/>
              </a:spcBef>
              <a:buFontTx/>
              <a:buNone/>
            </a:pPr>
            <a:endParaRPr lang="es-ES_tradnl" altLang="es-ES" sz="5400" b="1" dirty="0">
              <a:solidFill>
                <a:schemeClr val="accent6">
                  <a:lumMod val="50000"/>
                </a:schemeClr>
              </a:solidFill>
            </a:endParaRPr>
          </a:p>
        </p:txBody>
      </p:sp>
    </p:spTree>
    <p:extLst>
      <p:ext uri="{BB962C8B-B14F-4D97-AF65-F5344CB8AC3E}">
        <p14:creationId xmlns:p14="http://schemas.microsoft.com/office/powerpoint/2010/main" val="1629301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3" name="Rectángulo 2"/>
          <p:cNvSpPr/>
          <p:nvPr/>
        </p:nvSpPr>
        <p:spPr>
          <a:xfrm>
            <a:off x="1524000" y="1240709"/>
            <a:ext cx="9144000" cy="4918269"/>
          </a:xfrm>
          <a:prstGeom prst="rect">
            <a:avLst/>
          </a:prstGeom>
          <a:ln w="38100">
            <a:solidFill>
              <a:srgbClr val="7030A0"/>
            </a:solidFill>
          </a:ln>
        </p:spPr>
        <p:txBody>
          <a:bodyPr wrap="square">
            <a:spAutoFit/>
          </a:bodyPr>
          <a:lstStyle/>
          <a:p>
            <a:pPr>
              <a:lnSpc>
                <a:spcPct val="80000"/>
              </a:lnSpc>
            </a:pPr>
            <a:r>
              <a:rPr lang="es-ES" altLang="es-ES" sz="2800" b="1" u="sng" dirty="0"/>
              <a:t>EL TÉRMINO “LEY”</a:t>
            </a:r>
          </a:p>
          <a:p>
            <a:pPr>
              <a:lnSpc>
                <a:spcPct val="80000"/>
              </a:lnSpc>
            </a:pPr>
            <a:endParaRPr lang="es-ES" altLang="es-ES" sz="2800" dirty="0"/>
          </a:p>
          <a:p>
            <a:pPr algn="just">
              <a:lnSpc>
                <a:spcPct val="80000"/>
              </a:lnSpc>
            </a:pPr>
            <a:r>
              <a:rPr lang="es-ES" altLang="es-ES" sz="2800" dirty="0"/>
              <a:t>Con carácter muy general la </a:t>
            </a:r>
            <a:r>
              <a:rPr lang="es-ES" altLang="es-ES" sz="2800" dirty="0">
                <a:solidFill>
                  <a:schemeClr val="folHlink"/>
                </a:solidFill>
              </a:rPr>
              <a:t>ley</a:t>
            </a:r>
            <a:r>
              <a:rPr lang="es-ES" altLang="es-ES" sz="2800" dirty="0"/>
              <a:t> puede regular un </a:t>
            </a:r>
            <a:r>
              <a:rPr lang="es-ES" altLang="es-ES" sz="2800" dirty="0">
                <a:solidFill>
                  <a:schemeClr val="folHlink"/>
                </a:solidFill>
              </a:rPr>
              <a:t>fenómeno de la naturaleza</a:t>
            </a:r>
            <a:r>
              <a:rPr lang="es-ES" altLang="es-ES" sz="2800" dirty="0"/>
              <a:t>, como por ejemplo la gravedad; pero en un sentido más estricto también hablamos de ley cuando hacemos referencia a </a:t>
            </a:r>
            <a:r>
              <a:rPr lang="es-ES" altLang="es-ES" sz="2800" dirty="0">
                <a:solidFill>
                  <a:schemeClr val="folHlink"/>
                </a:solidFill>
              </a:rPr>
              <a:t>distintas clases de normas jurídicas</a:t>
            </a:r>
            <a:r>
              <a:rPr lang="es-ES" altLang="es-ES" sz="2800" dirty="0"/>
              <a:t> emanadas de los órganos del poder del Estado. En el sentido más restringido o técnico de todos, la ley sólo es la que emana del Parlamento, de la Cortes Generales.</a:t>
            </a:r>
          </a:p>
          <a:p>
            <a:pPr algn="just">
              <a:lnSpc>
                <a:spcPct val="80000"/>
              </a:lnSpc>
            </a:pPr>
            <a:endParaRPr lang="es-ES" altLang="es-ES" sz="2800" dirty="0"/>
          </a:p>
          <a:p>
            <a:pPr>
              <a:lnSpc>
                <a:spcPct val="80000"/>
              </a:lnSpc>
            </a:pPr>
            <a:r>
              <a:rPr lang="es-ES" altLang="es-ES" sz="2800" dirty="0"/>
              <a:t>Las </a:t>
            </a:r>
            <a:r>
              <a:rPr lang="es-ES" altLang="es-ES" sz="2800" dirty="0">
                <a:solidFill>
                  <a:schemeClr val="folHlink"/>
                </a:solidFill>
              </a:rPr>
              <a:t>fuentes del Derecho</a:t>
            </a:r>
          </a:p>
          <a:p>
            <a:pPr lvl="1">
              <a:lnSpc>
                <a:spcPct val="80000"/>
              </a:lnSpc>
            </a:pPr>
            <a:r>
              <a:rPr lang="es-ES" altLang="es-ES" sz="2800" dirty="0"/>
              <a:t>La Ley. </a:t>
            </a:r>
          </a:p>
          <a:p>
            <a:pPr lvl="1">
              <a:lnSpc>
                <a:spcPct val="80000"/>
              </a:lnSpc>
            </a:pPr>
            <a:r>
              <a:rPr lang="es-ES" altLang="es-ES" sz="2800" dirty="0"/>
              <a:t>La costumbre.</a:t>
            </a:r>
          </a:p>
          <a:p>
            <a:pPr lvl="1">
              <a:lnSpc>
                <a:spcPct val="80000"/>
              </a:lnSpc>
            </a:pPr>
            <a:r>
              <a:rPr lang="es-ES" altLang="es-ES" sz="2800" dirty="0"/>
              <a:t>Los Principios Generales del Derecho.</a:t>
            </a:r>
          </a:p>
        </p:txBody>
      </p:sp>
    </p:spTree>
    <p:extLst>
      <p:ext uri="{BB962C8B-B14F-4D97-AF65-F5344CB8AC3E}">
        <p14:creationId xmlns:p14="http://schemas.microsoft.com/office/powerpoint/2010/main" val="140030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2" name="Rectángulo 1"/>
          <p:cNvSpPr/>
          <p:nvPr/>
        </p:nvSpPr>
        <p:spPr>
          <a:xfrm>
            <a:off x="1524000" y="1216087"/>
            <a:ext cx="9144000" cy="5041380"/>
          </a:xfrm>
          <a:prstGeom prst="rect">
            <a:avLst/>
          </a:prstGeom>
          <a:ln w="38100">
            <a:solidFill>
              <a:srgbClr val="7030A0"/>
            </a:solidFill>
          </a:ln>
        </p:spPr>
        <p:txBody>
          <a:bodyPr wrap="square">
            <a:spAutoFit/>
          </a:bodyPr>
          <a:lstStyle/>
          <a:p>
            <a:pPr algn="just">
              <a:lnSpc>
                <a:spcPct val="80000"/>
              </a:lnSpc>
              <a:defRPr/>
            </a:pPr>
            <a:r>
              <a:rPr lang="es-ES" altLang="es-ES" dirty="0">
                <a:solidFill>
                  <a:srgbClr val="660033"/>
                </a:solidFill>
              </a:rPr>
              <a:t>La </a:t>
            </a:r>
            <a:r>
              <a:rPr lang="es-ES" altLang="es-ES" dirty="0">
                <a:solidFill>
                  <a:srgbClr val="660033"/>
                </a:solidFill>
                <a:hlinkClick r:id="rId5" tooltip="Constitución española de 1978"/>
              </a:rPr>
              <a:t>Constitución Española de 1978</a:t>
            </a:r>
            <a:r>
              <a:rPr lang="es-ES" altLang="es-ES" dirty="0">
                <a:solidFill>
                  <a:srgbClr val="660033"/>
                </a:solidFill>
              </a:rPr>
              <a:t> es la norma jurídica suprema del ordenamiento jurídico español, que regula a su vez toda la compleja interrelación entre las distintas normas y sus relaciones de jerarquía y competencia. </a:t>
            </a:r>
            <a:r>
              <a:rPr lang="es-ES" altLang="es-ES" dirty="0"/>
              <a:t>La Constitución, además de poseer carácter de </a:t>
            </a:r>
            <a:r>
              <a:rPr lang="es-ES" altLang="es-ES" dirty="0">
                <a:hlinkClick r:id="rId6" tooltip="Norma jurídica"/>
              </a:rPr>
              <a:t>norma jurídica</a:t>
            </a:r>
            <a:r>
              <a:rPr lang="es-ES" altLang="es-ES" dirty="0"/>
              <a:t> directamente aplicable por el </a:t>
            </a:r>
            <a:r>
              <a:rPr lang="es-ES" altLang="es-ES" dirty="0">
                <a:hlinkClick r:id="rId7" tooltip="Poder Judicial"/>
              </a:rPr>
              <a:t>Poder Judicial</a:t>
            </a:r>
            <a:r>
              <a:rPr lang="es-ES" altLang="es-ES" dirty="0"/>
              <a:t>, goza de una supremacía material que condiciona los contenidos del resto de normas </a:t>
            </a:r>
            <a:endParaRPr lang="es-ES" altLang="es-ES" dirty="0">
              <a:solidFill>
                <a:srgbClr val="660033"/>
              </a:solidFill>
            </a:endParaRPr>
          </a:p>
          <a:p>
            <a:pPr algn="just">
              <a:lnSpc>
                <a:spcPct val="80000"/>
              </a:lnSpc>
              <a:defRPr/>
            </a:pPr>
            <a:endParaRPr lang="es-ES" altLang="es-ES" b="1" dirty="0">
              <a:solidFill>
                <a:srgbClr val="660033"/>
              </a:solidFill>
            </a:endParaRPr>
          </a:p>
          <a:p>
            <a:pPr algn="just">
              <a:lnSpc>
                <a:spcPct val="80000"/>
              </a:lnSpc>
              <a:defRPr/>
            </a:pPr>
            <a:r>
              <a:rPr lang="es-ES" altLang="es-ES" sz="2100" b="1" dirty="0">
                <a:solidFill>
                  <a:srgbClr val="660033"/>
                </a:solidFill>
              </a:rPr>
              <a:t>Según la misma, la prelación de normas en el Derecho español es la siguiente:</a:t>
            </a:r>
            <a:endParaRPr lang="es-ES_tradnl" altLang="es-ES" sz="2100" dirty="0">
              <a:solidFill>
                <a:srgbClr val="660033"/>
              </a:solidFill>
            </a:endParaRPr>
          </a:p>
          <a:p>
            <a:pPr lvl="1" algn="just">
              <a:lnSpc>
                <a:spcPct val="80000"/>
              </a:lnSpc>
              <a:defRPr/>
            </a:pPr>
            <a:endParaRPr lang="es-ES" altLang="es-ES" sz="2100" b="1" dirty="0"/>
          </a:p>
          <a:p>
            <a:pPr lvl="1" algn="just">
              <a:lnSpc>
                <a:spcPct val="80000"/>
              </a:lnSpc>
              <a:defRPr/>
            </a:pPr>
            <a:r>
              <a:rPr lang="es-ES" altLang="es-ES" sz="2100" b="1" dirty="0"/>
              <a:t>La Constitución. </a:t>
            </a:r>
            <a:endParaRPr lang="es-ES_tradnl" altLang="es-ES" sz="2100" dirty="0"/>
          </a:p>
          <a:p>
            <a:pPr lvl="1" algn="just">
              <a:lnSpc>
                <a:spcPct val="80000"/>
              </a:lnSpc>
              <a:defRPr/>
            </a:pPr>
            <a:r>
              <a:rPr lang="es-ES" altLang="es-ES" sz="2100" dirty="0"/>
              <a:t>El </a:t>
            </a:r>
            <a:r>
              <a:rPr lang="es-ES" altLang="es-ES" sz="2100" dirty="0">
                <a:hlinkClick r:id="rId8" action="ppaction://hlinkfile" tooltip="Derecho de la Unión Europea"/>
              </a:rPr>
              <a:t>Derecho de la Unión Europea</a:t>
            </a:r>
            <a:r>
              <a:rPr lang="es-ES" altLang="es-ES" sz="2100" dirty="0"/>
              <a:t> (fundamentalmente, </a:t>
            </a:r>
            <a:r>
              <a:rPr lang="es-ES" altLang="es-ES" sz="2100" dirty="0">
                <a:hlinkClick r:id="rId9" action="ppaction://hlinkfile" tooltip="Reglamento Comunitario Europeo"/>
              </a:rPr>
              <a:t>reglamentos</a:t>
            </a:r>
            <a:r>
              <a:rPr lang="es-ES" altLang="es-ES" sz="2100" dirty="0"/>
              <a:t> y directivas) y el </a:t>
            </a:r>
            <a:r>
              <a:rPr lang="es-ES" altLang="es-ES" sz="2100" dirty="0">
                <a:hlinkClick r:id="rId10" action="ppaction://hlinkfile" tooltip="Derecho internacional"/>
              </a:rPr>
              <a:t>Derecho internacional</a:t>
            </a:r>
            <a:r>
              <a:rPr lang="es-ES" altLang="es-ES" sz="2100" dirty="0"/>
              <a:t> (los </a:t>
            </a:r>
            <a:r>
              <a:rPr lang="es-ES" altLang="es-ES" sz="2100" dirty="0">
                <a:hlinkClick r:id="rId11" action="ppaction://hlinkfile" tooltip="Tratado internacional"/>
              </a:rPr>
              <a:t>tratados internacionales</a:t>
            </a:r>
            <a:r>
              <a:rPr lang="es-ES" altLang="es-ES" sz="2100" dirty="0"/>
              <a:t> y demás convenios o acuerdos)</a:t>
            </a:r>
            <a:r>
              <a:rPr lang="es-ES" altLang="es-ES" sz="2100" b="1" dirty="0"/>
              <a:t>. </a:t>
            </a:r>
          </a:p>
          <a:p>
            <a:pPr lvl="1" algn="just">
              <a:lnSpc>
                <a:spcPct val="80000"/>
              </a:lnSpc>
              <a:defRPr/>
            </a:pPr>
            <a:endParaRPr lang="es-ES_tradnl" altLang="es-ES" sz="2100" dirty="0"/>
          </a:p>
          <a:p>
            <a:pPr lvl="1" algn="just">
              <a:lnSpc>
                <a:spcPct val="80000"/>
              </a:lnSpc>
              <a:defRPr/>
            </a:pPr>
            <a:r>
              <a:rPr lang="es-ES" altLang="es-ES" sz="2100" b="1" dirty="0"/>
              <a:t>La Ley en sentido estricto</a:t>
            </a:r>
            <a:r>
              <a:rPr lang="es-ES" altLang="es-ES" sz="2100" dirty="0"/>
              <a:t>: </a:t>
            </a:r>
            <a:endParaRPr lang="es-ES_tradnl" altLang="es-ES" sz="2100" dirty="0"/>
          </a:p>
          <a:p>
            <a:pPr lvl="2" algn="just">
              <a:lnSpc>
                <a:spcPct val="80000"/>
              </a:lnSpc>
              <a:defRPr/>
            </a:pPr>
            <a:r>
              <a:rPr lang="es-ES" altLang="es-ES" sz="2100" b="1" i="1" dirty="0">
                <a:hlinkClick r:id="rId12" tooltip="Ley Orgánica"/>
              </a:rPr>
              <a:t>Ley Orgánica</a:t>
            </a:r>
            <a:r>
              <a:rPr lang="es-ES" altLang="es-ES" sz="2100" dirty="0"/>
              <a:t> (que requiere mayoría absoluta de las Cortes Generales),</a:t>
            </a:r>
            <a:endParaRPr lang="es-ES" altLang="es-ES" sz="2100" b="1" i="1" dirty="0">
              <a:hlinkClick r:id="rId13" tooltip="Ley ordinaria"/>
            </a:endParaRPr>
          </a:p>
          <a:p>
            <a:pPr lvl="2" algn="just">
              <a:lnSpc>
                <a:spcPct val="80000"/>
              </a:lnSpc>
              <a:defRPr/>
            </a:pPr>
            <a:r>
              <a:rPr lang="es-ES" altLang="es-ES" sz="2100" b="1" i="1" dirty="0">
                <a:hlinkClick r:id="rId13" tooltip="Ley ordinaria"/>
              </a:rPr>
              <a:t>Ley ordinaria</a:t>
            </a:r>
            <a:r>
              <a:rPr lang="es-ES" altLang="es-ES" sz="2100" dirty="0"/>
              <a:t> y </a:t>
            </a:r>
            <a:r>
              <a:rPr lang="es-ES" altLang="es-ES" sz="2100" b="1" i="1" dirty="0"/>
              <a:t>normas reglamentarias con rango de Ley</a:t>
            </a:r>
            <a:r>
              <a:rPr lang="es-ES" altLang="es-ES" sz="2100" dirty="0"/>
              <a:t> (entre las que se encuentra el </a:t>
            </a:r>
            <a:r>
              <a:rPr lang="es-ES" altLang="es-ES" sz="2100" b="1" i="1" dirty="0">
                <a:hlinkClick r:id="rId14" tooltip="Real Decreto Ley"/>
              </a:rPr>
              <a:t>Real Decreto Ley</a:t>
            </a:r>
            <a:r>
              <a:rPr lang="es-ES" altLang="es-ES" sz="2100" b="1" i="1" dirty="0"/>
              <a:t> y el </a:t>
            </a:r>
            <a:r>
              <a:rPr lang="es-ES" altLang="es-ES" sz="2100" b="1" i="1" dirty="0">
                <a:hlinkClick r:id="rId15" tooltip="Real Decreto Legislativo"/>
              </a:rPr>
              <a:t>Real Decreto Legislativo</a:t>
            </a:r>
            <a:r>
              <a:rPr lang="es-ES" altLang="es-ES" sz="2100" dirty="0"/>
              <a:t>). </a:t>
            </a:r>
            <a:endParaRPr lang="es-ES" altLang="es-ES" sz="2100" b="1" i="1" dirty="0"/>
          </a:p>
          <a:p>
            <a:pPr lvl="3" algn="just">
              <a:lnSpc>
                <a:spcPct val="80000"/>
              </a:lnSpc>
              <a:defRPr/>
            </a:pPr>
            <a:r>
              <a:rPr lang="es-ES" altLang="es-ES" sz="2100" b="1" i="1" u="sng" dirty="0">
                <a:solidFill>
                  <a:srgbClr val="00B0F0"/>
                </a:solidFill>
              </a:rPr>
              <a:t>Reglamentos </a:t>
            </a:r>
            <a:r>
              <a:rPr lang="es-ES" altLang="es-ES" sz="2100" b="1" i="1" dirty="0"/>
              <a:t>(Normas emanadas por el ejecutivo)</a:t>
            </a:r>
            <a:r>
              <a:rPr lang="es-ES" altLang="es-ES" sz="2100" dirty="0"/>
              <a:t>, con su propia jerarquía en función del órgano que las promulga (</a:t>
            </a:r>
            <a:r>
              <a:rPr lang="es-ES" altLang="es-ES" sz="2100" b="1" i="1" dirty="0">
                <a:hlinkClick r:id="rId16" tooltip="Real Decreto"/>
              </a:rPr>
              <a:t>Real Decreto</a:t>
            </a:r>
            <a:r>
              <a:rPr lang="es-ES" altLang="es-ES" sz="2100" b="1" i="1" dirty="0"/>
              <a:t>, </a:t>
            </a:r>
            <a:r>
              <a:rPr lang="es-ES" altLang="es-ES" sz="2100" b="1" i="1" dirty="0">
                <a:hlinkClick r:id="rId17" tooltip="Orden ministerial"/>
              </a:rPr>
              <a:t>Orden ministerial</a:t>
            </a:r>
            <a:r>
              <a:rPr lang="es-ES" altLang="es-ES" sz="2100" b="1" i="1" dirty="0"/>
              <a:t>, etc</a:t>
            </a:r>
            <a:r>
              <a:rPr lang="es-ES" altLang="es-ES" sz="2100" dirty="0"/>
              <a:t>.). </a:t>
            </a:r>
            <a:endParaRPr lang="es-ES_tradnl" altLang="es-ES" sz="2100" dirty="0"/>
          </a:p>
        </p:txBody>
      </p:sp>
      <p:pic>
        <p:nvPicPr>
          <p:cNvPr id="3" name="Imagen 2">
            <a:extLst>
              <a:ext uri="{FF2B5EF4-FFF2-40B4-BE49-F238E27FC236}">
                <a16:creationId xmlns:a16="http://schemas.microsoft.com/office/drawing/2014/main" id="{2C895D68-538E-B7CB-9929-5A13644E7900}"/>
              </a:ext>
            </a:extLst>
          </p:cNvPr>
          <p:cNvPicPr>
            <a:picLocks noChangeAspect="1"/>
          </p:cNvPicPr>
          <p:nvPr/>
        </p:nvPicPr>
        <p:blipFill>
          <a:blip r:embed="rId18"/>
          <a:stretch>
            <a:fillRect/>
          </a:stretch>
        </p:blipFill>
        <p:spPr>
          <a:xfrm>
            <a:off x="1524000" y="1152524"/>
            <a:ext cx="9144000" cy="5229225"/>
          </a:xfrm>
          <a:prstGeom prst="rect">
            <a:avLst/>
          </a:prstGeom>
        </p:spPr>
      </p:pic>
    </p:spTree>
    <p:extLst>
      <p:ext uri="{BB962C8B-B14F-4D97-AF65-F5344CB8AC3E}">
        <p14:creationId xmlns:p14="http://schemas.microsoft.com/office/powerpoint/2010/main" val="1279618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2" name="Rectangle 3"/>
          <p:cNvSpPr txBox="1">
            <a:spLocks noChangeArrowheads="1"/>
          </p:cNvSpPr>
          <p:nvPr/>
        </p:nvSpPr>
        <p:spPr>
          <a:xfrm>
            <a:off x="1538287" y="1021556"/>
            <a:ext cx="9193443" cy="5196364"/>
          </a:xfrm>
          <a:prstGeom prst="rect">
            <a:avLst/>
          </a:prstGeom>
          <a:ln w="38100">
            <a:solidFill>
              <a:srgbClr val="7030A0"/>
            </a:solidFill>
            <a:miter lim="800000"/>
            <a:headEnd/>
            <a:tailEnd/>
          </a:ln>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609600" indent="-609600">
              <a:lnSpc>
                <a:spcPct val="80000"/>
              </a:lnSpc>
              <a:buFontTx/>
              <a:buNone/>
            </a:pPr>
            <a:r>
              <a:rPr lang="es-ES" altLang="es-ES" sz="1600" b="1" dirty="0">
                <a:solidFill>
                  <a:srgbClr val="660033"/>
                </a:solidFill>
              </a:rPr>
              <a:t>Normas Comunitarias</a:t>
            </a:r>
          </a:p>
          <a:p>
            <a:pPr marL="609600" indent="-609600">
              <a:lnSpc>
                <a:spcPct val="80000"/>
              </a:lnSpc>
              <a:buFontTx/>
              <a:buNone/>
            </a:pPr>
            <a:endParaRPr lang="es-ES" altLang="es-ES" sz="1200" dirty="0">
              <a:solidFill>
                <a:srgbClr val="660033"/>
              </a:solidFill>
            </a:endParaRPr>
          </a:p>
          <a:p>
            <a:pPr marL="609600" indent="-609600" algn="just">
              <a:lnSpc>
                <a:spcPct val="80000"/>
              </a:lnSpc>
              <a:buFontTx/>
              <a:buNone/>
            </a:pPr>
            <a:r>
              <a:rPr lang="es-ES" altLang="es-ES" sz="1300" dirty="0"/>
              <a:t>El </a:t>
            </a:r>
            <a:r>
              <a:rPr lang="es-ES" altLang="es-ES" sz="1300" b="1" dirty="0"/>
              <a:t>Derecho de la Unión Europea</a:t>
            </a:r>
            <a:r>
              <a:rPr lang="es-ES" altLang="es-ES" sz="1300" dirty="0"/>
              <a:t> (anteriormente conocido como </a:t>
            </a:r>
            <a:r>
              <a:rPr lang="es-ES" altLang="es-ES" sz="1300" b="1" dirty="0"/>
              <a:t>Derecho comunitario</a:t>
            </a:r>
            <a:r>
              <a:rPr lang="es-ES" altLang="es-ES" sz="1300" dirty="0"/>
              <a:t> o de las Comunidades Europeas) es el conjunto de </a:t>
            </a:r>
            <a:r>
              <a:rPr lang="es-ES" altLang="es-ES" sz="1300" dirty="0">
                <a:hlinkClick r:id="rId5" tooltip="Norma"/>
              </a:rPr>
              <a:t>normas</a:t>
            </a:r>
            <a:r>
              <a:rPr lang="es-ES" altLang="es-ES" sz="1300" dirty="0"/>
              <a:t> y </a:t>
            </a:r>
            <a:r>
              <a:rPr lang="es-ES" altLang="es-ES" sz="1300" dirty="0">
                <a:hlinkClick r:id="rId6" tooltip="Principio jurídico"/>
              </a:rPr>
              <a:t>principios</a:t>
            </a:r>
            <a:r>
              <a:rPr lang="es-ES" altLang="es-ES" sz="1300" dirty="0"/>
              <a:t> que determinan el funcionamiento, corporación y competencias de la </a:t>
            </a:r>
            <a:r>
              <a:rPr lang="es-ES" altLang="es-ES" sz="1300" dirty="0">
                <a:hlinkClick r:id="rId7" tooltip="Unión Europea"/>
              </a:rPr>
              <a:t>Unión Europea</a:t>
            </a:r>
            <a:r>
              <a:rPr lang="es-ES" altLang="es-ES" sz="1300" dirty="0"/>
              <a:t>. Se caracteriza por tratarse de un orden jurídico </a:t>
            </a:r>
            <a:r>
              <a:rPr lang="es-ES" altLang="es-ES" sz="1300" i="1" dirty="0">
                <a:hlinkClick r:id="rId8" tooltip="Sui generis"/>
              </a:rPr>
              <a:t>sui generis</a:t>
            </a:r>
            <a:r>
              <a:rPr lang="es-ES" altLang="es-ES" sz="1300" dirty="0"/>
              <a:t>, diferenciado del </a:t>
            </a:r>
            <a:r>
              <a:rPr lang="es-ES" altLang="es-ES" sz="1300" dirty="0">
                <a:hlinkClick r:id="rId9" tooltip="Derecho internacional"/>
              </a:rPr>
              <a:t>Derecho internacional</a:t>
            </a:r>
            <a:r>
              <a:rPr lang="es-ES" altLang="es-ES" sz="1300" dirty="0"/>
              <a:t> así como del orden jurídico interno de los países miembros .</a:t>
            </a:r>
          </a:p>
          <a:p>
            <a:pPr marL="609600" indent="-609600" algn="just">
              <a:lnSpc>
                <a:spcPct val="80000"/>
              </a:lnSpc>
              <a:buFontTx/>
              <a:buNone/>
            </a:pPr>
            <a:endParaRPr lang="es-ES" altLang="es-ES" sz="1300" dirty="0"/>
          </a:p>
          <a:p>
            <a:pPr marL="609600" indent="-609600" algn="just">
              <a:lnSpc>
                <a:spcPct val="80000"/>
              </a:lnSpc>
              <a:buFontTx/>
              <a:buNone/>
            </a:pPr>
            <a:r>
              <a:rPr lang="es-ES" altLang="es-ES" sz="1300" dirty="0"/>
              <a:t>Las normas comunitarias son de </a:t>
            </a:r>
            <a:r>
              <a:rPr lang="es-ES" altLang="es-ES" sz="1300" b="1" dirty="0">
                <a:solidFill>
                  <a:srgbClr val="660033"/>
                </a:solidFill>
              </a:rPr>
              <a:t>distintas clases</a:t>
            </a:r>
            <a:r>
              <a:rPr lang="es-ES" altLang="es-ES" sz="1300" dirty="0"/>
              <a:t>: </a:t>
            </a:r>
          </a:p>
          <a:p>
            <a:pPr marL="609600" indent="-609600" algn="just">
              <a:lnSpc>
                <a:spcPct val="80000"/>
              </a:lnSpc>
              <a:buFontTx/>
              <a:buNone/>
            </a:pPr>
            <a:endParaRPr lang="es-ES" altLang="es-ES" sz="1300" dirty="0"/>
          </a:p>
          <a:p>
            <a:pPr marL="609600" indent="-609600" algn="just">
              <a:lnSpc>
                <a:spcPct val="80000"/>
              </a:lnSpc>
              <a:buFontTx/>
              <a:buAutoNum type="alphaLcParenR"/>
            </a:pPr>
            <a:r>
              <a:rPr lang="es-ES" altLang="es-ES" sz="1300" b="1" u="sng" dirty="0">
                <a:solidFill>
                  <a:srgbClr val="660033"/>
                </a:solidFill>
              </a:rPr>
              <a:t>El Reglamento</a:t>
            </a:r>
            <a:r>
              <a:rPr lang="es-ES" altLang="es-ES" sz="1300" u="sng" dirty="0">
                <a:solidFill>
                  <a:schemeClr val="folHlink"/>
                </a:solidFill>
              </a:rPr>
              <a:t>:</a:t>
            </a:r>
            <a:r>
              <a:rPr lang="es-ES" altLang="es-ES" sz="1300" u="sng" dirty="0"/>
              <a:t> </a:t>
            </a:r>
            <a:r>
              <a:rPr lang="es-ES" altLang="es-ES" sz="1300" dirty="0"/>
              <a:t>Los reglamentos son normas jurídicas emanadas de las instituciones europeas que poseen efecto directo en los países miembros, y que prevalecen sobre el Derecho nacional de cada uno de ellos. </a:t>
            </a:r>
            <a:r>
              <a:rPr lang="es-ES" altLang="es-ES" sz="1300" b="1" dirty="0">
                <a:solidFill>
                  <a:srgbClr val="7030A0"/>
                </a:solidFill>
              </a:rPr>
              <a:t>Tiene alcance general </a:t>
            </a:r>
            <a:r>
              <a:rPr lang="es-ES" altLang="es-ES" sz="1300" dirty="0"/>
              <a:t>y eficacia directa, es decir, se va a aplicar directamente en un tribunal en cualquiera de los países miembros.</a:t>
            </a:r>
          </a:p>
          <a:p>
            <a:pPr marL="609600" indent="-609600" algn="just">
              <a:lnSpc>
                <a:spcPct val="80000"/>
              </a:lnSpc>
              <a:buFontTx/>
              <a:buNone/>
            </a:pPr>
            <a:endParaRPr lang="es-ES" altLang="es-ES" sz="1300" b="1" dirty="0"/>
          </a:p>
          <a:p>
            <a:pPr marL="609600" indent="-609600" algn="just">
              <a:lnSpc>
                <a:spcPct val="80000"/>
              </a:lnSpc>
              <a:buFontTx/>
              <a:buAutoNum type="alphaLcParenR" startAt="2"/>
            </a:pPr>
            <a:r>
              <a:rPr lang="es-ES" altLang="es-ES" sz="1300" b="1" u="sng" dirty="0">
                <a:solidFill>
                  <a:srgbClr val="660033"/>
                </a:solidFill>
              </a:rPr>
              <a:t>La Directiva</a:t>
            </a:r>
            <a:r>
              <a:rPr lang="es-ES" altLang="es-ES" sz="1300" u="sng" dirty="0">
                <a:solidFill>
                  <a:schemeClr val="folHlink"/>
                </a:solidFill>
              </a:rPr>
              <a:t>:</a:t>
            </a:r>
            <a:r>
              <a:rPr lang="es-ES" altLang="es-ES" sz="1300" u="sng" dirty="0"/>
              <a:t> </a:t>
            </a:r>
            <a:r>
              <a:rPr lang="es-ES" altLang="es-ES" sz="1300" dirty="0"/>
              <a:t>es un instrumento de acción indirecta, es una norma dirigida a los estados para que ellos legislen sobre una materia o asunto concreto. Esto conlleva a que la norma comunitaria (la directa) tenga que ser transpuesta al ordenamiento interno de los Estados, una vez emitida la Directiva se le da lo que se llama un plazo de </a:t>
            </a:r>
            <a:r>
              <a:rPr lang="es-ES" altLang="es-ES" sz="1300" b="1" dirty="0"/>
              <a:t>transposición </a:t>
            </a:r>
            <a:r>
              <a:rPr lang="es-ES" altLang="es-ES" sz="1300" dirty="0"/>
              <a:t>para que legislen sobre esa materia</a:t>
            </a:r>
            <a:r>
              <a:rPr lang="es-ES" altLang="es-ES" sz="1300" b="1" dirty="0"/>
              <a:t>. la directiva contiene unos objetivos que los estados habrán de cumplir usando los medios del Derecho interno, dentro del plazo indicado.</a:t>
            </a:r>
            <a:r>
              <a:rPr lang="es-ES" altLang="es-ES" sz="1300" dirty="0"/>
              <a:t> </a:t>
            </a:r>
          </a:p>
          <a:p>
            <a:pPr marL="609600" indent="-609600" algn="just">
              <a:lnSpc>
                <a:spcPct val="80000"/>
              </a:lnSpc>
              <a:buFontTx/>
              <a:buAutoNum type="alphaLcParenR" startAt="2"/>
            </a:pPr>
            <a:endParaRPr lang="es-ES" altLang="es-ES" sz="1300" dirty="0"/>
          </a:p>
          <a:p>
            <a:pPr marL="609600" indent="-609600" algn="just">
              <a:lnSpc>
                <a:spcPct val="80000"/>
              </a:lnSpc>
              <a:buFontTx/>
              <a:buAutoNum type="alphaLcParenR" startAt="2"/>
            </a:pPr>
            <a:r>
              <a:rPr lang="es-ES" altLang="es-ES" sz="1300" u="sng" dirty="0">
                <a:solidFill>
                  <a:srgbClr val="660033"/>
                </a:solidFill>
              </a:rPr>
              <a:t>La </a:t>
            </a:r>
            <a:r>
              <a:rPr lang="es-ES" altLang="es-ES" sz="1300" b="1" u="sng" dirty="0">
                <a:solidFill>
                  <a:srgbClr val="660033"/>
                </a:solidFill>
              </a:rPr>
              <a:t>Decisión</a:t>
            </a:r>
            <a:r>
              <a:rPr lang="es-ES" altLang="es-ES" sz="1300" dirty="0"/>
              <a:t> es una norma jurídica de </a:t>
            </a:r>
            <a:r>
              <a:rPr lang="es-ES" altLang="es-ES" sz="1300" dirty="0">
                <a:hlinkClick r:id="rId10" tooltip="Derecho comunitario europeo"/>
              </a:rPr>
              <a:t>Derecho comunitario europeo</a:t>
            </a:r>
            <a:r>
              <a:rPr lang="es-ES" altLang="es-ES" sz="1300" dirty="0"/>
              <a:t> que vincula a sus destinatarios en todos sus elementos y de </a:t>
            </a:r>
            <a:r>
              <a:rPr lang="es-ES" altLang="es-ES" sz="1300" u="sng" dirty="0"/>
              <a:t>manera directa e inmediata. </a:t>
            </a:r>
            <a:r>
              <a:rPr lang="es-ES" altLang="es-ES" sz="1300" dirty="0"/>
              <a:t>Una decisión puede dirigirse a las </a:t>
            </a:r>
            <a:r>
              <a:rPr lang="es-ES" altLang="es-ES" sz="1300" dirty="0">
                <a:hlinkClick r:id="rId11" tooltip="Marco institucional de la Unión Europea"/>
              </a:rPr>
              <a:t>instituciones, órganos, organismos</a:t>
            </a:r>
            <a:r>
              <a:rPr lang="es-ES" altLang="es-ES" sz="1300" dirty="0"/>
              <a:t> y funcionarios de la Unión, a uno o varios de sus Estados miembros, o a particulares. Cuando designe destinatarios, la decisión sólo obligará a estos. La decisión se asemeja en sus efectos al reglamento, puesto que no necesita de transposición al Derecho interno de los Estados dado que reviste eficacia directa</a:t>
            </a:r>
            <a:r>
              <a:rPr lang="es-ES" altLang="es-ES" sz="1200" dirty="0"/>
              <a:t>; sin embargo, se diferencia de aquél porque </a:t>
            </a:r>
            <a:r>
              <a:rPr lang="es-ES" altLang="es-ES" sz="1200" b="1" dirty="0">
                <a:solidFill>
                  <a:srgbClr val="7030A0"/>
                </a:solidFill>
              </a:rPr>
              <a:t>no posee necesariamente el alcance general </a:t>
            </a:r>
            <a:r>
              <a:rPr lang="es-ES" altLang="es-ES" sz="1200" dirty="0"/>
              <a:t>ni la abstracción que caracteriza al reglamento. </a:t>
            </a:r>
            <a:endParaRPr lang="es-ES_tradnl" altLang="es-ES" sz="1200" dirty="0"/>
          </a:p>
        </p:txBody>
      </p:sp>
    </p:spTree>
    <p:extLst>
      <p:ext uri="{BB962C8B-B14F-4D97-AF65-F5344CB8AC3E}">
        <p14:creationId xmlns:p14="http://schemas.microsoft.com/office/powerpoint/2010/main" val="1876608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2" name="Rectángulo 1"/>
          <p:cNvSpPr/>
          <p:nvPr/>
        </p:nvSpPr>
        <p:spPr>
          <a:xfrm>
            <a:off x="1654233" y="1127164"/>
            <a:ext cx="9013767" cy="4819781"/>
          </a:xfrm>
          <a:prstGeom prst="rect">
            <a:avLst/>
          </a:prstGeom>
          <a:ln w="38100">
            <a:solidFill>
              <a:srgbClr val="7030A0"/>
            </a:solidFill>
          </a:ln>
        </p:spPr>
        <p:txBody>
          <a:bodyPr wrap="square">
            <a:spAutoFit/>
          </a:bodyPr>
          <a:lstStyle/>
          <a:p>
            <a:pPr algn="just">
              <a:lnSpc>
                <a:spcPct val="80000"/>
              </a:lnSpc>
            </a:pPr>
            <a:r>
              <a:rPr lang="es-ES" altLang="es-ES" sz="3200" dirty="0"/>
              <a:t>La Constitución Española, establece la </a:t>
            </a:r>
            <a:r>
              <a:rPr lang="es-ES" altLang="es-ES" sz="3200" b="1" dirty="0"/>
              <a:t>competencia de las Comunidades Autónomas</a:t>
            </a:r>
            <a:r>
              <a:rPr lang="es-ES" altLang="es-ES" sz="3200" dirty="0"/>
              <a:t> en la regulación de ciertas materias, y su </a:t>
            </a:r>
            <a:r>
              <a:rPr lang="es-ES" altLang="es-ES" sz="3200" b="1" i="1" dirty="0"/>
              <a:t>capacidad de dictar normas con rango de Ley</a:t>
            </a:r>
            <a:r>
              <a:rPr lang="es-ES" altLang="es-ES" sz="3200" dirty="0"/>
              <a:t> mediante sus propios Parlamentos. En un </a:t>
            </a:r>
            <a:r>
              <a:rPr lang="es-ES" altLang="es-ES" sz="3200" b="1" i="1" dirty="0"/>
              <a:t>trámite conjunto</a:t>
            </a:r>
            <a:r>
              <a:rPr lang="es-ES" altLang="es-ES" sz="3200" dirty="0"/>
              <a:t> entre el </a:t>
            </a:r>
            <a:r>
              <a:rPr lang="es-ES" altLang="es-ES" sz="3200" b="1" i="1" dirty="0"/>
              <a:t>parlamento autonómico y el parlamento nacional</a:t>
            </a:r>
            <a:r>
              <a:rPr lang="es-ES" altLang="es-ES" sz="3200" dirty="0"/>
              <a:t> se dicta </a:t>
            </a:r>
            <a:r>
              <a:rPr lang="es-ES" altLang="es-ES" sz="3200" b="1" i="1" dirty="0"/>
              <a:t>el </a:t>
            </a:r>
            <a:r>
              <a:rPr lang="es-ES" altLang="es-ES" sz="3200" b="1" i="1" dirty="0">
                <a:hlinkClick r:id="rId5" tooltip="Estatuto de Autonomía"/>
              </a:rPr>
              <a:t>Estatuto de Autonomía</a:t>
            </a:r>
            <a:r>
              <a:rPr lang="es-ES" altLang="es-ES" sz="3200" dirty="0"/>
              <a:t>, que se constituye como </a:t>
            </a:r>
            <a:r>
              <a:rPr lang="es-ES" altLang="es-ES" sz="3200" b="1" i="1" dirty="0"/>
              <a:t>norma fundamental de la Autonomía</a:t>
            </a:r>
            <a:r>
              <a:rPr lang="es-ES" altLang="es-ES" sz="3200" dirty="0"/>
              <a:t>. </a:t>
            </a:r>
          </a:p>
          <a:p>
            <a:pPr algn="just">
              <a:lnSpc>
                <a:spcPct val="80000"/>
              </a:lnSpc>
            </a:pPr>
            <a:endParaRPr lang="es-ES" altLang="es-ES" sz="3200" dirty="0"/>
          </a:p>
          <a:p>
            <a:pPr algn="just">
              <a:lnSpc>
                <a:spcPct val="80000"/>
              </a:lnSpc>
            </a:pPr>
            <a:r>
              <a:rPr lang="es-ES" altLang="es-ES" sz="3200" dirty="0"/>
              <a:t>A las Entidades locales no se les ha atribuido capacidad legislativa aunque sí poseen potestad reglamentaria.</a:t>
            </a:r>
            <a:endParaRPr lang="es-ES_tradnl" altLang="es-ES" sz="3200" dirty="0"/>
          </a:p>
        </p:txBody>
      </p:sp>
    </p:spTree>
    <p:extLst>
      <p:ext uri="{BB962C8B-B14F-4D97-AF65-F5344CB8AC3E}">
        <p14:creationId xmlns:p14="http://schemas.microsoft.com/office/powerpoint/2010/main" val="351057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1" name="Rectangle 3"/>
          <p:cNvSpPr txBox="1">
            <a:spLocks noChangeArrowheads="1"/>
          </p:cNvSpPr>
          <p:nvPr/>
        </p:nvSpPr>
        <p:spPr>
          <a:xfrm>
            <a:off x="1524000" y="1103312"/>
            <a:ext cx="9144000" cy="4525963"/>
          </a:xfrm>
          <a:prstGeom prst="rect">
            <a:avLst/>
          </a:prstGeom>
          <a:ln w="38100">
            <a:solidFill>
              <a:srgbClr val="7030A0"/>
            </a:solidFill>
            <a:miter lim="800000"/>
            <a:headEnd/>
            <a:tailEnd/>
          </a:ln>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defRPr/>
            </a:pPr>
            <a:r>
              <a:rPr lang="es-ES" sz="2600" dirty="0"/>
              <a:t>La </a:t>
            </a:r>
            <a:r>
              <a:rPr lang="es-ES" sz="2600" dirty="0">
                <a:hlinkClick r:id="rId5" action="ppaction://hlinkfile" tooltip="Constitución española de 1978"/>
              </a:rPr>
              <a:t>Constitución española de 1978</a:t>
            </a:r>
            <a:r>
              <a:rPr lang="es-ES" sz="2600" dirty="0"/>
              <a:t> regula el proceso de elaboración de las leyes en el estado español (artículos 81 a 92) y, en particular, las distintas formas de </a:t>
            </a:r>
            <a:r>
              <a:rPr lang="es-ES" sz="2600" dirty="0">
                <a:hlinkClick r:id="rId6" action="ppaction://hlinkfile" tooltip="Iniciativa legislativa"/>
              </a:rPr>
              <a:t>iniciativa legislativa</a:t>
            </a:r>
            <a:r>
              <a:rPr lang="es-ES" sz="2600" dirty="0"/>
              <a:t> se recogen en los artículos 86 a 88 de ésta.</a:t>
            </a:r>
          </a:p>
          <a:p>
            <a:pPr algn="just">
              <a:buFontTx/>
              <a:buNone/>
              <a:defRPr/>
            </a:pPr>
            <a:endParaRPr lang="es-ES" sz="2600" dirty="0"/>
          </a:p>
          <a:p>
            <a:pPr algn="just">
              <a:defRPr/>
            </a:pPr>
            <a:r>
              <a:rPr lang="es-ES" sz="2600" dirty="0"/>
              <a:t>La Constitución española distingue entre </a:t>
            </a:r>
            <a:r>
              <a:rPr lang="es-ES" sz="2600" i="1" dirty="0"/>
              <a:t>proyecto de ley</a:t>
            </a:r>
            <a:r>
              <a:rPr lang="es-ES" sz="2600" dirty="0"/>
              <a:t> y </a:t>
            </a:r>
            <a:r>
              <a:rPr lang="es-ES" sz="2600" i="1" dirty="0"/>
              <a:t>proposición de ley</a:t>
            </a:r>
            <a:r>
              <a:rPr lang="es-ES" sz="2600" dirty="0"/>
              <a:t>, siendo su diferencia fundamental el órgano que las presenta. En ese sentido, los </a:t>
            </a:r>
            <a:r>
              <a:rPr lang="es-ES" sz="2600" b="1" dirty="0"/>
              <a:t>proyectos de ley</a:t>
            </a:r>
            <a:r>
              <a:rPr lang="es-ES" sz="2600" dirty="0"/>
              <a:t> son únicamente los que son presentados por el Gobierno. Las </a:t>
            </a:r>
            <a:r>
              <a:rPr lang="es-ES" sz="2600" b="1" dirty="0"/>
              <a:t>proposiciones de ley</a:t>
            </a:r>
            <a:r>
              <a:rPr lang="es-ES" sz="2600" dirty="0"/>
              <a:t> son presentadas por el </a:t>
            </a:r>
            <a:r>
              <a:rPr lang="es-ES" sz="2600" dirty="0">
                <a:hlinkClick r:id="rId7" action="ppaction://hlinkfile" tooltip="Congreso de los Diputados"/>
              </a:rPr>
              <a:t>Congreso de los Diputados</a:t>
            </a:r>
            <a:r>
              <a:rPr lang="es-ES" sz="2600" dirty="0"/>
              <a:t> (art. 87.1), por el </a:t>
            </a:r>
            <a:r>
              <a:rPr lang="es-ES" sz="2600" dirty="0">
                <a:hlinkClick r:id="rId8" action="ppaction://hlinkfile" tooltip="Senado"/>
              </a:rPr>
              <a:t>Senado</a:t>
            </a:r>
            <a:r>
              <a:rPr lang="es-ES" sz="2600" dirty="0"/>
              <a:t> (art. 87.1), por las Asambleas legislativas de las Comunidades Autónomas (art. 87.2) o por una sección del electorado (art. 87.3), a esta última iniciativa se le llama </a:t>
            </a:r>
            <a:r>
              <a:rPr lang="es-ES" sz="2600" dirty="0">
                <a:hlinkClick r:id="rId9" action="ppaction://hlinkfile" tooltip="Iniciativa legislativa popular"/>
              </a:rPr>
              <a:t>iniciativa legislativa popular</a:t>
            </a:r>
            <a:r>
              <a:rPr lang="es-ES" sz="2600" dirty="0"/>
              <a:t>.</a:t>
            </a:r>
          </a:p>
          <a:p>
            <a:pPr algn="just">
              <a:defRPr/>
            </a:pPr>
            <a:endParaRPr lang="es-ES" sz="2600" dirty="0"/>
          </a:p>
          <a:p>
            <a:pPr algn="just">
              <a:defRPr/>
            </a:pPr>
            <a:r>
              <a:rPr lang="es-ES" sz="2600" dirty="0"/>
              <a:t>El proyecto de ley tiene preferencia frente a las proposiciones de ley. El proyecto de ley debe de ser presentado en la Mesa del Congreso, junto con una exposición que justifique la ley y los informes correspondientes.</a:t>
            </a:r>
          </a:p>
          <a:p>
            <a:pPr algn="just">
              <a:lnSpc>
                <a:spcPct val="80000"/>
              </a:lnSpc>
              <a:buFontTx/>
              <a:buNone/>
              <a:defRPr/>
            </a:pPr>
            <a:endParaRPr lang="es-ES" altLang="es-ES" sz="1700" dirty="0"/>
          </a:p>
        </p:txBody>
      </p:sp>
    </p:spTree>
    <p:extLst>
      <p:ext uri="{BB962C8B-B14F-4D97-AF65-F5344CB8AC3E}">
        <p14:creationId xmlns:p14="http://schemas.microsoft.com/office/powerpoint/2010/main" val="946329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2" name="Rectángulo 1"/>
          <p:cNvSpPr/>
          <p:nvPr/>
        </p:nvSpPr>
        <p:spPr>
          <a:xfrm>
            <a:off x="1450109" y="952502"/>
            <a:ext cx="9144000" cy="5503045"/>
          </a:xfrm>
          <a:prstGeom prst="rect">
            <a:avLst/>
          </a:prstGeom>
          <a:ln w="38100">
            <a:solidFill>
              <a:srgbClr val="7030A0"/>
            </a:solidFill>
          </a:ln>
        </p:spPr>
        <p:txBody>
          <a:bodyPr wrap="square">
            <a:spAutoFit/>
          </a:bodyPr>
          <a:lstStyle/>
          <a:p>
            <a:pPr marL="609600" indent="-609600">
              <a:lnSpc>
                <a:spcPct val="80000"/>
              </a:lnSpc>
            </a:pPr>
            <a:r>
              <a:rPr lang="es-ES" altLang="es-ES" sz="2300" b="1" dirty="0"/>
              <a:t>TRATADO INTERNACIONAL</a:t>
            </a:r>
          </a:p>
          <a:p>
            <a:pPr marL="609600" indent="-609600">
              <a:lnSpc>
                <a:spcPct val="80000"/>
              </a:lnSpc>
            </a:pPr>
            <a:endParaRPr lang="es-ES" altLang="es-ES" sz="2300" dirty="0"/>
          </a:p>
          <a:p>
            <a:pPr marL="609600" indent="-609600" algn="just">
              <a:lnSpc>
                <a:spcPct val="80000"/>
              </a:lnSpc>
            </a:pPr>
            <a:r>
              <a:rPr lang="es-ES" altLang="es-ES" sz="2000" dirty="0"/>
              <a:t>Un </a:t>
            </a:r>
            <a:r>
              <a:rPr lang="es-ES" altLang="es-ES" sz="2000" b="1" dirty="0"/>
              <a:t>tratado internacional</a:t>
            </a:r>
            <a:r>
              <a:rPr lang="es-ES" altLang="es-ES" sz="2000" dirty="0"/>
              <a:t> es un </a:t>
            </a:r>
            <a:r>
              <a:rPr lang="es-ES" altLang="es-ES" sz="2000" b="1" i="1" dirty="0"/>
              <a:t>acuerdo escrito entre </a:t>
            </a:r>
            <a:r>
              <a:rPr lang="es-ES" altLang="es-ES" sz="2000" b="1" i="1" dirty="0">
                <a:hlinkClick r:id="rId5" tooltip="Estado"/>
              </a:rPr>
              <a:t>Estados</a:t>
            </a:r>
            <a:r>
              <a:rPr lang="es-ES" altLang="es-ES" sz="2000" b="1" i="1" dirty="0"/>
              <a:t>, regulado por el </a:t>
            </a:r>
          </a:p>
          <a:p>
            <a:pPr marL="609600" indent="-609600" algn="just">
              <a:lnSpc>
                <a:spcPct val="80000"/>
              </a:lnSpc>
            </a:pPr>
            <a:r>
              <a:rPr lang="es-ES" altLang="es-ES" sz="2000" b="1" i="1" dirty="0">
                <a:hlinkClick r:id="rId6" tooltip="Derecho internacional"/>
              </a:rPr>
              <a:t>Derecho internacional</a:t>
            </a:r>
            <a:r>
              <a:rPr lang="es-ES" altLang="es-ES" sz="2000" dirty="0"/>
              <a:t>, que puede constar de uno o varios instrumentos jurídicos </a:t>
            </a:r>
          </a:p>
          <a:p>
            <a:pPr marL="609600" indent="-609600" algn="just">
              <a:lnSpc>
                <a:spcPct val="80000"/>
              </a:lnSpc>
            </a:pPr>
            <a:r>
              <a:rPr lang="es-ES" altLang="es-ES" sz="2000" dirty="0"/>
              <a:t>conexos, y siendo indiferente su denominación. Como acuerdo implica siempre que </a:t>
            </a:r>
          </a:p>
          <a:p>
            <a:pPr marL="609600" indent="-609600" algn="just">
              <a:lnSpc>
                <a:spcPct val="80000"/>
              </a:lnSpc>
            </a:pPr>
            <a:r>
              <a:rPr lang="es-ES" altLang="es-ES" sz="2000" dirty="0"/>
              <a:t>sean, como mínimo, </a:t>
            </a:r>
            <a:r>
              <a:rPr lang="es-ES" altLang="es-ES" sz="2000" b="1" i="1" dirty="0"/>
              <a:t>dos personas jurídicas internacionales quienes concluyan un </a:t>
            </a:r>
          </a:p>
          <a:p>
            <a:pPr marL="609600" indent="-609600" algn="just">
              <a:lnSpc>
                <a:spcPct val="80000"/>
              </a:lnSpc>
            </a:pPr>
            <a:r>
              <a:rPr lang="es-ES" altLang="es-ES" sz="2000" b="1" i="1" dirty="0"/>
              <a:t>tratado internacional</a:t>
            </a:r>
            <a:r>
              <a:rPr lang="es-ES" altLang="es-ES" sz="2000" dirty="0"/>
              <a:t>.</a:t>
            </a:r>
          </a:p>
          <a:p>
            <a:pPr marL="609600" indent="-609600" algn="just">
              <a:lnSpc>
                <a:spcPct val="80000"/>
              </a:lnSpc>
            </a:pPr>
            <a:endParaRPr lang="es-ES" altLang="es-ES" sz="2000" dirty="0"/>
          </a:p>
          <a:p>
            <a:pPr marL="609600" indent="-609600" algn="just">
              <a:lnSpc>
                <a:spcPct val="80000"/>
              </a:lnSpc>
            </a:pPr>
            <a:r>
              <a:rPr lang="es-ES" altLang="es-ES" sz="2000" b="1" dirty="0">
                <a:solidFill>
                  <a:schemeClr val="tx2"/>
                </a:solidFill>
              </a:rPr>
              <a:t>Lo más común suele ser que tales acuerdos se realicen entre Estados </a:t>
            </a:r>
            <a:r>
              <a:rPr lang="es-ES" altLang="es-ES" sz="2000" dirty="0">
                <a:solidFill>
                  <a:schemeClr val="tx2"/>
                </a:solidFill>
              </a:rPr>
              <a:t>aunque pueden </a:t>
            </a:r>
          </a:p>
          <a:p>
            <a:pPr marL="609600" indent="-609600" algn="just">
              <a:lnSpc>
                <a:spcPct val="80000"/>
              </a:lnSpc>
            </a:pPr>
            <a:r>
              <a:rPr lang="es-ES" altLang="es-ES" sz="2000" dirty="0">
                <a:solidFill>
                  <a:schemeClr val="tx2"/>
                </a:solidFill>
              </a:rPr>
              <a:t>celebrarse entre Estados y (regulados por la </a:t>
            </a:r>
            <a:r>
              <a:rPr lang="es-ES" altLang="es-ES" sz="2000" dirty="0">
                <a:hlinkClick r:id="rId7" tooltip="Organización internacional">
                  <a:extLst>
                    <a:ext uri="{A12FA001-AC4F-418D-AE19-62706E023703}">
                      <ahyp:hlinkClr xmlns:ahyp="http://schemas.microsoft.com/office/drawing/2018/hyperlinkcolor" val="tx"/>
                    </a:ext>
                  </a:extLst>
                </a:hlinkClick>
              </a:rPr>
              <a:t>Organizaciones internacionales</a:t>
            </a:r>
            <a:r>
              <a:rPr lang="es-ES" altLang="es-ES" sz="2000" dirty="0"/>
              <a:t>) </a:t>
            </a:r>
            <a:r>
              <a:rPr lang="es-ES" altLang="es-ES" sz="2000" b="1" dirty="0"/>
              <a:t>o entre </a:t>
            </a:r>
          </a:p>
          <a:p>
            <a:pPr marL="609600" indent="-609600" algn="just">
              <a:lnSpc>
                <a:spcPct val="80000"/>
              </a:lnSpc>
            </a:pPr>
            <a:r>
              <a:rPr lang="es-ES" altLang="es-ES" sz="2000" b="1" dirty="0"/>
              <a:t>Organizaciones internacionales.</a:t>
            </a:r>
          </a:p>
          <a:p>
            <a:pPr marL="609600" indent="-609600" algn="just">
              <a:lnSpc>
                <a:spcPct val="80000"/>
              </a:lnSpc>
            </a:pPr>
            <a:endParaRPr lang="es-ES" altLang="es-ES" sz="2000" b="1" i="1" dirty="0"/>
          </a:p>
          <a:p>
            <a:pPr algn="l"/>
            <a:r>
              <a:rPr lang="es-ES" b="0" i="1" dirty="0">
                <a:solidFill>
                  <a:srgbClr val="000000"/>
                </a:solidFill>
                <a:effectLst/>
                <a:latin typeface="Arial" panose="020B0604020202020204" pitchFamily="34" charset="0"/>
              </a:rPr>
              <a:t>La celebración de un tratado internacional que contenga (Art. 95 C.E.).</a:t>
            </a:r>
          </a:p>
          <a:p>
            <a:pPr algn="just"/>
            <a:r>
              <a:rPr lang="es-ES" b="1" i="1" dirty="0">
                <a:solidFill>
                  <a:srgbClr val="000000"/>
                </a:solidFill>
                <a:latin typeface="Arial" panose="020B0604020202020204" pitchFamily="34" charset="0"/>
              </a:rPr>
              <a:t>estipulaciones contrarias a la Constitución exigirá la previa revisión constitucional.</a:t>
            </a:r>
          </a:p>
          <a:p>
            <a:pPr algn="just"/>
            <a:endParaRPr lang="es-ES" b="0" i="1" dirty="0">
              <a:solidFill>
                <a:srgbClr val="000000"/>
              </a:solidFill>
              <a:effectLst/>
              <a:latin typeface="Arial" panose="020B0604020202020204" pitchFamily="34" charset="0"/>
            </a:endParaRPr>
          </a:p>
          <a:p>
            <a:pPr algn="l"/>
            <a:r>
              <a:rPr lang="es-ES" b="0" i="1" dirty="0">
                <a:solidFill>
                  <a:srgbClr val="000000"/>
                </a:solidFill>
                <a:effectLst/>
                <a:latin typeface="Arial" panose="020B0604020202020204" pitchFamily="34" charset="0"/>
              </a:rPr>
              <a:t>El Gobierno o cualquiera de las Cámaras puede requerir al Tribunal Constitucional para que declare si existe o no esa contradicción. (Art. 96 C.E.).</a:t>
            </a:r>
          </a:p>
          <a:p>
            <a:pPr algn="l"/>
            <a:endParaRPr lang="es-ES" b="0" i="0" dirty="0">
              <a:solidFill>
                <a:srgbClr val="000000"/>
              </a:solidFill>
              <a:effectLst/>
              <a:latin typeface="Arial" panose="020B0604020202020204" pitchFamily="34" charset="0"/>
            </a:endParaRPr>
          </a:p>
          <a:p>
            <a:pPr marL="609600" indent="-609600" algn="just">
              <a:lnSpc>
                <a:spcPct val="80000"/>
              </a:lnSpc>
            </a:pPr>
            <a:r>
              <a:rPr lang="es-ES" sz="1200" b="1" i="1" dirty="0">
                <a:solidFill>
                  <a:srgbClr val="FF0000"/>
                </a:solidFill>
                <a:effectLst/>
                <a:latin typeface="Arial" panose="020B0604020202020204" pitchFamily="34" charset="0"/>
              </a:rPr>
              <a:t>Los tratados internacionales válidamente celebrados, una vez publicados oficialmente en España (BOE), formarán parte </a:t>
            </a:r>
          </a:p>
          <a:p>
            <a:pPr marL="609600" indent="-609600" algn="just">
              <a:lnSpc>
                <a:spcPct val="80000"/>
              </a:lnSpc>
            </a:pPr>
            <a:r>
              <a:rPr lang="es-ES" sz="1200" b="1" i="1" dirty="0">
                <a:solidFill>
                  <a:srgbClr val="FF0000"/>
                </a:solidFill>
                <a:effectLst/>
                <a:latin typeface="Arial" panose="020B0604020202020204" pitchFamily="34" charset="0"/>
              </a:rPr>
              <a:t>el ordenamiento interno. Sus disposiciones sólo podrán ser derogadas, modificadas o suspendidas en la forma prevista en </a:t>
            </a:r>
          </a:p>
          <a:p>
            <a:pPr marL="609600" indent="-609600" algn="just">
              <a:lnSpc>
                <a:spcPct val="80000"/>
              </a:lnSpc>
            </a:pPr>
            <a:r>
              <a:rPr lang="es-ES" sz="1200" b="1" i="1" dirty="0">
                <a:solidFill>
                  <a:srgbClr val="FF0000"/>
                </a:solidFill>
                <a:effectLst/>
                <a:latin typeface="Arial" panose="020B0604020202020204" pitchFamily="34" charset="0"/>
              </a:rPr>
              <a:t>los propios tratados o de acuerdo con las normas generales del Derecho internacional.</a:t>
            </a:r>
          </a:p>
        </p:txBody>
      </p:sp>
    </p:spTree>
    <p:extLst>
      <p:ext uri="{BB962C8B-B14F-4D97-AF65-F5344CB8AC3E}">
        <p14:creationId xmlns:p14="http://schemas.microsoft.com/office/powerpoint/2010/main" val="28042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2" name="Rectángulo 1"/>
          <p:cNvSpPr/>
          <p:nvPr/>
        </p:nvSpPr>
        <p:spPr>
          <a:xfrm>
            <a:off x="1524000" y="805338"/>
            <a:ext cx="9135688" cy="5710474"/>
          </a:xfrm>
          <a:prstGeom prst="rect">
            <a:avLst/>
          </a:prstGeom>
          <a:ln w="38100">
            <a:solidFill>
              <a:srgbClr val="7030A0"/>
            </a:solidFill>
          </a:ln>
        </p:spPr>
        <p:txBody>
          <a:bodyPr wrap="square">
            <a:spAutoFit/>
          </a:bodyPr>
          <a:lstStyle/>
          <a:p>
            <a:pPr>
              <a:lnSpc>
                <a:spcPct val="80000"/>
              </a:lnSpc>
            </a:pPr>
            <a:r>
              <a:rPr lang="es-ES" altLang="es-ES" sz="2800" b="1" dirty="0"/>
              <a:t>Ley Orgánica (España)</a:t>
            </a:r>
          </a:p>
          <a:p>
            <a:pPr algn="just">
              <a:lnSpc>
                <a:spcPct val="80000"/>
              </a:lnSpc>
            </a:pPr>
            <a:endParaRPr lang="es-ES" altLang="es-ES" dirty="0"/>
          </a:p>
          <a:p>
            <a:pPr algn="just">
              <a:lnSpc>
                <a:spcPct val="80000"/>
              </a:lnSpc>
            </a:pPr>
            <a:r>
              <a:rPr lang="es-ES" altLang="es-ES" dirty="0"/>
              <a:t>La </a:t>
            </a:r>
            <a:r>
              <a:rPr lang="es-ES" altLang="es-ES" b="1" dirty="0"/>
              <a:t>Ley Orgánica </a:t>
            </a:r>
            <a:r>
              <a:rPr lang="es-ES" altLang="es-ES" b="1" dirty="0">
                <a:solidFill>
                  <a:schemeClr val="folHlink"/>
                </a:solidFill>
              </a:rPr>
              <a:t>(Art. 81 de la C.E.)</a:t>
            </a:r>
            <a:r>
              <a:rPr lang="es-ES" altLang="es-ES" dirty="0">
                <a:solidFill>
                  <a:schemeClr val="folHlink"/>
                </a:solidFill>
              </a:rPr>
              <a:t>,</a:t>
            </a:r>
            <a:r>
              <a:rPr lang="es-ES" altLang="es-ES" dirty="0"/>
              <a:t> frente a la ley ordinaria, es aquella prevista en la </a:t>
            </a:r>
            <a:r>
              <a:rPr lang="es-ES" altLang="es-ES" dirty="0">
                <a:hlinkClick r:id="rId5" tooltip="Constitución Española de 1978"/>
              </a:rPr>
              <a:t>Constitución Española de 1978</a:t>
            </a:r>
            <a:r>
              <a:rPr lang="es-ES" altLang="es-ES" dirty="0"/>
              <a:t> que </a:t>
            </a:r>
            <a:r>
              <a:rPr lang="es-ES" altLang="es-ES" b="1" i="1" dirty="0"/>
              <a:t>requiere el voto favorable de la mayoría absoluta de los miembros del </a:t>
            </a:r>
            <a:r>
              <a:rPr lang="es-ES" altLang="es-ES" b="1" i="1" dirty="0">
                <a:hlinkClick r:id="rId6" tooltip="Congreso de los Diputados"/>
              </a:rPr>
              <a:t>Congreso de los Diputados</a:t>
            </a:r>
            <a:r>
              <a:rPr lang="es-ES" altLang="es-ES" b="1" i="1" dirty="0"/>
              <a:t> (176 diputados) en una votación final sobre el conjunto del proyecto para ser aprobada</a:t>
            </a:r>
            <a:r>
              <a:rPr lang="es-ES" altLang="es-ES" dirty="0"/>
              <a:t>. </a:t>
            </a:r>
          </a:p>
          <a:p>
            <a:pPr algn="just">
              <a:lnSpc>
                <a:spcPct val="80000"/>
              </a:lnSpc>
            </a:pPr>
            <a:endParaRPr lang="es-ES" altLang="es-ES" dirty="0"/>
          </a:p>
          <a:p>
            <a:pPr algn="just">
              <a:lnSpc>
                <a:spcPct val="80000"/>
              </a:lnSpc>
            </a:pPr>
            <a:r>
              <a:rPr lang="es-ES" altLang="es-ES" dirty="0"/>
              <a:t>La Constitución Española recoge algunos temas que deben regularse por este procedimiento, como </a:t>
            </a:r>
            <a:r>
              <a:rPr lang="es-ES" altLang="es-ES" b="1" i="1" dirty="0"/>
              <a:t>son las Leyes de desarrollo de los Derechos Fundamentales y de las Libertades Públicas </a:t>
            </a:r>
            <a:r>
              <a:rPr lang="es-ES" altLang="es-ES" dirty="0"/>
              <a:t>recogidas en la sección primera del capítulo segundo del Título I de la Constitución, </a:t>
            </a:r>
            <a:r>
              <a:rPr lang="es-ES" altLang="es-ES" b="1" i="1" dirty="0"/>
              <a:t>las que aprueban los </a:t>
            </a:r>
            <a:r>
              <a:rPr lang="es-ES" altLang="es-ES" b="1" i="1" dirty="0">
                <a:hlinkClick r:id="rId7" tooltip="Estatuto de Autonomía"/>
              </a:rPr>
              <a:t>Estatutos de Autonomía</a:t>
            </a:r>
            <a:r>
              <a:rPr lang="es-ES" altLang="es-ES" dirty="0"/>
              <a:t> , el régimen </a:t>
            </a:r>
            <a:r>
              <a:rPr lang="es-ES" altLang="es-ES" dirty="0">
                <a:solidFill>
                  <a:schemeClr val="hlink"/>
                </a:solidFill>
              </a:rPr>
              <a:t>electoral general</a:t>
            </a:r>
            <a:r>
              <a:rPr lang="es-ES" altLang="es-ES" dirty="0"/>
              <a:t>, y las </a:t>
            </a:r>
            <a:r>
              <a:rPr lang="es-ES" altLang="es-ES" b="1" i="1" dirty="0"/>
              <a:t>demás previstas en la </a:t>
            </a:r>
            <a:r>
              <a:rPr lang="es-ES" altLang="es-ES" b="1" i="1" dirty="0">
                <a:hlinkClick r:id="rId8" tooltip="Constitución"/>
              </a:rPr>
              <a:t>Constitución</a:t>
            </a:r>
            <a:r>
              <a:rPr lang="es-ES" altLang="es-ES" dirty="0"/>
              <a:t>. Fueron creadas como novedad dentro de la Constitución de </a:t>
            </a:r>
            <a:r>
              <a:rPr lang="es-ES" altLang="es-ES" dirty="0">
                <a:hlinkClick r:id="rId9" tooltip="1978"/>
              </a:rPr>
              <a:t>1978</a:t>
            </a:r>
            <a:r>
              <a:rPr lang="es-ES" altLang="es-ES" dirty="0"/>
              <a:t>, inspirándose en la </a:t>
            </a:r>
            <a:r>
              <a:rPr lang="es-ES" altLang="es-ES" dirty="0">
                <a:hlinkClick r:id="rId10" tooltip="Constitución francesa de 1958"/>
              </a:rPr>
              <a:t>Constitución francesa de 1958</a:t>
            </a:r>
            <a:r>
              <a:rPr lang="es-ES" altLang="es-ES" dirty="0"/>
              <a:t>.</a:t>
            </a:r>
          </a:p>
          <a:p>
            <a:pPr algn="just">
              <a:lnSpc>
                <a:spcPct val="80000"/>
              </a:lnSpc>
            </a:pPr>
            <a:endParaRPr lang="es-ES" altLang="es-ES" dirty="0"/>
          </a:p>
          <a:p>
            <a:pPr algn="just">
              <a:lnSpc>
                <a:spcPct val="80000"/>
              </a:lnSpc>
            </a:pPr>
            <a:r>
              <a:rPr lang="es-ES" dirty="0"/>
              <a:t>Las materias objeto de ley orgánica están </a:t>
            </a:r>
            <a:r>
              <a:rPr lang="es-ES" b="1" i="1" dirty="0"/>
              <a:t>excluidas de la iniciativa popular y de la regulación por Decretos Legislativos y Decretos-Leyes</a:t>
            </a:r>
            <a:r>
              <a:rPr lang="es-ES" dirty="0"/>
              <a:t> (art. 81 CE).</a:t>
            </a:r>
            <a:endParaRPr lang="es-ES" altLang="es-ES" dirty="0"/>
          </a:p>
          <a:p>
            <a:pPr algn="just">
              <a:lnSpc>
                <a:spcPct val="80000"/>
              </a:lnSpc>
            </a:pPr>
            <a:endParaRPr lang="es-ES" altLang="es-ES" dirty="0"/>
          </a:p>
          <a:p>
            <a:pPr algn="just">
              <a:lnSpc>
                <a:spcPct val="80000"/>
              </a:lnSpc>
            </a:pPr>
            <a:r>
              <a:rPr lang="es-ES" altLang="es-ES" b="1" i="1" dirty="0"/>
              <a:t>Jurídicamente, las leyes orgánicas están al mismo nivel de las leyes ordinarias</a:t>
            </a:r>
            <a:r>
              <a:rPr lang="es-ES" altLang="es-ES" dirty="0"/>
              <a:t>. La diferencia entre ambas estriba en el proceso de creación (más restrictivo en las orgánicas) y en las materias que se regulan.</a:t>
            </a:r>
          </a:p>
          <a:p>
            <a:pPr algn="just">
              <a:lnSpc>
                <a:spcPct val="80000"/>
              </a:lnSpc>
            </a:pPr>
            <a:endParaRPr lang="es-ES" altLang="es-ES" dirty="0"/>
          </a:p>
          <a:p>
            <a:pPr algn="just">
              <a:lnSpc>
                <a:spcPct val="80000"/>
              </a:lnSpc>
            </a:pPr>
            <a:r>
              <a:rPr lang="es-ES_tradnl" altLang="es-ES" b="1" dirty="0"/>
              <a:t>NOTAS:</a:t>
            </a:r>
          </a:p>
          <a:p>
            <a:pPr algn="just">
              <a:lnSpc>
                <a:spcPct val="80000"/>
              </a:lnSpc>
            </a:pPr>
            <a:r>
              <a:rPr lang="es-ES_tradnl" altLang="es-ES" dirty="0"/>
              <a:t>1.- Las comunidades autónomas no pueden regular Leyes Orgánicas a excepción del Estatuto propio de Autonomía</a:t>
            </a:r>
          </a:p>
          <a:p>
            <a:pPr algn="just">
              <a:lnSpc>
                <a:spcPct val="80000"/>
              </a:lnSpc>
            </a:pPr>
            <a:endParaRPr lang="es-ES_tradnl" altLang="es-ES" sz="1400" dirty="0"/>
          </a:p>
        </p:txBody>
      </p:sp>
    </p:spTree>
    <p:extLst>
      <p:ext uri="{BB962C8B-B14F-4D97-AF65-F5344CB8AC3E}">
        <p14:creationId xmlns:p14="http://schemas.microsoft.com/office/powerpoint/2010/main" val="211281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1" name="Rectangle 3"/>
          <p:cNvSpPr txBox="1">
            <a:spLocks noChangeArrowheads="1"/>
          </p:cNvSpPr>
          <p:nvPr/>
        </p:nvSpPr>
        <p:spPr>
          <a:xfrm>
            <a:off x="1538288" y="1020763"/>
            <a:ext cx="9129712" cy="5180532"/>
          </a:xfrm>
          <a:prstGeom prst="rect">
            <a:avLst/>
          </a:prstGeom>
          <a:ln w="38100">
            <a:solidFill>
              <a:srgbClr val="7030A0"/>
            </a:solidFill>
            <a:miter lim="800000"/>
            <a:headEnd/>
            <a:tailEnd/>
          </a:ln>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80000"/>
              </a:lnSpc>
              <a:buFontTx/>
              <a:buNone/>
            </a:pPr>
            <a:r>
              <a:rPr lang="es-ES" altLang="es-ES" sz="3000" b="1" dirty="0">
                <a:solidFill>
                  <a:schemeClr val="accent6">
                    <a:lumMod val="50000"/>
                  </a:schemeClr>
                </a:solidFill>
              </a:rPr>
              <a:t>Ley ordinaria.- </a:t>
            </a:r>
          </a:p>
          <a:p>
            <a:pPr algn="l">
              <a:lnSpc>
                <a:spcPct val="80000"/>
              </a:lnSpc>
              <a:buFontTx/>
              <a:buNone/>
            </a:pPr>
            <a:endParaRPr lang="es-ES" sz="3000" b="1" dirty="0">
              <a:solidFill>
                <a:schemeClr val="accent6">
                  <a:lumMod val="50000"/>
                </a:schemeClr>
              </a:solidFill>
            </a:endParaRPr>
          </a:p>
          <a:p>
            <a:pPr algn="l">
              <a:lnSpc>
                <a:spcPct val="80000"/>
              </a:lnSpc>
              <a:buFontTx/>
              <a:buNone/>
            </a:pPr>
            <a:r>
              <a:rPr lang="es-ES" sz="3000" b="1" i="1" dirty="0">
                <a:solidFill>
                  <a:schemeClr val="accent6">
                    <a:lumMod val="50000"/>
                  </a:schemeClr>
                </a:solidFill>
              </a:rPr>
              <a:t>R</a:t>
            </a:r>
            <a:r>
              <a:rPr lang="es-ES" sz="2400" b="1" i="1" dirty="0">
                <a:solidFill>
                  <a:schemeClr val="accent6">
                    <a:lumMod val="50000"/>
                  </a:schemeClr>
                </a:solidFill>
              </a:rPr>
              <a:t>ecaen sobre las demás materias que no han de ser reguladas por ley orgánica por exigencia constitucional</a:t>
            </a:r>
            <a:r>
              <a:rPr lang="es-ES" sz="2400" dirty="0"/>
              <a:t>. En principio es el mismo  Poder Legislativo el que decide qué materias han de ser reguladas mediante una ley ordinaria, aunque la Constitución establece en ocasiones una “reserva de ley” para regular ciertas cuestiones. </a:t>
            </a:r>
            <a:endParaRPr lang="es-ES" altLang="es-ES" sz="3000" b="1" dirty="0">
              <a:solidFill>
                <a:schemeClr val="accent6">
                  <a:lumMod val="50000"/>
                </a:schemeClr>
              </a:solidFill>
            </a:endParaRPr>
          </a:p>
          <a:p>
            <a:pPr>
              <a:lnSpc>
                <a:spcPct val="80000"/>
              </a:lnSpc>
              <a:buFontTx/>
              <a:buNone/>
            </a:pPr>
            <a:endParaRPr lang="es-ES" altLang="es-ES" sz="2000" b="1" dirty="0"/>
          </a:p>
          <a:p>
            <a:pPr algn="just">
              <a:lnSpc>
                <a:spcPct val="80000"/>
              </a:lnSpc>
              <a:buFontTx/>
              <a:buNone/>
            </a:pPr>
            <a:r>
              <a:rPr lang="es-ES" altLang="es-ES" b="1" dirty="0"/>
              <a:t>Su </a:t>
            </a:r>
            <a:r>
              <a:rPr lang="es-ES" altLang="es-ES" b="1" i="1" dirty="0"/>
              <a:t>aprobación </a:t>
            </a:r>
            <a:r>
              <a:rPr lang="es-ES" altLang="es-ES" b="1" dirty="0"/>
              <a:t>corresponde al </a:t>
            </a:r>
            <a:r>
              <a:rPr lang="es-ES" altLang="es-ES" b="1" i="1" dirty="0">
                <a:hlinkClick r:id="rId5" tooltip="Poder legislativo"/>
              </a:rPr>
              <a:t>poder legislativo</a:t>
            </a:r>
            <a:r>
              <a:rPr lang="es-ES" altLang="es-ES" b="1" dirty="0"/>
              <a:t>, normalmente, por </a:t>
            </a:r>
            <a:r>
              <a:rPr lang="es-ES" altLang="es-ES" b="1" i="1" dirty="0">
                <a:hlinkClick r:id="rId6" tooltip="Mayoría simple"/>
              </a:rPr>
              <a:t>mayoría simple</a:t>
            </a:r>
            <a:r>
              <a:rPr lang="es-ES" altLang="es-ES" b="1" i="1" dirty="0"/>
              <a:t> (más votos positivos que negativos)</a:t>
            </a:r>
            <a:r>
              <a:rPr lang="es-ES" altLang="es-ES" b="1" dirty="0"/>
              <a:t>. La aprobación de las leyes se puede realizar </a:t>
            </a:r>
            <a:r>
              <a:rPr lang="es-ES" altLang="es-ES" b="1" i="1" dirty="0"/>
              <a:t>por votación en el Pleno de la Cámara</a:t>
            </a:r>
            <a:r>
              <a:rPr lang="es-ES" altLang="es-ES" b="1" dirty="0"/>
              <a:t>, </a:t>
            </a:r>
            <a:r>
              <a:rPr lang="es-ES" altLang="es-ES" b="1" i="1" dirty="0"/>
              <a:t>o</a:t>
            </a:r>
            <a:r>
              <a:rPr lang="es-ES" altLang="es-ES" b="1" dirty="0"/>
              <a:t> por </a:t>
            </a:r>
            <a:r>
              <a:rPr lang="es-ES" altLang="es-ES" b="1" i="1" dirty="0"/>
              <a:t>alguna de las Comisiones Legislativas</a:t>
            </a:r>
            <a:r>
              <a:rPr lang="es-ES" altLang="es-ES" b="1" dirty="0"/>
              <a:t> que puedan existir.</a:t>
            </a:r>
          </a:p>
          <a:p>
            <a:pPr algn="just">
              <a:lnSpc>
                <a:spcPct val="80000"/>
              </a:lnSpc>
              <a:buFontTx/>
              <a:buNone/>
            </a:pPr>
            <a:endParaRPr lang="es-ES" altLang="es-ES" b="1" dirty="0"/>
          </a:p>
          <a:p>
            <a:pPr algn="just">
              <a:lnSpc>
                <a:spcPct val="80000"/>
              </a:lnSpc>
              <a:buFontTx/>
              <a:buNone/>
            </a:pPr>
            <a:r>
              <a:rPr lang="es-ES" altLang="es-ES" b="1" dirty="0"/>
              <a:t>Las </a:t>
            </a:r>
            <a:r>
              <a:rPr lang="es-ES" altLang="es-ES" b="1" i="1" dirty="0"/>
              <a:t>leyes ordinarias inician su tramitación</a:t>
            </a:r>
            <a:r>
              <a:rPr lang="es-ES" altLang="es-ES" b="1" dirty="0"/>
              <a:t>, bien </a:t>
            </a:r>
            <a:r>
              <a:rPr lang="es-ES" altLang="es-ES" b="1" i="1" dirty="0"/>
              <a:t>a iniciativa de la propia Cámara</a:t>
            </a:r>
            <a:r>
              <a:rPr lang="es-ES" altLang="es-ES" b="1" dirty="0"/>
              <a:t>, o bien por iniciativa </a:t>
            </a:r>
            <a:r>
              <a:rPr lang="es-ES" altLang="es-ES" b="1" i="1" dirty="0"/>
              <a:t>del </a:t>
            </a:r>
            <a:r>
              <a:rPr lang="es-ES" altLang="es-ES" b="1" i="1" dirty="0">
                <a:hlinkClick r:id="rId7" tooltip="Poder ejecutivo"/>
              </a:rPr>
              <a:t>poder ejecutivo</a:t>
            </a:r>
            <a:r>
              <a:rPr lang="es-ES" altLang="es-ES" b="1" dirty="0"/>
              <a:t>. En algunos sistemas, además, se admite que sea a través de una </a:t>
            </a:r>
            <a:r>
              <a:rPr lang="es-ES" altLang="es-ES" b="1" dirty="0">
                <a:hlinkClick r:id="rId8" tooltip="Iniciativa popular"/>
              </a:rPr>
              <a:t>iniciativa popular</a:t>
            </a:r>
            <a:r>
              <a:rPr lang="es-ES" altLang="es-ES" b="1" dirty="0"/>
              <a:t>. </a:t>
            </a:r>
            <a:r>
              <a:rPr lang="es-ES" altLang="es-ES" b="1" i="1" dirty="0"/>
              <a:t>Como leyes ordinarias podemos distinguir las siguientes:  Leyes de Pleno, Leyes de Comisión,  Legislación básica o Leyes Básicas, Leyes Marco, Leyes de Bases, Leyes de Presupuestos del Estado. </a:t>
            </a:r>
          </a:p>
          <a:p>
            <a:pPr algn="just">
              <a:lnSpc>
                <a:spcPct val="80000"/>
              </a:lnSpc>
              <a:buFontTx/>
              <a:buNone/>
            </a:pPr>
            <a:endParaRPr lang="es-ES" altLang="es-ES" b="1" i="1" dirty="0"/>
          </a:p>
          <a:p>
            <a:pPr algn="just">
              <a:lnSpc>
                <a:spcPct val="80000"/>
              </a:lnSpc>
              <a:buFontTx/>
              <a:buNone/>
            </a:pPr>
            <a:r>
              <a:rPr lang="es-ES" altLang="es-ES" b="1" i="1" dirty="0"/>
              <a:t>Son también leyes ordinarias las dictadas por </a:t>
            </a:r>
            <a:r>
              <a:rPr lang="es-ES" altLang="es-ES" b="1" dirty="0"/>
              <a:t>los órganos legislativos de las </a:t>
            </a:r>
            <a:r>
              <a:rPr lang="es-ES" altLang="es-ES" b="1" i="1" dirty="0">
                <a:hlinkClick r:id="rId9" tooltip="Comunidad Autónoma"/>
              </a:rPr>
              <a:t>comunidades autónomas</a:t>
            </a:r>
            <a:r>
              <a:rPr lang="es-ES" altLang="es-ES" b="1" i="1" dirty="0"/>
              <a:t>.</a:t>
            </a:r>
          </a:p>
          <a:p>
            <a:pPr algn="just">
              <a:lnSpc>
                <a:spcPct val="80000"/>
              </a:lnSpc>
              <a:buFontTx/>
              <a:buNone/>
            </a:pPr>
            <a:endParaRPr lang="es-ES_tradnl" altLang="es-ES" sz="2000" b="1" dirty="0"/>
          </a:p>
        </p:txBody>
      </p:sp>
    </p:spTree>
    <p:extLst>
      <p:ext uri="{BB962C8B-B14F-4D97-AF65-F5344CB8AC3E}">
        <p14:creationId xmlns:p14="http://schemas.microsoft.com/office/powerpoint/2010/main" val="2373045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1" name="Rectangle 3"/>
          <p:cNvSpPr txBox="1">
            <a:spLocks noChangeArrowheads="1"/>
          </p:cNvSpPr>
          <p:nvPr/>
        </p:nvSpPr>
        <p:spPr>
          <a:xfrm>
            <a:off x="1538288" y="1103312"/>
            <a:ext cx="9129712" cy="5176838"/>
          </a:xfrm>
          <a:prstGeom prst="rect">
            <a:avLst/>
          </a:prstGeom>
          <a:ln w="38100">
            <a:solidFill>
              <a:srgbClr val="7030A0"/>
            </a:solidFill>
            <a:miter lim="800000"/>
            <a:headEnd/>
            <a:tailEnd/>
          </a:ln>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80000"/>
              </a:lnSpc>
              <a:buFontTx/>
              <a:buNone/>
            </a:pPr>
            <a:r>
              <a:rPr lang="es-ES" altLang="es-ES" b="1" dirty="0">
                <a:solidFill>
                  <a:schemeClr val="accent6">
                    <a:lumMod val="50000"/>
                  </a:schemeClr>
                </a:solidFill>
              </a:rPr>
              <a:t>Real Decreto Ley</a:t>
            </a:r>
          </a:p>
          <a:p>
            <a:pPr algn="l">
              <a:lnSpc>
                <a:spcPct val="80000"/>
              </a:lnSpc>
              <a:buFontTx/>
              <a:buNone/>
            </a:pPr>
            <a:endParaRPr lang="es-ES_tradnl" altLang="es-ES" b="1" dirty="0">
              <a:solidFill>
                <a:schemeClr val="accent6">
                  <a:lumMod val="50000"/>
                </a:schemeClr>
              </a:solidFill>
            </a:endParaRPr>
          </a:p>
          <a:p>
            <a:pPr algn="just">
              <a:lnSpc>
                <a:spcPct val="80000"/>
              </a:lnSpc>
              <a:buFontTx/>
              <a:buNone/>
            </a:pPr>
            <a:r>
              <a:rPr lang="es-ES" altLang="es-ES" sz="1600" dirty="0"/>
              <a:t>El </a:t>
            </a:r>
            <a:r>
              <a:rPr lang="es-ES" altLang="es-ES" sz="1600" b="1" dirty="0"/>
              <a:t>Real Decreto Ley</a:t>
            </a:r>
            <a:r>
              <a:rPr lang="es-ES" altLang="es-ES" sz="1600" dirty="0"/>
              <a:t> es una </a:t>
            </a:r>
            <a:r>
              <a:rPr lang="es-ES" altLang="es-ES" sz="1600" b="1" i="1" dirty="0">
                <a:hlinkClick r:id="rId5" tooltip="Norma jurídica"/>
              </a:rPr>
              <a:t>norma jurídica</a:t>
            </a:r>
            <a:r>
              <a:rPr lang="es-ES" altLang="es-ES" sz="1600" b="1" i="1" dirty="0"/>
              <a:t> con rango de </a:t>
            </a:r>
            <a:r>
              <a:rPr lang="es-ES" altLang="es-ES" sz="1600" b="1" i="1" dirty="0">
                <a:hlinkClick r:id="rId6" tooltip="Ley"/>
              </a:rPr>
              <a:t>ley</a:t>
            </a:r>
            <a:r>
              <a:rPr lang="es-ES" altLang="es-ES" sz="1600" dirty="0"/>
              <a:t>, </a:t>
            </a:r>
            <a:r>
              <a:rPr lang="es-ES" altLang="es-ES" sz="1600" b="1" i="1" dirty="0"/>
              <a:t>que emana del poder ejecutivo y es dictada en caso de extraordinaria y urgente necesidad</a:t>
            </a:r>
            <a:r>
              <a:rPr lang="es-ES" altLang="es-ES" sz="1600" dirty="0"/>
              <a:t>. Requiere de posterior convalidación o ratificación de parte del </a:t>
            </a:r>
            <a:r>
              <a:rPr lang="es-ES" altLang="es-ES" sz="1600" dirty="0">
                <a:hlinkClick r:id="rId7" tooltip="Poder legislativo"/>
              </a:rPr>
              <a:t>poder legislativo</a:t>
            </a:r>
            <a:r>
              <a:rPr lang="es-ES" altLang="es-ES" sz="1600" dirty="0"/>
              <a:t>, habitualmente en un plazo breve.</a:t>
            </a:r>
          </a:p>
          <a:p>
            <a:pPr algn="just">
              <a:lnSpc>
                <a:spcPct val="80000"/>
              </a:lnSpc>
              <a:buFontTx/>
              <a:buNone/>
            </a:pPr>
            <a:endParaRPr lang="es-ES" altLang="es-ES" sz="1600" dirty="0"/>
          </a:p>
          <a:p>
            <a:pPr algn="just">
              <a:lnSpc>
                <a:spcPct val="80000"/>
              </a:lnSpc>
              <a:buFontTx/>
              <a:buNone/>
            </a:pPr>
            <a:r>
              <a:rPr lang="es-ES" altLang="es-ES" sz="1600" dirty="0"/>
              <a:t>Este tipo de norma se encuentra regulada en la </a:t>
            </a:r>
            <a:r>
              <a:rPr lang="es-ES" altLang="es-ES" sz="1600" dirty="0">
                <a:hlinkClick r:id="rId8" tooltip="Constitución española de 1978"/>
              </a:rPr>
              <a:t>Constitución</a:t>
            </a:r>
            <a:r>
              <a:rPr lang="es-ES" altLang="es-ES" sz="1600" dirty="0"/>
              <a:t> (art. 86 C.E.). </a:t>
            </a:r>
          </a:p>
          <a:p>
            <a:pPr algn="just">
              <a:lnSpc>
                <a:spcPct val="80000"/>
              </a:lnSpc>
              <a:buFontTx/>
              <a:buNone/>
            </a:pPr>
            <a:endParaRPr lang="es-ES" altLang="es-ES" sz="1600" b="1" i="1" dirty="0"/>
          </a:p>
          <a:p>
            <a:pPr algn="just">
              <a:lnSpc>
                <a:spcPct val="80000"/>
              </a:lnSpc>
              <a:buFontTx/>
              <a:buNone/>
            </a:pPr>
            <a:r>
              <a:rPr lang="es-ES" altLang="es-ES" sz="1600" b="1" i="1" dirty="0"/>
              <a:t>El Real Decreto Ley  deberá ser convalidado o derogado por el Congreso de los diputados en el plazo de 30 días. Una vez ha sido convalidado se podrá tramitar como proyecto de ley por el procedimiento de urgencia dentro del plazo de los 30 días, para incorporar si procede enmiendas parciales al texto convalidado.</a:t>
            </a:r>
          </a:p>
          <a:p>
            <a:pPr algn="just">
              <a:lnSpc>
                <a:spcPct val="80000"/>
              </a:lnSpc>
              <a:buFontTx/>
              <a:buNone/>
            </a:pPr>
            <a:endParaRPr lang="es-ES" altLang="es-ES" sz="1600" b="1" i="1" dirty="0"/>
          </a:p>
          <a:p>
            <a:pPr algn="just">
              <a:lnSpc>
                <a:spcPct val="80000"/>
              </a:lnSpc>
              <a:buFontTx/>
              <a:buNone/>
            </a:pPr>
            <a:r>
              <a:rPr lang="es-ES" sz="1600" b="1" i="1" dirty="0">
                <a:solidFill>
                  <a:srgbClr val="202124"/>
                </a:solidFill>
              </a:rPr>
              <a:t>E</a:t>
            </a:r>
            <a:r>
              <a:rPr lang="es-ES" sz="1600" b="1" i="1" dirty="0">
                <a:solidFill>
                  <a:srgbClr val="202124"/>
                </a:solidFill>
                <a:effectLst/>
              </a:rPr>
              <a:t>l resultado negativo en la votación de convalidación </a:t>
            </a:r>
            <a:r>
              <a:rPr lang="es-ES" sz="1600" b="1" i="1" dirty="0">
                <a:solidFill>
                  <a:srgbClr val="040C28"/>
                </a:solidFill>
                <a:effectLst/>
              </a:rPr>
              <a:t>produce la inmediata cesación de los efectos del decreto-ley y su desaparición del ordenamiento, </a:t>
            </a:r>
            <a:r>
              <a:rPr lang="es-ES" sz="1600" b="1" i="1" u="sng" dirty="0">
                <a:solidFill>
                  <a:schemeClr val="accent6">
                    <a:lumMod val="50000"/>
                  </a:schemeClr>
                </a:solidFill>
                <a:effectLst/>
              </a:rPr>
              <a:t>pero no la anulación de los efectos producidos durante su vigencia.</a:t>
            </a:r>
            <a:endParaRPr lang="es-ES" altLang="es-ES" sz="1600" b="1" i="1" u="sng" dirty="0">
              <a:solidFill>
                <a:schemeClr val="accent6">
                  <a:lumMod val="50000"/>
                </a:schemeClr>
              </a:solidFill>
            </a:endParaRPr>
          </a:p>
          <a:p>
            <a:pPr algn="just">
              <a:lnSpc>
                <a:spcPct val="80000"/>
              </a:lnSpc>
              <a:buFontTx/>
              <a:buNone/>
            </a:pPr>
            <a:endParaRPr lang="es-ES" altLang="es-ES" sz="1600" dirty="0"/>
          </a:p>
          <a:p>
            <a:pPr algn="just">
              <a:lnSpc>
                <a:spcPct val="80000"/>
              </a:lnSpc>
              <a:buFontTx/>
              <a:buNone/>
            </a:pPr>
            <a:r>
              <a:rPr lang="es-ES" altLang="es-ES" sz="1600" dirty="0"/>
              <a:t>El Real Decreto-ley puede ocupar el "puesto" o </a:t>
            </a:r>
            <a:r>
              <a:rPr lang="es-ES" altLang="es-ES" sz="1600" b="1" dirty="0"/>
              <a:t>regular materias de las que se ocuparía la ley ordinaria, pero nunca de aquellas materias reservadas a la ley orgánica </a:t>
            </a:r>
            <a:r>
              <a:rPr lang="es-ES" altLang="es-ES" sz="1600" dirty="0"/>
              <a:t>(derechos fundamentales, estatutos de autonomía, régimen electoral...). </a:t>
            </a:r>
            <a:endParaRPr lang="es-ES_tradnl" altLang="es-ES" sz="1600" dirty="0"/>
          </a:p>
        </p:txBody>
      </p:sp>
    </p:spTree>
    <p:extLst>
      <p:ext uri="{BB962C8B-B14F-4D97-AF65-F5344CB8AC3E}">
        <p14:creationId xmlns:p14="http://schemas.microsoft.com/office/powerpoint/2010/main" val="907264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1" name="Rectangle 3"/>
          <p:cNvSpPr txBox="1">
            <a:spLocks noChangeArrowheads="1"/>
          </p:cNvSpPr>
          <p:nvPr/>
        </p:nvSpPr>
        <p:spPr>
          <a:xfrm>
            <a:off x="1524000" y="1204912"/>
            <a:ext cx="9216044" cy="4996383"/>
          </a:xfrm>
          <a:prstGeom prst="rect">
            <a:avLst/>
          </a:prstGeom>
          <a:ln w="38100">
            <a:solidFill>
              <a:srgbClr val="7030A0"/>
            </a:solidFill>
            <a:miter lim="800000"/>
            <a:headEnd/>
            <a:tailEnd/>
          </a:ln>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609600" indent="-609600" algn="just">
              <a:lnSpc>
                <a:spcPct val="80000"/>
              </a:lnSpc>
              <a:buFontTx/>
              <a:buNone/>
            </a:pPr>
            <a:r>
              <a:rPr lang="es-ES" altLang="es-ES" sz="2000" b="1" dirty="0">
                <a:solidFill>
                  <a:schemeClr val="accent6">
                    <a:lumMod val="50000"/>
                  </a:schemeClr>
                </a:solidFill>
              </a:rPr>
              <a:t>Real Decreto Legislativo</a:t>
            </a:r>
          </a:p>
          <a:p>
            <a:pPr marL="609600" indent="-609600" algn="just">
              <a:lnSpc>
                <a:spcPct val="80000"/>
              </a:lnSpc>
              <a:buFontTx/>
              <a:buNone/>
            </a:pPr>
            <a:r>
              <a:rPr lang="es-ES" altLang="es-ES" sz="2000" dirty="0"/>
              <a:t>El </a:t>
            </a:r>
            <a:r>
              <a:rPr lang="es-ES" altLang="es-ES" sz="2000" b="1" dirty="0"/>
              <a:t>Real Decreto Legislativo</a:t>
            </a:r>
            <a:r>
              <a:rPr lang="es-ES" altLang="es-ES" sz="2000" dirty="0"/>
              <a:t> es una </a:t>
            </a:r>
            <a:r>
              <a:rPr lang="es-ES" altLang="es-ES" sz="2000" b="1" i="1" dirty="0">
                <a:hlinkClick r:id="rId5" tooltip="Norma jurídica"/>
              </a:rPr>
              <a:t>norma jurídica</a:t>
            </a:r>
            <a:r>
              <a:rPr lang="es-ES" altLang="es-ES" sz="2000" b="1" i="1" dirty="0"/>
              <a:t> con rango de </a:t>
            </a:r>
            <a:r>
              <a:rPr lang="es-ES" altLang="es-ES" sz="2000" b="1" i="1" dirty="0">
                <a:hlinkClick r:id="rId6" tooltip="Ley"/>
              </a:rPr>
              <a:t>ley</a:t>
            </a:r>
            <a:r>
              <a:rPr lang="es-ES" altLang="es-ES" sz="2000" dirty="0"/>
              <a:t>, </a:t>
            </a:r>
            <a:r>
              <a:rPr lang="es-ES" altLang="es-ES" sz="2000" b="1" i="1" dirty="0"/>
              <a:t>que emana del </a:t>
            </a:r>
            <a:r>
              <a:rPr lang="es-ES" altLang="es-ES" sz="2000" b="1" i="1" dirty="0">
                <a:hlinkClick r:id="rId7" tooltip="Poder ejecutivo"/>
              </a:rPr>
              <a:t>poder ejecutivo</a:t>
            </a:r>
            <a:r>
              <a:rPr lang="es-ES" altLang="es-ES" sz="2000" dirty="0"/>
              <a:t> </a:t>
            </a:r>
            <a:r>
              <a:rPr lang="es-ES" altLang="es-ES" sz="2000" b="1" i="1" dirty="0"/>
              <a:t>en virtud de delegación expresa efectuada por el </a:t>
            </a:r>
            <a:r>
              <a:rPr lang="es-ES" altLang="es-ES" sz="2000" b="1" i="1" dirty="0">
                <a:hlinkClick r:id="rId8" tooltip="Poder legislativo"/>
              </a:rPr>
              <a:t>poder legislativo</a:t>
            </a:r>
            <a:r>
              <a:rPr lang="es-ES" altLang="es-ES" sz="2000" b="1" i="1" dirty="0"/>
              <a:t> (bajo control del Parlamento).</a:t>
            </a:r>
          </a:p>
          <a:p>
            <a:pPr marL="609600" indent="-609600" algn="just">
              <a:lnSpc>
                <a:spcPct val="80000"/>
              </a:lnSpc>
              <a:buFontTx/>
              <a:buNone/>
            </a:pPr>
            <a:endParaRPr lang="es-ES" altLang="es-ES" sz="2000" dirty="0"/>
          </a:p>
          <a:p>
            <a:pPr marL="609600" indent="-609600" algn="just">
              <a:lnSpc>
                <a:spcPct val="80000"/>
              </a:lnSpc>
              <a:buFontTx/>
              <a:buNone/>
            </a:pPr>
            <a:r>
              <a:rPr lang="es-ES" altLang="es-ES" sz="2000" dirty="0"/>
              <a:t>La técnica del Real Decreto legislativo tiene su función en diversos ámbitos:</a:t>
            </a:r>
          </a:p>
          <a:p>
            <a:pPr marL="609600" indent="-609600" algn="just">
              <a:lnSpc>
                <a:spcPct val="80000"/>
              </a:lnSpc>
              <a:buFontTx/>
              <a:buNone/>
            </a:pPr>
            <a:endParaRPr lang="es-ES_tradnl" altLang="es-ES" sz="2000" dirty="0"/>
          </a:p>
          <a:p>
            <a:pPr marL="990600" lvl="1" indent="-533400" algn="just">
              <a:lnSpc>
                <a:spcPct val="80000"/>
              </a:lnSpc>
            </a:pPr>
            <a:r>
              <a:rPr lang="es-ES" altLang="es-ES" dirty="0"/>
              <a:t>Para la elaboración de </a:t>
            </a:r>
            <a:r>
              <a:rPr lang="es-ES" altLang="es-ES" b="1" i="1" dirty="0"/>
              <a:t>textos refundidos de diversas leyes</a:t>
            </a:r>
            <a:r>
              <a:rPr lang="es-ES" altLang="es-ES" dirty="0"/>
              <a:t>, favoreciendo la compilación en un sólo cuerpo legal de distintas normas jurídicas dispersas. En este caso la delegación se realiza mediante una Ley Ordinaria. </a:t>
            </a:r>
          </a:p>
          <a:p>
            <a:pPr marL="990600" lvl="1" indent="-533400" algn="just">
              <a:lnSpc>
                <a:spcPct val="80000"/>
              </a:lnSpc>
            </a:pPr>
            <a:endParaRPr lang="es-ES" altLang="es-ES" dirty="0"/>
          </a:p>
          <a:p>
            <a:pPr marL="990600" lvl="1" indent="-533400" algn="just">
              <a:lnSpc>
                <a:spcPct val="80000"/>
              </a:lnSpc>
            </a:pPr>
            <a:r>
              <a:rPr lang="es-ES" altLang="es-ES" dirty="0"/>
              <a:t>Para la elaboración de </a:t>
            </a:r>
            <a:r>
              <a:rPr lang="es-ES" altLang="es-ES" b="1" i="1" dirty="0"/>
              <a:t>textos articulados</a:t>
            </a:r>
            <a:r>
              <a:rPr lang="es-ES" altLang="es-ES" i="1" dirty="0"/>
              <a:t>,</a:t>
            </a:r>
            <a:r>
              <a:rPr lang="es-ES" altLang="es-ES" dirty="0"/>
              <a:t> habiendo aprobado previamente el poder legislativo una </a:t>
            </a:r>
            <a:r>
              <a:rPr lang="es-ES" altLang="es-ES" b="1" dirty="0"/>
              <a:t>Ley de Bases que sirve como marco de referencia y límite</a:t>
            </a:r>
            <a:r>
              <a:rPr lang="es-ES" altLang="es-ES" dirty="0"/>
              <a:t>. </a:t>
            </a:r>
          </a:p>
          <a:p>
            <a:pPr marL="990600" lvl="1" indent="-533400" algn="just">
              <a:lnSpc>
                <a:spcPct val="80000"/>
              </a:lnSpc>
            </a:pPr>
            <a:endParaRPr lang="es-ES" altLang="es-ES" dirty="0"/>
          </a:p>
          <a:p>
            <a:pPr marL="990600" lvl="1" indent="-533400" algn="just">
              <a:lnSpc>
                <a:spcPct val="80000"/>
              </a:lnSpc>
            </a:pPr>
            <a:r>
              <a:rPr lang="es-ES_tradnl" altLang="es-ES" sz="1400" dirty="0">
                <a:solidFill>
                  <a:srgbClr val="0070C0"/>
                </a:solidFill>
              </a:rPr>
              <a:t>A modo de ejemplo:</a:t>
            </a:r>
          </a:p>
          <a:p>
            <a:pPr marL="990600" lvl="1" indent="-533400" algn="just">
              <a:lnSpc>
                <a:spcPct val="80000"/>
              </a:lnSpc>
              <a:buFontTx/>
              <a:buNone/>
            </a:pPr>
            <a:r>
              <a:rPr lang="es-ES_tradnl" altLang="es-ES" sz="1400" dirty="0">
                <a:hlinkClick r:id="rId9"/>
              </a:rPr>
              <a:t>https://sede.agenciatributaria.gob.es/Sede/normativa-criterios-interpretativos/otras-normas-relevancia-fiscal-tributaria/reales-decretos-legislativos.html</a:t>
            </a:r>
            <a:endParaRPr lang="es-ES_tradnl" altLang="es-ES" sz="1400" dirty="0"/>
          </a:p>
          <a:p>
            <a:pPr marL="990600" lvl="1" indent="-533400" algn="just">
              <a:lnSpc>
                <a:spcPct val="80000"/>
              </a:lnSpc>
              <a:buFontTx/>
              <a:buNone/>
            </a:pPr>
            <a:endParaRPr lang="es-ES_tradnl" altLang="es-ES" sz="1400" dirty="0"/>
          </a:p>
          <a:p>
            <a:pPr marL="990600" lvl="1" indent="-533400" algn="just">
              <a:lnSpc>
                <a:spcPct val="80000"/>
              </a:lnSpc>
              <a:buFontTx/>
              <a:buNone/>
            </a:pPr>
            <a:r>
              <a:rPr lang="es-ES_tradnl" altLang="es-ES" sz="1400" dirty="0">
                <a:solidFill>
                  <a:srgbClr val="0070C0"/>
                </a:solidFill>
              </a:rPr>
              <a:t>Real decreto legislativo 5/2015 por el que se aprueba el texto refundido de la ley del Estatuto Básico del Empleado Público</a:t>
            </a:r>
          </a:p>
        </p:txBody>
      </p:sp>
    </p:spTree>
    <p:extLst>
      <p:ext uri="{BB962C8B-B14F-4D97-AF65-F5344CB8AC3E}">
        <p14:creationId xmlns:p14="http://schemas.microsoft.com/office/powerpoint/2010/main" val="106796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pic>
        <p:nvPicPr>
          <p:cNvPr id="1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357" y="952502"/>
            <a:ext cx="9063644" cy="5257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8117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1" name="Rectangle 3"/>
          <p:cNvSpPr txBox="1">
            <a:spLocks noChangeArrowheads="1"/>
          </p:cNvSpPr>
          <p:nvPr/>
        </p:nvSpPr>
        <p:spPr>
          <a:xfrm>
            <a:off x="1538288" y="967319"/>
            <a:ext cx="9129712" cy="5411787"/>
          </a:xfrm>
          <a:prstGeom prst="rect">
            <a:avLst/>
          </a:prstGeom>
          <a:ln w="38100">
            <a:solidFill>
              <a:srgbClr val="7030A0"/>
            </a:solidFill>
            <a:miter lim="800000"/>
            <a:headEnd/>
            <a:tailEnd/>
          </a:ln>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609600" indent="-609600" algn="just">
              <a:lnSpc>
                <a:spcPct val="80000"/>
              </a:lnSpc>
              <a:buFontTx/>
              <a:buNone/>
              <a:defRPr/>
            </a:pPr>
            <a:r>
              <a:rPr lang="es-ES" altLang="es-ES" b="1" dirty="0">
                <a:solidFill>
                  <a:schemeClr val="accent6">
                    <a:lumMod val="50000"/>
                  </a:schemeClr>
                </a:solidFill>
              </a:rPr>
              <a:t>Reglamento</a:t>
            </a:r>
          </a:p>
          <a:p>
            <a:pPr marL="609600" indent="-609600" algn="just">
              <a:lnSpc>
                <a:spcPct val="80000"/>
              </a:lnSpc>
              <a:buFontTx/>
              <a:buNone/>
              <a:defRPr/>
            </a:pPr>
            <a:r>
              <a:rPr lang="es-ES" sz="1600" b="1" i="1" dirty="0">
                <a:solidFill>
                  <a:schemeClr val="accent6">
                    <a:lumMod val="50000"/>
                  </a:schemeClr>
                </a:solidFill>
              </a:rPr>
              <a:t>Se entiende por reglamento, toda norma escrita con rango inferior a la ley dictada por las Administraciones Públicas, en virtud de su propia competencia.</a:t>
            </a:r>
            <a:endParaRPr lang="es-ES" altLang="es-ES" sz="1600" b="1" i="1" dirty="0">
              <a:solidFill>
                <a:schemeClr val="accent6">
                  <a:lumMod val="50000"/>
                </a:schemeClr>
              </a:solidFill>
            </a:endParaRPr>
          </a:p>
          <a:p>
            <a:pPr marL="609600" indent="-609600" algn="just">
              <a:lnSpc>
                <a:spcPct val="80000"/>
              </a:lnSpc>
              <a:buFontTx/>
              <a:buNone/>
              <a:defRPr/>
            </a:pPr>
            <a:r>
              <a:rPr lang="es-ES" sz="1600" b="1" i="1" dirty="0"/>
              <a:t>Que la norma reglamentaria es de rango inferior a la ley significa, en primer lugar, que, aunque sea posterior a ésta, no puede derogarla, mientras que, por el contrario, toda norma con rango de ley tiene fuerza derogatoria sobre cualquier reglamento; y, en segundo lugar, que no hay materias reservadas a la potestad reglamentaria, pudiendo la ley entrar a regular cualquier materia que con anterioridad haya sido regulada por el reglamento.</a:t>
            </a:r>
            <a:endParaRPr lang="es-ES_tradnl" altLang="es-ES" sz="1600" b="1" i="1" dirty="0"/>
          </a:p>
          <a:p>
            <a:pPr marL="609600" indent="-609600" algn="just">
              <a:lnSpc>
                <a:spcPct val="80000"/>
              </a:lnSpc>
              <a:buFontTx/>
              <a:buNone/>
              <a:defRPr/>
            </a:pPr>
            <a:r>
              <a:rPr lang="es-ES_tradnl" altLang="es-ES" sz="1600" b="1" i="1" dirty="0"/>
              <a:t>Los reglamentos reciben el nombre en virtud de la autoridad que los dicta e independientemente de su contenido. Las denominaciones según el Art. 25 de la Ley 50/1997 del Gobierno son:</a:t>
            </a:r>
          </a:p>
          <a:p>
            <a:pPr lvl="1" algn="just">
              <a:lnSpc>
                <a:spcPct val="80000"/>
              </a:lnSpc>
              <a:defRPr/>
            </a:pPr>
            <a:r>
              <a:rPr lang="es-ES_tradnl" altLang="es-ES" sz="1600" b="1" i="1" dirty="0"/>
              <a:t>Reales decretos (del Presidente del Gobierno o del Consejo de Ministros)</a:t>
            </a:r>
          </a:p>
          <a:p>
            <a:pPr lvl="1" algn="just">
              <a:lnSpc>
                <a:spcPct val="80000"/>
              </a:lnSpc>
              <a:defRPr/>
            </a:pPr>
            <a:r>
              <a:rPr lang="es-ES_tradnl" altLang="es-ES" sz="1600" b="1" i="1" dirty="0"/>
              <a:t>Orden ministerial (de uno o varios ministros, entonces O.M. del Mº de Presidencia)</a:t>
            </a:r>
          </a:p>
          <a:p>
            <a:pPr lvl="1" algn="just">
              <a:lnSpc>
                <a:spcPct val="80000"/>
              </a:lnSpc>
              <a:defRPr/>
            </a:pPr>
            <a:r>
              <a:rPr lang="es-ES_tradnl" altLang="es-ES" sz="1600" b="1" i="1" dirty="0"/>
              <a:t>Circulares, Resoluciones, Instrucciones, Órdenes de servicio (según del órgano que provengan) </a:t>
            </a:r>
          </a:p>
          <a:p>
            <a:pPr algn="just">
              <a:lnSpc>
                <a:spcPct val="80000"/>
              </a:lnSpc>
              <a:buFontTx/>
              <a:buNone/>
              <a:defRPr/>
            </a:pPr>
            <a:r>
              <a:rPr lang="es-ES" altLang="es-ES" sz="1600" dirty="0"/>
              <a:t> Los </a:t>
            </a:r>
            <a:r>
              <a:rPr lang="es-ES" altLang="es-ES" sz="1600" dirty="0">
                <a:hlinkClick r:id="rId5" tooltip="Reglamento"/>
              </a:rPr>
              <a:t>reglamentos</a:t>
            </a:r>
            <a:r>
              <a:rPr lang="es-ES" altLang="es-ES" sz="1600" dirty="0"/>
              <a:t>, en virtud del principio de </a:t>
            </a:r>
            <a:r>
              <a:rPr lang="es-ES" altLang="es-ES" sz="1600" dirty="0">
                <a:hlinkClick r:id="rId6" tooltip="Jerarquía normativa"/>
              </a:rPr>
              <a:t>jerarquía normativa</a:t>
            </a:r>
            <a:r>
              <a:rPr lang="es-ES" altLang="es-ES" sz="1600" dirty="0"/>
              <a:t>, no pueden contradecir lo dispuesto en las leyes, y la Constitución prohíbe que regulen una serie de materias que reserva a la ley.</a:t>
            </a:r>
          </a:p>
          <a:p>
            <a:pPr algn="just">
              <a:lnSpc>
                <a:spcPct val="80000"/>
              </a:lnSpc>
              <a:buFontTx/>
              <a:buNone/>
              <a:defRPr/>
            </a:pPr>
            <a:r>
              <a:rPr lang="es-ES_tradnl" altLang="es-ES" sz="1600" b="1" i="1" dirty="0"/>
              <a:t>Ejemplos:</a:t>
            </a:r>
          </a:p>
          <a:p>
            <a:pPr algn="just">
              <a:lnSpc>
                <a:spcPct val="80000"/>
              </a:lnSpc>
              <a:buFontTx/>
              <a:buNone/>
              <a:defRPr/>
            </a:pPr>
            <a:endParaRPr lang="es-ES_tradnl" altLang="es-ES" sz="1600" b="1" i="1" dirty="0"/>
          </a:p>
          <a:p>
            <a:pPr algn="just">
              <a:lnSpc>
                <a:spcPct val="80000"/>
              </a:lnSpc>
              <a:defRPr/>
            </a:pPr>
            <a:r>
              <a:rPr lang="es-ES" sz="1100" b="1" i="0" dirty="0">
                <a:solidFill>
                  <a:srgbClr val="FF0000"/>
                </a:solidFill>
                <a:effectLst/>
                <a:highlight>
                  <a:srgbClr val="FAFAFA"/>
                </a:highlight>
                <a:latin typeface="RobotoDraft"/>
              </a:rPr>
              <a:t>Real Decreto 828/2023, de 16 de noviembre, por el que se nombra Presidente del Gobierno a don Pedro Sánchez Pérez-Castejón</a:t>
            </a:r>
          </a:p>
          <a:p>
            <a:pPr algn="just">
              <a:lnSpc>
                <a:spcPct val="80000"/>
              </a:lnSpc>
              <a:defRPr/>
            </a:pPr>
            <a:r>
              <a:rPr lang="es-ES" sz="1100" b="1" i="0" dirty="0">
                <a:solidFill>
                  <a:srgbClr val="FF0000"/>
                </a:solidFill>
                <a:effectLst/>
                <a:highlight>
                  <a:srgbClr val="F9F9F9"/>
                </a:highlight>
                <a:latin typeface="verdana" panose="020B0604030504040204" pitchFamily="34" charset="0"/>
              </a:rPr>
              <a:t>Real Decreto 829/2023, de 20 de noviembre, por el que se reestructuran los departamentos ministeriales.</a:t>
            </a:r>
          </a:p>
          <a:p>
            <a:pPr algn="just">
              <a:lnSpc>
                <a:spcPct val="80000"/>
              </a:lnSpc>
              <a:defRPr/>
            </a:pPr>
            <a:r>
              <a:rPr lang="es-ES" sz="1100" b="1" dirty="0">
                <a:solidFill>
                  <a:srgbClr val="FF0000"/>
                </a:solidFill>
                <a:highlight>
                  <a:srgbClr val="F9F9F9"/>
                </a:highlight>
                <a:latin typeface="verdana" panose="020B0604030504040204" pitchFamily="34" charset="0"/>
              </a:rPr>
              <a:t>Real decreto 203/2021 de 30 de marzo, por el que se aprueba el Reglamento de funcionamiento electrónico del Sector Público</a:t>
            </a:r>
            <a:endParaRPr lang="es-ES" sz="1100" b="1" i="0" dirty="0">
              <a:solidFill>
                <a:srgbClr val="FF0000"/>
              </a:solidFill>
              <a:effectLst/>
              <a:highlight>
                <a:srgbClr val="F9F9F9"/>
              </a:highlight>
              <a:latin typeface="verdana" panose="020B0604030504040204" pitchFamily="34" charset="0"/>
            </a:endParaRPr>
          </a:p>
          <a:p>
            <a:pPr algn="just"/>
            <a:r>
              <a:rPr lang="es-ES" sz="1100" b="1" i="0" dirty="0">
                <a:solidFill>
                  <a:srgbClr val="FF0000"/>
                </a:solidFill>
                <a:effectLst/>
                <a:highlight>
                  <a:srgbClr val="F9F9F9"/>
                </a:highlight>
                <a:latin typeface="verdana" panose="020B0604030504040204" pitchFamily="34" charset="0"/>
              </a:rPr>
              <a:t>Orden PCM/1382/2021, de 9 de diciembre, por la que se regula el Registro Electrónico General en el ámbito de la Administración General del Estado.</a:t>
            </a:r>
          </a:p>
          <a:p>
            <a:pPr algn="just">
              <a:lnSpc>
                <a:spcPct val="80000"/>
              </a:lnSpc>
              <a:defRPr/>
            </a:pPr>
            <a:endParaRPr lang="es-ES" sz="1200" b="0" i="0" dirty="0">
              <a:solidFill>
                <a:srgbClr val="000000"/>
              </a:solidFill>
              <a:effectLst/>
              <a:highlight>
                <a:srgbClr val="F9F9F9"/>
              </a:highlight>
              <a:latin typeface="verdana" panose="020B0604030504040204" pitchFamily="34" charset="0"/>
            </a:endParaRPr>
          </a:p>
          <a:p>
            <a:pPr algn="just">
              <a:lnSpc>
                <a:spcPct val="80000"/>
              </a:lnSpc>
              <a:buFontTx/>
              <a:buNone/>
              <a:defRPr/>
            </a:pPr>
            <a:endParaRPr lang="es-ES_tradnl" altLang="es-ES" sz="1600" dirty="0"/>
          </a:p>
        </p:txBody>
      </p:sp>
    </p:spTree>
    <p:extLst>
      <p:ext uri="{BB962C8B-B14F-4D97-AF65-F5344CB8AC3E}">
        <p14:creationId xmlns:p14="http://schemas.microsoft.com/office/powerpoint/2010/main" val="1734231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457576" y="128589"/>
            <a:ext cx="5591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11" name="Rectangle 3"/>
          <p:cNvSpPr txBox="1">
            <a:spLocks noChangeArrowheads="1"/>
          </p:cNvSpPr>
          <p:nvPr/>
        </p:nvSpPr>
        <p:spPr>
          <a:xfrm>
            <a:off x="1538288" y="1103312"/>
            <a:ext cx="9129712" cy="4945062"/>
          </a:xfrm>
          <a:prstGeom prst="rect">
            <a:avLst/>
          </a:prstGeom>
          <a:ln w="38100">
            <a:solidFill>
              <a:srgbClr val="7030A0"/>
            </a:solidFill>
            <a:miter lim="800000"/>
            <a:headEnd/>
            <a:tailEnd/>
          </a:ln>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Tx/>
              <a:buNone/>
              <a:defRPr/>
            </a:pPr>
            <a:r>
              <a:rPr lang="es-ES" altLang="es-ES" sz="2000" b="1" dirty="0">
                <a:solidFill>
                  <a:schemeClr val="accent6">
                    <a:lumMod val="50000"/>
                  </a:schemeClr>
                </a:solidFill>
              </a:rPr>
              <a:t>Clase de Reglamentos en función de su relación con la Ley</a:t>
            </a:r>
          </a:p>
          <a:p>
            <a:pPr>
              <a:buFontTx/>
              <a:buNone/>
              <a:defRPr/>
            </a:pPr>
            <a:endParaRPr lang="es-ES" altLang="es-ES" sz="2000" b="1" dirty="0">
              <a:solidFill>
                <a:schemeClr val="accent6">
                  <a:lumMod val="50000"/>
                </a:schemeClr>
              </a:solidFill>
            </a:endParaRPr>
          </a:p>
          <a:p>
            <a:pPr algn="just">
              <a:buFontTx/>
              <a:buNone/>
              <a:defRPr/>
            </a:pPr>
            <a:r>
              <a:rPr lang="es-ES" sz="1400" b="1" dirty="0"/>
              <a:t>Reglamentos ejecutivos</a:t>
            </a:r>
          </a:p>
          <a:p>
            <a:pPr algn="just">
              <a:buFontTx/>
              <a:buNone/>
              <a:defRPr/>
            </a:pPr>
            <a:br>
              <a:rPr lang="es-ES" sz="1400" dirty="0"/>
            </a:br>
            <a:r>
              <a:rPr lang="es-ES" sz="1400" dirty="0"/>
              <a:t>Se trata de reglamentos ligados directamente a una Ley –o a una parte de la misma-, y cuya función es complementarla y desarrollarla. Son los reglamentos más abundantes, siendo esta función una característica típica del reglamento, pues en muchos supuestos, la Ley deja contenidos necesitados de desarrollo para que el reglamento los regule. Desde esta perspectiva, el reglamento es definido como el complemento indispensable de la Ley, mediante el que esta se completa, aplica y ejecuta. Como tendremos ocasión de señalar, en el procedimiento de aprobación de los reglamentos ejecutivos, es preceptivo el dictamen del </a:t>
            </a:r>
            <a:r>
              <a:rPr lang="es-ES" sz="1400" dirty="0">
                <a:hlinkClick r:id="rId5"/>
              </a:rPr>
              <a:t>Consejo de Estado</a:t>
            </a:r>
            <a:r>
              <a:rPr lang="es-ES" sz="1400" dirty="0"/>
              <a:t> u órgano consultivo equivalente autonómico.</a:t>
            </a:r>
          </a:p>
          <a:p>
            <a:pPr algn="just">
              <a:buFontTx/>
              <a:buNone/>
              <a:defRPr/>
            </a:pPr>
            <a:r>
              <a:rPr lang="es-ES" sz="1400" b="1" dirty="0"/>
              <a:t>Reglamentos independientes</a:t>
            </a:r>
          </a:p>
          <a:p>
            <a:pPr algn="just">
              <a:buFontTx/>
              <a:buNone/>
              <a:defRPr/>
            </a:pPr>
            <a:br>
              <a:rPr lang="es-ES" sz="1400" dirty="0"/>
            </a:br>
            <a:r>
              <a:rPr lang="es-ES" sz="1400" dirty="0"/>
              <a:t>Los reglamentos no vinculados a una Ley son una figura muy discutida que, en todo caso, sólo sería posible en relación a materias que no hayan sido reservadas a la Ley por la Constitución o que hayan sido objeto de regulación mediante norma con rango de Ley. Existe, sin embargo, consenso doctrinal, en admitir los reglamentos independientes en el ámbito organizativo de la Administración.</a:t>
            </a:r>
          </a:p>
          <a:p>
            <a:pPr algn="just">
              <a:buFontTx/>
              <a:buNone/>
              <a:defRPr/>
            </a:pPr>
            <a:r>
              <a:rPr lang="es-ES" sz="1400" b="1" dirty="0"/>
              <a:t>Reglamentos de necesidad</a:t>
            </a:r>
          </a:p>
          <a:p>
            <a:pPr algn="just">
              <a:buFontTx/>
              <a:buNone/>
              <a:defRPr/>
            </a:pPr>
            <a:r>
              <a:rPr lang="es-ES" sz="1400" dirty="0"/>
              <a:t>Son reglamentos que excepciona las leyes durante un período de tiempo concreto, por concurrir circunstancias excepcionales o de emergencia. Se trata pues de figuras excepcionales y cuya vigencia se limita a la situación de anormalidad que los justifica.</a:t>
            </a:r>
          </a:p>
          <a:p>
            <a:pPr algn="just">
              <a:spcBef>
                <a:spcPts val="240"/>
              </a:spcBef>
              <a:buFontTx/>
              <a:buNone/>
              <a:defRPr/>
            </a:pPr>
            <a:br>
              <a:rPr lang="es-ES" sz="1400" dirty="0"/>
            </a:br>
            <a:endParaRPr lang="es-ES" altLang="es-ES" sz="1400" b="1" u="sng" dirty="0">
              <a:solidFill>
                <a:srgbClr val="660033"/>
              </a:solidFill>
            </a:endParaRPr>
          </a:p>
          <a:p>
            <a:pPr>
              <a:lnSpc>
                <a:spcPct val="80000"/>
              </a:lnSpc>
              <a:buFontTx/>
              <a:buNone/>
              <a:defRPr/>
            </a:pPr>
            <a:endParaRPr lang="es-ES" altLang="es-ES" sz="1400" b="1" u="sng" dirty="0">
              <a:solidFill>
                <a:srgbClr val="660033"/>
              </a:solidFill>
            </a:endParaRPr>
          </a:p>
          <a:p>
            <a:pPr>
              <a:lnSpc>
                <a:spcPct val="80000"/>
              </a:lnSpc>
              <a:buFontTx/>
              <a:buNone/>
              <a:defRPr/>
            </a:pPr>
            <a:endParaRPr lang="es-ES" altLang="es-ES" b="1" u="sng" dirty="0">
              <a:solidFill>
                <a:srgbClr val="660033"/>
              </a:solidFill>
            </a:endParaRPr>
          </a:p>
          <a:p>
            <a:pPr>
              <a:lnSpc>
                <a:spcPct val="80000"/>
              </a:lnSpc>
              <a:buFontTx/>
              <a:buNone/>
              <a:defRPr/>
            </a:pPr>
            <a:endParaRPr lang="es-ES" altLang="es-ES" b="1" u="sng" dirty="0">
              <a:solidFill>
                <a:srgbClr val="660033"/>
              </a:solidFill>
            </a:endParaRPr>
          </a:p>
          <a:p>
            <a:pPr>
              <a:lnSpc>
                <a:spcPct val="80000"/>
              </a:lnSpc>
              <a:buFontTx/>
              <a:buNone/>
              <a:defRPr/>
            </a:pPr>
            <a:endParaRPr lang="es-ES" altLang="es-ES" b="1" u="sng" dirty="0">
              <a:solidFill>
                <a:srgbClr val="660033"/>
              </a:solidFill>
            </a:endParaRPr>
          </a:p>
        </p:txBody>
      </p:sp>
    </p:spTree>
    <p:extLst>
      <p:ext uri="{BB962C8B-B14F-4D97-AF65-F5344CB8AC3E}">
        <p14:creationId xmlns:p14="http://schemas.microsoft.com/office/powerpoint/2010/main" val="3511395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524000" y="1"/>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15889"/>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p:cNvSpPr>
            <a:spLocks noChangeArrowheads="1"/>
          </p:cNvSpPr>
          <p:nvPr/>
        </p:nvSpPr>
        <p:spPr bwMode="auto">
          <a:xfrm>
            <a:off x="152400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p:cNvSpPr txBox="1">
            <a:spLocks noChangeArrowheads="1"/>
          </p:cNvSpPr>
          <p:nvPr/>
        </p:nvSpPr>
        <p:spPr bwMode="auto">
          <a:xfrm>
            <a:off x="7391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p:cNvSpPr txBox="1">
            <a:spLocks noChangeArrowheads="1"/>
          </p:cNvSpPr>
          <p:nvPr/>
        </p:nvSpPr>
        <p:spPr bwMode="auto">
          <a:xfrm>
            <a:off x="5591176"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6"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p:cNvSpPr>
            <a:spLocks noChangeArrowheads="1"/>
          </p:cNvSpPr>
          <p:nvPr/>
        </p:nvSpPr>
        <p:spPr bwMode="auto">
          <a:xfrm>
            <a:off x="2135188" y="841376"/>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p:cNvSpPr txBox="1">
            <a:spLocks noChangeArrowheads="1"/>
          </p:cNvSpPr>
          <p:nvPr/>
        </p:nvSpPr>
        <p:spPr bwMode="auto">
          <a:xfrm>
            <a:off x="3535364"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Prelación de leyes</a:t>
            </a:r>
          </a:p>
        </p:txBody>
      </p:sp>
      <p:sp>
        <p:nvSpPr>
          <p:cNvPr id="5130" name="Rectángulo 1"/>
          <p:cNvSpPr>
            <a:spLocks noChangeArrowheads="1"/>
          </p:cNvSpPr>
          <p:nvPr/>
        </p:nvSpPr>
        <p:spPr bwMode="auto">
          <a:xfrm>
            <a:off x="1524001" y="1088967"/>
            <a:ext cx="8101014" cy="4247317"/>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81000" indent="-3810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s-ES" altLang="es-ES" sz="5400" b="1" dirty="0">
                <a:solidFill>
                  <a:srgbClr val="C00000"/>
                </a:solidFill>
              </a:rPr>
              <a:t>Fin de la presentación</a:t>
            </a:r>
          </a:p>
          <a:p>
            <a:pPr algn="ctr" eaLnBrk="1" hangingPunct="1">
              <a:spcBef>
                <a:spcPct val="0"/>
              </a:spcBef>
              <a:buFontTx/>
              <a:buNone/>
            </a:pPr>
            <a:endParaRPr lang="es-ES" altLang="es-ES" sz="5400" b="1" dirty="0">
              <a:solidFill>
                <a:srgbClr val="C00000"/>
              </a:solidFill>
            </a:endParaRPr>
          </a:p>
          <a:p>
            <a:pPr algn="ctr" eaLnBrk="1" hangingPunct="1">
              <a:spcBef>
                <a:spcPct val="0"/>
              </a:spcBef>
              <a:buFontTx/>
              <a:buNone/>
            </a:pPr>
            <a:r>
              <a:rPr lang="es-ES" altLang="es-ES" sz="5400" b="1" dirty="0">
                <a:solidFill>
                  <a:srgbClr val="C00000"/>
                </a:solidFill>
              </a:rPr>
              <a:t>Gracias por la atención prestada</a:t>
            </a:r>
            <a:endParaRPr lang="es-ES" altLang="es-ES" sz="3600" dirty="0">
              <a:solidFill>
                <a:srgbClr val="C00000"/>
              </a:solidFill>
            </a:endParaRPr>
          </a:p>
          <a:p>
            <a:pPr algn="ctr" eaLnBrk="1" hangingPunct="1">
              <a:spcBef>
                <a:spcPct val="0"/>
              </a:spcBef>
              <a:buFontTx/>
              <a:buNone/>
            </a:pPr>
            <a:endParaRPr lang="es-ES_tradnl" altLang="es-ES" sz="5400" b="1" dirty="0">
              <a:solidFill>
                <a:schemeClr val="accent6">
                  <a:lumMod val="50000"/>
                </a:schemeClr>
              </a:solidFill>
            </a:endParaRPr>
          </a:p>
        </p:txBody>
      </p:sp>
    </p:spTree>
    <p:extLst>
      <p:ext uri="{BB962C8B-B14F-4D97-AF65-F5344CB8AC3E}">
        <p14:creationId xmlns:p14="http://schemas.microsoft.com/office/powerpoint/2010/main" val="296679133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8869</TotalTime>
  <Words>2643</Words>
  <Application>Microsoft Macintosh PowerPoint</Application>
  <PresentationFormat>Panorámica</PresentationFormat>
  <Paragraphs>226</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RobotoDraft</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IGAE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Lucas Alonso, Manuel</dc:creator>
  <cp:lastModifiedBy>Manuel Lucas Alonso</cp:lastModifiedBy>
  <cp:revision>31</cp:revision>
  <dcterms:created xsi:type="dcterms:W3CDTF">2020-11-16T12:52:11Z</dcterms:created>
  <dcterms:modified xsi:type="dcterms:W3CDTF">2024-10-18T12:58:32Z</dcterms:modified>
</cp:coreProperties>
</file>