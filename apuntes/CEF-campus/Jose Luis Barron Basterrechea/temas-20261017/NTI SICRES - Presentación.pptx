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59" r:id="rId9"/>
    <p:sldId id="275" r:id="rId10"/>
    <p:sldId id="276" r:id="rId11"/>
    <p:sldId id="256" r:id="rId12"/>
    <p:sldId id="257" r:id="rId13"/>
    <p:sldId id="258" r:id="rId14"/>
    <p:sldId id="278" r:id="rId15"/>
    <p:sldId id="260" r:id="rId16"/>
    <p:sldId id="261" r:id="rId17"/>
    <p:sldId id="262" r:id="rId18"/>
    <p:sldId id="263" r:id="rId19"/>
    <p:sldId id="264" r:id="rId20"/>
    <p:sldId id="265" r:id="rId21"/>
    <p:sldId id="266" r:id="rId2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60972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DE1BE-6FFD-4317-9E79-38ACCFFC2147}" type="datetimeFigureOut">
              <a:rPr lang="es-ES" smtClean="0"/>
              <a:pPr/>
              <a:t>18/09/2014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86B2D-9681-4F32-9418-C5861CE1DA3B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Introducción a SICRES 3.0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Fija los criterios que deben cumplir los sistemas de registro</a:t>
            </a:r>
          </a:p>
          <a:p>
            <a:r>
              <a:rPr lang="es-ES" dirty="0" smtClean="0"/>
              <a:t>El objetivo es interconectar las oficinas registrales</a:t>
            </a:r>
          </a:p>
          <a:p>
            <a:r>
              <a:rPr lang="es-ES" dirty="0" smtClean="0"/>
              <a:t>La versión 2.0 era un fichero plano para el intercambio, compatible con EDIFACT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Objetivo de la NTI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972072"/>
          </a:xfrm>
        </p:spPr>
        <p:txBody>
          <a:bodyPr/>
          <a:lstStyle/>
          <a:p>
            <a:r>
              <a:rPr lang="es-ES" dirty="0" smtClean="0"/>
              <a:t>Definir las condiciones para la interconexión de registros</a:t>
            </a:r>
          </a:p>
          <a:p>
            <a:r>
              <a:rPr lang="es-ES" dirty="0" smtClean="0"/>
              <a:t>Permitir el intercambio de información</a:t>
            </a:r>
          </a:p>
          <a:p>
            <a:r>
              <a:rPr lang="es-ES" dirty="0" smtClean="0"/>
              <a:t>La Norma Técnica recoge:</a:t>
            </a:r>
          </a:p>
          <a:p>
            <a:pPr lvl="1"/>
            <a:r>
              <a:rPr lang="es-ES" dirty="0" smtClean="0"/>
              <a:t>Definición y características</a:t>
            </a:r>
          </a:p>
          <a:p>
            <a:pPr lvl="1"/>
            <a:r>
              <a:rPr lang="es-ES" dirty="0" smtClean="0"/>
              <a:t>Esquema de datos y formatos de ficheros de intercambio</a:t>
            </a:r>
          </a:p>
          <a:p>
            <a:pPr lvl="1"/>
            <a:r>
              <a:rPr lang="es-ES" dirty="0" smtClean="0"/>
              <a:t>Mecanismos de control y gestión de errores</a:t>
            </a:r>
          </a:p>
          <a:p>
            <a:pPr lvl="1"/>
            <a:r>
              <a:rPr lang="es-ES" dirty="0" smtClean="0"/>
              <a:t>Prestaciones de alto nivel que se garantizan</a:t>
            </a: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Ámbito de aplicación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Es de aplicación para todos los órganos de las AAPP o entidades de derecho público vinculadas o dependientes de aquella que intercambian asientos registrales</a:t>
            </a:r>
          </a:p>
          <a:p>
            <a:r>
              <a:rPr lang="es-ES" dirty="0" smtClean="0"/>
              <a:t>Dirigido a responsables de sedes electrónicas</a:t>
            </a:r>
          </a:p>
          <a:p>
            <a:r>
              <a:rPr lang="es-ES" dirty="0" smtClean="0"/>
              <a:t>Dirigido a responsables y administradores de aplicaciones, redes y servicios corporativos</a:t>
            </a:r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Características de SICRES 3.0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Optimización del modelo para agrupar funcionalidades comunes</a:t>
            </a:r>
          </a:p>
          <a:p>
            <a:r>
              <a:rPr lang="es-ES" dirty="0" smtClean="0"/>
              <a:t>Orientación a arquitecturas de intermediación</a:t>
            </a:r>
          </a:p>
          <a:p>
            <a:r>
              <a:rPr lang="es-ES" dirty="0" smtClean="0"/>
              <a:t>Incorporación de ficheros adjuntos a los intercambios</a:t>
            </a:r>
          </a:p>
          <a:p>
            <a:r>
              <a:rPr lang="es-ES" dirty="0" smtClean="0"/>
              <a:t>Mejora en los mecanismos de control de intercambios</a:t>
            </a:r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Modelo conceptual de intercambio</a:t>
            </a:r>
            <a:endParaRPr lang="es-E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85860"/>
            <a:ext cx="9143999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Modelo conceptual de intercambio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Unidades de tramitación (origen y destino)</a:t>
            </a:r>
          </a:p>
          <a:p>
            <a:r>
              <a:rPr lang="es-ES" dirty="0" smtClean="0"/>
              <a:t>Entidad registral (origen y destino)</a:t>
            </a:r>
          </a:p>
          <a:p>
            <a:r>
              <a:rPr lang="es-ES" dirty="0" smtClean="0"/>
              <a:t>Mensaje de datos de intercambio</a:t>
            </a:r>
          </a:p>
          <a:p>
            <a:r>
              <a:rPr lang="es-ES" dirty="0" smtClean="0"/>
              <a:t>Mensajes de control</a:t>
            </a:r>
          </a:p>
          <a:p>
            <a:r>
              <a:rPr lang="es-ES" dirty="0" smtClean="0"/>
              <a:t>Sistema de intercambio</a:t>
            </a:r>
          </a:p>
          <a:p>
            <a:r>
              <a:rPr lang="es-ES" dirty="0" smtClean="0"/>
              <a:t>Plataforma de intercambio</a:t>
            </a:r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Estructura y contenido del mensaje</a:t>
            </a:r>
            <a:endParaRPr lang="es-E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18" y="1428736"/>
            <a:ext cx="5405228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85786" y="1071546"/>
            <a:ext cx="7772400" cy="1470025"/>
          </a:xfrm>
        </p:spPr>
        <p:txBody>
          <a:bodyPr>
            <a:normAutofit/>
          </a:bodyPr>
          <a:lstStyle/>
          <a:p>
            <a:r>
              <a:rPr lang="es-ES_tradnl" sz="3200" dirty="0" smtClean="0"/>
              <a:t>Diferenciación entidad registral de inicio – entidad registral de origen</a:t>
            </a:r>
            <a:endParaRPr lang="es-E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3042713"/>
            <a:ext cx="5565827" cy="3315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dirty="0" smtClean="0">
                <a:latin typeface="+mj-lt"/>
                <a:ea typeface="+mj-ea"/>
                <a:cs typeface="+mj-cs"/>
              </a:rPr>
              <a:t>Distinción de entidades registrales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Mensaje de control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3900486" cy="4686320"/>
          </a:xfrm>
        </p:spPr>
        <p:txBody>
          <a:bodyPr/>
          <a:lstStyle/>
          <a:p>
            <a:r>
              <a:rPr lang="es-ES" dirty="0" smtClean="0"/>
              <a:t>Contiene la información de control y notificación acerca del estado de una operación de intercambio</a:t>
            </a:r>
            <a:endParaRPr lang="es-E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9124" y="1500174"/>
            <a:ext cx="4357718" cy="479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Estado del intercambio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/>
          <a:lstStyle/>
          <a:p>
            <a:r>
              <a:rPr lang="es-ES" dirty="0" smtClean="0"/>
              <a:t>El proceso de intercambio inicia y finaliza en la Entidad Registral Origen </a:t>
            </a:r>
          </a:p>
          <a:p>
            <a:r>
              <a:rPr lang="es-ES" dirty="0" smtClean="0"/>
              <a:t>Se intercambian mensajes ‘Tipo de anotación’ y ‘Tipo de mensaje’</a:t>
            </a:r>
          </a:p>
          <a:p>
            <a:r>
              <a:rPr lang="es-ES" dirty="0" smtClean="0"/>
              <a:t>Los estados en el mensaje de datos son:</a:t>
            </a:r>
          </a:p>
          <a:p>
            <a:pPr lvl="1"/>
            <a:r>
              <a:rPr lang="es-ES" dirty="0" smtClean="0"/>
              <a:t>Pendiente</a:t>
            </a:r>
          </a:p>
          <a:p>
            <a:pPr lvl="1"/>
            <a:r>
              <a:rPr lang="es-ES" dirty="0" smtClean="0"/>
              <a:t>Envío</a:t>
            </a:r>
          </a:p>
          <a:p>
            <a:pPr lvl="1"/>
            <a:r>
              <a:rPr lang="es-ES" dirty="0" smtClean="0"/>
              <a:t>Reenvío</a:t>
            </a:r>
          </a:p>
          <a:p>
            <a:pPr lvl="1"/>
            <a:r>
              <a:rPr lang="es-ES" dirty="0" smtClean="0"/>
              <a:t>Rechazo</a:t>
            </a:r>
            <a:endParaRPr lang="es-E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1772816"/>
            <a:ext cx="666750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1 Título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dirty="0" smtClean="0">
                <a:latin typeface="+mj-lt"/>
                <a:ea typeface="+mj-ea"/>
                <a:cs typeface="+mj-cs"/>
              </a:rPr>
              <a:t>Tipo de anotación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6037" y="2601119"/>
            <a:ext cx="3971925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1 Título"/>
          <p:cNvSpPr txBox="1">
            <a:spLocks/>
          </p:cNvSpPr>
          <p:nvPr/>
        </p:nvSpPr>
        <p:spPr>
          <a:xfrm>
            <a:off x="457200" y="274638"/>
            <a:ext cx="840108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4400" dirty="0" smtClean="0">
                <a:latin typeface="+mj-lt"/>
                <a:ea typeface="+mj-ea"/>
                <a:cs typeface="+mj-cs"/>
              </a:rPr>
              <a:t>Rechazo a entidad registral de inicio</a:t>
            </a:r>
            <a:endParaRPr kumimoji="0" lang="es-E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_tradnl" dirty="0" smtClean="0"/>
              <a:t>Rechazo a entidad registral de origen</a:t>
            </a:r>
            <a:endParaRPr lang="es-E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7900" y="2543969"/>
            <a:ext cx="464820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Estado del intercambio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/>
          <a:lstStyle/>
          <a:p>
            <a:r>
              <a:rPr lang="es-ES" dirty="0" smtClean="0"/>
              <a:t>Los estados en el mensaje de control son:</a:t>
            </a:r>
          </a:p>
          <a:p>
            <a:pPr lvl="1"/>
            <a:r>
              <a:rPr lang="es-ES" dirty="0" smtClean="0"/>
              <a:t>ACK - aceptación</a:t>
            </a:r>
          </a:p>
          <a:p>
            <a:pPr lvl="1"/>
            <a:r>
              <a:rPr lang="es-ES" dirty="0" smtClean="0"/>
              <a:t>Error</a:t>
            </a:r>
          </a:p>
          <a:p>
            <a:pPr lvl="1"/>
            <a:r>
              <a:rPr lang="es-ES" dirty="0" smtClean="0"/>
              <a:t>Confirmación</a:t>
            </a:r>
          </a:p>
          <a:p>
            <a:pPr lvl="1">
              <a:buNone/>
            </a:pPr>
            <a:endParaRPr lang="es-E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El sistema de intercambio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/>
          <a:lstStyle/>
          <a:p>
            <a:r>
              <a:rPr lang="es-ES_tradnl" dirty="0" smtClean="0"/>
              <a:t>Centraliza el registro de operaciones de intercambio</a:t>
            </a:r>
          </a:p>
          <a:p>
            <a:r>
              <a:rPr lang="es-ES_tradnl" dirty="0" smtClean="0"/>
              <a:t>Garantiza la trazabilidad de las mismas</a:t>
            </a:r>
          </a:p>
          <a:p>
            <a:r>
              <a:rPr lang="es-ES_tradnl" dirty="0" smtClean="0"/>
              <a:t>Gestiona la situación temporal de los pre-asientos registrales</a:t>
            </a:r>
          </a:p>
          <a:p>
            <a:r>
              <a:rPr lang="es-ES_tradnl" dirty="0" smtClean="0"/>
              <a:t>Proporciona confidencialidad en el transporte de la información</a:t>
            </a:r>
          </a:p>
          <a:p>
            <a:r>
              <a:rPr lang="es-ES_tradnl" dirty="0" smtClean="0"/>
              <a:t>Firma electrónica del mensaje de datos de intercambio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El sistema de intercambio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/>
          <a:lstStyle/>
          <a:p>
            <a:r>
              <a:rPr lang="es-ES_tradnl" dirty="0" smtClean="0"/>
              <a:t>El sistema de intercambio debe ofrecer</a:t>
            </a:r>
          </a:p>
          <a:p>
            <a:r>
              <a:rPr lang="es-ES_tradnl" dirty="0" smtClean="0"/>
              <a:t>Integridad</a:t>
            </a:r>
          </a:p>
          <a:p>
            <a:r>
              <a:rPr lang="es-ES_tradnl" dirty="0" smtClean="0"/>
              <a:t>Confidencialidad</a:t>
            </a:r>
          </a:p>
          <a:p>
            <a:r>
              <a:rPr lang="es-ES_tradnl" dirty="0" smtClean="0"/>
              <a:t>Autenticidad</a:t>
            </a:r>
          </a:p>
          <a:p>
            <a:r>
              <a:rPr lang="es-ES_tradnl" dirty="0" smtClean="0"/>
              <a:t>No repudio</a:t>
            </a:r>
          </a:p>
          <a:p>
            <a:r>
              <a:rPr lang="es-ES_tradnl" dirty="0" smtClean="0"/>
              <a:t>Accesibilidad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rmAutofit/>
          </a:bodyPr>
          <a:lstStyle/>
          <a:p>
            <a:r>
              <a:rPr lang="es-ES_tradnl" dirty="0" smtClean="0"/>
              <a:t>Gestión del proceso de intercambio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363272" cy="4525963"/>
          </a:xfrm>
        </p:spPr>
        <p:txBody>
          <a:bodyPr/>
          <a:lstStyle/>
          <a:p>
            <a:r>
              <a:rPr lang="es-ES_tradnl" dirty="0" smtClean="0"/>
              <a:t>Pasos en el proceso de intercambio (I):</a:t>
            </a:r>
          </a:p>
          <a:p>
            <a:pPr lvl="1"/>
            <a:r>
              <a:rPr lang="es-ES_tradnl" dirty="0" smtClean="0"/>
              <a:t>La aplicación de registro de la Entidad Registral Origen genera el mensaje de datos de intercambio de forma completa</a:t>
            </a:r>
          </a:p>
          <a:p>
            <a:pPr lvl="1"/>
            <a:r>
              <a:rPr lang="es-ES_tradnl" dirty="0" smtClean="0"/>
              <a:t>Lo envía al sistema de gestión de intercambio</a:t>
            </a:r>
          </a:p>
          <a:p>
            <a:pPr lvl="1"/>
            <a:r>
              <a:rPr lang="es-ES_tradnl" dirty="0" smtClean="0"/>
              <a:t>La plataforma de intercambio verifica la validez</a:t>
            </a:r>
          </a:p>
          <a:p>
            <a:pPr lvl="1"/>
            <a:r>
              <a:rPr lang="es-ES_tradnl" dirty="0" smtClean="0"/>
              <a:t>El sistema de gestión de intercambio garantiza la transmisión entre los sistemas de origen y destino</a:t>
            </a:r>
          </a:p>
          <a:p>
            <a:pPr lvl="1"/>
            <a:endParaRPr lang="es-E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rmAutofit/>
          </a:bodyPr>
          <a:lstStyle/>
          <a:p>
            <a:r>
              <a:rPr lang="es-ES_tradnl" dirty="0" smtClean="0"/>
              <a:t>Gestión del proceso de intercambio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363272" cy="5112568"/>
          </a:xfrm>
        </p:spPr>
        <p:txBody>
          <a:bodyPr>
            <a:normAutofit/>
          </a:bodyPr>
          <a:lstStyle/>
          <a:p>
            <a:r>
              <a:rPr lang="es-ES_tradnl" dirty="0" smtClean="0"/>
              <a:t>Pasos en el proceso de intercambio (II):</a:t>
            </a:r>
          </a:p>
          <a:p>
            <a:pPr lvl="1"/>
            <a:r>
              <a:rPr lang="es-ES_tradnl" dirty="0" smtClean="0"/>
              <a:t>La aplicación de registro de la Entidad Registral destino es responsable de interpretar de forma correcta el fichero intercambiado</a:t>
            </a:r>
          </a:p>
          <a:p>
            <a:pPr lvl="1"/>
            <a:r>
              <a:rPr lang="es-ES_tradnl" dirty="0" smtClean="0"/>
              <a:t>Hasta que el intercambio concluye, la plataforma de intercambio debe resolver la situación temporal del ‘pre-asiento registral’ (desaparece cuando se produce la recepción completa de todos los ficheros)</a:t>
            </a:r>
          </a:p>
          <a:p>
            <a:pPr lvl="1"/>
            <a:r>
              <a:rPr lang="es-ES_tradnl" dirty="0" smtClean="0"/>
              <a:t>Deben definirse reglas para la gestión del intercambio</a:t>
            </a:r>
          </a:p>
          <a:p>
            <a:pPr lvl="1"/>
            <a:endParaRPr lang="es-E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rmAutofit/>
          </a:bodyPr>
          <a:lstStyle/>
          <a:p>
            <a:r>
              <a:rPr lang="es-ES_tradnl" dirty="0" smtClean="0"/>
              <a:t>Gestión del proceso de intercambio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363272" cy="5112568"/>
          </a:xfrm>
        </p:spPr>
        <p:txBody>
          <a:bodyPr>
            <a:normAutofit/>
          </a:bodyPr>
          <a:lstStyle/>
          <a:p>
            <a:r>
              <a:rPr lang="es-ES_tradnl" dirty="0" smtClean="0"/>
              <a:t>Se debe definir:</a:t>
            </a:r>
          </a:p>
          <a:p>
            <a:pPr lvl="1"/>
            <a:r>
              <a:rPr lang="es-ES_tradnl" dirty="0" smtClean="0"/>
              <a:t>La gestión de envíos de mensajes y anexos</a:t>
            </a:r>
          </a:p>
          <a:p>
            <a:pPr lvl="1"/>
            <a:r>
              <a:rPr lang="es-ES_tradnl" dirty="0" smtClean="0"/>
              <a:t>La gestión del flujo</a:t>
            </a:r>
          </a:p>
          <a:p>
            <a:pPr lvl="1"/>
            <a:r>
              <a:rPr lang="es-ES_tradnl" dirty="0" smtClean="0"/>
              <a:t>Evitar duplicados</a:t>
            </a:r>
          </a:p>
          <a:p>
            <a:pPr lvl="1"/>
            <a:r>
              <a:rPr lang="es-ES_tradnl" dirty="0" smtClean="0"/>
              <a:t>La gestión de mensajes de actividad</a:t>
            </a:r>
          </a:p>
          <a:p>
            <a:pPr lvl="1"/>
            <a:endParaRPr lang="es-E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Directorio común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smtClean="0"/>
              <a:t>El sistema de gestión de intercambio debe utilizar el Directorio Común recogido en el artículo 9 del Real Decreto 4/2010</a:t>
            </a:r>
          </a:p>
          <a:p>
            <a:r>
              <a:rPr lang="es-ES_tradnl" dirty="0" smtClean="0"/>
              <a:t>Incluye la codificación de todos los Organismos, </a:t>
            </a:r>
            <a:r>
              <a:rPr lang="es-ES" dirty="0" smtClean="0"/>
              <a:t> Entidades Registrales y Unidades de Gestión que pueden participar en el proceso de intercambio</a:t>
            </a:r>
          </a:p>
          <a:p>
            <a:r>
              <a:rPr lang="es-ES_tradnl" dirty="0" smtClean="0"/>
              <a:t>El Directorio proporciona los códigos únicos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smtClean="0"/>
              <a:t>Control y gestión de errores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smtClean="0"/>
              <a:t>Los errores que pueden ocurrir durante el intercambio registral pueden ser:</a:t>
            </a:r>
          </a:p>
          <a:p>
            <a:r>
              <a:rPr lang="es-ES_tradnl" dirty="0" smtClean="0"/>
              <a:t>Errores lógicos</a:t>
            </a:r>
          </a:p>
          <a:p>
            <a:r>
              <a:rPr lang="es-ES_tradnl" dirty="0" smtClean="0"/>
              <a:t>Errores físicos</a:t>
            </a:r>
          </a:p>
          <a:p>
            <a:r>
              <a:rPr lang="es-ES_tradnl" dirty="0" smtClean="0"/>
              <a:t>Errores </a:t>
            </a:r>
            <a:r>
              <a:rPr lang="es-ES_tradnl" smtClean="0"/>
              <a:t>de transmisión de datos</a:t>
            </a:r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607</Words>
  <Application>Microsoft Office PowerPoint</Application>
  <PresentationFormat>Presentación en pantalla (4:3)</PresentationFormat>
  <Paragraphs>89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Tema de Office</vt:lpstr>
      <vt:lpstr>Introducción a SICRES 3.0</vt:lpstr>
      <vt:lpstr>Objetivo de la NTI</vt:lpstr>
      <vt:lpstr>Ámbito de aplicación</vt:lpstr>
      <vt:lpstr>Características de SICRES 3.0</vt:lpstr>
      <vt:lpstr>Modelo conceptual de intercambio</vt:lpstr>
      <vt:lpstr>Modelo conceptual de intercambio</vt:lpstr>
      <vt:lpstr>Estructura y contenido del mensaje</vt:lpstr>
      <vt:lpstr>Diferenciación entidad registral de inicio – entidad registral de origen</vt:lpstr>
      <vt:lpstr>Mensaje de control</vt:lpstr>
      <vt:lpstr>Estado del intercambio</vt:lpstr>
      <vt:lpstr>Diapositiva 11</vt:lpstr>
      <vt:lpstr>Diapositiva 12</vt:lpstr>
      <vt:lpstr>Rechazo a entidad registral de origen</vt:lpstr>
      <vt:lpstr>Estado del intercambio</vt:lpstr>
      <vt:lpstr>El sistema de intercambio</vt:lpstr>
      <vt:lpstr>El sistema de intercambio</vt:lpstr>
      <vt:lpstr>Gestión del proceso de intercambio</vt:lpstr>
      <vt:lpstr>Gestión del proceso de intercambio</vt:lpstr>
      <vt:lpstr>Gestión del proceso de intercambio</vt:lpstr>
      <vt:lpstr>Directorio común</vt:lpstr>
      <vt:lpstr>Control y gestión de errores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Jose Luis</dc:creator>
  <cp:lastModifiedBy>jl.barron</cp:lastModifiedBy>
  <cp:revision>20</cp:revision>
  <dcterms:created xsi:type="dcterms:W3CDTF">2013-10-09T16:39:07Z</dcterms:created>
  <dcterms:modified xsi:type="dcterms:W3CDTF">2014-09-18T16:36:57Z</dcterms:modified>
</cp:coreProperties>
</file>