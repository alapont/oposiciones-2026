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4" r:id="rId1"/>
  </p:sldMasterIdLst>
  <p:notesMasterIdLst>
    <p:notesMasterId r:id="rId89"/>
  </p:notesMasterIdLst>
  <p:sldIdLst>
    <p:sldId id="356" r:id="rId2"/>
    <p:sldId id="344" r:id="rId3"/>
    <p:sldId id="348" r:id="rId4"/>
    <p:sldId id="346" r:id="rId5"/>
    <p:sldId id="357" r:id="rId6"/>
    <p:sldId id="347" r:id="rId7"/>
    <p:sldId id="358" r:id="rId8"/>
    <p:sldId id="349" r:id="rId9"/>
    <p:sldId id="360" r:id="rId10"/>
    <p:sldId id="351" r:id="rId11"/>
    <p:sldId id="359" r:id="rId12"/>
    <p:sldId id="352" r:id="rId13"/>
    <p:sldId id="361" r:id="rId14"/>
    <p:sldId id="353" r:id="rId15"/>
    <p:sldId id="362" r:id="rId16"/>
    <p:sldId id="363" r:id="rId17"/>
    <p:sldId id="354" r:id="rId18"/>
    <p:sldId id="355" r:id="rId19"/>
    <p:sldId id="257" r:id="rId20"/>
    <p:sldId id="259" r:id="rId21"/>
    <p:sldId id="260" r:id="rId22"/>
    <p:sldId id="364" r:id="rId23"/>
    <p:sldId id="261" r:id="rId24"/>
    <p:sldId id="262" r:id="rId25"/>
    <p:sldId id="263" r:id="rId26"/>
    <p:sldId id="365" r:id="rId27"/>
    <p:sldId id="264" r:id="rId28"/>
    <p:sldId id="265" r:id="rId29"/>
    <p:sldId id="266" r:id="rId30"/>
    <p:sldId id="267" r:id="rId31"/>
    <p:sldId id="268" r:id="rId32"/>
    <p:sldId id="269" r:id="rId33"/>
    <p:sldId id="271" r:id="rId34"/>
    <p:sldId id="272" r:id="rId35"/>
    <p:sldId id="274" r:id="rId36"/>
    <p:sldId id="366" r:id="rId37"/>
    <p:sldId id="275" r:id="rId38"/>
    <p:sldId id="276" r:id="rId39"/>
    <p:sldId id="367" r:id="rId40"/>
    <p:sldId id="368" r:id="rId41"/>
    <p:sldId id="277" r:id="rId42"/>
    <p:sldId id="278" r:id="rId43"/>
    <p:sldId id="279" r:id="rId44"/>
    <p:sldId id="280" r:id="rId45"/>
    <p:sldId id="281" r:id="rId46"/>
    <p:sldId id="283" r:id="rId47"/>
    <p:sldId id="284" r:id="rId48"/>
    <p:sldId id="285" r:id="rId49"/>
    <p:sldId id="288" r:id="rId50"/>
    <p:sldId id="337" r:id="rId51"/>
    <p:sldId id="338" r:id="rId52"/>
    <p:sldId id="286" r:id="rId53"/>
    <p:sldId id="301" r:id="rId54"/>
    <p:sldId id="302" r:id="rId55"/>
    <p:sldId id="310" r:id="rId56"/>
    <p:sldId id="311" r:id="rId57"/>
    <p:sldId id="339" r:id="rId58"/>
    <p:sldId id="340" r:id="rId59"/>
    <p:sldId id="341" r:id="rId60"/>
    <p:sldId id="306" r:id="rId61"/>
    <p:sldId id="309" r:id="rId62"/>
    <p:sldId id="342" r:id="rId63"/>
    <p:sldId id="314" r:id="rId64"/>
    <p:sldId id="369" r:id="rId65"/>
    <p:sldId id="326" r:id="rId66"/>
    <p:sldId id="315" r:id="rId67"/>
    <p:sldId id="316" r:id="rId68"/>
    <p:sldId id="325" r:id="rId69"/>
    <p:sldId id="318" r:id="rId70"/>
    <p:sldId id="319" r:id="rId71"/>
    <p:sldId id="282" r:id="rId72"/>
    <p:sldId id="321" r:id="rId73"/>
    <p:sldId id="320" r:id="rId74"/>
    <p:sldId id="322" r:id="rId75"/>
    <p:sldId id="323" r:id="rId76"/>
    <p:sldId id="324" r:id="rId77"/>
    <p:sldId id="327" r:id="rId78"/>
    <p:sldId id="328" r:id="rId79"/>
    <p:sldId id="329" r:id="rId80"/>
    <p:sldId id="330" r:id="rId81"/>
    <p:sldId id="331" r:id="rId82"/>
    <p:sldId id="332" r:id="rId83"/>
    <p:sldId id="334" r:id="rId84"/>
    <p:sldId id="333" r:id="rId85"/>
    <p:sldId id="335" r:id="rId86"/>
    <p:sldId id="336" r:id="rId87"/>
    <p:sldId id="343"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629"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53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es-ES"/>
          </a:p>
        </p:txBody>
      </p:sp>
      <p:sp>
        <p:nvSpPr>
          <p:cNvPr id="163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endParaRPr lang="es-ES"/>
          </a:p>
        </p:txBody>
      </p:sp>
      <p:sp>
        <p:nvSpPr>
          <p:cNvPr id="1536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3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es-ES"/>
          </a:p>
        </p:txBody>
      </p:sp>
      <p:sp>
        <p:nvSpPr>
          <p:cNvPr id="163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48DC0187-FE85-154E-AC0F-E37FADA249DA}" type="slidenum">
              <a:rPr lang="en-US"/>
              <a:pPr/>
              <a:t>‹Nº›</a:t>
            </a:fld>
            <a:endParaRPr lang="en-US"/>
          </a:p>
        </p:txBody>
      </p:sp>
    </p:spTree>
    <p:extLst>
      <p:ext uri="{BB962C8B-B14F-4D97-AF65-F5344CB8AC3E}">
        <p14:creationId xmlns:p14="http://schemas.microsoft.com/office/powerpoint/2010/main" val="1492584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di.ujaen.es/~lina/TemasSO/glosario/GLOSARIO.ht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di.ujaen.es/~lina/TemasSO/glosario/GLOSARIO.ht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di.ujaen.es/~lina/TemasSO/glosario/GLOSARIO.htm"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1200" dirty="0"/>
              <a:t>Los trabajos se traducían mediante compiladores y </a:t>
            </a:r>
            <a:r>
              <a:rPr lang="es-MX" sz="1200" b="1" dirty="0">
                <a:hlinkClick r:id="rId3"/>
              </a:rPr>
              <a:t>ensambladores</a:t>
            </a:r>
            <a:r>
              <a:rPr lang="es-MX" sz="1200" dirty="0"/>
              <a:t> absolutos, para ejecutarse en una </a:t>
            </a:r>
            <a:r>
              <a:rPr lang="es-MX" sz="1200" b="1" dirty="0">
                <a:hlinkClick r:id="rId3"/>
              </a:rPr>
              <a:t>partición</a:t>
            </a:r>
            <a:r>
              <a:rPr lang="es-MX" sz="1200" b="1" u="sng" dirty="0"/>
              <a:t> </a:t>
            </a:r>
            <a:r>
              <a:rPr lang="es-MX" sz="1200" dirty="0"/>
              <a:t>específica. Si un trabajo se iniciaba, y la partición para la que estaba compilado estaba ocupada, tenía que esperar, aunque estuvieran libres otras particiones. Esto provoca una pérdida de eficiencia.</a:t>
            </a:r>
          </a:p>
          <a:p>
            <a:endParaRPr lang="es-MX" dirty="0"/>
          </a:p>
        </p:txBody>
      </p:sp>
      <p:sp>
        <p:nvSpPr>
          <p:cNvPr id="4" name="3 Marcador de número de diapositiva"/>
          <p:cNvSpPr>
            <a:spLocks noGrp="1"/>
          </p:cNvSpPr>
          <p:nvPr>
            <p:ph type="sldNum" sz="quarter" idx="10"/>
          </p:nvPr>
        </p:nvSpPr>
        <p:spPr/>
        <p:txBody>
          <a:bodyPr/>
          <a:lstStyle/>
          <a:p>
            <a:fld id="{B9BDBF7D-65B2-4519-AD0A-F14DB73160A5}" type="slidenum">
              <a:rPr lang="es-MX" smtClean="0"/>
              <a:pPr/>
              <a:t>9</a:t>
            </a:fld>
            <a:endParaRPr lang="es-MX"/>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1200" dirty="0"/>
              <a:t>Los trabajos se traducían mediante compiladores y </a:t>
            </a:r>
            <a:r>
              <a:rPr lang="es-MX" sz="1200" b="1" dirty="0">
                <a:hlinkClick r:id="rId3"/>
              </a:rPr>
              <a:t>ensambladores</a:t>
            </a:r>
            <a:r>
              <a:rPr lang="es-MX" sz="1200" dirty="0"/>
              <a:t> absolutos, para ejecutarse en una </a:t>
            </a:r>
            <a:r>
              <a:rPr lang="es-MX" sz="1200" b="1" dirty="0">
                <a:hlinkClick r:id="rId3"/>
              </a:rPr>
              <a:t>partición</a:t>
            </a:r>
            <a:r>
              <a:rPr lang="es-MX" sz="1200" b="1" u="sng" dirty="0"/>
              <a:t> </a:t>
            </a:r>
            <a:r>
              <a:rPr lang="es-MX" sz="1200" dirty="0"/>
              <a:t>específica. Si un trabajo se iniciaba, y la partición para la que estaba compilado estaba ocupada, tenía que esperar, aunque estuvieran libres otras particiones. Esto provoca una pérdida de eficiencia.</a:t>
            </a:r>
          </a:p>
          <a:p>
            <a:endParaRPr lang="es-MX" dirty="0"/>
          </a:p>
        </p:txBody>
      </p:sp>
      <p:sp>
        <p:nvSpPr>
          <p:cNvPr id="4" name="3 Marcador de número de diapositiva"/>
          <p:cNvSpPr>
            <a:spLocks noGrp="1"/>
          </p:cNvSpPr>
          <p:nvPr>
            <p:ph type="sldNum" sz="quarter" idx="10"/>
          </p:nvPr>
        </p:nvSpPr>
        <p:spPr/>
        <p:txBody>
          <a:bodyPr/>
          <a:lstStyle/>
          <a:p>
            <a:fld id="{B9BDBF7D-65B2-4519-AD0A-F14DB73160A5}" type="slidenum">
              <a:rPr lang="es-MX" smtClean="0"/>
              <a:pPr/>
              <a:t>11</a:t>
            </a:fld>
            <a:endParaRPr 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1200" dirty="0"/>
              <a:t>Los trabajos se traducían mediante compiladores y </a:t>
            </a:r>
            <a:r>
              <a:rPr lang="es-MX" sz="1200" b="1" dirty="0">
                <a:hlinkClick r:id="rId3"/>
              </a:rPr>
              <a:t>ensambladores</a:t>
            </a:r>
            <a:r>
              <a:rPr lang="es-MX" sz="1200" dirty="0"/>
              <a:t> absolutos, para ejecutarse en una </a:t>
            </a:r>
            <a:r>
              <a:rPr lang="es-MX" sz="1200" b="1" dirty="0">
                <a:hlinkClick r:id="rId3"/>
              </a:rPr>
              <a:t>partición</a:t>
            </a:r>
            <a:r>
              <a:rPr lang="es-MX" sz="1200" b="1" u="sng" dirty="0"/>
              <a:t> </a:t>
            </a:r>
            <a:r>
              <a:rPr lang="es-MX" sz="1200" dirty="0"/>
              <a:t>específica. Si un trabajo se iniciaba, y la partición para la que estaba compilado estaba ocupada, tenía que esperar, aunque estuvieran libres otras particiones. Esto provoca una pérdida de eficiencia.</a:t>
            </a:r>
          </a:p>
          <a:p>
            <a:endParaRPr lang="es-MX" dirty="0"/>
          </a:p>
        </p:txBody>
      </p:sp>
      <p:sp>
        <p:nvSpPr>
          <p:cNvPr id="4" name="3 Marcador de número de diapositiva"/>
          <p:cNvSpPr>
            <a:spLocks noGrp="1"/>
          </p:cNvSpPr>
          <p:nvPr>
            <p:ph type="sldNum" sz="quarter" idx="10"/>
          </p:nvPr>
        </p:nvSpPr>
        <p:spPr/>
        <p:txBody>
          <a:bodyPr/>
          <a:lstStyle/>
          <a:p>
            <a:fld id="{B9BDBF7D-65B2-4519-AD0A-F14DB73160A5}" type="slidenum">
              <a:rPr lang="es-MX" smtClean="0"/>
              <a:pPr/>
              <a:t>13</a:t>
            </a:fld>
            <a:endParaRPr lang="es-MX"/>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Marcador de imagen de diapositiva"/>
          <p:cNvSpPr>
            <a:spLocks noGrp="1" noRot="1" noChangeAspect="1" noTextEdit="1"/>
          </p:cNvSpPr>
          <p:nvPr>
            <p:ph type="sldImg"/>
          </p:nvPr>
        </p:nvSpPr>
        <p:spPr>
          <a:xfrm>
            <a:off x="381000" y="685800"/>
            <a:ext cx="6096000" cy="3429000"/>
          </a:xfrm>
          <a:ln/>
        </p:spPr>
      </p:sp>
      <p:sp>
        <p:nvSpPr>
          <p:cNvPr id="1741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741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20877D56-92C1-B341-89D3-4282F96F5DAF}" type="slidenum">
              <a:rPr lang="en-US" sz="1200">
                <a:latin typeface="Arial" charset="0"/>
              </a:rPr>
              <a:pPr eaLnBrk="1" hangingPunct="1"/>
              <a:t>19</a:t>
            </a:fld>
            <a:endParaRPr lang="en-US" sz="120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1 Marcador de imagen de diapositiva"/>
          <p:cNvSpPr>
            <a:spLocks noGrp="1" noRot="1" noChangeAspect="1" noTextEdit="1"/>
          </p:cNvSpPr>
          <p:nvPr>
            <p:ph type="sldImg"/>
          </p:nvPr>
        </p:nvSpPr>
        <p:spPr>
          <a:xfrm>
            <a:off x="381000" y="685800"/>
            <a:ext cx="6096000" cy="3429000"/>
          </a:xfrm>
          <a:ln/>
        </p:spPr>
      </p:sp>
      <p:sp>
        <p:nvSpPr>
          <p:cNvPr id="1945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946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ACBD297-17CC-6341-BF81-BBCBCDCC511F}" type="slidenum">
              <a:rPr lang="en-US" sz="1200">
                <a:latin typeface="Arial" charset="0"/>
              </a:rPr>
              <a:pPr eaLnBrk="1" hangingPunct="1"/>
              <a:t>20</a:t>
            </a:fld>
            <a:endParaRPr lang="en-US" sz="120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Marcador de imagen de diapositiva"/>
          <p:cNvSpPr>
            <a:spLocks noGrp="1" noRot="1" noChangeAspect="1" noTextEdit="1"/>
          </p:cNvSpPr>
          <p:nvPr>
            <p:ph type="sldImg"/>
          </p:nvPr>
        </p:nvSpPr>
        <p:spPr>
          <a:xfrm>
            <a:off x="381000" y="685800"/>
            <a:ext cx="6096000" cy="3429000"/>
          </a:xfrm>
          <a:ln/>
        </p:spPr>
      </p:sp>
      <p:sp>
        <p:nvSpPr>
          <p:cNvPr id="2150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2150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71C2B89-4B86-4748-ACEB-80C70CD01856}" type="slidenum">
              <a:rPr lang="en-US" sz="1200">
                <a:latin typeface="Arial" charset="0"/>
              </a:rPr>
              <a:pPr eaLnBrk="1" hangingPunct="1"/>
              <a:t>21</a:t>
            </a:fld>
            <a:endParaRPr lang="en-US" sz="120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spcBef>
                <a:spcPts val="600"/>
              </a:spcBef>
              <a:spcAft>
                <a:spcPts val="600"/>
              </a:spcAft>
            </a:pPr>
            <a:r>
              <a:rPr lang="es-MX" sz="1200" dirty="0"/>
              <a:t>Se </a:t>
            </a:r>
            <a:r>
              <a:rPr lang="es-MX" sz="1200" dirty="0" err="1"/>
              <a:t>particiona</a:t>
            </a:r>
            <a:r>
              <a:rPr lang="es-MX" sz="1200" dirty="0"/>
              <a:t> la memoria y los procesos en pequeños trozos de tamaño fijo, de tal forma que los trozos de los procesos serán colocados en los huecos de la memoria.</a:t>
            </a:r>
          </a:p>
          <a:p>
            <a:pPr>
              <a:spcBef>
                <a:spcPts val="600"/>
              </a:spcBef>
              <a:spcAft>
                <a:spcPts val="600"/>
              </a:spcAft>
            </a:pPr>
            <a:r>
              <a:rPr lang="es-MX" sz="1200" dirty="0"/>
              <a:t>Cada trozo de un proceso se llama página y a cada trozo de memoria será llamado marco o marco de página.</a:t>
            </a:r>
          </a:p>
          <a:p>
            <a:pPr>
              <a:spcBef>
                <a:spcPts val="600"/>
              </a:spcBef>
              <a:spcAft>
                <a:spcPts val="600"/>
              </a:spcAft>
            </a:pPr>
            <a:r>
              <a:rPr lang="es-MX" sz="1200" dirty="0"/>
              <a:t>Esta técnica de administración de memoria también utiliza el concepto de dirección lógica, donde el sistema operativo mantiene una tabla de páginas para cada proceso. Dentro del programa cada dirección lógica constará de un número de página y de un desplazamiento dentro de la página.</a:t>
            </a:r>
          </a:p>
          <a:p>
            <a:endParaRPr lang="es-MX" dirty="0"/>
          </a:p>
        </p:txBody>
      </p:sp>
      <p:sp>
        <p:nvSpPr>
          <p:cNvPr id="4" name="3 Marcador de número de diapositiva"/>
          <p:cNvSpPr>
            <a:spLocks noGrp="1"/>
          </p:cNvSpPr>
          <p:nvPr>
            <p:ph type="sldNum" sz="quarter" idx="10"/>
          </p:nvPr>
        </p:nvSpPr>
        <p:spPr/>
        <p:txBody>
          <a:bodyPr/>
          <a:lstStyle/>
          <a:p>
            <a:fld id="{B9BDBF7D-65B2-4519-AD0A-F14DB73160A5}" type="slidenum">
              <a:rPr lang="es-MX" smtClean="0"/>
              <a:pPr/>
              <a:t>22</a:t>
            </a:fld>
            <a:endParaRPr 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Marcador de imagen de diapositiva"/>
          <p:cNvSpPr>
            <a:spLocks noGrp="1" noRot="1" noChangeAspect="1" noTextEdit="1"/>
          </p:cNvSpPr>
          <p:nvPr>
            <p:ph type="sldImg"/>
          </p:nvPr>
        </p:nvSpPr>
        <p:spPr>
          <a:xfrm>
            <a:off x="381000" y="685800"/>
            <a:ext cx="6096000" cy="3429000"/>
          </a:xfrm>
          <a:ln/>
        </p:spPr>
      </p:sp>
      <p:sp>
        <p:nvSpPr>
          <p:cNvPr id="2355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2355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7F426C8-D545-FA40-8D06-1269CAFA35C7}" type="slidenum">
              <a:rPr lang="en-US" sz="1200">
                <a:latin typeface="Arial" charset="0"/>
              </a:rPr>
              <a:pPr eaLnBrk="1" hangingPunct="1"/>
              <a:t>23</a:t>
            </a:fld>
            <a:endParaRPr lang="en-US" sz="120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Marcador de imagen de diapositiva"/>
          <p:cNvSpPr>
            <a:spLocks noGrp="1" noRot="1" noChangeAspect="1" noTextEdit="1"/>
          </p:cNvSpPr>
          <p:nvPr>
            <p:ph type="sldImg"/>
          </p:nvPr>
        </p:nvSpPr>
        <p:spPr>
          <a:xfrm>
            <a:off x="381000" y="685800"/>
            <a:ext cx="6096000" cy="3429000"/>
          </a:xfrm>
          <a:ln/>
        </p:spPr>
      </p:sp>
      <p:sp>
        <p:nvSpPr>
          <p:cNvPr id="2560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2560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E958728-15D8-B948-8432-A567D7E7064C}" type="slidenum">
              <a:rPr lang="en-US" sz="1200">
                <a:latin typeface="Arial" charset="0"/>
              </a:rPr>
              <a:pPr eaLnBrk="1" hangingPunct="1"/>
              <a:t>24</a:t>
            </a:fld>
            <a:endParaRPr lang="en-US" sz="120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Marcador de imagen de diapositiva"/>
          <p:cNvSpPr>
            <a:spLocks noGrp="1" noRot="1" noChangeAspect="1" noTextEdit="1"/>
          </p:cNvSpPr>
          <p:nvPr>
            <p:ph type="sldImg"/>
          </p:nvPr>
        </p:nvSpPr>
        <p:spPr>
          <a:xfrm>
            <a:off x="381000" y="685800"/>
            <a:ext cx="6096000" cy="3429000"/>
          </a:xfrm>
          <a:ln/>
        </p:spPr>
      </p:sp>
      <p:sp>
        <p:nvSpPr>
          <p:cNvPr id="2765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2765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F47D057-BAF2-F14D-8BC9-44B721B613EC}" type="slidenum">
              <a:rPr lang="en-US" sz="1200">
                <a:latin typeface="Arial" charset="0"/>
              </a:rPr>
              <a:pPr eaLnBrk="1" hangingPunct="1"/>
              <a:t>25</a:t>
            </a:fld>
            <a:endParaRPr lang="en-US" sz="120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Marcador de imagen de diapositiva"/>
          <p:cNvSpPr>
            <a:spLocks noGrp="1" noRot="1" noChangeAspect="1" noTextEdit="1"/>
          </p:cNvSpPr>
          <p:nvPr>
            <p:ph type="sldImg"/>
          </p:nvPr>
        </p:nvSpPr>
        <p:spPr>
          <a:xfrm>
            <a:off x="381000" y="685800"/>
            <a:ext cx="6096000" cy="3429000"/>
          </a:xfrm>
          <a:ln/>
        </p:spPr>
      </p:sp>
      <p:sp>
        <p:nvSpPr>
          <p:cNvPr id="2969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2970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BEA54E07-C2CB-4549-AF91-FF76239860DE}" type="slidenum">
              <a:rPr lang="en-US" sz="1200">
                <a:latin typeface="Arial" charset="0"/>
              </a:rPr>
              <a:pPr eaLnBrk="1" hangingPunct="1"/>
              <a:t>27</a:t>
            </a:fld>
            <a:endParaRPr lang="en-US" sz="120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Marcador de imagen de diapositiva"/>
          <p:cNvSpPr>
            <a:spLocks noGrp="1" noRot="1" noChangeAspect="1" noTextEdit="1"/>
          </p:cNvSpPr>
          <p:nvPr>
            <p:ph type="sldImg"/>
          </p:nvPr>
        </p:nvSpPr>
        <p:spPr>
          <a:xfrm>
            <a:off x="381000" y="685800"/>
            <a:ext cx="6096000" cy="3429000"/>
          </a:xfrm>
          <a:ln/>
        </p:spPr>
      </p:sp>
      <p:sp>
        <p:nvSpPr>
          <p:cNvPr id="3174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3174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9DF1825D-1625-2543-8334-CBDFC415F777}" type="slidenum">
              <a:rPr lang="en-US" sz="1200">
                <a:latin typeface="Arial" charset="0"/>
              </a:rPr>
              <a:pPr eaLnBrk="1" hangingPunct="1"/>
              <a:t>28</a:t>
            </a:fld>
            <a:endParaRPr lang="en-US" sz="120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Marcador de imagen de diapositiva"/>
          <p:cNvSpPr>
            <a:spLocks noGrp="1" noRot="1" noChangeAspect="1" noTextEdit="1"/>
          </p:cNvSpPr>
          <p:nvPr>
            <p:ph type="sldImg"/>
          </p:nvPr>
        </p:nvSpPr>
        <p:spPr>
          <a:xfrm>
            <a:off x="381000" y="685800"/>
            <a:ext cx="6096000" cy="3429000"/>
          </a:xfrm>
          <a:ln/>
        </p:spPr>
      </p:sp>
      <p:sp>
        <p:nvSpPr>
          <p:cNvPr id="3379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3379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D83A4A7-3D25-0C44-BEAA-2F709BF2F956}" type="slidenum">
              <a:rPr lang="en-US" sz="1200">
                <a:latin typeface="Arial" charset="0"/>
              </a:rPr>
              <a:pPr eaLnBrk="1" hangingPunct="1"/>
              <a:t>29</a:t>
            </a:fld>
            <a:endParaRPr lang="en-US" sz="1200">
              <a:latin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Marcador de imagen de diapositiva"/>
          <p:cNvSpPr>
            <a:spLocks noGrp="1" noRot="1" noChangeAspect="1" noTextEdit="1"/>
          </p:cNvSpPr>
          <p:nvPr>
            <p:ph type="sldImg"/>
          </p:nvPr>
        </p:nvSpPr>
        <p:spPr>
          <a:xfrm>
            <a:off x="381000" y="685800"/>
            <a:ext cx="6096000" cy="3429000"/>
          </a:xfrm>
          <a:ln/>
        </p:spPr>
      </p:sp>
      <p:sp>
        <p:nvSpPr>
          <p:cNvPr id="3584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3584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0FAF330-711F-A547-A076-D71835EE986B}" type="slidenum">
              <a:rPr lang="en-US" sz="1200">
                <a:latin typeface="Arial" charset="0"/>
              </a:rPr>
              <a:pPr eaLnBrk="1" hangingPunct="1"/>
              <a:t>30</a:t>
            </a:fld>
            <a:endParaRPr lang="en-US" sz="120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1 Marcador de imagen de diapositiva"/>
          <p:cNvSpPr>
            <a:spLocks noGrp="1" noRot="1" noChangeAspect="1" noTextEdit="1"/>
          </p:cNvSpPr>
          <p:nvPr>
            <p:ph type="sldImg"/>
          </p:nvPr>
        </p:nvSpPr>
        <p:spPr>
          <a:xfrm>
            <a:off x="381000" y="685800"/>
            <a:ext cx="6096000" cy="3429000"/>
          </a:xfrm>
          <a:ln/>
        </p:spPr>
      </p:sp>
      <p:sp>
        <p:nvSpPr>
          <p:cNvPr id="3789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3789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BE91E62E-5EF5-E049-86CF-EA0A05E04E33}" type="slidenum">
              <a:rPr lang="en-US" sz="1200">
                <a:latin typeface="Arial" charset="0"/>
              </a:rPr>
              <a:pPr eaLnBrk="1" hangingPunct="1"/>
              <a:t>31</a:t>
            </a:fld>
            <a:endParaRPr lang="en-US" sz="1200">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1 Marcador de imagen de diapositiva"/>
          <p:cNvSpPr>
            <a:spLocks noGrp="1" noRot="1" noChangeAspect="1" noTextEdit="1"/>
          </p:cNvSpPr>
          <p:nvPr>
            <p:ph type="sldImg"/>
          </p:nvPr>
        </p:nvSpPr>
        <p:spPr>
          <a:xfrm>
            <a:off x="381000" y="685800"/>
            <a:ext cx="6096000" cy="3429000"/>
          </a:xfrm>
          <a:ln/>
        </p:spPr>
      </p:sp>
      <p:sp>
        <p:nvSpPr>
          <p:cNvPr id="3993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3994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CCF3804F-2011-0949-832C-67C8FB871409}" type="slidenum">
              <a:rPr lang="en-US" sz="1200">
                <a:latin typeface="Arial" charset="0"/>
              </a:rPr>
              <a:pPr eaLnBrk="1" hangingPunct="1"/>
              <a:t>32</a:t>
            </a:fld>
            <a:endParaRPr lang="en-US" sz="120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Marcador de imagen de diapositiva"/>
          <p:cNvSpPr>
            <a:spLocks noGrp="1" noRot="1" noChangeAspect="1" noTextEdit="1"/>
          </p:cNvSpPr>
          <p:nvPr>
            <p:ph type="sldImg"/>
          </p:nvPr>
        </p:nvSpPr>
        <p:spPr>
          <a:xfrm>
            <a:off x="381000" y="685800"/>
            <a:ext cx="6096000" cy="3429000"/>
          </a:xfrm>
          <a:ln/>
        </p:spPr>
      </p:sp>
      <p:sp>
        <p:nvSpPr>
          <p:cNvPr id="4198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4198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F1E82C2-9D3F-3F42-A751-CAFFBAE10DE8}" type="slidenum">
              <a:rPr lang="en-US" sz="1200">
                <a:latin typeface="Arial" charset="0"/>
              </a:rPr>
              <a:pPr eaLnBrk="1" hangingPunct="1"/>
              <a:t>33</a:t>
            </a:fld>
            <a:endParaRPr lang="en-US" sz="120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1 Marcador de imagen de diapositiva"/>
          <p:cNvSpPr>
            <a:spLocks noGrp="1" noRot="1" noChangeAspect="1" noTextEdit="1"/>
          </p:cNvSpPr>
          <p:nvPr>
            <p:ph type="sldImg"/>
          </p:nvPr>
        </p:nvSpPr>
        <p:spPr>
          <a:xfrm>
            <a:off x="381000" y="685800"/>
            <a:ext cx="6096000" cy="3429000"/>
          </a:xfrm>
          <a:ln/>
        </p:spPr>
      </p:sp>
      <p:sp>
        <p:nvSpPr>
          <p:cNvPr id="4608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4608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B3E96CFF-AE56-B74E-A843-BF1B951DA7E2}" type="slidenum">
              <a:rPr lang="en-US" sz="1200">
                <a:latin typeface="Arial" charset="0"/>
              </a:rPr>
              <a:pPr eaLnBrk="1" hangingPunct="1"/>
              <a:t>34</a:t>
            </a:fld>
            <a:endParaRPr lang="en-US" sz="120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1 Marcador de imagen de diapositiva"/>
          <p:cNvSpPr>
            <a:spLocks noGrp="1" noRot="1" noChangeAspect="1" noTextEdit="1"/>
          </p:cNvSpPr>
          <p:nvPr>
            <p:ph type="sldImg"/>
          </p:nvPr>
        </p:nvSpPr>
        <p:spPr>
          <a:xfrm>
            <a:off x="381000" y="685800"/>
            <a:ext cx="6096000" cy="3429000"/>
          </a:xfrm>
          <a:ln/>
        </p:spPr>
      </p:sp>
      <p:sp>
        <p:nvSpPr>
          <p:cNvPr id="4813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4813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421A28B-7CC3-874D-A119-303F21731269}" type="slidenum">
              <a:rPr lang="en-US" sz="1200">
                <a:latin typeface="Arial" charset="0"/>
              </a:rPr>
              <a:pPr eaLnBrk="1" hangingPunct="1"/>
              <a:t>35</a:t>
            </a:fld>
            <a:endParaRPr lang="en-US" sz="1200">
              <a:latin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spcBef>
                <a:spcPts val="600"/>
              </a:spcBef>
              <a:spcAft>
                <a:spcPts val="600"/>
              </a:spcAft>
            </a:pPr>
            <a:r>
              <a:rPr lang="es-MX" sz="1200" dirty="0"/>
              <a:t>Esta técnica de administración de memoria también utiliza el concepto de dirección lógica, donde el sistema operativo mantiene una tabla de páginas para cada proceso. Dentro del programa cada dirección lógica constará de un número de página y de un desplazamiento dentro de la página.</a:t>
            </a:r>
          </a:p>
        </p:txBody>
      </p:sp>
      <p:sp>
        <p:nvSpPr>
          <p:cNvPr id="4" name="3 Marcador de número de diapositiva"/>
          <p:cNvSpPr>
            <a:spLocks noGrp="1"/>
          </p:cNvSpPr>
          <p:nvPr>
            <p:ph type="sldNum" sz="quarter" idx="10"/>
          </p:nvPr>
        </p:nvSpPr>
        <p:spPr/>
        <p:txBody>
          <a:bodyPr/>
          <a:lstStyle/>
          <a:p>
            <a:fld id="{B9BDBF7D-65B2-4519-AD0A-F14DB73160A5}" type="slidenum">
              <a:rPr lang="es-MX" smtClean="0"/>
              <a:pPr/>
              <a:t>36</a:t>
            </a:fld>
            <a:endParaRPr lang="es-MX"/>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1 Marcador de imagen de diapositiva"/>
          <p:cNvSpPr>
            <a:spLocks noGrp="1" noRot="1" noChangeAspect="1" noTextEdit="1"/>
          </p:cNvSpPr>
          <p:nvPr>
            <p:ph type="sldImg"/>
          </p:nvPr>
        </p:nvSpPr>
        <p:spPr>
          <a:xfrm>
            <a:off x="381000" y="685800"/>
            <a:ext cx="6096000" cy="3429000"/>
          </a:xfrm>
          <a:ln/>
        </p:spPr>
      </p:sp>
      <p:sp>
        <p:nvSpPr>
          <p:cNvPr id="5017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5018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26E9FD2-EBF8-A743-8C58-E08E91DD622F}" type="slidenum">
              <a:rPr lang="en-US" sz="1200">
                <a:latin typeface="Arial" charset="0"/>
              </a:rPr>
              <a:pPr eaLnBrk="1" hangingPunct="1"/>
              <a:t>37</a:t>
            </a:fld>
            <a:endParaRPr lang="en-US" sz="120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1 Marcador de imagen de diapositiva"/>
          <p:cNvSpPr>
            <a:spLocks noGrp="1" noRot="1" noChangeAspect="1" noTextEdit="1"/>
          </p:cNvSpPr>
          <p:nvPr>
            <p:ph type="sldImg"/>
          </p:nvPr>
        </p:nvSpPr>
        <p:spPr>
          <a:xfrm>
            <a:off x="381000" y="685800"/>
            <a:ext cx="6096000" cy="3429000"/>
          </a:xfrm>
          <a:ln/>
        </p:spPr>
      </p:sp>
      <p:sp>
        <p:nvSpPr>
          <p:cNvPr id="5222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5222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A1DB3AC-0D28-9A42-AE6D-967EAF5A94AE}" type="slidenum">
              <a:rPr lang="en-US" sz="1200">
                <a:latin typeface="Arial" charset="0"/>
              </a:rPr>
              <a:pPr eaLnBrk="1" hangingPunct="1"/>
              <a:t>38</a:t>
            </a:fld>
            <a:endParaRPr lang="en-US" sz="120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1 Marcador de imagen de diapositiva"/>
          <p:cNvSpPr>
            <a:spLocks noGrp="1" noRot="1" noChangeAspect="1" noTextEdit="1"/>
          </p:cNvSpPr>
          <p:nvPr>
            <p:ph type="sldImg"/>
          </p:nvPr>
        </p:nvSpPr>
        <p:spPr>
          <a:xfrm>
            <a:off x="381000" y="685800"/>
            <a:ext cx="6096000" cy="3429000"/>
          </a:xfrm>
          <a:ln/>
        </p:spPr>
      </p:sp>
      <p:sp>
        <p:nvSpPr>
          <p:cNvPr id="5427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5427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1664438-BD9A-3742-87C9-82E871D100F0}" type="slidenum">
              <a:rPr lang="en-US" sz="1200">
                <a:latin typeface="Arial" charset="0"/>
              </a:rPr>
              <a:pPr eaLnBrk="1" hangingPunct="1"/>
              <a:t>41</a:t>
            </a:fld>
            <a:endParaRPr lang="en-US" sz="1200">
              <a:latin typeface="Arial"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Marcador de imagen de diapositiva"/>
          <p:cNvSpPr>
            <a:spLocks noGrp="1" noRot="1" noChangeAspect="1" noTextEdit="1"/>
          </p:cNvSpPr>
          <p:nvPr>
            <p:ph type="sldImg"/>
          </p:nvPr>
        </p:nvSpPr>
        <p:spPr>
          <a:xfrm>
            <a:off x="381000" y="685800"/>
            <a:ext cx="6096000" cy="3429000"/>
          </a:xfrm>
          <a:ln/>
        </p:spPr>
      </p:sp>
      <p:sp>
        <p:nvSpPr>
          <p:cNvPr id="5632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5632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4A550D4E-B0A7-C84B-95B6-4C5C7D95874C}" type="slidenum">
              <a:rPr lang="en-US" sz="1200">
                <a:latin typeface="Arial" charset="0"/>
              </a:rPr>
              <a:pPr eaLnBrk="1" hangingPunct="1"/>
              <a:t>42</a:t>
            </a:fld>
            <a:endParaRPr lang="en-US" sz="120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1 Marcador de imagen de diapositiva"/>
          <p:cNvSpPr>
            <a:spLocks noGrp="1" noRot="1" noChangeAspect="1" noTextEdit="1"/>
          </p:cNvSpPr>
          <p:nvPr>
            <p:ph type="sldImg"/>
          </p:nvPr>
        </p:nvSpPr>
        <p:spPr>
          <a:xfrm>
            <a:off x="381000" y="685800"/>
            <a:ext cx="6096000" cy="3429000"/>
          </a:xfrm>
          <a:ln/>
        </p:spPr>
      </p:sp>
      <p:sp>
        <p:nvSpPr>
          <p:cNvPr id="5837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5837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F702076-1EF6-964C-94AD-596FE962EA4B}" type="slidenum">
              <a:rPr lang="en-US" sz="1200">
                <a:latin typeface="Arial" charset="0"/>
              </a:rPr>
              <a:pPr eaLnBrk="1" hangingPunct="1"/>
              <a:t>43</a:t>
            </a:fld>
            <a:endParaRPr lang="en-US" sz="1200">
              <a:latin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Marcador de imagen de diapositiva"/>
          <p:cNvSpPr>
            <a:spLocks noGrp="1" noRot="1" noChangeAspect="1" noTextEdit="1"/>
          </p:cNvSpPr>
          <p:nvPr>
            <p:ph type="sldImg"/>
          </p:nvPr>
        </p:nvSpPr>
        <p:spPr>
          <a:xfrm>
            <a:off x="381000" y="685800"/>
            <a:ext cx="6096000" cy="3429000"/>
          </a:xfrm>
          <a:ln/>
        </p:spPr>
      </p:sp>
      <p:sp>
        <p:nvSpPr>
          <p:cNvPr id="6041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6042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C2A13CF-8DC9-7C46-A43C-75FB9E9D547D}" type="slidenum">
              <a:rPr lang="en-US" sz="1200">
                <a:latin typeface="Arial" charset="0"/>
              </a:rPr>
              <a:pPr eaLnBrk="1" hangingPunct="1"/>
              <a:t>44</a:t>
            </a:fld>
            <a:endParaRPr lang="en-US" sz="120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1 Marcador de imagen de diapositiva"/>
          <p:cNvSpPr>
            <a:spLocks noGrp="1" noRot="1" noChangeAspect="1" noTextEdit="1"/>
          </p:cNvSpPr>
          <p:nvPr>
            <p:ph type="sldImg"/>
          </p:nvPr>
        </p:nvSpPr>
        <p:spPr>
          <a:xfrm>
            <a:off x="381000" y="685800"/>
            <a:ext cx="6096000" cy="3429000"/>
          </a:xfrm>
          <a:ln/>
        </p:spPr>
      </p:sp>
      <p:sp>
        <p:nvSpPr>
          <p:cNvPr id="6246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6246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4B7B4D54-6412-8E42-81C9-815362BED9F1}" type="slidenum">
              <a:rPr lang="en-US" sz="1200">
                <a:latin typeface="Arial" charset="0"/>
              </a:rPr>
              <a:pPr eaLnBrk="1" hangingPunct="1"/>
              <a:t>45</a:t>
            </a:fld>
            <a:endParaRPr lang="en-US" sz="1200">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1 Marcador de imagen de diapositiva"/>
          <p:cNvSpPr>
            <a:spLocks noGrp="1" noRot="1" noChangeAspect="1" noTextEdit="1"/>
          </p:cNvSpPr>
          <p:nvPr>
            <p:ph type="sldImg"/>
          </p:nvPr>
        </p:nvSpPr>
        <p:spPr>
          <a:xfrm>
            <a:off x="381000" y="685800"/>
            <a:ext cx="6096000" cy="3429000"/>
          </a:xfrm>
          <a:ln/>
        </p:spPr>
      </p:sp>
      <p:sp>
        <p:nvSpPr>
          <p:cNvPr id="6451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6451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CE7E921-37B6-8242-B74A-BD5443DEF072}" type="slidenum">
              <a:rPr lang="en-US" sz="1200">
                <a:latin typeface="Arial" charset="0"/>
              </a:rPr>
              <a:pPr eaLnBrk="1" hangingPunct="1"/>
              <a:t>46</a:t>
            </a:fld>
            <a:endParaRPr lang="en-US" sz="120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1 Marcador de imagen de diapositiva"/>
          <p:cNvSpPr>
            <a:spLocks noGrp="1" noRot="1" noChangeAspect="1" noTextEdit="1"/>
          </p:cNvSpPr>
          <p:nvPr>
            <p:ph type="sldImg"/>
          </p:nvPr>
        </p:nvSpPr>
        <p:spPr>
          <a:xfrm>
            <a:off x="381000" y="685800"/>
            <a:ext cx="6096000" cy="3429000"/>
          </a:xfrm>
          <a:ln/>
        </p:spPr>
      </p:sp>
      <p:sp>
        <p:nvSpPr>
          <p:cNvPr id="6656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6656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72ACC5A-015B-0E49-A218-08FEAC735D9C}" type="slidenum">
              <a:rPr lang="en-US" sz="1200">
                <a:latin typeface="Arial" charset="0"/>
              </a:rPr>
              <a:pPr eaLnBrk="1" hangingPunct="1"/>
              <a:t>47</a:t>
            </a:fld>
            <a:endParaRPr lang="en-US" sz="1200">
              <a:latin typeface="Arial"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1 Marcador de imagen de diapositiva"/>
          <p:cNvSpPr>
            <a:spLocks noGrp="1" noRot="1" noChangeAspect="1" noTextEdit="1"/>
          </p:cNvSpPr>
          <p:nvPr>
            <p:ph type="sldImg"/>
          </p:nvPr>
        </p:nvSpPr>
        <p:spPr>
          <a:xfrm>
            <a:off x="381000" y="685800"/>
            <a:ext cx="6096000" cy="3429000"/>
          </a:xfrm>
          <a:ln/>
        </p:spPr>
      </p:sp>
      <p:sp>
        <p:nvSpPr>
          <p:cNvPr id="6861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6861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E7D030A-E5CD-3549-A4BA-6E3D00FB7A86}" type="slidenum">
              <a:rPr lang="en-US" sz="1200">
                <a:latin typeface="Arial" charset="0"/>
              </a:rPr>
              <a:pPr eaLnBrk="1" hangingPunct="1"/>
              <a:t>48</a:t>
            </a:fld>
            <a:endParaRPr lang="en-US" sz="1200">
              <a:latin typeface="Arial"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1 Marcador de imagen de diapositiva"/>
          <p:cNvSpPr>
            <a:spLocks noGrp="1" noRot="1" noChangeAspect="1" noTextEdit="1"/>
          </p:cNvSpPr>
          <p:nvPr>
            <p:ph type="sldImg"/>
          </p:nvPr>
        </p:nvSpPr>
        <p:spPr>
          <a:xfrm>
            <a:off x="381000" y="685800"/>
            <a:ext cx="6096000" cy="3429000"/>
          </a:xfrm>
          <a:ln/>
        </p:spPr>
      </p:sp>
      <p:sp>
        <p:nvSpPr>
          <p:cNvPr id="7065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7066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4B07377-92F8-3E46-9A8B-58DD976A4E3B}" type="slidenum">
              <a:rPr lang="en-US" sz="1200">
                <a:latin typeface="Arial" charset="0"/>
              </a:rPr>
              <a:pPr eaLnBrk="1" hangingPunct="1"/>
              <a:t>49</a:t>
            </a:fld>
            <a:endParaRPr lang="en-US" sz="1200">
              <a:latin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1 Marcador de imagen de diapositiva"/>
          <p:cNvSpPr>
            <a:spLocks noGrp="1" noRot="1" noChangeAspect="1" noTextEdit="1"/>
          </p:cNvSpPr>
          <p:nvPr>
            <p:ph type="sldImg"/>
          </p:nvPr>
        </p:nvSpPr>
        <p:spPr>
          <a:xfrm>
            <a:off x="381000" y="685800"/>
            <a:ext cx="6096000" cy="3429000"/>
          </a:xfrm>
          <a:ln/>
        </p:spPr>
      </p:sp>
      <p:sp>
        <p:nvSpPr>
          <p:cNvPr id="7270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7270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1731C95-EDD5-2C41-9EFC-02579809A72C}" type="slidenum">
              <a:rPr lang="en-US" sz="1200">
                <a:latin typeface="Arial" charset="0"/>
              </a:rPr>
              <a:pPr eaLnBrk="1" hangingPunct="1"/>
              <a:t>50</a:t>
            </a:fld>
            <a:endParaRPr lang="en-US" sz="1200">
              <a:latin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1 Marcador de imagen de diapositiva"/>
          <p:cNvSpPr>
            <a:spLocks noGrp="1" noRot="1" noChangeAspect="1" noTextEdit="1"/>
          </p:cNvSpPr>
          <p:nvPr>
            <p:ph type="sldImg"/>
          </p:nvPr>
        </p:nvSpPr>
        <p:spPr>
          <a:xfrm>
            <a:off x="381000" y="685800"/>
            <a:ext cx="6096000" cy="3429000"/>
          </a:xfrm>
          <a:ln/>
        </p:spPr>
      </p:sp>
      <p:sp>
        <p:nvSpPr>
          <p:cNvPr id="7475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7475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94A67C0F-939D-9145-AAB1-0C9C02A95326}" type="slidenum">
              <a:rPr lang="en-US" sz="1200">
                <a:latin typeface="Arial" charset="0"/>
              </a:rPr>
              <a:pPr eaLnBrk="1" hangingPunct="1"/>
              <a:t>51</a:t>
            </a:fld>
            <a:endParaRPr lang="en-US" sz="1200">
              <a:latin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1 Marcador de imagen de diapositiva"/>
          <p:cNvSpPr>
            <a:spLocks noGrp="1" noRot="1" noChangeAspect="1" noTextEdit="1"/>
          </p:cNvSpPr>
          <p:nvPr>
            <p:ph type="sldImg"/>
          </p:nvPr>
        </p:nvSpPr>
        <p:spPr>
          <a:xfrm>
            <a:off x="381000" y="685800"/>
            <a:ext cx="6096000" cy="3429000"/>
          </a:xfrm>
          <a:ln/>
        </p:spPr>
      </p:sp>
      <p:sp>
        <p:nvSpPr>
          <p:cNvPr id="7680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7680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06A08E1-EEAF-754C-8E97-94F6FCB71E9B}" type="slidenum">
              <a:rPr lang="en-US" sz="1200">
                <a:latin typeface="Arial" charset="0"/>
              </a:rPr>
              <a:pPr eaLnBrk="1" hangingPunct="1"/>
              <a:t>52</a:t>
            </a:fld>
            <a:endParaRPr lang="en-US" sz="1200">
              <a:latin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1 Marcador de imagen de diapositiva"/>
          <p:cNvSpPr>
            <a:spLocks noGrp="1" noRot="1" noChangeAspect="1" noTextEdit="1"/>
          </p:cNvSpPr>
          <p:nvPr>
            <p:ph type="sldImg"/>
          </p:nvPr>
        </p:nvSpPr>
        <p:spPr>
          <a:xfrm>
            <a:off x="381000" y="685800"/>
            <a:ext cx="6096000" cy="3429000"/>
          </a:xfrm>
          <a:ln/>
        </p:spPr>
      </p:sp>
      <p:sp>
        <p:nvSpPr>
          <p:cNvPr id="7885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7885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7AE9565-0EEB-DB49-A71E-CC848D8F316D}" type="slidenum">
              <a:rPr lang="en-US" sz="1200">
                <a:latin typeface="Arial" charset="0"/>
              </a:rPr>
              <a:pPr eaLnBrk="1" hangingPunct="1"/>
              <a:t>53</a:t>
            </a:fld>
            <a:endParaRPr lang="en-US" sz="1200">
              <a:latin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1 Marcador de imagen de diapositiva"/>
          <p:cNvSpPr>
            <a:spLocks noGrp="1" noRot="1" noChangeAspect="1" noTextEdit="1"/>
          </p:cNvSpPr>
          <p:nvPr>
            <p:ph type="sldImg"/>
          </p:nvPr>
        </p:nvSpPr>
        <p:spPr>
          <a:xfrm>
            <a:off x="381000" y="685800"/>
            <a:ext cx="6096000" cy="3429000"/>
          </a:xfrm>
          <a:ln/>
        </p:spPr>
      </p:sp>
      <p:sp>
        <p:nvSpPr>
          <p:cNvPr id="8089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8090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4FBCB0C-D356-8941-91CC-73C5D694A875}" type="slidenum">
              <a:rPr lang="en-US" sz="1200">
                <a:latin typeface="Arial" charset="0"/>
              </a:rPr>
              <a:pPr eaLnBrk="1" hangingPunct="1"/>
              <a:t>54</a:t>
            </a:fld>
            <a:endParaRPr lang="en-US" sz="1200">
              <a:latin typeface="Arial"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1 Marcador de imagen de diapositiva"/>
          <p:cNvSpPr>
            <a:spLocks noGrp="1" noRot="1" noChangeAspect="1" noTextEdit="1"/>
          </p:cNvSpPr>
          <p:nvPr>
            <p:ph type="sldImg"/>
          </p:nvPr>
        </p:nvSpPr>
        <p:spPr>
          <a:xfrm>
            <a:off x="381000" y="685800"/>
            <a:ext cx="6096000" cy="3429000"/>
          </a:xfrm>
          <a:ln/>
        </p:spPr>
      </p:sp>
      <p:sp>
        <p:nvSpPr>
          <p:cNvPr id="8294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8294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ED38910-E656-F245-A07B-0D8F5BCDA9D7}" type="slidenum">
              <a:rPr lang="en-US" sz="1200">
                <a:latin typeface="Arial" charset="0"/>
              </a:rPr>
              <a:pPr eaLnBrk="1" hangingPunct="1"/>
              <a:t>55</a:t>
            </a:fld>
            <a:endParaRPr lang="en-US" sz="1200">
              <a:latin typeface="Arial"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1 Marcador de imagen de diapositiva"/>
          <p:cNvSpPr>
            <a:spLocks noGrp="1" noRot="1" noChangeAspect="1" noTextEdit="1"/>
          </p:cNvSpPr>
          <p:nvPr>
            <p:ph type="sldImg"/>
          </p:nvPr>
        </p:nvSpPr>
        <p:spPr>
          <a:xfrm>
            <a:off x="381000" y="685800"/>
            <a:ext cx="6096000" cy="3429000"/>
          </a:xfrm>
          <a:ln/>
        </p:spPr>
      </p:sp>
      <p:sp>
        <p:nvSpPr>
          <p:cNvPr id="8499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8499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5662A6C-B7AE-D843-9DCD-47AC6A105468}" type="slidenum">
              <a:rPr lang="en-US" sz="1200">
                <a:latin typeface="Arial" charset="0"/>
              </a:rPr>
              <a:pPr eaLnBrk="1" hangingPunct="1"/>
              <a:t>56</a:t>
            </a:fld>
            <a:endParaRPr lang="en-US" sz="1200">
              <a:latin typeface="Arial"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1 Marcador de imagen de diapositiva"/>
          <p:cNvSpPr>
            <a:spLocks noGrp="1" noRot="1" noChangeAspect="1" noTextEdit="1"/>
          </p:cNvSpPr>
          <p:nvPr>
            <p:ph type="sldImg"/>
          </p:nvPr>
        </p:nvSpPr>
        <p:spPr>
          <a:xfrm>
            <a:off x="381000" y="685800"/>
            <a:ext cx="6096000" cy="3429000"/>
          </a:xfrm>
          <a:ln/>
        </p:spPr>
      </p:sp>
      <p:sp>
        <p:nvSpPr>
          <p:cNvPr id="8704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8704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1467B7E-F082-6445-984D-0C53A8585F9B}" type="slidenum">
              <a:rPr lang="en-US" sz="1200">
                <a:latin typeface="Arial" charset="0"/>
              </a:rPr>
              <a:pPr eaLnBrk="1" hangingPunct="1"/>
              <a:t>57</a:t>
            </a:fld>
            <a:endParaRPr lang="en-US" sz="1200">
              <a:latin typeface="Arial"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1 Marcador de imagen de diapositiva"/>
          <p:cNvSpPr>
            <a:spLocks noGrp="1" noRot="1" noChangeAspect="1" noTextEdit="1"/>
          </p:cNvSpPr>
          <p:nvPr>
            <p:ph type="sldImg"/>
          </p:nvPr>
        </p:nvSpPr>
        <p:spPr>
          <a:xfrm>
            <a:off x="381000" y="685800"/>
            <a:ext cx="6096000" cy="3429000"/>
          </a:xfrm>
          <a:ln/>
        </p:spPr>
      </p:sp>
      <p:sp>
        <p:nvSpPr>
          <p:cNvPr id="8909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8909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E06C4C2-281A-3742-9992-F77B535DFAF4}" type="slidenum">
              <a:rPr lang="en-US" sz="1200">
                <a:latin typeface="Arial" charset="0"/>
              </a:rPr>
              <a:pPr eaLnBrk="1" hangingPunct="1"/>
              <a:t>58</a:t>
            </a:fld>
            <a:endParaRPr lang="en-US" sz="1200">
              <a:latin typeface="Arial"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1 Marcador de imagen de diapositiva"/>
          <p:cNvSpPr>
            <a:spLocks noGrp="1" noRot="1" noChangeAspect="1" noTextEdit="1"/>
          </p:cNvSpPr>
          <p:nvPr>
            <p:ph type="sldImg"/>
          </p:nvPr>
        </p:nvSpPr>
        <p:spPr>
          <a:xfrm>
            <a:off x="381000" y="685800"/>
            <a:ext cx="6096000" cy="3429000"/>
          </a:xfrm>
          <a:ln/>
        </p:spPr>
      </p:sp>
      <p:sp>
        <p:nvSpPr>
          <p:cNvPr id="9113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9114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20470202-5AB2-FD41-A457-704A4E7C1CBF}" type="slidenum">
              <a:rPr lang="en-US" sz="1200">
                <a:latin typeface="Arial" charset="0"/>
              </a:rPr>
              <a:pPr eaLnBrk="1" hangingPunct="1"/>
              <a:t>59</a:t>
            </a:fld>
            <a:endParaRPr lang="en-US" sz="1200">
              <a:latin typeface="Arial"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1 Marcador de imagen de diapositiva"/>
          <p:cNvSpPr>
            <a:spLocks noGrp="1" noRot="1" noChangeAspect="1" noTextEdit="1"/>
          </p:cNvSpPr>
          <p:nvPr>
            <p:ph type="sldImg"/>
          </p:nvPr>
        </p:nvSpPr>
        <p:spPr>
          <a:xfrm>
            <a:off x="381000" y="685800"/>
            <a:ext cx="6096000" cy="3429000"/>
          </a:xfrm>
          <a:ln/>
        </p:spPr>
      </p:sp>
      <p:sp>
        <p:nvSpPr>
          <p:cNvPr id="9318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9318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B88F512-9901-E043-88E9-04A8A2FCCE22}" type="slidenum">
              <a:rPr lang="en-US" sz="1200">
                <a:latin typeface="Arial" charset="0"/>
              </a:rPr>
              <a:pPr eaLnBrk="1" hangingPunct="1"/>
              <a:t>60</a:t>
            </a:fld>
            <a:endParaRPr lang="en-US" sz="1200">
              <a:latin typeface="Arial"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1 Marcador de imagen de diapositiva"/>
          <p:cNvSpPr>
            <a:spLocks noGrp="1" noRot="1" noChangeAspect="1" noTextEdit="1"/>
          </p:cNvSpPr>
          <p:nvPr>
            <p:ph type="sldImg"/>
          </p:nvPr>
        </p:nvSpPr>
        <p:spPr>
          <a:xfrm>
            <a:off x="381000" y="685800"/>
            <a:ext cx="6096000" cy="3429000"/>
          </a:xfrm>
          <a:ln/>
        </p:spPr>
      </p:sp>
      <p:sp>
        <p:nvSpPr>
          <p:cNvPr id="9523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9523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7D3A25B7-6B8A-5B48-8414-668F282BFD24}" type="slidenum">
              <a:rPr lang="en-US" sz="1200">
                <a:latin typeface="Arial" charset="0"/>
              </a:rPr>
              <a:pPr eaLnBrk="1" hangingPunct="1"/>
              <a:t>61</a:t>
            </a:fld>
            <a:endParaRPr lang="en-US" sz="1200">
              <a:latin typeface="Arial"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1 Marcador de imagen de diapositiva"/>
          <p:cNvSpPr>
            <a:spLocks noGrp="1" noRot="1" noChangeAspect="1" noTextEdit="1"/>
          </p:cNvSpPr>
          <p:nvPr>
            <p:ph type="sldImg"/>
          </p:nvPr>
        </p:nvSpPr>
        <p:spPr>
          <a:xfrm>
            <a:off x="381000" y="685800"/>
            <a:ext cx="6096000" cy="3429000"/>
          </a:xfrm>
          <a:ln/>
        </p:spPr>
      </p:sp>
      <p:sp>
        <p:nvSpPr>
          <p:cNvPr id="9728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9728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485C2CA-1458-3C4B-9AC9-C0F6C56A9648}" type="slidenum">
              <a:rPr lang="en-US" sz="1200">
                <a:latin typeface="Arial" charset="0"/>
              </a:rPr>
              <a:pPr eaLnBrk="1" hangingPunct="1"/>
              <a:t>62</a:t>
            </a:fld>
            <a:endParaRPr lang="en-US" sz="1200">
              <a:latin typeface="Arial"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1 Marcador de imagen de diapositiva"/>
          <p:cNvSpPr>
            <a:spLocks noGrp="1" noRot="1" noChangeAspect="1" noTextEdit="1"/>
          </p:cNvSpPr>
          <p:nvPr>
            <p:ph type="sldImg"/>
          </p:nvPr>
        </p:nvSpPr>
        <p:spPr>
          <a:xfrm>
            <a:off x="381000" y="685800"/>
            <a:ext cx="6096000" cy="3429000"/>
          </a:xfrm>
          <a:ln/>
        </p:spPr>
      </p:sp>
      <p:sp>
        <p:nvSpPr>
          <p:cNvPr id="9933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9933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DC8F318-F524-794C-BD08-3DFAF38E5A88}" type="slidenum">
              <a:rPr lang="en-US" sz="1200">
                <a:latin typeface="Arial" charset="0"/>
              </a:rPr>
              <a:pPr eaLnBrk="1" hangingPunct="1"/>
              <a:t>63</a:t>
            </a:fld>
            <a:endParaRPr lang="en-US" sz="1200">
              <a:latin typeface="Arial"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1 Marcador de imagen de diapositiva"/>
          <p:cNvSpPr>
            <a:spLocks noGrp="1" noRot="1" noChangeAspect="1" noTextEdit="1"/>
          </p:cNvSpPr>
          <p:nvPr>
            <p:ph type="sldImg"/>
          </p:nvPr>
        </p:nvSpPr>
        <p:spPr>
          <a:xfrm>
            <a:off x="381000" y="685800"/>
            <a:ext cx="6096000" cy="3429000"/>
          </a:xfrm>
          <a:ln/>
        </p:spPr>
      </p:sp>
      <p:sp>
        <p:nvSpPr>
          <p:cNvPr id="10137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0138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4C67FCDB-F5F8-3342-81CA-BDBB6AF86790}" type="slidenum">
              <a:rPr lang="en-US" sz="1200">
                <a:latin typeface="Arial" charset="0"/>
              </a:rPr>
              <a:pPr eaLnBrk="1" hangingPunct="1"/>
              <a:t>65</a:t>
            </a:fld>
            <a:endParaRPr lang="en-US" sz="1200">
              <a:latin typeface="Arial"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1 Marcador de imagen de diapositiva"/>
          <p:cNvSpPr>
            <a:spLocks noGrp="1" noRot="1" noChangeAspect="1" noTextEdit="1"/>
          </p:cNvSpPr>
          <p:nvPr>
            <p:ph type="sldImg"/>
          </p:nvPr>
        </p:nvSpPr>
        <p:spPr>
          <a:xfrm>
            <a:off x="381000" y="685800"/>
            <a:ext cx="6096000" cy="3429000"/>
          </a:xfrm>
          <a:ln/>
        </p:spPr>
      </p:sp>
      <p:sp>
        <p:nvSpPr>
          <p:cNvPr id="10342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0342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E695037-FA20-7D4C-B2C4-DFA09501AF6B}" type="slidenum">
              <a:rPr lang="en-US" sz="1200">
                <a:latin typeface="Arial" charset="0"/>
              </a:rPr>
              <a:pPr eaLnBrk="1" hangingPunct="1"/>
              <a:t>66</a:t>
            </a:fld>
            <a:endParaRPr lang="en-US" sz="1200">
              <a:latin typeface="Arial"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1 Marcador de imagen de diapositiva"/>
          <p:cNvSpPr>
            <a:spLocks noGrp="1" noRot="1" noChangeAspect="1" noTextEdit="1"/>
          </p:cNvSpPr>
          <p:nvPr>
            <p:ph type="sldImg"/>
          </p:nvPr>
        </p:nvSpPr>
        <p:spPr>
          <a:xfrm>
            <a:off x="381000" y="685800"/>
            <a:ext cx="6096000" cy="3429000"/>
          </a:xfrm>
          <a:ln/>
        </p:spPr>
      </p:sp>
      <p:sp>
        <p:nvSpPr>
          <p:cNvPr id="10547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0547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5F5C9F66-D654-A442-90B0-B6880C827C05}" type="slidenum">
              <a:rPr lang="en-US" sz="1200">
                <a:latin typeface="Arial" charset="0"/>
              </a:rPr>
              <a:pPr eaLnBrk="1" hangingPunct="1"/>
              <a:t>67</a:t>
            </a:fld>
            <a:endParaRPr lang="en-US" sz="1200">
              <a:latin typeface="Arial"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1 Marcador de imagen de diapositiva"/>
          <p:cNvSpPr>
            <a:spLocks noGrp="1" noRot="1" noChangeAspect="1" noTextEdit="1"/>
          </p:cNvSpPr>
          <p:nvPr>
            <p:ph type="sldImg"/>
          </p:nvPr>
        </p:nvSpPr>
        <p:spPr>
          <a:xfrm>
            <a:off x="381000" y="685800"/>
            <a:ext cx="6096000" cy="3429000"/>
          </a:xfrm>
          <a:ln/>
        </p:spPr>
      </p:sp>
      <p:sp>
        <p:nvSpPr>
          <p:cNvPr id="10752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0752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79B9B6A-BA80-2648-8564-FE5DA851979F}" type="slidenum">
              <a:rPr lang="en-US" sz="1200">
                <a:latin typeface="Arial" charset="0"/>
              </a:rPr>
              <a:pPr eaLnBrk="1" hangingPunct="1"/>
              <a:t>68</a:t>
            </a:fld>
            <a:endParaRPr lang="en-US" sz="1200">
              <a:latin typeface="Arial"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1 Marcador de imagen de diapositiva"/>
          <p:cNvSpPr>
            <a:spLocks noGrp="1" noRot="1" noChangeAspect="1" noTextEdit="1"/>
          </p:cNvSpPr>
          <p:nvPr>
            <p:ph type="sldImg"/>
          </p:nvPr>
        </p:nvSpPr>
        <p:spPr>
          <a:xfrm>
            <a:off x="381000" y="685800"/>
            <a:ext cx="6096000" cy="3429000"/>
          </a:xfrm>
          <a:ln/>
        </p:spPr>
      </p:sp>
      <p:sp>
        <p:nvSpPr>
          <p:cNvPr id="10957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0957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96ECA60-58B2-4D40-9561-08423FC8DD83}" type="slidenum">
              <a:rPr lang="en-US" sz="1200">
                <a:latin typeface="Arial" charset="0"/>
              </a:rPr>
              <a:pPr eaLnBrk="1" hangingPunct="1"/>
              <a:t>69</a:t>
            </a:fld>
            <a:endParaRPr lang="en-US" sz="1200">
              <a:latin typeface="Arial"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1 Marcador de imagen de diapositiva"/>
          <p:cNvSpPr>
            <a:spLocks noGrp="1" noRot="1" noChangeAspect="1" noTextEdit="1"/>
          </p:cNvSpPr>
          <p:nvPr>
            <p:ph type="sldImg"/>
          </p:nvPr>
        </p:nvSpPr>
        <p:spPr>
          <a:xfrm>
            <a:off x="381000" y="685800"/>
            <a:ext cx="6096000" cy="3429000"/>
          </a:xfrm>
          <a:ln/>
        </p:spPr>
      </p:sp>
      <p:sp>
        <p:nvSpPr>
          <p:cNvPr id="11161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1162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4AB67DEA-88A6-AC47-BE23-633C2F9FC547}" type="slidenum">
              <a:rPr lang="en-US" sz="1200">
                <a:latin typeface="Arial" charset="0"/>
              </a:rPr>
              <a:pPr eaLnBrk="1" hangingPunct="1"/>
              <a:t>70</a:t>
            </a:fld>
            <a:endParaRPr lang="en-US" sz="1200">
              <a:latin typeface="Arial"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1 Marcador de imagen de diapositiva"/>
          <p:cNvSpPr>
            <a:spLocks noGrp="1" noRot="1" noChangeAspect="1" noTextEdit="1"/>
          </p:cNvSpPr>
          <p:nvPr>
            <p:ph type="sldImg"/>
          </p:nvPr>
        </p:nvSpPr>
        <p:spPr>
          <a:xfrm>
            <a:off x="381000" y="685800"/>
            <a:ext cx="6096000" cy="3429000"/>
          </a:xfrm>
          <a:ln/>
        </p:spPr>
      </p:sp>
      <p:sp>
        <p:nvSpPr>
          <p:cNvPr id="11366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1366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5B4DF59-C189-FC4F-B45D-1C8BAF18C9B9}" type="slidenum">
              <a:rPr lang="en-US" sz="1200">
                <a:latin typeface="Arial" charset="0"/>
              </a:rPr>
              <a:pPr eaLnBrk="1" hangingPunct="1"/>
              <a:t>72</a:t>
            </a:fld>
            <a:endParaRPr lang="en-US" sz="1200">
              <a:latin typeface="Arial"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1 Marcador de imagen de diapositiva"/>
          <p:cNvSpPr>
            <a:spLocks noGrp="1" noRot="1" noChangeAspect="1" noTextEdit="1"/>
          </p:cNvSpPr>
          <p:nvPr>
            <p:ph type="sldImg"/>
          </p:nvPr>
        </p:nvSpPr>
        <p:spPr>
          <a:xfrm>
            <a:off x="381000" y="685800"/>
            <a:ext cx="6096000" cy="3429000"/>
          </a:xfrm>
          <a:ln/>
        </p:spPr>
      </p:sp>
      <p:sp>
        <p:nvSpPr>
          <p:cNvPr id="11571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1571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1EAA57E-F884-6541-BD8A-9F04DC15E513}" type="slidenum">
              <a:rPr lang="en-US" sz="1200">
                <a:latin typeface="Arial" charset="0"/>
              </a:rPr>
              <a:pPr eaLnBrk="1" hangingPunct="1"/>
              <a:t>73</a:t>
            </a:fld>
            <a:endParaRPr lang="en-US" sz="1200">
              <a:latin typeface="Arial"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1 Marcador de imagen de diapositiva"/>
          <p:cNvSpPr>
            <a:spLocks noGrp="1" noRot="1" noChangeAspect="1" noTextEdit="1"/>
          </p:cNvSpPr>
          <p:nvPr>
            <p:ph type="sldImg"/>
          </p:nvPr>
        </p:nvSpPr>
        <p:spPr>
          <a:xfrm>
            <a:off x="381000" y="685800"/>
            <a:ext cx="6096000" cy="3429000"/>
          </a:xfrm>
          <a:ln/>
        </p:spPr>
      </p:sp>
      <p:sp>
        <p:nvSpPr>
          <p:cNvPr id="11776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1776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5C04EF3-8ECA-114B-A48E-83283BA39A44}" type="slidenum">
              <a:rPr lang="en-US" sz="1200">
                <a:latin typeface="Arial" charset="0"/>
              </a:rPr>
              <a:pPr eaLnBrk="1" hangingPunct="1"/>
              <a:t>74</a:t>
            </a:fld>
            <a:endParaRPr lang="en-US" sz="1200">
              <a:latin typeface="Arial"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1 Marcador de imagen de diapositiva"/>
          <p:cNvSpPr>
            <a:spLocks noGrp="1" noRot="1" noChangeAspect="1" noTextEdit="1"/>
          </p:cNvSpPr>
          <p:nvPr>
            <p:ph type="sldImg"/>
          </p:nvPr>
        </p:nvSpPr>
        <p:spPr>
          <a:xfrm>
            <a:off x="381000" y="685800"/>
            <a:ext cx="6096000" cy="3429000"/>
          </a:xfrm>
          <a:ln/>
        </p:spPr>
      </p:sp>
      <p:sp>
        <p:nvSpPr>
          <p:cNvPr id="11981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1981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11A4303-BB15-B448-B3D8-2E1BCF10858D}" type="slidenum">
              <a:rPr lang="en-US" sz="1200">
                <a:latin typeface="Arial" charset="0"/>
              </a:rPr>
              <a:pPr eaLnBrk="1" hangingPunct="1"/>
              <a:t>75</a:t>
            </a:fld>
            <a:endParaRPr lang="en-US" sz="1200">
              <a:latin typeface="Arial"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1 Marcador de imagen de diapositiva"/>
          <p:cNvSpPr>
            <a:spLocks noGrp="1" noRot="1" noChangeAspect="1" noTextEdit="1"/>
          </p:cNvSpPr>
          <p:nvPr>
            <p:ph type="sldImg"/>
          </p:nvPr>
        </p:nvSpPr>
        <p:spPr>
          <a:xfrm>
            <a:off x="381000" y="685800"/>
            <a:ext cx="6096000" cy="3429000"/>
          </a:xfrm>
          <a:ln/>
        </p:spPr>
      </p:sp>
      <p:sp>
        <p:nvSpPr>
          <p:cNvPr id="12185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2186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4C9B756A-B213-7545-995C-54C46A7E5559}" type="slidenum">
              <a:rPr lang="en-US" sz="1200">
                <a:latin typeface="Arial" charset="0"/>
              </a:rPr>
              <a:pPr eaLnBrk="1" hangingPunct="1"/>
              <a:t>76</a:t>
            </a:fld>
            <a:endParaRPr lang="en-US" sz="1200">
              <a:latin typeface="Arial"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1 Marcador de imagen de diapositiva"/>
          <p:cNvSpPr>
            <a:spLocks noGrp="1" noRot="1" noChangeAspect="1" noTextEdit="1"/>
          </p:cNvSpPr>
          <p:nvPr>
            <p:ph type="sldImg"/>
          </p:nvPr>
        </p:nvSpPr>
        <p:spPr>
          <a:xfrm>
            <a:off x="381000" y="685800"/>
            <a:ext cx="6096000" cy="3429000"/>
          </a:xfrm>
          <a:ln/>
        </p:spPr>
      </p:sp>
      <p:sp>
        <p:nvSpPr>
          <p:cNvPr id="12390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2390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040F2E98-31DC-6B4F-9D8C-90ED8F990A87}" type="slidenum">
              <a:rPr lang="en-US" sz="1200">
                <a:latin typeface="Arial" charset="0"/>
              </a:rPr>
              <a:pPr eaLnBrk="1" hangingPunct="1"/>
              <a:t>77</a:t>
            </a:fld>
            <a:endParaRPr lang="en-US" sz="1200">
              <a:latin typeface="Arial"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1 Marcador de imagen de diapositiva"/>
          <p:cNvSpPr>
            <a:spLocks noGrp="1" noRot="1" noChangeAspect="1" noTextEdit="1"/>
          </p:cNvSpPr>
          <p:nvPr>
            <p:ph type="sldImg"/>
          </p:nvPr>
        </p:nvSpPr>
        <p:spPr>
          <a:xfrm>
            <a:off x="381000" y="685800"/>
            <a:ext cx="6096000" cy="3429000"/>
          </a:xfrm>
          <a:ln/>
        </p:spPr>
      </p:sp>
      <p:sp>
        <p:nvSpPr>
          <p:cNvPr id="12595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2595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785BD03-5B2C-BF4D-9AB1-35BD4DBA5C9C}" type="slidenum">
              <a:rPr lang="en-US" sz="1200">
                <a:latin typeface="Arial" charset="0"/>
              </a:rPr>
              <a:pPr eaLnBrk="1" hangingPunct="1"/>
              <a:t>78</a:t>
            </a:fld>
            <a:endParaRPr lang="en-US" sz="1200">
              <a:latin typeface="Arial"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1 Marcador de imagen de diapositiva"/>
          <p:cNvSpPr>
            <a:spLocks noGrp="1" noRot="1" noChangeAspect="1" noTextEdit="1"/>
          </p:cNvSpPr>
          <p:nvPr>
            <p:ph type="sldImg"/>
          </p:nvPr>
        </p:nvSpPr>
        <p:spPr>
          <a:xfrm>
            <a:off x="381000" y="685800"/>
            <a:ext cx="6096000" cy="3429000"/>
          </a:xfrm>
          <a:ln/>
        </p:spPr>
      </p:sp>
      <p:sp>
        <p:nvSpPr>
          <p:cNvPr id="12800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2800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771FEB5-722F-0648-A464-672A7CB45F2E}" type="slidenum">
              <a:rPr lang="en-US" sz="1200">
                <a:latin typeface="Arial" charset="0"/>
              </a:rPr>
              <a:pPr eaLnBrk="1" hangingPunct="1"/>
              <a:t>79</a:t>
            </a:fld>
            <a:endParaRPr lang="en-US" sz="1200">
              <a:latin typeface="Arial"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1 Marcador de imagen de diapositiva"/>
          <p:cNvSpPr>
            <a:spLocks noGrp="1" noRot="1" noChangeAspect="1" noTextEdit="1"/>
          </p:cNvSpPr>
          <p:nvPr>
            <p:ph type="sldImg"/>
          </p:nvPr>
        </p:nvSpPr>
        <p:spPr>
          <a:xfrm>
            <a:off x="381000" y="685800"/>
            <a:ext cx="6096000" cy="3429000"/>
          </a:xfrm>
          <a:ln/>
        </p:spPr>
      </p:sp>
      <p:sp>
        <p:nvSpPr>
          <p:cNvPr id="13005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3005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2AD4487C-5FCA-DB44-989E-C4EC115F8A85}" type="slidenum">
              <a:rPr lang="en-US" sz="1200">
                <a:latin typeface="Arial" charset="0"/>
              </a:rPr>
              <a:pPr eaLnBrk="1" hangingPunct="1"/>
              <a:t>80</a:t>
            </a:fld>
            <a:endParaRPr lang="en-US" sz="1200">
              <a:latin typeface="Arial"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1 Marcador de imagen de diapositiva"/>
          <p:cNvSpPr>
            <a:spLocks noGrp="1" noRot="1" noChangeAspect="1" noTextEdit="1"/>
          </p:cNvSpPr>
          <p:nvPr>
            <p:ph type="sldImg"/>
          </p:nvPr>
        </p:nvSpPr>
        <p:spPr>
          <a:xfrm>
            <a:off x="381000" y="685800"/>
            <a:ext cx="6096000" cy="3429000"/>
          </a:xfrm>
          <a:ln/>
        </p:spPr>
      </p:sp>
      <p:sp>
        <p:nvSpPr>
          <p:cNvPr id="13209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3210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4BDC009F-DF16-ED45-9B7E-E730A785FB91}" type="slidenum">
              <a:rPr lang="en-US" sz="1200">
                <a:latin typeface="Arial" charset="0"/>
              </a:rPr>
              <a:pPr eaLnBrk="1" hangingPunct="1"/>
              <a:t>81</a:t>
            </a:fld>
            <a:endParaRPr lang="en-US" sz="1200">
              <a:latin typeface="Arial"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1 Marcador de imagen de diapositiva"/>
          <p:cNvSpPr>
            <a:spLocks noGrp="1" noRot="1" noChangeAspect="1" noTextEdit="1"/>
          </p:cNvSpPr>
          <p:nvPr>
            <p:ph type="sldImg"/>
          </p:nvPr>
        </p:nvSpPr>
        <p:spPr>
          <a:xfrm>
            <a:off x="381000" y="685800"/>
            <a:ext cx="6096000" cy="3429000"/>
          </a:xfrm>
          <a:ln/>
        </p:spPr>
      </p:sp>
      <p:sp>
        <p:nvSpPr>
          <p:cNvPr id="13414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3414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04ABEFD-5EBC-8B4E-97AA-028BA64838CC}" type="slidenum">
              <a:rPr lang="en-US" sz="1200">
                <a:latin typeface="Arial" charset="0"/>
              </a:rPr>
              <a:pPr eaLnBrk="1" hangingPunct="1"/>
              <a:t>82</a:t>
            </a:fld>
            <a:endParaRPr lang="en-US" sz="1200">
              <a:latin typeface="Arial"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1 Marcador de imagen de diapositiva"/>
          <p:cNvSpPr>
            <a:spLocks noGrp="1" noRot="1" noChangeAspect="1" noTextEdit="1"/>
          </p:cNvSpPr>
          <p:nvPr>
            <p:ph type="sldImg"/>
          </p:nvPr>
        </p:nvSpPr>
        <p:spPr>
          <a:xfrm>
            <a:off x="381000" y="685800"/>
            <a:ext cx="6096000" cy="3429000"/>
          </a:xfrm>
          <a:ln/>
        </p:spPr>
      </p:sp>
      <p:sp>
        <p:nvSpPr>
          <p:cNvPr id="136195"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36196"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B3584C1-7E3B-4F4D-BABA-5AD918424FD0}" type="slidenum">
              <a:rPr lang="en-US" sz="1200">
                <a:latin typeface="Arial" charset="0"/>
              </a:rPr>
              <a:pPr eaLnBrk="1" hangingPunct="1"/>
              <a:t>83</a:t>
            </a:fld>
            <a:endParaRPr lang="en-US" sz="1200">
              <a:latin typeface="Arial"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1 Marcador de imagen de diapositiva"/>
          <p:cNvSpPr>
            <a:spLocks noGrp="1" noRot="1" noChangeAspect="1" noTextEdit="1"/>
          </p:cNvSpPr>
          <p:nvPr>
            <p:ph type="sldImg"/>
          </p:nvPr>
        </p:nvSpPr>
        <p:spPr>
          <a:xfrm>
            <a:off x="381000" y="685800"/>
            <a:ext cx="6096000" cy="3429000"/>
          </a:xfrm>
          <a:ln/>
        </p:spPr>
      </p:sp>
      <p:sp>
        <p:nvSpPr>
          <p:cNvPr id="138243"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38244"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2E52F29-904E-3448-81A2-B2F938B6B51B}" type="slidenum">
              <a:rPr lang="en-US" sz="1200">
                <a:latin typeface="Arial" charset="0"/>
              </a:rPr>
              <a:pPr eaLnBrk="1" hangingPunct="1"/>
              <a:t>84</a:t>
            </a:fld>
            <a:endParaRPr lang="en-US" sz="1200">
              <a:latin typeface="Arial"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1 Marcador de imagen de diapositiva"/>
          <p:cNvSpPr>
            <a:spLocks noGrp="1" noRot="1" noChangeAspect="1" noTextEdit="1"/>
          </p:cNvSpPr>
          <p:nvPr>
            <p:ph type="sldImg"/>
          </p:nvPr>
        </p:nvSpPr>
        <p:spPr>
          <a:xfrm>
            <a:off x="381000" y="685800"/>
            <a:ext cx="6096000" cy="3429000"/>
          </a:xfrm>
          <a:ln/>
        </p:spPr>
      </p:sp>
      <p:sp>
        <p:nvSpPr>
          <p:cNvPr id="140291"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40292"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FD821A1-F921-004D-AFF2-F5635AF7C30F}" type="slidenum">
              <a:rPr lang="en-US" sz="1200">
                <a:latin typeface="Arial" charset="0"/>
              </a:rPr>
              <a:pPr eaLnBrk="1" hangingPunct="1"/>
              <a:t>85</a:t>
            </a:fld>
            <a:endParaRPr lang="en-US" sz="1200">
              <a:latin typeface="Arial"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1 Marcador de imagen de diapositiva"/>
          <p:cNvSpPr>
            <a:spLocks noGrp="1" noRot="1" noChangeAspect="1" noTextEdit="1"/>
          </p:cNvSpPr>
          <p:nvPr>
            <p:ph type="sldImg"/>
          </p:nvPr>
        </p:nvSpPr>
        <p:spPr>
          <a:xfrm>
            <a:off x="381000" y="685800"/>
            <a:ext cx="6096000" cy="3429000"/>
          </a:xfrm>
          <a:ln/>
        </p:spPr>
      </p:sp>
      <p:sp>
        <p:nvSpPr>
          <p:cNvPr id="142339"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42340"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93691B14-D3C4-824B-AD33-D3BFD3384A9B}" type="slidenum">
              <a:rPr lang="en-US" sz="1200">
                <a:latin typeface="Arial" charset="0"/>
              </a:rPr>
              <a:pPr eaLnBrk="1" hangingPunct="1"/>
              <a:t>86</a:t>
            </a:fld>
            <a:endParaRPr lang="en-US" sz="1200">
              <a:latin typeface="Arial"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1 Marcador de imagen de diapositiva"/>
          <p:cNvSpPr>
            <a:spLocks noGrp="1" noRot="1" noChangeAspect="1" noTextEdit="1"/>
          </p:cNvSpPr>
          <p:nvPr>
            <p:ph type="sldImg"/>
          </p:nvPr>
        </p:nvSpPr>
        <p:spPr>
          <a:xfrm>
            <a:off x="381000" y="685800"/>
            <a:ext cx="6096000" cy="3429000"/>
          </a:xfrm>
          <a:ln/>
        </p:spPr>
      </p:sp>
      <p:sp>
        <p:nvSpPr>
          <p:cNvPr id="144387" name="2 Marcador de notas"/>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
          </a:p>
        </p:txBody>
      </p:sp>
      <p:sp>
        <p:nvSpPr>
          <p:cNvPr id="144388" name="3 Marcador de número de diapositiva"/>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9C4A8AFD-E2AC-234D-A3D9-9664AF965156}" type="slidenum">
              <a:rPr lang="en-US" sz="1200">
                <a:latin typeface="Arial" charset="0"/>
              </a:rPr>
              <a:pPr eaLnBrk="1" hangingPunct="1"/>
              <a:t>87</a:t>
            </a:fld>
            <a:endParaRPr lang="en-US" sz="120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64B455D4-A1EF-2940-A845-E32D5B240EA4}" type="slidenum">
              <a:rPr lang="en-US" smtClean="0"/>
              <a:pPr/>
              <a:t>‹Nº›</a:t>
            </a:fld>
            <a:endParaRPr lang="en-US"/>
          </a:p>
        </p:txBody>
      </p:sp>
    </p:spTree>
    <p:extLst>
      <p:ext uri="{BB962C8B-B14F-4D97-AF65-F5344CB8AC3E}">
        <p14:creationId xmlns:p14="http://schemas.microsoft.com/office/powerpoint/2010/main" val="876988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9AE25A0-826B-3145-9930-D12CB40D9CBD}" type="slidenum">
              <a:rPr lang="en-US" smtClean="0"/>
              <a:pPr/>
              <a:t>‹Nº›</a:t>
            </a:fld>
            <a:endParaRPr lang="en-US"/>
          </a:p>
        </p:txBody>
      </p:sp>
    </p:spTree>
    <p:extLst>
      <p:ext uri="{BB962C8B-B14F-4D97-AF65-F5344CB8AC3E}">
        <p14:creationId xmlns:p14="http://schemas.microsoft.com/office/powerpoint/2010/main" val="2960305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A60CAB6C-A908-4141-88F6-EAC6D8F230D6}" type="slidenum">
              <a:rPr lang="en-US" smtClean="0"/>
              <a:pPr/>
              <a:t>‹Nº›</a:t>
            </a:fld>
            <a:endParaRPr lang="en-US"/>
          </a:p>
        </p:txBody>
      </p:sp>
    </p:spTree>
    <p:extLst>
      <p:ext uri="{BB962C8B-B14F-4D97-AF65-F5344CB8AC3E}">
        <p14:creationId xmlns:p14="http://schemas.microsoft.com/office/powerpoint/2010/main" val="155081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FFA25488-6394-0C4C-BDF0-4AE1110EC759}" type="slidenum">
              <a:rPr lang="en-US" smtClean="0"/>
              <a:pPr/>
              <a:t>‹Nº›</a:t>
            </a:fld>
            <a:endParaRPr lang="en-US"/>
          </a:p>
        </p:txBody>
      </p:sp>
    </p:spTree>
    <p:extLst>
      <p:ext uri="{BB962C8B-B14F-4D97-AF65-F5344CB8AC3E}">
        <p14:creationId xmlns:p14="http://schemas.microsoft.com/office/powerpoint/2010/main" val="3383087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2E02E724-27F4-AD40-9ED9-BDD40DFE3DFD}" type="slidenum">
              <a:rPr lang="en-US" smtClean="0"/>
              <a:pPr/>
              <a:t>‹Nº›</a:t>
            </a:fld>
            <a:endParaRPr lang="en-US"/>
          </a:p>
        </p:txBody>
      </p:sp>
    </p:spTree>
    <p:extLst>
      <p:ext uri="{BB962C8B-B14F-4D97-AF65-F5344CB8AC3E}">
        <p14:creationId xmlns:p14="http://schemas.microsoft.com/office/powerpoint/2010/main" val="2247900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CBE6EEE8-5396-A04D-9F7D-4C7008811E1E}" type="slidenum">
              <a:rPr lang="en-US" smtClean="0"/>
              <a:pPr/>
              <a:t>‹Nº›</a:t>
            </a:fld>
            <a:endParaRPr lang="en-US"/>
          </a:p>
        </p:txBody>
      </p:sp>
    </p:spTree>
    <p:extLst>
      <p:ext uri="{BB962C8B-B14F-4D97-AF65-F5344CB8AC3E}">
        <p14:creationId xmlns:p14="http://schemas.microsoft.com/office/powerpoint/2010/main" val="673638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EF53ECC0-F46E-9344-A749-F27E2C4E2232}" type="slidenum">
              <a:rPr lang="en-US" smtClean="0"/>
              <a:pPr/>
              <a:t>‹Nº›</a:t>
            </a:fld>
            <a:endParaRPr lang="en-US"/>
          </a:p>
        </p:txBody>
      </p:sp>
    </p:spTree>
    <p:extLst>
      <p:ext uri="{BB962C8B-B14F-4D97-AF65-F5344CB8AC3E}">
        <p14:creationId xmlns:p14="http://schemas.microsoft.com/office/powerpoint/2010/main" val="889830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CA1DD8C-61D6-B549-8BC8-875164CCAD7A}" type="slidenum">
              <a:rPr lang="en-US" smtClean="0"/>
              <a:pPr/>
              <a:t>‹Nº›</a:t>
            </a:fld>
            <a:endParaRPr lang="en-US"/>
          </a:p>
        </p:txBody>
      </p:sp>
    </p:spTree>
    <p:extLst>
      <p:ext uri="{BB962C8B-B14F-4D97-AF65-F5344CB8AC3E}">
        <p14:creationId xmlns:p14="http://schemas.microsoft.com/office/powerpoint/2010/main" val="3701869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265747B-130A-544B-9FC0-3880EF66DCE5}" type="slidenum">
              <a:rPr lang="en-US" smtClean="0"/>
              <a:pPr/>
              <a:t>‹Nº›</a:t>
            </a:fld>
            <a:endParaRPr lang="en-US"/>
          </a:p>
        </p:txBody>
      </p:sp>
    </p:spTree>
    <p:extLst>
      <p:ext uri="{BB962C8B-B14F-4D97-AF65-F5344CB8AC3E}">
        <p14:creationId xmlns:p14="http://schemas.microsoft.com/office/powerpoint/2010/main" val="456375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BE6EEE8-5396-A04D-9F7D-4C7008811E1E}" type="slidenum">
              <a:rPr lang="en-US" smtClean="0"/>
              <a:pPr/>
              <a:t>‹Nº›</a:t>
            </a:fld>
            <a:endParaRPr lang="en-US"/>
          </a:p>
        </p:txBody>
      </p:sp>
    </p:spTree>
    <p:extLst>
      <p:ext uri="{BB962C8B-B14F-4D97-AF65-F5344CB8AC3E}">
        <p14:creationId xmlns:p14="http://schemas.microsoft.com/office/powerpoint/2010/main" val="20464485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BE6EEE8-5396-A04D-9F7D-4C7008811E1E}" type="slidenum">
              <a:rPr lang="en-US" smtClean="0"/>
              <a:pPr/>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3886793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BE6EEE8-5396-A04D-9F7D-4C7008811E1E}" type="slidenum">
              <a:rPr lang="en-US" smtClean="0"/>
              <a:pPr/>
              <a:t>‹Nº›</a:t>
            </a:fld>
            <a:endParaRPr lang="en-US"/>
          </a:p>
        </p:txBody>
      </p:sp>
    </p:spTree>
    <p:extLst>
      <p:ext uri="{BB962C8B-B14F-4D97-AF65-F5344CB8AC3E}">
        <p14:creationId xmlns:p14="http://schemas.microsoft.com/office/powerpoint/2010/main" val="43890727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BE6EEE8-5396-A04D-9F7D-4C7008811E1E}" type="slidenum">
              <a:rPr lang="en-US" smtClean="0"/>
              <a:pPr/>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4518292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BE6EEE8-5396-A04D-9F7D-4C7008811E1E}" type="slidenum">
              <a:rPr lang="en-US" smtClean="0"/>
              <a:pPr/>
              <a:t>‹Nº›</a:t>
            </a:fld>
            <a:endParaRPr lang="en-US"/>
          </a:p>
        </p:txBody>
      </p:sp>
    </p:spTree>
    <p:extLst>
      <p:ext uri="{BB962C8B-B14F-4D97-AF65-F5344CB8AC3E}">
        <p14:creationId xmlns:p14="http://schemas.microsoft.com/office/powerpoint/2010/main" val="64922742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DA3A8D5-7E10-E341-A074-42E583740763}" type="slidenum">
              <a:rPr lang="en-US" smtClean="0"/>
              <a:pPr/>
              <a:t>‹Nº›</a:t>
            </a:fld>
            <a:endParaRPr lang="en-US"/>
          </a:p>
        </p:txBody>
      </p:sp>
    </p:spTree>
    <p:extLst>
      <p:ext uri="{BB962C8B-B14F-4D97-AF65-F5344CB8AC3E}">
        <p14:creationId xmlns:p14="http://schemas.microsoft.com/office/powerpoint/2010/main" val="2129733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A6E3C12D-8056-0A49-8AC3-EECF4FF65209}" type="slidenum">
              <a:rPr lang="en-US" smtClean="0"/>
              <a:pPr/>
              <a:t>‹Nº›</a:t>
            </a:fld>
            <a:endParaRPr lang="en-US"/>
          </a:p>
        </p:txBody>
      </p:sp>
    </p:spTree>
    <p:extLst>
      <p:ext uri="{BB962C8B-B14F-4D97-AF65-F5344CB8AC3E}">
        <p14:creationId xmlns:p14="http://schemas.microsoft.com/office/powerpoint/2010/main" val="23493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BE6EEE8-5396-A04D-9F7D-4C7008811E1E}" type="slidenum">
              <a:rPr lang="en-US" smtClean="0"/>
              <a:pPr/>
              <a:t>‹Nº›</a:t>
            </a:fld>
            <a:endParaRPr lang="en-US"/>
          </a:p>
        </p:txBody>
      </p:sp>
    </p:spTree>
    <p:extLst>
      <p:ext uri="{BB962C8B-B14F-4D97-AF65-F5344CB8AC3E}">
        <p14:creationId xmlns:p14="http://schemas.microsoft.com/office/powerpoint/2010/main" val="3161321601"/>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533400" y="-76200"/>
            <a:ext cx="9105900" cy="1462088"/>
          </a:xfrm>
        </p:spPr>
        <p:txBody>
          <a:bodyPr/>
          <a:lstStyle/>
          <a:p>
            <a:r>
              <a:rPr lang="es-ES" dirty="0"/>
              <a:t>Administración de memoria</a:t>
            </a:r>
          </a:p>
        </p:txBody>
      </p:sp>
      <p:pic>
        <p:nvPicPr>
          <p:cNvPr id="3" name="Imagen 2"/>
          <p:cNvPicPr>
            <a:picLocks noChangeAspect="1"/>
          </p:cNvPicPr>
          <p:nvPr/>
        </p:nvPicPr>
        <p:blipFill>
          <a:blip r:embed="rId2"/>
          <a:stretch>
            <a:fillRect/>
          </a:stretch>
        </p:blipFill>
        <p:spPr>
          <a:xfrm>
            <a:off x="1905000" y="2133600"/>
            <a:ext cx="7505700" cy="2882900"/>
          </a:xfrm>
          <a:prstGeom prst="rect">
            <a:avLst/>
          </a:prstGeom>
        </p:spPr>
      </p:pic>
    </p:spTree>
    <p:extLst>
      <p:ext uri="{BB962C8B-B14F-4D97-AF65-F5344CB8AC3E}">
        <p14:creationId xmlns:p14="http://schemas.microsoft.com/office/powerpoint/2010/main" val="3653489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14600" y="-731044"/>
            <a:ext cx="7772400" cy="1462088"/>
          </a:xfrm>
        </p:spPr>
        <p:txBody>
          <a:bodyPr/>
          <a:lstStyle/>
          <a:p>
            <a:r>
              <a:rPr lang="es-ES" dirty="0"/>
              <a:t>Administración de memoria</a:t>
            </a:r>
          </a:p>
        </p:txBody>
      </p:sp>
      <p:sp>
        <p:nvSpPr>
          <p:cNvPr id="4" name="Rectangle 3"/>
          <p:cNvSpPr txBox="1">
            <a:spLocks noChangeArrowheads="1"/>
          </p:cNvSpPr>
          <p:nvPr/>
        </p:nvSpPr>
        <p:spPr bwMode="auto">
          <a:xfrm>
            <a:off x="1752601" y="1143001"/>
            <a:ext cx="8455025" cy="518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normAutofit lnSpcReduction="10000"/>
          </a:bodyPr>
          <a:lstStyle>
            <a:lvl1pPr marL="0" indent="0" algn="ctr" rtl="0" eaLnBrk="0" fontAlgn="base" hangingPunct="0">
              <a:spcBef>
                <a:spcPct val="20000"/>
              </a:spcBef>
              <a:spcAft>
                <a:spcPct val="0"/>
              </a:spcAft>
              <a:buClr>
                <a:schemeClr val="folHlink"/>
              </a:buClr>
              <a:buSzPct val="60000"/>
              <a:buFont typeface="Wingdings" pitchFamily="2" charset="2"/>
              <a:buNone/>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charset="0"/>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charset="0"/>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charset="0"/>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charset="0"/>
              <a:buChar char="n"/>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9pPr>
          </a:lstStyle>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Para que un proceso pueda ejecutarse debe estar ubicado en la memoria principal del ordenador. </a:t>
            </a:r>
          </a:p>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Una parte del sistema operativo se va a encargar de gestionar la memoria principal,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de forma que los procesos puedan residir en la memoria sin conflictos.</a:t>
            </a:r>
          </a:p>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Implica varias tareas,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registro de qué zonas están libres y qué zonas están ocupadas por qué procesos.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sistemas en los que no todos los procesos, o no todo el código y datos de un proceso, se ubican en la memoria principal.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carga de los programas de disco a memoria</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el de la protección.</a:t>
            </a:r>
            <a:endParaRPr lang="es-PR" dirty="0">
              <a:latin typeface="Tahoma" charset="0"/>
              <a:ea typeface="ＭＳ Ｐゴシック" charset="0"/>
              <a:cs typeface="ＭＳ Ｐゴシック" charset="0"/>
            </a:endParaRPr>
          </a:p>
        </p:txBody>
      </p:sp>
    </p:spTree>
    <p:extLst>
      <p:ext uri="{BB962C8B-B14F-4D97-AF65-F5344CB8AC3E}">
        <p14:creationId xmlns:p14="http://schemas.microsoft.com/office/powerpoint/2010/main" val="2035734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Organización de la memoria</a:t>
            </a:r>
          </a:p>
        </p:txBody>
      </p:sp>
      <p:sp>
        <p:nvSpPr>
          <p:cNvPr id="3" name="Marcador de contenido 2"/>
          <p:cNvSpPr>
            <a:spLocks noGrp="1"/>
          </p:cNvSpPr>
          <p:nvPr>
            <p:ph idx="1"/>
          </p:nvPr>
        </p:nvSpPr>
        <p:spPr/>
        <p:txBody>
          <a:bodyPr/>
          <a:lstStyle/>
          <a:p>
            <a:endParaRPr lang="es-ES"/>
          </a:p>
        </p:txBody>
      </p:sp>
      <p:sp>
        <p:nvSpPr>
          <p:cNvPr id="4" name="Marcador de número de diapositiva 3"/>
          <p:cNvSpPr>
            <a:spLocks noGrp="1"/>
          </p:cNvSpPr>
          <p:nvPr>
            <p:ph type="sldNum" sz="quarter" idx="12"/>
          </p:nvPr>
        </p:nvSpPr>
        <p:spPr/>
        <p:txBody>
          <a:bodyPr/>
          <a:lstStyle/>
          <a:p>
            <a:fld id="{59AE25A0-826B-3145-9930-D12CB40D9CBD}" type="slidenum">
              <a:rPr lang="en-US" smtClean="0"/>
              <a:pPr/>
              <a:t>3</a:t>
            </a:fld>
            <a:endParaRPr lang="en-US"/>
          </a:p>
        </p:txBody>
      </p:sp>
      <p:pic>
        <p:nvPicPr>
          <p:cNvPr id="5" name="Imagen 4" descr="Captura de pantalla 2013-05-08 a la(s) 01.43.4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2500" y="1524001"/>
            <a:ext cx="9195501" cy="5012585"/>
          </a:xfrm>
          <a:prstGeom prst="rect">
            <a:avLst/>
          </a:prstGeom>
        </p:spPr>
      </p:pic>
    </p:spTree>
    <p:extLst>
      <p:ext uri="{BB962C8B-B14F-4D97-AF65-F5344CB8AC3E}">
        <p14:creationId xmlns:p14="http://schemas.microsoft.com/office/powerpoint/2010/main" val="1623150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14600" y="-731044"/>
            <a:ext cx="7772400" cy="1462088"/>
          </a:xfrm>
        </p:spPr>
        <p:txBody>
          <a:bodyPr/>
          <a:lstStyle/>
          <a:p>
            <a:r>
              <a:rPr lang="pt-BR" sz="2400" dirty="0"/>
              <a:t>MANEJO DE MEMORIA EN SISTEMAS MONOUSUARIO SIN INTERCAMBIO.</a:t>
            </a:r>
            <a:endParaRPr lang="es-ES" sz="2400" dirty="0"/>
          </a:p>
        </p:txBody>
      </p:sp>
      <p:sp>
        <p:nvSpPr>
          <p:cNvPr id="4" name="Rectangle 3"/>
          <p:cNvSpPr txBox="1">
            <a:spLocks noChangeArrowheads="1"/>
          </p:cNvSpPr>
          <p:nvPr/>
        </p:nvSpPr>
        <p:spPr bwMode="auto">
          <a:xfrm>
            <a:off x="1752601" y="1143001"/>
            <a:ext cx="8455025" cy="518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normAutofit/>
          </a:bodyPr>
          <a:lstStyle>
            <a:lvl1pPr marL="0" indent="0" algn="ctr" rtl="0" eaLnBrk="0" fontAlgn="base" hangingPunct="0">
              <a:spcBef>
                <a:spcPct val="20000"/>
              </a:spcBef>
              <a:spcAft>
                <a:spcPct val="0"/>
              </a:spcAft>
              <a:buClr>
                <a:schemeClr val="folHlink"/>
              </a:buClr>
              <a:buSzPct val="60000"/>
              <a:buFont typeface="Wingdings" pitchFamily="2" charset="2"/>
              <a:buNone/>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charset="0"/>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charset="0"/>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charset="0"/>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charset="0"/>
              <a:buChar char="n"/>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9pPr>
          </a:lstStyle>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el sistema operativo se ubica en las localidades superiores o inferiores de la memoria, </a:t>
            </a:r>
          </a:p>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seguido por algunos manejadores de dispositivos (drivers). </a:t>
            </a:r>
          </a:p>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Esto deja un espacio contiguo de memoria disponible que es utilizado por los programas del usuario, </a:t>
            </a:r>
          </a:p>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dejando generalmente la ubicación de la pila (</a:t>
            </a:r>
            <a:r>
              <a:rPr lang="es-ES_tradnl" dirty="0" err="1">
                <a:latin typeface="Tahoma" charset="0"/>
                <a:ea typeface="ＭＳ Ｐゴシック" charset="0"/>
                <a:cs typeface="ＭＳ Ｐゴシック" charset="0"/>
              </a:rPr>
              <a:t>stack</a:t>
            </a:r>
            <a:r>
              <a:rPr lang="es-ES_tradnl" dirty="0">
                <a:latin typeface="Tahoma" charset="0"/>
                <a:ea typeface="ＭＳ Ｐゴシック" charset="0"/>
                <a:cs typeface="ＭＳ Ｐゴシック" charset="0"/>
              </a:rPr>
              <a:t>) al último, con el objetivo de que ésta pueda </a:t>
            </a:r>
            <a:r>
              <a:rPr lang="es-ES_tradnl" dirty="0" err="1">
                <a:latin typeface="Tahoma" charset="0"/>
                <a:ea typeface="ＭＳ Ｐゴシック" charset="0"/>
                <a:cs typeface="ＭＳ Ｐゴシック" charset="0"/>
              </a:rPr>
              <a:t>cr</a:t>
            </a:r>
            <a:r>
              <a:rPr lang="es-ES_tradnl" dirty="0">
                <a:latin typeface="Tahoma" charset="0"/>
                <a:ea typeface="ＭＳ Ｐゴシック" charset="0"/>
                <a:cs typeface="ＭＳ Ｐゴシック" charset="0"/>
              </a:rPr>
              <a:t> </a:t>
            </a:r>
            <a:r>
              <a:rPr lang="es-ES_tradnl" dirty="0" err="1">
                <a:latin typeface="Tahoma" charset="0"/>
                <a:ea typeface="ＭＳ Ｐゴシック" charset="0"/>
                <a:cs typeface="ＭＳ Ｐゴシック" charset="0"/>
              </a:rPr>
              <a:t>cer</a:t>
            </a:r>
            <a:r>
              <a:rPr lang="es-ES_tradnl" dirty="0">
                <a:latin typeface="Tahoma" charset="0"/>
                <a:ea typeface="ＭＳ Ｐゴシック" charset="0"/>
                <a:cs typeface="ＭＳ Ｐゴシック" charset="0"/>
              </a:rPr>
              <a:t> hasta el máximo posible. </a:t>
            </a:r>
            <a:endParaRPr lang="es-PR" dirty="0">
              <a:latin typeface="Tahoma" charset="0"/>
              <a:ea typeface="ＭＳ Ｐゴシック" charset="0"/>
              <a:cs typeface="ＭＳ Ｐゴシック" charset="0"/>
            </a:endParaRPr>
          </a:p>
        </p:txBody>
      </p:sp>
    </p:spTree>
    <p:extLst>
      <p:ext uri="{BB962C8B-B14F-4D97-AF65-F5344CB8AC3E}">
        <p14:creationId xmlns:p14="http://schemas.microsoft.com/office/powerpoint/2010/main" val="793209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3238480" y="744005"/>
            <a:ext cx="6643734" cy="646331"/>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s-MX" b="1" dirty="0"/>
              <a:t>Administración de la memoria en los sistemas </a:t>
            </a:r>
            <a:r>
              <a:rPr lang="es-MX" b="1" dirty="0" err="1"/>
              <a:t>monoprogramados</a:t>
            </a:r>
            <a:endParaRPr lang="es-MX" dirty="0"/>
          </a:p>
        </p:txBody>
      </p:sp>
      <p:sp>
        <p:nvSpPr>
          <p:cNvPr id="6" name="5 Rectángulo"/>
          <p:cNvSpPr/>
          <p:nvPr/>
        </p:nvSpPr>
        <p:spPr>
          <a:xfrm>
            <a:off x="2238348" y="2339752"/>
            <a:ext cx="8072494" cy="2017943"/>
          </a:xfrm>
          <a:prstGeom prst="rect">
            <a:avLst/>
          </a:prstGeom>
          <a:noFill/>
          <a:ln w="38100">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s-MX"/>
          </a:p>
        </p:txBody>
      </p:sp>
      <p:grpSp>
        <p:nvGrpSpPr>
          <p:cNvPr id="7" name="15 Grupo"/>
          <p:cNvGrpSpPr/>
          <p:nvPr/>
        </p:nvGrpSpPr>
        <p:grpSpPr>
          <a:xfrm>
            <a:off x="2611580" y="2625709"/>
            <a:ext cx="2000264" cy="1428760"/>
            <a:chOff x="1142976" y="1714488"/>
            <a:chExt cx="2000264" cy="1428760"/>
          </a:xfrm>
        </p:grpSpPr>
        <p:sp>
          <p:nvSpPr>
            <p:cNvPr id="20" name="19 Rectángulo"/>
            <p:cNvSpPr/>
            <p:nvPr/>
          </p:nvSpPr>
          <p:spPr>
            <a:xfrm>
              <a:off x="1142976" y="1714488"/>
              <a:ext cx="1285884" cy="928694"/>
            </a:xfrm>
            <a:prstGeom prst="rect">
              <a:avLst/>
            </a:prstGeom>
            <a:ln w="28575"/>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Programa de usuario</a:t>
              </a:r>
            </a:p>
          </p:txBody>
        </p:sp>
        <p:sp>
          <p:nvSpPr>
            <p:cNvPr id="21" name="3 Rectángulo"/>
            <p:cNvSpPr/>
            <p:nvPr/>
          </p:nvSpPr>
          <p:spPr>
            <a:xfrm>
              <a:off x="1142976" y="2643182"/>
              <a:ext cx="1285884" cy="500066"/>
            </a:xfrm>
            <a:prstGeom prst="rect">
              <a:avLst/>
            </a:prstGeom>
            <a:ln w="28575">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MX" sz="1100" dirty="0"/>
                <a:t>Núcleo en RAM</a:t>
              </a:r>
            </a:p>
          </p:txBody>
        </p:sp>
        <p:sp>
          <p:nvSpPr>
            <p:cNvPr id="22" name="4 Rectángulo"/>
            <p:cNvSpPr/>
            <p:nvPr/>
          </p:nvSpPr>
          <p:spPr>
            <a:xfrm>
              <a:off x="2500298" y="1714488"/>
              <a:ext cx="642942" cy="2143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err="1"/>
                <a:t>OxFF</a:t>
              </a:r>
              <a:r>
                <a:rPr lang="es-MX" sz="1100" dirty="0"/>
                <a:t>…</a:t>
              </a:r>
            </a:p>
          </p:txBody>
        </p:sp>
        <p:sp>
          <p:nvSpPr>
            <p:cNvPr id="23" name="5 Rectángulo"/>
            <p:cNvSpPr/>
            <p:nvPr/>
          </p:nvSpPr>
          <p:spPr>
            <a:xfrm>
              <a:off x="2500298" y="2928934"/>
              <a:ext cx="642942" cy="2143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ar-AE" sz="1100" dirty="0">
                  <a:cs typeface="Simplified Arabic"/>
                </a:rPr>
                <a:t>ﻝ</a:t>
              </a:r>
              <a:endParaRPr lang="es-MX" sz="1100" dirty="0"/>
            </a:p>
          </p:txBody>
        </p:sp>
      </p:grpSp>
      <p:grpSp>
        <p:nvGrpSpPr>
          <p:cNvPr id="8" name="16 Grupo"/>
          <p:cNvGrpSpPr/>
          <p:nvPr/>
        </p:nvGrpSpPr>
        <p:grpSpPr>
          <a:xfrm>
            <a:off x="5254786" y="2618127"/>
            <a:ext cx="2000264" cy="1436343"/>
            <a:chOff x="3500430" y="1706905"/>
            <a:chExt cx="2000264" cy="1436343"/>
          </a:xfrm>
        </p:grpSpPr>
        <p:sp>
          <p:nvSpPr>
            <p:cNvPr id="16" name="15 Rectángulo"/>
            <p:cNvSpPr/>
            <p:nvPr/>
          </p:nvSpPr>
          <p:spPr>
            <a:xfrm>
              <a:off x="3500430" y="2214554"/>
              <a:ext cx="1285884" cy="928694"/>
            </a:xfrm>
            <a:prstGeom prst="rect">
              <a:avLst/>
            </a:prstGeom>
            <a:ln w="28575"/>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Programa de usuario</a:t>
              </a:r>
            </a:p>
          </p:txBody>
        </p:sp>
        <p:sp>
          <p:nvSpPr>
            <p:cNvPr id="17" name="16 Rectángulo"/>
            <p:cNvSpPr/>
            <p:nvPr/>
          </p:nvSpPr>
          <p:spPr>
            <a:xfrm>
              <a:off x="3500430" y="1706905"/>
              <a:ext cx="1285884" cy="500066"/>
            </a:xfrm>
            <a:prstGeom prst="rect">
              <a:avLst/>
            </a:prstGeom>
            <a:ln w="28575">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MX" sz="1100" dirty="0"/>
                <a:t>Núcleo en ROM</a:t>
              </a:r>
            </a:p>
          </p:txBody>
        </p:sp>
        <p:sp>
          <p:nvSpPr>
            <p:cNvPr id="18" name="17 Rectángulo"/>
            <p:cNvSpPr/>
            <p:nvPr/>
          </p:nvSpPr>
          <p:spPr>
            <a:xfrm>
              <a:off x="4857752" y="1714488"/>
              <a:ext cx="642942" cy="2143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err="1"/>
                <a:t>OxFF</a:t>
              </a:r>
              <a:r>
                <a:rPr lang="es-MX" sz="1100" dirty="0"/>
                <a:t>…</a:t>
              </a:r>
            </a:p>
          </p:txBody>
        </p:sp>
        <p:sp>
          <p:nvSpPr>
            <p:cNvPr id="19" name="18 Rectángulo"/>
            <p:cNvSpPr/>
            <p:nvPr/>
          </p:nvSpPr>
          <p:spPr>
            <a:xfrm>
              <a:off x="4857752" y="2928934"/>
              <a:ext cx="642942" cy="2143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ar-AE" sz="1100" dirty="0">
                  <a:cs typeface="Simplified Arabic"/>
                </a:rPr>
                <a:t>ﻝ</a:t>
              </a:r>
              <a:endParaRPr lang="es-MX" sz="1100" dirty="0"/>
            </a:p>
          </p:txBody>
        </p:sp>
      </p:grpSp>
      <p:grpSp>
        <p:nvGrpSpPr>
          <p:cNvPr id="9" name="17 Grupo"/>
          <p:cNvGrpSpPr/>
          <p:nvPr/>
        </p:nvGrpSpPr>
        <p:grpSpPr>
          <a:xfrm>
            <a:off x="7897992" y="2596423"/>
            <a:ext cx="2000264" cy="1458046"/>
            <a:chOff x="5929322" y="1698172"/>
            <a:chExt cx="2000264" cy="1458046"/>
          </a:xfrm>
        </p:grpSpPr>
        <p:sp>
          <p:nvSpPr>
            <p:cNvPr id="11" name="10 Rectángulo"/>
            <p:cNvSpPr/>
            <p:nvPr/>
          </p:nvSpPr>
          <p:spPr>
            <a:xfrm>
              <a:off x="5929322" y="2057610"/>
              <a:ext cx="1285884" cy="756000"/>
            </a:xfrm>
            <a:prstGeom prst="rect">
              <a:avLst/>
            </a:prstGeom>
            <a:ln w="28575"/>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Programa de usuario</a:t>
              </a:r>
            </a:p>
          </p:txBody>
        </p:sp>
        <p:sp>
          <p:nvSpPr>
            <p:cNvPr id="12" name="11 Rectángulo"/>
            <p:cNvSpPr/>
            <p:nvPr/>
          </p:nvSpPr>
          <p:spPr>
            <a:xfrm>
              <a:off x="5929322" y="2796218"/>
              <a:ext cx="1285884" cy="360000"/>
            </a:xfrm>
            <a:prstGeom prst="rect">
              <a:avLst/>
            </a:prstGeom>
            <a:ln w="28575">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MX" sz="1100" dirty="0"/>
                <a:t>Sistema Operativo en RAM</a:t>
              </a:r>
            </a:p>
          </p:txBody>
        </p:sp>
        <p:sp>
          <p:nvSpPr>
            <p:cNvPr id="13" name="12 Rectángulo"/>
            <p:cNvSpPr/>
            <p:nvPr/>
          </p:nvSpPr>
          <p:spPr>
            <a:xfrm>
              <a:off x="7286644" y="1714488"/>
              <a:ext cx="642942" cy="2143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err="1"/>
                <a:t>OxFF</a:t>
              </a:r>
              <a:r>
                <a:rPr lang="es-MX" sz="1100" dirty="0"/>
                <a:t>…</a:t>
              </a:r>
            </a:p>
          </p:txBody>
        </p:sp>
        <p:sp>
          <p:nvSpPr>
            <p:cNvPr id="14" name="13 Rectángulo"/>
            <p:cNvSpPr/>
            <p:nvPr/>
          </p:nvSpPr>
          <p:spPr>
            <a:xfrm>
              <a:off x="7286644" y="2928934"/>
              <a:ext cx="642942" cy="2143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ar-AE" sz="1100" dirty="0">
                  <a:cs typeface="Simplified Arabic"/>
                </a:rPr>
                <a:t>ﻝ</a:t>
              </a:r>
              <a:endParaRPr lang="es-MX" sz="1100" dirty="0"/>
            </a:p>
          </p:txBody>
        </p:sp>
        <p:sp>
          <p:nvSpPr>
            <p:cNvPr id="15" name="14 Rectángulo"/>
            <p:cNvSpPr/>
            <p:nvPr/>
          </p:nvSpPr>
          <p:spPr>
            <a:xfrm>
              <a:off x="5929846" y="1698172"/>
              <a:ext cx="1285884" cy="360000"/>
            </a:xfrm>
            <a:prstGeom prst="rect">
              <a:avLst/>
            </a:prstGeom>
            <a:ln w="19050">
              <a:solidFill>
                <a:schemeClr val="accent6">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s-MX" sz="1000" dirty="0"/>
                <a:t>Controladores de dispositivos en ROM</a:t>
              </a:r>
            </a:p>
          </p:txBody>
        </p:sp>
      </p:grpSp>
      <p:sp>
        <p:nvSpPr>
          <p:cNvPr id="10" name="9 CuadroTexto"/>
          <p:cNvSpPr txBox="1"/>
          <p:nvPr/>
        </p:nvSpPr>
        <p:spPr>
          <a:xfrm>
            <a:off x="2825894" y="1643051"/>
            <a:ext cx="6913444" cy="46166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s-MX" sz="1200" dirty="0">
                <a:cs typeface="Consolas" pitchFamily="49" charset="0"/>
              </a:rPr>
              <a:t>Tres formas de organización de la memoria RAM, con un sistema operativo y un proceso de usuario. Todo el programa es cargado a memoria para su ejecución</a:t>
            </a:r>
          </a:p>
        </p:txBody>
      </p:sp>
      <p:sp>
        <p:nvSpPr>
          <p:cNvPr id="34" name="33 CuadroTexto"/>
          <p:cNvSpPr txBox="1"/>
          <p:nvPr/>
        </p:nvSpPr>
        <p:spPr>
          <a:xfrm>
            <a:off x="8053218" y="2335406"/>
            <a:ext cx="936475" cy="276999"/>
          </a:xfrm>
          <a:prstGeom prst="rect">
            <a:avLst/>
          </a:prstGeom>
          <a:noFill/>
        </p:spPr>
        <p:txBody>
          <a:bodyPr wrap="none" rtlCol="0">
            <a:spAutoFit/>
          </a:bodyPr>
          <a:lstStyle/>
          <a:p>
            <a:r>
              <a:rPr lang="es-MX" sz="1200" b="1" dirty="0"/>
              <a:t>PC de IBM </a:t>
            </a:r>
          </a:p>
        </p:txBody>
      </p:sp>
      <p:sp>
        <p:nvSpPr>
          <p:cNvPr id="35" name="34 CuadroTexto"/>
          <p:cNvSpPr txBox="1"/>
          <p:nvPr/>
        </p:nvSpPr>
        <p:spPr>
          <a:xfrm>
            <a:off x="7392016" y="2596424"/>
            <a:ext cx="506870" cy="276999"/>
          </a:xfrm>
          <a:prstGeom prst="rect">
            <a:avLst/>
          </a:prstGeom>
          <a:noFill/>
        </p:spPr>
        <p:txBody>
          <a:bodyPr wrap="none" rtlCol="0">
            <a:spAutoFit/>
          </a:bodyPr>
          <a:lstStyle/>
          <a:p>
            <a:r>
              <a:rPr lang="es-MX" sz="1200" b="1" dirty="0"/>
              <a:t>BIOS</a:t>
            </a:r>
          </a:p>
        </p:txBody>
      </p:sp>
    </p:spTree>
    <p:extLst>
      <p:ext uri="{BB962C8B-B14F-4D97-AF65-F5344CB8AC3E}">
        <p14:creationId xmlns:p14="http://schemas.microsoft.com/office/powerpoint/2010/main" val="810819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02272" y="228600"/>
            <a:ext cx="8596668" cy="1320800"/>
          </a:xfrm>
        </p:spPr>
        <p:txBody>
          <a:bodyPr/>
          <a:lstStyle/>
          <a:p>
            <a:r>
              <a:rPr lang="es-ES" dirty="0"/>
              <a:t>Organización simple</a:t>
            </a:r>
          </a:p>
        </p:txBody>
      </p:sp>
      <p:sp>
        <p:nvSpPr>
          <p:cNvPr id="4" name="Marcador de número de diapositiva 3"/>
          <p:cNvSpPr>
            <a:spLocks noGrp="1"/>
          </p:cNvSpPr>
          <p:nvPr>
            <p:ph type="sldNum" sz="quarter" idx="12"/>
          </p:nvPr>
        </p:nvSpPr>
        <p:spPr/>
        <p:txBody>
          <a:bodyPr/>
          <a:lstStyle/>
          <a:p>
            <a:fld id="{59AE25A0-826B-3145-9930-D12CB40D9CBD}" type="slidenum">
              <a:rPr lang="en-US" smtClean="0"/>
              <a:pPr/>
              <a:t>6</a:t>
            </a:fld>
            <a:endParaRPr lang="en-US"/>
          </a:p>
        </p:txBody>
      </p:sp>
      <p:pic>
        <p:nvPicPr>
          <p:cNvPr id="8" name="Imagen 7" descr="Captura de pantalla 2013-05-08 a la(s) 01.42.59.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2110" y="1031684"/>
            <a:ext cx="6858000" cy="3581400"/>
          </a:xfrm>
          <a:prstGeom prst="rect">
            <a:avLst/>
          </a:prstGeom>
        </p:spPr>
      </p:pic>
    </p:spTree>
    <p:extLst>
      <p:ext uri="{BB962C8B-B14F-4D97-AF65-F5344CB8AC3E}">
        <p14:creationId xmlns:p14="http://schemas.microsoft.com/office/powerpoint/2010/main" val="2839498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3238480" y="744005"/>
            <a:ext cx="6643734" cy="646331"/>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s-MX" b="1" dirty="0"/>
              <a:t>Administración de la memoria en los sistemas </a:t>
            </a:r>
            <a:r>
              <a:rPr lang="es-MX" b="1" dirty="0" err="1"/>
              <a:t>multiprogramados</a:t>
            </a:r>
            <a:endParaRPr lang="es-MX" dirty="0"/>
          </a:p>
        </p:txBody>
      </p:sp>
      <p:grpSp>
        <p:nvGrpSpPr>
          <p:cNvPr id="34" name="33 Grupo"/>
          <p:cNvGrpSpPr/>
          <p:nvPr/>
        </p:nvGrpSpPr>
        <p:grpSpPr>
          <a:xfrm>
            <a:off x="6625604" y="2203836"/>
            <a:ext cx="1500198" cy="2882996"/>
            <a:chOff x="1285852" y="2643182"/>
            <a:chExt cx="1428760" cy="2562243"/>
          </a:xfrm>
        </p:grpSpPr>
        <p:sp>
          <p:nvSpPr>
            <p:cNvPr id="35" name="34 Rectángulo"/>
            <p:cNvSpPr/>
            <p:nvPr/>
          </p:nvSpPr>
          <p:spPr>
            <a:xfrm>
              <a:off x="1285852" y="2643182"/>
              <a:ext cx="1428760" cy="428628"/>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100" b="1" dirty="0">
                  <a:solidFill>
                    <a:schemeClr val="tx1"/>
                  </a:solidFill>
                </a:rPr>
                <a:t>Núcleo del S.O</a:t>
              </a:r>
            </a:p>
            <a:p>
              <a:pPr algn="ctr"/>
              <a:r>
                <a:rPr lang="es-MX" sz="1100" b="1" dirty="0">
                  <a:solidFill>
                    <a:schemeClr val="tx1"/>
                  </a:solidFill>
                </a:rPr>
                <a:t>512</a:t>
              </a:r>
            </a:p>
          </p:txBody>
        </p:sp>
        <p:sp>
          <p:nvSpPr>
            <p:cNvPr id="36" name="35 Rectángulo"/>
            <p:cNvSpPr/>
            <p:nvPr/>
          </p:nvSpPr>
          <p:spPr>
            <a:xfrm>
              <a:off x="1285852" y="3067375"/>
              <a:ext cx="1428760" cy="428628"/>
            </a:xfrm>
            <a:prstGeom prst="rect">
              <a:avLst/>
            </a:prstGeom>
            <a:solidFill>
              <a:schemeClr val="accent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400" b="1" dirty="0">
                  <a:solidFill>
                    <a:schemeClr val="tx1"/>
                  </a:solidFill>
                </a:rPr>
                <a:t>Proceso 1</a:t>
              </a:r>
            </a:p>
          </p:txBody>
        </p:sp>
        <p:sp>
          <p:nvSpPr>
            <p:cNvPr id="37" name="36 Rectángulo"/>
            <p:cNvSpPr/>
            <p:nvPr/>
          </p:nvSpPr>
          <p:spPr>
            <a:xfrm>
              <a:off x="1285852" y="3490913"/>
              <a:ext cx="1428760" cy="428628"/>
            </a:xfrm>
            <a:prstGeom prst="rect">
              <a:avLst/>
            </a:prstGeom>
            <a:solidFill>
              <a:srgbClr val="92D05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400" b="1" dirty="0">
                  <a:solidFill>
                    <a:schemeClr val="tx1"/>
                  </a:solidFill>
                </a:rPr>
                <a:t>Proceso 2</a:t>
              </a:r>
            </a:p>
          </p:txBody>
        </p:sp>
        <p:sp>
          <p:nvSpPr>
            <p:cNvPr id="38" name="37 Rectángulo"/>
            <p:cNvSpPr/>
            <p:nvPr/>
          </p:nvSpPr>
          <p:spPr>
            <a:xfrm>
              <a:off x="1285852" y="3919541"/>
              <a:ext cx="1428760" cy="428628"/>
            </a:xfrm>
            <a:prstGeom prst="rect">
              <a:avLst/>
            </a:prstGeom>
            <a:solidFill>
              <a:schemeClr val="tx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400" b="1" dirty="0">
                  <a:solidFill>
                    <a:schemeClr val="tx1"/>
                  </a:solidFill>
                </a:rPr>
                <a:t>Proceso 3</a:t>
              </a:r>
            </a:p>
          </p:txBody>
        </p:sp>
        <p:sp>
          <p:nvSpPr>
            <p:cNvPr id="39" name="38 Rectángulo"/>
            <p:cNvSpPr/>
            <p:nvPr/>
          </p:nvSpPr>
          <p:spPr>
            <a:xfrm>
              <a:off x="1285852" y="4348169"/>
              <a:ext cx="1428760" cy="428628"/>
            </a:xfrm>
            <a:prstGeom prst="rect">
              <a:avLst/>
            </a:prstGeom>
            <a:solidFill>
              <a:schemeClr val="accent6">
                <a:lumMod val="75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400" b="1" dirty="0">
                <a:solidFill>
                  <a:schemeClr val="tx1"/>
                </a:solidFill>
              </a:endParaRPr>
            </a:p>
          </p:txBody>
        </p:sp>
        <p:sp>
          <p:nvSpPr>
            <p:cNvPr id="40" name="39 Rectángulo"/>
            <p:cNvSpPr/>
            <p:nvPr/>
          </p:nvSpPr>
          <p:spPr>
            <a:xfrm>
              <a:off x="1285852" y="4776797"/>
              <a:ext cx="1428760" cy="428628"/>
            </a:xfrm>
            <a:prstGeom prst="rect">
              <a:avLst/>
            </a:prstGeom>
            <a:solidFill>
              <a:schemeClr val="bg2">
                <a:lumMod val="5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400" b="1" dirty="0">
                  <a:solidFill>
                    <a:schemeClr val="tx1"/>
                  </a:solidFill>
                </a:rPr>
                <a:t>Proceso n</a:t>
              </a:r>
            </a:p>
          </p:txBody>
        </p:sp>
      </p:grpSp>
      <p:sp>
        <p:nvSpPr>
          <p:cNvPr id="43" name="42 CuadroTexto"/>
          <p:cNvSpPr txBox="1"/>
          <p:nvPr/>
        </p:nvSpPr>
        <p:spPr>
          <a:xfrm>
            <a:off x="8190397" y="2547243"/>
            <a:ext cx="354584" cy="276999"/>
          </a:xfrm>
          <a:prstGeom prst="rect">
            <a:avLst/>
          </a:prstGeom>
          <a:noFill/>
        </p:spPr>
        <p:txBody>
          <a:bodyPr wrap="none" rtlCol="0">
            <a:spAutoFit/>
          </a:bodyPr>
          <a:lstStyle/>
          <a:p>
            <a:r>
              <a:rPr lang="es-MX" sz="1200" dirty="0"/>
              <a:t>d1</a:t>
            </a:r>
          </a:p>
        </p:txBody>
      </p:sp>
      <p:sp>
        <p:nvSpPr>
          <p:cNvPr id="44" name="43 CuadroTexto"/>
          <p:cNvSpPr txBox="1"/>
          <p:nvPr/>
        </p:nvSpPr>
        <p:spPr>
          <a:xfrm>
            <a:off x="8195598" y="3003874"/>
            <a:ext cx="354584" cy="276999"/>
          </a:xfrm>
          <a:prstGeom prst="rect">
            <a:avLst/>
          </a:prstGeom>
          <a:noFill/>
        </p:spPr>
        <p:txBody>
          <a:bodyPr wrap="none" rtlCol="0">
            <a:spAutoFit/>
          </a:bodyPr>
          <a:lstStyle/>
          <a:p>
            <a:r>
              <a:rPr lang="es-MX" sz="1200" dirty="0"/>
              <a:t>d2</a:t>
            </a:r>
          </a:p>
        </p:txBody>
      </p:sp>
      <p:sp>
        <p:nvSpPr>
          <p:cNvPr id="45" name="44 CuadroTexto"/>
          <p:cNvSpPr txBox="1"/>
          <p:nvPr/>
        </p:nvSpPr>
        <p:spPr>
          <a:xfrm>
            <a:off x="8195598" y="3509460"/>
            <a:ext cx="354584" cy="276999"/>
          </a:xfrm>
          <a:prstGeom prst="rect">
            <a:avLst/>
          </a:prstGeom>
          <a:noFill/>
        </p:spPr>
        <p:txBody>
          <a:bodyPr wrap="none" rtlCol="0">
            <a:spAutoFit/>
          </a:bodyPr>
          <a:lstStyle/>
          <a:p>
            <a:r>
              <a:rPr lang="es-MX" sz="1200" dirty="0"/>
              <a:t>d3</a:t>
            </a:r>
          </a:p>
        </p:txBody>
      </p:sp>
      <p:sp>
        <p:nvSpPr>
          <p:cNvPr id="46" name="45 CuadroTexto"/>
          <p:cNvSpPr txBox="1"/>
          <p:nvPr/>
        </p:nvSpPr>
        <p:spPr>
          <a:xfrm>
            <a:off x="8195598" y="3991746"/>
            <a:ext cx="441146" cy="276999"/>
          </a:xfrm>
          <a:prstGeom prst="rect">
            <a:avLst/>
          </a:prstGeom>
          <a:noFill/>
        </p:spPr>
        <p:txBody>
          <a:bodyPr wrap="square" rtlCol="0">
            <a:spAutoFit/>
          </a:bodyPr>
          <a:lstStyle/>
          <a:p>
            <a:r>
              <a:rPr lang="es-MX" sz="1200" dirty="0"/>
              <a:t>d4</a:t>
            </a:r>
          </a:p>
        </p:txBody>
      </p:sp>
      <p:sp>
        <p:nvSpPr>
          <p:cNvPr id="47" name="46 CuadroTexto"/>
          <p:cNvSpPr txBox="1"/>
          <p:nvPr/>
        </p:nvSpPr>
        <p:spPr>
          <a:xfrm>
            <a:off x="8167702" y="4918079"/>
            <a:ext cx="397866" cy="276999"/>
          </a:xfrm>
          <a:prstGeom prst="rect">
            <a:avLst/>
          </a:prstGeom>
          <a:noFill/>
        </p:spPr>
        <p:txBody>
          <a:bodyPr wrap="none" rtlCol="0">
            <a:spAutoFit/>
          </a:bodyPr>
          <a:lstStyle/>
          <a:p>
            <a:r>
              <a:rPr lang="es-MX" sz="1200" dirty="0"/>
              <a:t>dm</a:t>
            </a:r>
          </a:p>
        </p:txBody>
      </p:sp>
      <p:sp>
        <p:nvSpPr>
          <p:cNvPr id="48" name="47 Rectángulo"/>
          <p:cNvSpPr/>
          <p:nvPr/>
        </p:nvSpPr>
        <p:spPr>
          <a:xfrm>
            <a:off x="8236634" y="4318075"/>
            <a:ext cx="400110" cy="419346"/>
          </a:xfrm>
          <a:prstGeom prst="rect">
            <a:avLst/>
          </a:prstGeom>
        </p:spPr>
        <p:txBody>
          <a:bodyPr vert="vert" wrap="none">
            <a:spAutoFit/>
          </a:bodyPr>
          <a:lstStyle/>
          <a:p>
            <a:r>
              <a:rPr lang="es-MX" sz="1400" b="1" dirty="0">
                <a:solidFill>
                  <a:prstClr val="black"/>
                </a:solidFill>
                <a:latin typeface="Calibri"/>
              </a:rPr>
              <a:t>●●●</a:t>
            </a:r>
            <a:endParaRPr lang="es-MX" dirty="0"/>
          </a:p>
        </p:txBody>
      </p:sp>
      <p:sp>
        <p:nvSpPr>
          <p:cNvPr id="49" name="48 Rectángulo"/>
          <p:cNvSpPr/>
          <p:nvPr/>
        </p:nvSpPr>
        <p:spPr>
          <a:xfrm>
            <a:off x="7725692" y="4161532"/>
            <a:ext cx="400110" cy="419346"/>
          </a:xfrm>
          <a:prstGeom prst="rect">
            <a:avLst/>
          </a:prstGeom>
        </p:spPr>
        <p:txBody>
          <a:bodyPr vert="vert" wrap="none">
            <a:spAutoFit/>
          </a:bodyPr>
          <a:lstStyle/>
          <a:p>
            <a:r>
              <a:rPr lang="es-MX" sz="1400" b="1" dirty="0">
                <a:solidFill>
                  <a:prstClr val="black"/>
                </a:solidFill>
                <a:latin typeface="Calibri"/>
              </a:rPr>
              <a:t>●●●</a:t>
            </a:r>
            <a:endParaRPr lang="es-MX" dirty="0"/>
          </a:p>
        </p:txBody>
      </p:sp>
      <p:sp>
        <p:nvSpPr>
          <p:cNvPr id="50" name="49 Rectángulo"/>
          <p:cNvSpPr/>
          <p:nvPr/>
        </p:nvSpPr>
        <p:spPr>
          <a:xfrm>
            <a:off x="2493730" y="1982821"/>
            <a:ext cx="3602270" cy="5262082"/>
          </a:xfrm>
          <a:prstGeom prst="rect">
            <a:avLst/>
          </a:prstGeom>
        </p:spPr>
        <p:txBody>
          <a:bodyPr wrap="square">
            <a:spAutoFit/>
          </a:bodyPr>
          <a:lstStyle/>
          <a:p>
            <a:pPr>
              <a:lnSpc>
                <a:spcPct val="114000"/>
              </a:lnSpc>
              <a:spcBef>
                <a:spcPts val="600"/>
              </a:spcBef>
              <a:spcAft>
                <a:spcPts val="600"/>
              </a:spcAft>
            </a:pPr>
            <a:r>
              <a:rPr lang="es-MX" sz="1400" b="1" dirty="0"/>
              <a:t>Los problemas que aparecen en los sistemas </a:t>
            </a:r>
            <a:r>
              <a:rPr lang="es-MX" sz="1400" b="1" dirty="0" err="1"/>
              <a:t>multiprogramados</a:t>
            </a:r>
            <a:r>
              <a:rPr lang="es-MX" sz="1400" b="1" dirty="0"/>
              <a:t> y/o </a:t>
            </a:r>
            <a:r>
              <a:rPr lang="es-MX" sz="1400" b="1" dirty="0" err="1"/>
              <a:t>multiusuarios</a:t>
            </a:r>
            <a:r>
              <a:rPr lang="es-MX" sz="1400" b="1" dirty="0"/>
              <a:t> son:</a:t>
            </a:r>
          </a:p>
          <a:p>
            <a:pPr marL="342900" indent="-342900">
              <a:lnSpc>
                <a:spcPct val="114000"/>
              </a:lnSpc>
              <a:spcBef>
                <a:spcPts val="600"/>
              </a:spcBef>
              <a:spcAft>
                <a:spcPts val="600"/>
              </a:spcAft>
              <a:buAutoNum type="arabicPeriod"/>
            </a:pPr>
            <a:r>
              <a:rPr lang="es-MX" sz="1400" dirty="0"/>
              <a:t>Llevar un recuento de las zonas de memoria ocupadas por los procesos. ¿Qué proceso ocupa cual espacio?.</a:t>
            </a:r>
          </a:p>
          <a:p>
            <a:pPr marL="342900" indent="-342900">
              <a:lnSpc>
                <a:spcPct val="114000"/>
              </a:lnSpc>
              <a:spcBef>
                <a:spcPts val="600"/>
              </a:spcBef>
              <a:spcAft>
                <a:spcPts val="600"/>
              </a:spcAft>
              <a:buAutoNum type="arabicPeriod"/>
            </a:pPr>
            <a:r>
              <a:rPr lang="es-MX" sz="1400" dirty="0"/>
              <a:t>El momento de </a:t>
            </a:r>
            <a:r>
              <a:rPr lang="es-MX" sz="1400" i="1" u="sng" dirty="0"/>
              <a:t>escribir un programa </a:t>
            </a:r>
            <a:r>
              <a:rPr lang="es-MX" sz="1400" dirty="0"/>
              <a:t>no se sabe en qué zona de memoria se ubicará, siendo posible que durante </a:t>
            </a:r>
            <a:r>
              <a:rPr lang="es-MX" sz="1400" i="1" u="sng" dirty="0"/>
              <a:t>la vida de un proceso</a:t>
            </a:r>
            <a:r>
              <a:rPr lang="es-MX" sz="1400" i="1" dirty="0"/>
              <a:t> </a:t>
            </a:r>
            <a:r>
              <a:rPr lang="es-MX" sz="1400" dirty="0"/>
              <a:t>éste cambie varias veces de lugar. </a:t>
            </a:r>
          </a:p>
          <a:p>
            <a:pPr marL="342900" indent="-342900">
              <a:lnSpc>
                <a:spcPct val="114000"/>
              </a:lnSpc>
              <a:spcBef>
                <a:spcPts val="600"/>
              </a:spcBef>
              <a:spcAft>
                <a:spcPts val="600"/>
              </a:spcAft>
              <a:buAutoNum type="arabicPeriod"/>
            </a:pPr>
            <a:r>
              <a:rPr lang="es-MX" sz="1400" dirty="0"/>
              <a:t>La protección de las zonas de memoria ocupadas por los procesos, máxime en sistemas multiusuario donde los procesos pueden pertenecer a distintos usuarios.</a:t>
            </a:r>
          </a:p>
          <a:p>
            <a:pPr marL="342900" indent="-342900">
              <a:lnSpc>
                <a:spcPct val="114000"/>
              </a:lnSpc>
              <a:spcBef>
                <a:spcPts val="600"/>
              </a:spcBef>
              <a:spcAft>
                <a:spcPts val="600"/>
              </a:spcAft>
              <a:buAutoNum type="arabicPeriod"/>
            </a:pPr>
            <a:endParaRPr lang="es-MX" sz="1400" dirty="0"/>
          </a:p>
          <a:p>
            <a:pPr marL="342900" indent="-342900">
              <a:lnSpc>
                <a:spcPct val="114000"/>
              </a:lnSpc>
              <a:spcBef>
                <a:spcPts val="600"/>
              </a:spcBef>
              <a:spcAft>
                <a:spcPts val="600"/>
              </a:spcAft>
              <a:buAutoNum type="arabicPeriod"/>
            </a:pPr>
            <a:r>
              <a:rPr lang="es-MX" sz="1400" dirty="0"/>
              <a:t>0X110:A=“HOLA MUNDO” </a:t>
            </a:r>
          </a:p>
        </p:txBody>
      </p:sp>
      <p:sp>
        <p:nvSpPr>
          <p:cNvPr id="52" name="51 CuadroTexto"/>
          <p:cNvSpPr txBox="1"/>
          <p:nvPr/>
        </p:nvSpPr>
        <p:spPr>
          <a:xfrm>
            <a:off x="9310711" y="3324794"/>
            <a:ext cx="1143008" cy="646331"/>
          </a:xfrm>
          <a:prstGeom prst="rect">
            <a:avLst/>
          </a:prstGeom>
          <a:noFill/>
        </p:spPr>
        <p:txBody>
          <a:bodyPr wrap="square" rtlCol="0">
            <a:spAutoFit/>
          </a:bodyPr>
          <a:lstStyle/>
          <a:p>
            <a:pPr algn="ctr"/>
            <a:r>
              <a:rPr lang="es-MX" sz="1200" b="1" dirty="0"/>
              <a:t>Direcciones de </a:t>
            </a:r>
          </a:p>
          <a:p>
            <a:pPr algn="ctr"/>
            <a:r>
              <a:rPr lang="es-MX" sz="1200" b="1" dirty="0"/>
              <a:t>memoria</a:t>
            </a:r>
          </a:p>
        </p:txBody>
      </p:sp>
      <p:cxnSp>
        <p:nvCxnSpPr>
          <p:cNvPr id="59" name="58 Conector recto de flecha"/>
          <p:cNvCxnSpPr>
            <a:stCxn id="52" idx="1"/>
            <a:endCxn id="43" idx="3"/>
          </p:cNvCxnSpPr>
          <p:nvPr/>
        </p:nvCxnSpPr>
        <p:spPr>
          <a:xfrm rot="10800000">
            <a:off x="8544981" y="2685744"/>
            <a:ext cx="765730" cy="962217"/>
          </a:xfrm>
          <a:prstGeom prst="straightConnector1">
            <a:avLst/>
          </a:prstGeom>
          <a:ln>
            <a:solidFill>
              <a:srgbClr val="0000CC"/>
            </a:solidFill>
            <a:tailEnd type="arrow"/>
          </a:ln>
        </p:spPr>
        <p:style>
          <a:lnRef idx="3">
            <a:schemeClr val="accent1"/>
          </a:lnRef>
          <a:fillRef idx="0">
            <a:schemeClr val="accent1"/>
          </a:fillRef>
          <a:effectRef idx="2">
            <a:schemeClr val="accent1"/>
          </a:effectRef>
          <a:fontRef idx="minor">
            <a:schemeClr val="tx1"/>
          </a:fontRef>
        </p:style>
      </p:cxnSp>
      <p:cxnSp>
        <p:nvCxnSpPr>
          <p:cNvPr id="62" name="61 Conector recto de flecha"/>
          <p:cNvCxnSpPr>
            <a:stCxn id="52" idx="1"/>
            <a:endCxn id="44" idx="3"/>
          </p:cNvCxnSpPr>
          <p:nvPr/>
        </p:nvCxnSpPr>
        <p:spPr>
          <a:xfrm rot="10800000">
            <a:off x="8550184" y="3142373"/>
            <a:ext cx="760529" cy="505586"/>
          </a:xfrm>
          <a:prstGeom prst="straightConnector1">
            <a:avLst/>
          </a:prstGeom>
          <a:ln>
            <a:solidFill>
              <a:srgbClr val="0000CC"/>
            </a:solidFill>
            <a:tailEnd type="arrow"/>
          </a:ln>
        </p:spPr>
        <p:style>
          <a:lnRef idx="3">
            <a:schemeClr val="accent1"/>
          </a:lnRef>
          <a:fillRef idx="0">
            <a:schemeClr val="accent1"/>
          </a:fillRef>
          <a:effectRef idx="2">
            <a:schemeClr val="accent1"/>
          </a:effectRef>
          <a:fontRef idx="minor">
            <a:schemeClr val="tx1"/>
          </a:fontRef>
        </p:style>
      </p:cxnSp>
      <p:cxnSp>
        <p:nvCxnSpPr>
          <p:cNvPr id="64" name="63 Conector recto de flecha"/>
          <p:cNvCxnSpPr>
            <a:stCxn id="52" idx="1"/>
            <a:endCxn id="45" idx="3"/>
          </p:cNvCxnSpPr>
          <p:nvPr/>
        </p:nvCxnSpPr>
        <p:spPr>
          <a:xfrm rot="10800000">
            <a:off x="8550184" y="3647959"/>
            <a:ext cx="760529" cy="1588"/>
          </a:xfrm>
          <a:prstGeom prst="straightConnector1">
            <a:avLst/>
          </a:prstGeom>
          <a:ln>
            <a:solidFill>
              <a:srgbClr val="0000CC"/>
            </a:solidFill>
            <a:tailEnd type="arrow"/>
          </a:ln>
        </p:spPr>
        <p:style>
          <a:lnRef idx="3">
            <a:schemeClr val="accent1"/>
          </a:lnRef>
          <a:fillRef idx="0">
            <a:schemeClr val="accent1"/>
          </a:fillRef>
          <a:effectRef idx="2">
            <a:schemeClr val="accent1"/>
          </a:effectRef>
          <a:fontRef idx="minor">
            <a:schemeClr val="tx1"/>
          </a:fontRef>
        </p:style>
      </p:cxnSp>
      <p:cxnSp>
        <p:nvCxnSpPr>
          <p:cNvPr id="66" name="65 Conector recto de flecha"/>
          <p:cNvCxnSpPr>
            <a:stCxn id="52" idx="1"/>
            <a:endCxn id="46" idx="3"/>
          </p:cNvCxnSpPr>
          <p:nvPr/>
        </p:nvCxnSpPr>
        <p:spPr>
          <a:xfrm rot="10800000" flipV="1">
            <a:off x="8636746" y="3647959"/>
            <a:ext cx="673967" cy="482286"/>
          </a:xfrm>
          <a:prstGeom prst="straightConnector1">
            <a:avLst/>
          </a:prstGeom>
          <a:ln>
            <a:solidFill>
              <a:srgbClr val="0000CC"/>
            </a:solidFill>
            <a:tailEnd type="arrow"/>
          </a:ln>
        </p:spPr>
        <p:style>
          <a:lnRef idx="3">
            <a:schemeClr val="accent1"/>
          </a:lnRef>
          <a:fillRef idx="0">
            <a:schemeClr val="accent1"/>
          </a:fillRef>
          <a:effectRef idx="2">
            <a:schemeClr val="accent1"/>
          </a:effectRef>
          <a:fontRef idx="minor">
            <a:schemeClr val="tx1"/>
          </a:fontRef>
        </p:style>
      </p:cxnSp>
      <p:cxnSp>
        <p:nvCxnSpPr>
          <p:cNvPr id="68" name="67 Conector recto de flecha"/>
          <p:cNvCxnSpPr>
            <a:stCxn id="52" idx="1"/>
            <a:endCxn id="47" idx="3"/>
          </p:cNvCxnSpPr>
          <p:nvPr/>
        </p:nvCxnSpPr>
        <p:spPr>
          <a:xfrm rot="10800000" flipV="1">
            <a:off x="8565570" y="3647959"/>
            <a:ext cx="745143" cy="1408619"/>
          </a:xfrm>
          <a:prstGeom prst="straightConnector1">
            <a:avLst/>
          </a:prstGeom>
          <a:ln>
            <a:solidFill>
              <a:srgbClr val="0000CC"/>
            </a:solidFill>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817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14600" y="-731044"/>
            <a:ext cx="7772400" cy="1462088"/>
          </a:xfrm>
        </p:spPr>
        <p:txBody>
          <a:bodyPr/>
          <a:lstStyle/>
          <a:p>
            <a:r>
              <a:rPr lang="is-IS" sz="2400" dirty="0"/>
              <a:t>MULTIPROGRAMACIÓN EN MEMORIA REAL.</a:t>
            </a:r>
            <a:r>
              <a:rPr lang="pt-BR" sz="2400" dirty="0"/>
              <a:t>.</a:t>
            </a:r>
            <a:endParaRPr lang="es-ES" sz="2400" dirty="0"/>
          </a:p>
        </p:txBody>
      </p:sp>
      <p:sp>
        <p:nvSpPr>
          <p:cNvPr id="4" name="Rectangle 3"/>
          <p:cNvSpPr txBox="1">
            <a:spLocks noChangeArrowheads="1"/>
          </p:cNvSpPr>
          <p:nvPr/>
        </p:nvSpPr>
        <p:spPr bwMode="auto">
          <a:xfrm>
            <a:off x="1752601" y="1143001"/>
            <a:ext cx="8455025" cy="518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normAutofit/>
          </a:bodyPr>
          <a:lstStyle>
            <a:lvl1pPr marL="0" indent="0" algn="ctr" rtl="0" eaLnBrk="0" fontAlgn="base" hangingPunct="0">
              <a:spcBef>
                <a:spcPct val="20000"/>
              </a:spcBef>
              <a:spcAft>
                <a:spcPct val="0"/>
              </a:spcAft>
              <a:buClr>
                <a:schemeClr val="folHlink"/>
              </a:buClr>
              <a:buSzPct val="60000"/>
              <a:buFont typeface="Wingdings" pitchFamily="2" charset="2"/>
              <a:buNone/>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charset="0"/>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charset="0"/>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charset="0"/>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charset="0"/>
              <a:buChar char="n"/>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9pPr>
          </a:lstStyle>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Mas de un proceso al mismo tiempo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El problema de la relocalización.</a:t>
            </a:r>
          </a:p>
          <a:p>
            <a:pPr marL="1600200" lvl="2" indent="-457200" eaLnBrk="1" hangingPunct="1">
              <a:lnSpc>
                <a:spcPct val="90000"/>
              </a:lnSpc>
              <a:buFont typeface="Arial"/>
              <a:buChar char="•"/>
            </a:pPr>
            <a:r>
              <a:rPr lang="es-ES_tradnl" dirty="0">
                <a:latin typeface="Tahoma" charset="0"/>
                <a:ea typeface="ＭＳ Ｐゴシック" charset="0"/>
                <a:cs typeface="ＭＳ Ｐゴシック" charset="0"/>
              </a:rPr>
              <a:t>La solución «estática» consiste en que todas las direcciones del programa se vuelvan a recalcular al momento en que el programa se carga a memoria, esto es, prácticamente se vuelve a recompilar el programa. </a:t>
            </a:r>
          </a:p>
          <a:p>
            <a:pPr marL="1600200" lvl="2" indent="-457200" eaLnBrk="1" hangingPunct="1">
              <a:lnSpc>
                <a:spcPct val="90000"/>
              </a:lnSpc>
              <a:buFont typeface="Arial"/>
              <a:buChar char="•"/>
            </a:pPr>
            <a:r>
              <a:rPr lang="es-ES_tradnl" dirty="0">
                <a:latin typeface="Tahoma" charset="0"/>
                <a:ea typeface="ＭＳ Ｐゴシック" charset="0"/>
                <a:cs typeface="ＭＳ Ｐゴシック" charset="0"/>
              </a:rPr>
              <a:t>La solución «dinámica» consiste en tener un registro que guarde la dirección base de la sección que va a contener al programa. Cada vez que el programa haga una referencia a una dirección de memoria, se le suma el registro base para encontrar la dirección real. </a:t>
            </a:r>
            <a:endParaRPr lang="es-PR" dirty="0">
              <a:latin typeface="Tahoma" charset="0"/>
              <a:ea typeface="ＭＳ Ｐゴシック" charset="0"/>
              <a:cs typeface="ＭＳ Ｐゴシック" charset="0"/>
            </a:endParaRPr>
          </a:p>
          <a:p>
            <a:pPr marL="1200150" lvl="1" indent="-457200" eaLnBrk="1" hangingPunct="1">
              <a:lnSpc>
                <a:spcPct val="90000"/>
              </a:lnSpc>
              <a:buFont typeface="Arial"/>
              <a:buChar char="•"/>
            </a:pPr>
            <a:endParaRPr lang="es-PR" dirty="0">
              <a:latin typeface="Tahoma" charset="0"/>
              <a:ea typeface="ＭＳ Ｐゴシック" charset="0"/>
              <a:cs typeface="ＭＳ Ｐゴシック" charset="0"/>
            </a:endParaRPr>
          </a:p>
        </p:txBody>
      </p:sp>
    </p:spTree>
    <p:extLst>
      <p:ext uri="{BB962C8B-B14F-4D97-AF65-F5344CB8AC3E}">
        <p14:creationId xmlns:p14="http://schemas.microsoft.com/office/powerpoint/2010/main" val="2675920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3238480" y="744004"/>
            <a:ext cx="6643734" cy="369332"/>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s-MX" b="1" dirty="0"/>
              <a:t>Asignación de memoria contigua</a:t>
            </a:r>
            <a:endParaRPr lang="es-MX" dirty="0"/>
          </a:p>
        </p:txBody>
      </p:sp>
      <p:grpSp>
        <p:nvGrpSpPr>
          <p:cNvPr id="24" name="23 Grupo"/>
          <p:cNvGrpSpPr/>
          <p:nvPr/>
        </p:nvGrpSpPr>
        <p:grpSpPr>
          <a:xfrm>
            <a:off x="4167174" y="2295494"/>
            <a:ext cx="1214446" cy="2990895"/>
            <a:chOff x="1285852" y="2643182"/>
            <a:chExt cx="1428760" cy="3419499"/>
          </a:xfrm>
        </p:grpSpPr>
        <p:sp>
          <p:nvSpPr>
            <p:cNvPr id="25" name="24 Rectángulo"/>
            <p:cNvSpPr/>
            <p:nvPr/>
          </p:nvSpPr>
          <p:spPr>
            <a:xfrm>
              <a:off x="1285852" y="2643182"/>
              <a:ext cx="1428760" cy="428628"/>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50" b="1" dirty="0">
                  <a:solidFill>
                    <a:schemeClr val="tx1"/>
                  </a:solidFill>
                </a:rPr>
                <a:t>Sistema operativo</a:t>
              </a:r>
            </a:p>
            <a:p>
              <a:pPr algn="ctr"/>
              <a:r>
                <a:rPr lang="es-MX" sz="1050" b="1" dirty="0">
                  <a:solidFill>
                    <a:schemeClr val="tx1"/>
                  </a:solidFill>
                </a:rPr>
                <a:t>512</a:t>
              </a:r>
            </a:p>
          </p:txBody>
        </p:sp>
        <p:sp>
          <p:nvSpPr>
            <p:cNvPr id="26" name="25 Rectángulo"/>
            <p:cNvSpPr/>
            <p:nvPr/>
          </p:nvSpPr>
          <p:spPr>
            <a:xfrm>
              <a:off x="1285852" y="3067375"/>
              <a:ext cx="1428760" cy="428628"/>
            </a:xfrm>
            <a:prstGeom prst="rect">
              <a:avLst/>
            </a:prstGeom>
            <a:solidFill>
              <a:schemeClr val="accent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27" name="26 Rectángulo"/>
            <p:cNvSpPr/>
            <p:nvPr/>
          </p:nvSpPr>
          <p:spPr>
            <a:xfrm>
              <a:off x="1285852" y="3490913"/>
              <a:ext cx="1428760" cy="428628"/>
            </a:xfrm>
            <a:prstGeom prst="rect">
              <a:avLst/>
            </a:prstGeom>
            <a:solidFill>
              <a:schemeClr val="tx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28" name="27 Rectángulo"/>
            <p:cNvSpPr/>
            <p:nvPr/>
          </p:nvSpPr>
          <p:spPr>
            <a:xfrm>
              <a:off x="1285852" y="3919541"/>
              <a:ext cx="1428760" cy="428628"/>
            </a:xfrm>
            <a:prstGeom prst="rect">
              <a:avLst/>
            </a:prstGeom>
            <a:solidFill>
              <a:schemeClr val="accent4">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29" name="28 Rectángulo"/>
            <p:cNvSpPr/>
            <p:nvPr/>
          </p:nvSpPr>
          <p:spPr>
            <a:xfrm>
              <a:off x="1285852" y="4348169"/>
              <a:ext cx="1428760" cy="428628"/>
            </a:xfrm>
            <a:prstGeom prst="rect">
              <a:avLst/>
            </a:prstGeom>
            <a:solidFill>
              <a:srgbClr val="92D05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30" name="29 Rectángulo"/>
            <p:cNvSpPr/>
            <p:nvPr/>
          </p:nvSpPr>
          <p:spPr>
            <a:xfrm>
              <a:off x="1285852" y="4776797"/>
              <a:ext cx="1428760" cy="428628"/>
            </a:xfrm>
            <a:prstGeom prst="rect">
              <a:avLst/>
            </a:prstGeom>
            <a:solidFill>
              <a:srgbClr val="FFC00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31" name="30 Rectángulo"/>
            <p:cNvSpPr/>
            <p:nvPr/>
          </p:nvSpPr>
          <p:spPr>
            <a:xfrm>
              <a:off x="1285852" y="5205425"/>
              <a:ext cx="1428760" cy="428628"/>
            </a:xfrm>
            <a:prstGeom prst="rect">
              <a:avLst/>
            </a:prstGeom>
            <a:solidFill>
              <a:srgbClr val="FF000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32" name="31 Rectángulo"/>
            <p:cNvSpPr/>
            <p:nvPr/>
          </p:nvSpPr>
          <p:spPr>
            <a:xfrm>
              <a:off x="1285852" y="5634053"/>
              <a:ext cx="1428760" cy="428628"/>
            </a:xfrm>
            <a:prstGeom prst="rect">
              <a:avLst/>
            </a:prstGeom>
            <a:solidFill>
              <a:schemeClr val="bg1"/>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grpSp>
      <p:sp>
        <p:nvSpPr>
          <p:cNvPr id="220" name="219 CuadroTexto"/>
          <p:cNvSpPr txBox="1"/>
          <p:nvPr/>
        </p:nvSpPr>
        <p:spPr>
          <a:xfrm>
            <a:off x="2166911" y="2839528"/>
            <a:ext cx="886093" cy="461665"/>
          </a:xfrm>
          <a:prstGeom prst="rect">
            <a:avLst/>
          </a:prstGeom>
          <a:solidFill>
            <a:schemeClr val="accent4">
              <a:lumMod val="60000"/>
              <a:lumOff val="40000"/>
            </a:schemeClr>
          </a:solidFill>
          <a:ln w="28575"/>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s-MX" sz="1200" b="1" dirty="0"/>
              <a:t>Proceso A 128 K</a:t>
            </a:r>
          </a:p>
        </p:txBody>
      </p:sp>
      <p:sp>
        <p:nvSpPr>
          <p:cNvPr id="253" name="252 Rectángulo"/>
          <p:cNvSpPr/>
          <p:nvPr/>
        </p:nvSpPr>
        <p:spPr>
          <a:xfrm>
            <a:off x="2039529" y="1478827"/>
            <a:ext cx="3178717"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Particiones estáticas</a:t>
            </a:r>
          </a:p>
        </p:txBody>
      </p:sp>
      <p:sp>
        <p:nvSpPr>
          <p:cNvPr id="255" name="254 Rectángulo"/>
          <p:cNvSpPr/>
          <p:nvPr/>
        </p:nvSpPr>
        <p:spPr>
          <a:xfrm>
            <a:off x="2595539" y="5753418"/>
            <a:ext cx="7272257" cy="461665"/>
          </a:xfrm>
          <a:prstGeom prst="rect">
            <a:avLst/>
          </a:prstGeom>
          <a:ln w="19050">
            <a:solidFill>
              <a:schemeClr val="tx1"/>
            </a:solidFill>
          </a:ln>
        </p:spPr>
        <p:txBody>
          <a:bodyPr wrap="square">
            <a:spAutoFit/>
          </a:bodyPr>
          <a:lstStyle/>
          <a:p>
            <a:r>
              <a:rPr lang="es-MX" sz="1200" dirty="0"/>
              <a:t>Una vez introducido un proceso en una partición, permanece en ella hasta su finalización aunque se encuentren libres otras particiones. Esto provoca una pérdida de eficiencia </a:t>
            </a:r>
          </a:p>
        </p:txBody>
      </p:sp>
      <p:sp>
        <p:nvSpPr>
          <p:cNvPr id="260" name="259 Rectángulo"/>
          <p:cNvSpPr/>
          <p:nvPr/>
        </p:nvSpPr>
        <p:spPr>
          <a:xfrm>
            <a:off x="4881554" y="1357299"/>
            <a:ext cx="4786346" cy="461665"/>
          </a:xfrm>
          <a:prstGeom prst="rect">
            <a:avLst/>
          </a:prstGeom>
          <a:ln w="19050">
            <a:solidFill>
              <a:schemeClr val="tx1"/>
            </a:solidFill>
          </a:ln>
        </p:spPr>
        <p:txBody>
          <a:bodyPr wrap="square">
            <a:spAutoFit/>
          </a:bodyPr>
          <a:lstStyle/>
          <a:p>
            <a:r>
              <a:rPr lang="es-MX" sz="1200" dirty="0"/>
              <a:t>Los trabajos se traducían mediante compiladores y ensambladores absolutos, para ejecutarse en una partición específica</a:t>
            </a:r>
          </a:p>
        </p:txBody>
      </p:sp>
      <p:sp>
        <p:nvSpPr>
          <p:cNvPr id="125" name="124 CuadroTexto"/>
          <p:cNvSpPr txBox="1"/>
          <p:nvPr/>
        </p:nvSpPr>
        <p:spPr>
          <a:xfrm>
            <a:off x="2166910" y="3560109"/>
            <a:ext cx="830628" cy="646331"/>
          </a:xfrm>
          <a:prstGeom prst="rect">
            <a:avLst/>
          </a:prstGeom>
          <a:solidFill>
            <a:schemeClr val="bg1"/>
          </a:solidFill>
          <a:ln w="28575"/>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s-MX" sz="1200" b="1" dirty="0"/>
              <a:t>Proceso B</a:t>
            </a:r>
          </a:p>
          <a:p>
            <a:pPr algn="ctr"/>
            <a:r>
              <a:rPr lang="es-MX" sz="1200" b="1" dirty="0"/>
              <a:t>256 K</a:t>
            </a:r>
          </a:p>
        </p:txBody>
      </p:sp>
      <p:sp>
        <p:nvSpPr>
          <p:cNvPr id="126" name="125 CuadroTexto"/>
          <p:cNvSpPr txBox="1"/>
          <p:nvPr/>
        </p:nvSpPr>
        <p:spPr>
          <a:xfrm>
            <a:off x="2166911" y="4252628"/>
            <a:ext cx="886093" cy="461665"/>
          </a:xfrm>
          <a:prstGeom prst="rect">
            <a:avLst/>
          </a:prstGeom>
          <a:ln w="28575"/>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s-MX" sz="1200" b="1" dirty="0"/>
              <a:t>Proceso C</a:t>
            </a:r>
          </a:p>
          <a:p>
            <a:pPr algn="ctr"/>
            <a:r>
              <a:rPr lang="es-MX" sz="1200" b="1" dirty="0"/>
              <a:t>640 K</a:t>
            </a:r>
          </a:p>
        </p:txBody>
      </p:sp>
      <p:cxnSp>
        <p:nvCxnSpPr>
          <p:cNvPr id="128" name="127 Conector angular"/>
          <p:cNvCxnSpPr>
            <a:stCxn id="220" idx="3"/>
            <a:endCxn id="28" idx="1"/>
          </p:cNvCxnSpPr>
          <p:nvPr/>
        </p:nvCxnSpPr>
        <p:spPr>
          <a:xfrm>
            <a:off x="3053004" y="3070360"/>
            <a:ext cx="1114171" cy="528964"/>
          </a:xfrm>
          <a:prstGeom prst="bentConnector3">
            <a:avLst>
              <a:gd name="adj1" fmla="val 50000"/>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130" name="129 Conector angular"/>
          <p:cNvCxnSpPr>
            <a:stCxn id="125" idx="3"/>
            <a:endCxn id="32" idx="1"/>
          </p:cNvCxnSpPr>
          <p:nvPr/>
        </p:nvCxnSpPr>
        <p:spPr>
          <a:xfrm>
            <a:off x="2997538" y="3883275"/>
            <a:ext cx="1169636" cy="1215663"/>
          </a:xfrm>
          <a:prstGeom prst="bentConnector3">
            <a:avLst>
              <a:gd name="adj1" fmla="val 50000"/>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3" name="132 Conector angular"/>
          <p:cNvCxnSpPr>
            <a:stCxn id="126" idx="3"/>
            <a:endCxn id="29" idx="1"/>
          </p:cNvCxnSpPr>
          <p:nvPr/>
        </p:nvCxnSpPr>
        <p:spPr>
          <a:xfrm flipV="1">
            <a:off x="3053004" y="3974228"/>
            <a:ext cx="1114171" cy="509233"/>
          </a:xfrm>
          <a:prstGeom prst="bentConnector3">
            <a:avLst>
              <a:gd name="adj1" fmla="val 50000"/>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37" name="136 Conector angular"/>
          <p:cNvCxnSpPr>
            <a:stCxn id="126" idx="3"/>
            <a:endCxn id="31" idx="1"/>
          </p:cNvCxnSpPr>
          <p:nvPr/>
        </p:nvCxnSpPr>
        <p:spPr>
          <a:xfrm>
            <a:off x="3053004" y="4483461"/>
            <a:ext cx="1114171" cy="240573"/>
          </a:xfrm>
          <a:prstGeom prst="bentConnector3">
            <a:avLst>
              <a:gd name="adj1" fmla="val 50000"/>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28" name="227 Rectángulo redondeado"/>
          <p:cNvSpPr/>
          <p:nvPr/>
        </p:nvSpPr>
        <p:spPr>
          <a:xfrm>
            <a:off x="6738942" y="2857497"/>
            <a:ext cx="674446" cy="461665"/>
          </a:xfrm>
          <a:prstGeom prst="round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1000" dirty="0"/>
              <a:t>Listos</a:t>
            </a:r>
          </a:p>
        </p:txBody>
      </p:sp>
      <p:sp>
        <p:nvSpPr>
          <p:cNvPr id="229" name="228 Rectángulo redondeado"/>
          <p:cNvSpPr/>
          <p:nvPr/>
        </p:nvSpPr>
        <p:spPr>
          <a:xfrm>
            <a:off x="6071231" y="4074918"/>
            <a:ext cx="974971" cy="461665"/>
          </a:xfrm>
          <a:prstGeom prst="round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1000" dirty="0"/>
              <a:t>Bloqueados</a:t>
            </a:r>
          </a:p>
        </p:txBody>
      </p:sp>
      <p:sp>
        <p:nvSpPr>
          <p:cNvPr id="231" name="230 Rectángulo redondeado"/>
          <p:cNvSpPr/>
          <p:nvPr/>
        </p:nvSpPr>
        <p:spPr>
          <a:xfrm>
            <a:off x="7453322" y="4072244"/>
            <a:ext cx="961588" cy="461665"/>
          </a:xfrm>
          <a:prstGeom prst="round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1000" dirty="0"/>
              <a:t>Ejecución</a:t>
            </a:r>
          </a:p>
        </p:txBody>
      </p:sp>
      <p:cxnSp>
        <p:nvCxnSpPr>
          <p:cNvPr id="236" name="235 Conector angular"/>
          <p:cNvCxnSpPr>
            <a:cxnSpLocks/>
            <a:stCxn id="228" idx="3"/>
            <a:endCxn id="231" idx="3"/>
          </p:cNvCxnSpPr>
          <p:nvPr/>
        </p:nvCxnSpPr>
        <p:spPr>
          <a:xfrm>
            <a:off x="7413388" y="3088330"/>
            <a:ext cx="1001522" cy="1214747"/>
          </a:xfrm>
          <a:prstGeom prst="bentConnector3">
            <a:avLst>
              <a:gd name="adj1" fmla="val 122825"/>
            </a:avLst>
          </a:prstGeom>
          <a:ln w="28575">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4" name="243 Conector angular"/>
          <p:cNvCxnSpPr>
            <a:cxnSpLocks/>
            <a:stCxn id="231" idx="0"/>
            <a:endCxn id="228" idx="2"/>
          </p:cNvCxnSpPr>
          <p:nvPr/>
        </p:nvCxnSpPr>
        <p:spPr>
          <a:xfrm rot="16200000" flipV="1">
            <a:off x="7128600" y="3266727"/>
            <a:ext cx="753082" cy="857951"/>
          </a:xfrm>
          <a:prstGeom prst="bentConnector3">
            <a:avLst>
              <a:gd name="adj1" fmla="val 50000"/>
            </a:avLst>
          </a:prstGeom>
          <a:ln w="28575">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8" name="247 Conector angular"/>
          <p:cNvCxnSpPr>
            <a:cxnSpLocks/>
            <a:stCxn id="229" idx="1"/>
            <a:endCxn id="228" idx="1"/>
          </p:cNvCxnSpPr>
          <p:nvPr/>
        </p:nvCxnSpPr>
        <p:spPr>
          <a:xfrm rot="10800000" flipH="1">
            <a:off x="6071230" y="3088331"/>
            <a:ext cx="667711" cy="1217421"/>
          </a:xfrm>
          <a:prstGeom prst="bentConnector3">
            <a:avLst>
              <a:gd name="adj1" fmla="val -34236"/>
            </a:avLst>
          </a:prstGeom>
          <a:ln w="28575">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98" name="297 CuadroTexto"/>
          <p:cNvSpPr txBox="1"/>
          <p:nvPr/>
        </p:nvSpPr>
        <p:spPr>
          <a:xfrm>
            <a:off x="6365202" y="3562351"/>
            <a:ext cx="730930" cy="400110"/>
          </a:xfrm>
          <a:prstGeom prst="rect">
            <a:avLst/>
          </a:prstGeom>
          <a:noFill/>
        </p:spPr>
        <p:txBody>
          <a:bodyPr wrap="square" rtlCol="0">
            <a:spAutoFit/>
          </a:bodyPr>
          <a:lstStyle/>
          <a:p>
            <a:pPr algn="ctr"/>
            <a:r>
              <a:rPr lang="es-MX" sz="1000" dirty="0"/>
              <a:t>Espera  </a:t>
            </a:r>
          </a:p>
          <a:p>
            <a:pPr algn="ctr"/>
            <a:r>
              <a:rPr lang="es-MX" sz="1000" dirty="0"/>
              <a:t>evento</a:t>
            </a:r>
          </a:p>
        </p:txBody>
      </p:sp>
      <p:sp>
        <p:nvSpPr>
          <p:cNvPr id="299" name="298 CuadroTexto"/>
          <p:cNvSpPr txBox="1"/>
          <p:nvPr/>
        </p:nvSpPr>
        <p:spPr>
          <a:xfrm>
            <a:off x="5667372" y="3671889"/>
            <a:ext cx="861510" cy="400110"/>
          </a:xfrm>
          <a:prstGeom prst="rect">
            <a:avLst/>
          </a:prstGeom>
          <a:noFill/>
        </p:spPr>
        <p:txBody>
          <a:bodyPr wrap="square" rtlCol="0">
            <a:spAutoFit/>
          </a:bodyPr>
          <a:lstStyle/>
          <a:p>
            <a:pPr algn="ctr"/>
            <a:r>
              <a:rPr lang="es-MX" sz="1000" dirty="0"/>
              <a:t>Termina</a:t>
            </a:r>
          </a:p>
          <a:p>
            <a:pPr algn="ctr"/>
            <a:r>
              <a:rPr lang="es-MX" sz="1000" dirty="0"/>
              <a:t>evento</a:t>
            </a:r>
          </a:p>
        </p:txBody>
      </p:sp>
      <p:sp>
        <p:nvSpPr>
          <p:cNvPr id="303" name="302 CuadroTexto"/>
          <p:cNvSpPr txBox="1"/>
          <p:nvPr/>
        </p:nvSpPr>
        <p:spPr>
          <a:xfrm>
            <a:off x="6980368" y="3686234"/>
            <a:ext cx="892856" cy="400110"/>
          </a:xfrm>
          <a:prstGeom prst="rect">
            <a:avLst/>
          </a:prstGeom>
          <a:noFill/>
        </p:spPr>
        <p:txBody>
          <a:bodyPr wrap="square" rtlCol="0">
            <a:spAutoFit/>
          </a:bodyPr>
          <a:lstStyle/>
          <a:p>
            <a:pPr algn="r"/>
            <a:r>
              <a:rPr lang="es-MX" sz="1000" dirty="0"/>
              <a:t>Interrupción de reloj</a:t>
            </a:r>
          </a:p>
        </p:txBody>
      </p:sp>
      <p:sp>
        <p:nvSpPr>
          <p:cNvPr id="33" name="32 CuadroTexto"/>
          <p:cNvSpPr txBox="1"/>
          <p:nvPr/>
        </p:nvSpPr>
        <p:spPr>
          <a:xfrm>
            <a:off x="5378536" y="3557588"/>
            <a:ext cx="554960" cy="261610"/>
          </a:xfrm>
          <a:prstGeom prst="rect">
            <a:avLst/>
          </a:prstGeom>
          <a:noFill/>
        </p:spPr>
        <p:txBody>
          <a:bodyPr wrap="none" rtlCol="0">
            <a:spAutoFit/>
          </a:bodyPr>
          <a:lstStyle/>
          <a:p>
            <a:r>
              <a:rPr lang="es-MX" sz="1100" b="1" dirty="0"/>
              <a:t>384 k</a:t>
            </a:r>
          </a:p>
        </p:txBody>
      </p:sp>
      <p:sp>
        <p:nvSpPr>
          <p:cNvPr id="34" name="33 CuadroTexto"/>
          <p:cNvSpPr txBox="1"/>
          <p:nvPr/>
        </p:nvSpPr>
        <p:spPr>
          <a:xfrm>
            <a:off x="5382459" y="5024778"/>
            <a:ext cx="554960" cy="261610"/>
          </a:xfrm>
          <a:prstGeom prst="rect">
            <a:avLst/>
          </a:prstGeom>
          <a:noFill/>
        </p:spPr>
        <p:txBody>
          <a:bodyPr wrap="none" rtlCol="0">
            <a:spAutoFit/>
          </a:bodyPr>
          <a:lstStyle/>
          <a:p>
            <a:r>
              <a:rPr lang="es-MX" sz="1100" b="1" dirty="0"/>
              <a:t>256 k</a:t>
            </a:r>
          </a:p>
        </p:txBody>
      </p:sp>
      <p:sp>
        <p:nvSpPr>
          <p:cNvPr id="35" name="34 CuadroTexto"/>
          <p:cNvSpPr txBox="1"/>
          <p:nvPr/>
        </p:nvSpPr>
        <p:spPr>
          <a:xfrm>
            <a:off x="5415797" y="4405319"/>
            <a:ext cx="554960" cy="261610"/>
          </a:xfrm>
          <a:prstGeom prst="rect">
            <a:avLst/>
          </a:prstGeom>
          <a:noFill/>
        </p:spPr>
        <p:txBody>
          <a:bodyPr wrap="none" rtlCol="0">
            <a:spAutoFit/>
          </a:bodyPr>
          <a:lstStyle/>
          <a:p>
            <a:r>
              <a:rPr lang="es-MX" sz="1100" b="1" dirty="0"/>
              <a:t>384 k</a:t>
            </a:r>
          </a:p>
        </p:txBody>
      </p:sp>
      <p:sp>
        <p:nvSpPr>
          <p:cNvPr id="41" name="40 CuadroTexto"/>
          <p:cNvSpPr txBox="1"/>
          <p:nvPr/>
        </p:nvSpPr>
        <p:spPr>
          <a:xfrm>
            <a:off x="5763814" y="2064661"/>
            <a:ext cx="975128" cy="646331"/>
          </a:xfrm>
          <a:prstGeom prst="rect">
            <a:avLst/>
          </a:prstGeom>
          <a:solidFill>
            <a:schemeClr val="bg1"/>
          </a:solidFill>
          <a:ln w="28575">
            <a:solidFill>
              <a:srgbClr val="FF0000"/>
            </a:solidFill>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s-MX" sz="1200" b="1" dirty="0"/>
              <a:t>Proceso del S.O. 128 K</a:t>
            </a:r>
          </a:p>
        </p:txBody>
      </p:sp>
      <p:sp>
        <p:nvSpPr>
          <p:cNvPr id="42" name="41 CuadroTexto"/>
          <p:cNvSpPr txBox="1"/>
          <p:nvPr/>
        </p:nvSpPr>
        <p:spPr>
          <a:xfrm>
            <a:off x="6738942" y="2000240"/>
            <a:ext cx="928694" cy="553998"/>
          </a:xfrm>
          <a:prstGeom prst="rect">
            <a:avLst/>
          </a:prstGeom>
          <a:noFill/>
        </p:spPr>
        <p:txBody>
          <a:bodyPr wrap="square" rtlCol="0">
            <a:spAutoFit/>
          </a:bodyPr>
          <a:lstStyle/>
          <a:p>
            <a:r>
              <a:rPr lang="es-MX" sz="1000" dirty="0"/>
              <a:t>Solicitud para entrar al sistemas</a:t>
            </a:r>
          </a:p>
        </p:txBody>
      </p:sp>
      <p:cxnSp>
        <p:nvCxnSpPr>
          <p:cNvPr id="44" name="43 Conector angular"/>
          <p:cNvCxnSpPr>
            <a:cxnSpLocks/>
            <a:stCxn id="41" idx="2"/>
            <a:endCxn id="228" idx="0"/>
          </p:cNvCxnSpPr>
          <p:nvPr/>
        </p:nvCxnSpPr>
        <p:spPr>
          <a:xfrm rot="16200000" flipH="1">
            <a:off x="6590519" y="2371850"/>
            <a:ext cx="146505" cy="824787"/>
          </a:xfrm>
          <a:prstGeom prst="bentConnector3">
            <a:avLst>
              <a:gd name="adj1" fmla="val 50000"/>
            </a:avLst>
          </a:prstGeom>
          <a:ln w="28575">
            <a:solidFill>
              <a:schemeClr val="bg1">
                <a:lumMod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45" name="44 Rectángulo redondeado"/>
          <p:cNvSpPr/>
          <p:nvPr/>
        </p:nvSpPr>
        <p:spPr>
          <a:xfrm>
            <a:off x="6378941" y="4939054"/>
            <a:ext cx="1161523" cy="461665"/>
          </a:xfrm>
          <a:prstGeom prst="round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1000" dirty="0"/>
              <a:t>Bloqueados</a:t>
            </a:r>
          </a:p>
          <a:p>
            <a:pPr algn="ctr"/>
            <a:r>
              <a:rPr lang="es-MX" sz="1000" dirty="0"/>
              <a:t>Suspendidos</a:t>
            </a:r>
          </a:p>
        </p:txBody>
      </p:sp>
      <p:sp>
        <p:nvSpPr>
          <p:cNvPr id="48" name="47 Rectángulo redondeado"/>
          <p:cNvSpPr/>
          <p:nvPr/>
        </p:nvSpPr>
        <p:spPr>
          <a:xfrm>
            <a:off x="7759322" y="2291042"/>
            <a:ext cx="1009702" cy="461665"/>
          </a:xfrm>
          <a:prstGeom prst="round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1000" dirty="0"/>
              <a:t>Listos </a:t>
            </a:r>
          </a:p>
          <a:p>
            <a:pPr algn="ctr"/>
            <a:r>
              <a:rPr lang="es-MX" sz="1000" dirty="0"/>
              <a:t>Suspendidos</a:t>
            </a:r>
          </a:p>
        </p:txBody>
      </p:sp>
      <p:sp>
        <p:nvSpPr>
          <p:cNvPr id="97" name="96 CuadroTexto"/>
          <p:cNvSpPr txBox="1"/>
          <p:nvPr/>
        </p:nvSpPr>
        <p:spPr>
          <a:xfrm>
            <a:off x="7203408" y="3071753"/>
            <a:ext cx="892856" cy="400110"/>
          </a:xfrm>
          <a:prstGeom prst="rect">
            <a:avLst/>
          </a:prstGeom>
          <a:noFill/>
        </p:spPr>
        <p:txBody>
          <a:bodyPr wrap="square" rtlCol="0">
            <a:spAutoFit/>
          </a:bodyPr>
          <a:lstStyle/>
          <a:p>
            <a:pPr algn="r"/>
            <a:r>
              <a:rPr lang="es-MX" sz="1000" dirty="0"/>
              <a:t>Interrupción de reloj</a:t>
            </a:r>
          </a:p>
        </p:txBody>
      </p:sp>
      <p:cxnSp>
        <p:nvCxnSpPr>
          <p:cNvPr id="107" name="106 Forma"/>
          <p:cNvCxnSpPr>
            <a:cxnSpLocks/>
            <a:stCxn id="231" idx="1"/>
            <a:endCxn id="229" idx="0"/>
          </p:cNvCxnSpPr>
          <p:nvPr/>
        </p:nvCxnSpPr>
        <p:spPr>
          <a:xfrm rot="10800000">
            <a:off x="6558718" y="4074919"/>
            <a:ext cx="894605" cy="228159"/>
          </a:xfrm>
          <a:prstGeom prst="bentConnector4">
            <a:avLst>
              <a:gd name="adj1" fmla="val 22754"/>
              <a:gd name="adj2" fmla="val 200193"/>
            </a:avLst>
          </a:prstGeom>
          <a:ln w="28575">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4" name="133 Forma"/>
          <p:cNvCxnSpPr>
            <a:cxnSpLocks/>
            <a:stCxn id="48" idx="1"/>
            <a:endCxn id="228" idx="0"/>
          </p:cNvCxnSpPr>
          <p:nvPr/>
        </p:nvCxnSpPr>
        <p:spPr>
          <a:xfrm rot="10800000" flipV="1">
            <a:off x="7076166" y="2521875"/>
            <a:ext cx="683157" cy="335622"/>
          </a:xfrm>
          <a:prstGeom prst="bentConnector2">
            <a:avLst/>
          </a:prstGeom>
          <a:ln w="28575">
            <a:solidFill>
              <a:schemeClr val="bg1">
                <a:lumMod val="5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2" name="141 Conector angular"/>
          <p:cNvCxnSpPr>
            <a:cxnSpLocks/>
            <a:endCxn id="45" idx="0"/>
          </p:cNvCxnSpPr>
          <p:nvPr/>
        </p:nvCxnSpPr>
        <p:spPr>
          <a:xfrm>
            <a:off x="6528884" y="4536581"/>
            <a:ext cx="430819" cy="402473"/>
          </a:xfrm>
          <a:prstGeom prst="bentConnector2">
            <a:avLst/>
          </a:prstGeom>
          <a:ln w="28575">
            <a:solidFill>
              <a:schemeClr val="bg1">
                <a:lumMod val="5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43" name="142 Rectángulo"/>
          <p:cNvSpPr/>
          <p:nvPr/>
        </p:nvSpPr>
        <p:spPr>
          <a:xfrm>
            <a:off x="9310710" y="2291042"/>
            <a:ext cx="785818" cy="310967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44" name="143 Rectángulo"/>
          <p:cNvSpPr/>
          <p:nvPr/>
        </p:nvSpPr>
        <p:spPr>
          <a:xfrm>
            <a:off x="9024958" y="3599325"/>
            <a:ext cx="1285884" cy="422449"/>
          </a:xfrm>
          <a:prstGeom prst="rect">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9" name="148 CuadroTexto"/>
          <p:cNvSpPr txBox="1"/>
          <p:nvPr/>
        </p:nvSpPr>
        <p:spPr>
          <a:xfrm>
            <a:off x="9223334" y="2621901"/>
            <a:ext cx="977970" cy="261610"/>
          </a:xfrm>
          <a:prstGeom prst="rect">
            <a:avLst/>
          </a:prstGeom>
          <a:noFill/>
        </p:spPr>
        <p:txBody>
          <a:bodyPr vert="horz" wrap="square" rtlCol="0" anchor="ctr">
            <a:spAutoFit/>
          </a:bodyPr>
          <a:lstStyle/>
          <a:p>
            <a:pPr algn="ctr"/>
            <a:r>
              <a:rPr lang="es-MX" sz="1100" b="1" dirty="0"/>
              <a:t>Memoria</a:t>
            </a:r>
          </a:p>
        </p:txBody>
      </p:sp>
      <p:sp>
        <p:nvSpPr>
          <p:cNvPr id="150" name="149 Rectángulo"/>
          <p:cNvSpPr/>
          <p:nvPr/>
        </p:nvSpPr>
        <p:spPr>
          <a:xfrm>
            <a:off x="9247429" y="4405319"/>
            <a:ext cx="930062" cy="261610"/>
          </a:xfrm>
          <a:prstGeom prst="rect">
            <a:avLst/>
          </a:prstGeom>
        </p:spPr>
        <p:txBody>
          <a:bodyPr wrap="none">
            <a:spAutoFit/>
          </a:bodyPr>
          <a:lstStyle/>
          <a:p>
            <a:pPr algn="ctr"/>
            <a:r>
              <a:rPr lang="es-MX" sz="1100" b="1" dirty="0"/>
              <a:t>secundaria</a:t>
            </a:r>
          </a:p>
        </p:txBody>
      </p:sp>
      <p:sp>
        <p:nvSpPr>
          <p:cNvPr id="151" name="150 CuadroTexto"/>
          <p:cNvSpPr txBox="1"/>
          <p:nvPr/>
        </p:nvSpPr>
        <p:spPr>
          <a:xfrm>
            <a:off x="8882082" y="3505116"/>
            <a:ext cx="1571636" cy="600164"/>
          </a:xfrm>
          <a:prstGeom prst="rect">
            <a:avLst/>
          </a:prstGeom>
          <a:noFill/>
        </p:spPr>
        <p:txBody>
          <a:bodyPr wrap="square" rtlCol="0">
            <a:spAutoFit/>
          </a:bodyPr>
          <a:lstStyle/>
          <a:p>
            <a:pPr algn="ctr"/>
            <a:r>
              <a:rPr lang="es-MX" sz="1100" dirty="0"/>
              <a:t>¿Cuántos procesos</a:t>
            </a:r>
          </a:p>
          <a:p>
            <a:pPr algn="ctr"/>
            <a:r>
              <a:rPr lang="es-MX" sz="1100" dirty="0"/>
              <a:t>Pueden colocarse en</a:t>
            </a:r>
          </a:p>
          <a:p>
            <a:pPr algn="ctr"/>
            <a:r>
              <a:rPr lang="es-MX" sz="1100" dirty="0"/>
              <a:t> memoria secundaria?</a:t>
            </a:r>
          </a:p>
        </p:txBody>
      </p:sp>
      <p:sp>
        <p:nvSpPr>
          <p:cNvPr id="152" name="151 CuadroTexto"/>
          <p:cNvSpPr txBox="1"/>
          <p:nvPr/>
        </p:nvSpPr>
        <p:spPr>
          <a:xfrm>
            <a:off x="5369011" y="5372143"/>
            <a:ext cx="647934" cy="261610"/>
          </a:xfrm>
          <a:prstGeom prst="rect">
            <a:avLst/>
          </a:prstGeom>
          <a:noFill/>
        </p:spPr>
        <p:txBody>
          <a:bodyPr wrap="none" rtlCol="0">
            <a:spAutoFit/>
          </a:bodyPr>
          <a:lstStyle/>
          <a:p>
            <a:r>
              <a:rPr lang="es-MX" sz="1100" b="1" dirty="0"/>
              <a:t>1024 K</a:t>
            </a:r>
          </a:p>
        </p:txBody>
      </p:sp>
      <p:cxnSp>
        <p:nvCxnSpPr>
          <p:cNvPr id="154" name="153 Conector recto"/>
          <p:cNvCxnSpPr/>
          <p:nvPr/>
        </p:nvCxnSpPr>
        <p:spPr>
          <a:xfrm>
            <a:off x="5321387" y="5372143"/>
            <a:ext cx="702221" cy="1588"/>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14600" y="-731044"/>
            <a:ext cx="7772400" cy="1462088"/>
          </a:xfrm>
        </p:spPr>
        <p:txBody>
          <a:bodyPr/>
          <a:lstStyle/>
          <a:p>
            <a:r>
              <a:rPr lang="is-IS" sz="2400" dirty="0"/>
              <a:t>MULTIPROGRAMACIÓN EN MEMORIA REAL.</a:t>
            </a:r>
            <a:r>
              <a:rPr lang="pt-BR" sz="2400" dirty="0"/>
              <a:t>.</a:t>
            </a:r>
            <a:endParaRPr lang="es-ES" sz="2400" dirty="0"/>
          </a:p>
        </p:txBody>
      </p:sp>
      <p:sp>
        <p:nvSpPr>
          <p:cNvPr id="4" name="Rectangle 3"/>
          <p:cNvSpPr txBox="1">
            <a:spLocks noChangeArrowheads="1"/>
          </p:cNvSpPr>
          <p:nvPr/>
        </p:nvSpPr>
        <p:spPr bwMode="auto">
          <a:xfrm>
            <a:off x="1752601" y="1143001"/>
            <a:ext cx="8455025" cy="518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normAutofit/>
          </a:bodyPr>
          <a:lstStyle>
            <a:lvl1pPr marL="0" indent="0" algn="ctr" rtl="0" eaLnBrk="0" fontAlgn="base" hangingPunct="0">
              <a:spcBef>
                <a:spcPct val="20000"/>
              </a:spcBef>
              <a:spcAft>
                <a:spcPct val="0"/>
              </a:spcAft>
              <a:buClr>
                <a:schemeClr val="folHlink"/>
              </a:buClr>
              <a:buSzPct val="60000"/>
              <a:buFont typeface="Wingdings" pitchFamily="2" charset="2"/>
              <a:buNone/>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charset="0"/>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charset="0"/>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charset="0"/>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charset="0"/>
              <a:buChar char="n"/>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9pPr>
          </a:lstStyle>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Mas de un proceso al mismo tiempo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El problema de la protección.</a:t>
            </a:r>
            <a:endParaRPr lang="es-PR" dirty="0">
              <a:latin typeface="Tahoma" charset="0"/>
              <a:ea typeface="ＭＳ Ｐゴシック" charset="0"/>
              <a:cs typeface="ＭＳ Ｐゴシック" charset="0"/>
            </a:endParaRPr>
          </a:p>
        </p:txBody>
      </p:sp>
      <p:pic>
        <p:nvPicPr>
          <p:cNvPr id="3" name="Imagen 2"/>
          <p:cNvPicPr>
            <a:picLocks noChangeAspect="1"/>
          </p:cNvPicPr>
          <p:nvPr/>
        </p:nvPicPr>
        <p:blipFill>
          <a:blip r:embed="rId2"/>
          <a:stretch>
            <a:fillRect/>
          </a:stretch>
        </p:blipFill>
        <p:spPr>
          <a:xfrm>
            <a:off x="3048000" y="2362200"/>
            <a:ext cx="5080000" cy="2413000"/>
          </a:xfrm>
          <a:prstGeom prst="rect">
            <a:avLst/>
          </a:prstGeom>
        </p:spPr>
      </p:pic>
      <p:grpSp>
        <p:nvGrpSpPr>
          <p:cNvPr id="14" name="23 Grupo">
            <a:extLst>
              <a:ext uri="{FF2B5EF4-FFF2-40B4-BE49-F238E27FC236}">
                <a16:creationId xmlns:a16="http://schemas.microsoft.com/office/drawing/2014/main" id="{9BA03C7A-F8B8-4220-A74E-C6D31CF8E6D6}"/>
              </a:ext>
            </a:extLst>
          </p:cNvPr>
          <p:cNvGrpSpPr/>
          <p:nvPr/>
        </p:nvGrpSpPr>
        <p:grpSpPr>
          <a:xfrm>
            <a:off x="2461005" y="5004914"/>
            <a:ext cx="1285884" cy="1115022"/>
            <a:chOff x="3500430" y="1899339"/>
            <a:chExt cx="1285884" cy="1115022"/>
          </a:xfrm>
        </p:grpSpPr>
        <p:sp>
          <p:nvSpPr>
            <p:cNvPr id="15" name="25 Rectángulo">
              <a:extLst>
                <a:ext uri="{FF2B5EF4-FFF2-40B4-BE49-F238E27FC236}">
                  <a16:creationId xmlns:a16="http://schemas.microsoft.com/office/drawing/2014/main" id="{48A8AC4D-B7AF-416C-A1EA-ED6FC11E0945}"/>
                </a:ext>
              </a:extLst>
            </p:cNvPr>
            <p:cNvSpPr/>
            <p:nvPr/>
          </p:nvSpPr>
          <p:spPr>
            <a:xfrm>
              <a:off x="3500430" y="2214554"/>
              <a:ext cx="1285884" cy="799807"/>
            </a:xfrm>
            <a:prstGeom prst="rect">
              <a:avLst/>
            </a:prstGeom>
            <a:ln w="28575"/>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Programa de usuario</a:t>
              </a:r>
            </a:p>
          </p:txBody>
        </p:sp>
        <p:sp>
          <p:nvSpPr>
            <p:cNvPr id="16" name="26 Rectángulo">
              <a:extLst>
                <a:ext uri="{FF2B5EF4-FFF2-40B4-BE49-F238E27FC236}">
                  <a16:creationId xmlns:a16="http://schemas.microsoft.com/office/drawing/2014/main" id="{B545FF12-FF74-48E6-A7B3-EDA5BAF2A426}"/>
                </a:ext>
              </a:extLst>
            </p:cNvPr>
            <p:cNvSpPr/>
            <p:nvPr/>
          </p:nvSpPr>
          <p:spPr>
            <a:xfrm>
              <a:off x="3500430" y="1899339"/>
              <a:ext cx="1285884" cy="307631"/>
            </a:xfrm>
            <a:prstGeom prst="rect">
              <a:avLst/>
            </a:prstGeom>
            <a:ln w="28575">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s-MX" sz="1100" dirty="0"/>
                <a:t>Sistema Operativo</a:t>
              </a:r>
            </a:p>
          </p:txBody>
        </p:sp>
      </p:grpSp>
      <p:sp>
        <p:nvSpPr>
          <p:cNvPr id="17" name="27 Rectángulo">
            <a:extLst>
              <a:ext uri="{FF2B5EF4-FFF2-40B4-BE49-F238E27FC236}">
                <a16:creationId xmlns:a16="http://schemas.microsoft.com/office/drawing/2014/main" id="{C9AE27CE-4C36-47C0-B590-5CEE484C125C}"/>
              </a:ext>
            </a:extLst>
          </p:cNvPr>
          <p:cNvSpPr/>
          <p:nvPr/>
        </p:nvSpPr>
        <p:spPr>
          <a:xfrm>
            <a:off x="4800600" y="5544120"/>
            <a:ext cx="1464479" cy="450279"/>
          </a:xfrm>
          <a:prstGeom prst="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t>Dirección del registro limite </a:t>
            </a:r>
          </a:p>
        </p:txBody>
      </p:sp>
      <p:sp>
        <p:nvSpPr>
          <p:cNvPr id="18" name="28 Rectángulo">
            <a:extLst>
              <a:ext uri="{FF2B5EF4-FFF2-40B4-BE49-F238E27FC236}">
                <a16:creationId xmlns:a16="http://schemas.microsoft.com/office/drawing/2014/main" id="{048AD199-FA75-4EDB-B0AE-BB13AB399D3F}"/>
              </a:ext>
            </a:extLst>
          </p:cNvPr>
          <p:cNvSpPr/>
          <p:nvPr/>
        </p:nvSpPr>
        <p:spPr>
          <a:xfrm>
            <a:off x="7747417" y="5312547"/>
            <a:ext cx="1714512" cy="1151741"/>
          </a:xfrm>
          <a:prstGeom prst="rect">
            <a:avLst/>
          </a:prstGeom>
          <a:ln w="28575">
            <a:solidFill>
              <a:schemeClr val="accent3">
                <a:lumMod val="50000"/>
              </a:schemeClr>
            </a:solidFill>
          </a:ln>
        </p:spPr>
        <p:style>
          <a:lnRef idx="1">
            <a:schemeClr val="accent3"/>
          </a:lnRef>
          <a:fillRef idx="2">
            <a:schemeClr val="accent3"/>
          </a:fillRef>
          <a:effectRef idx="1">
            <a:schemeClr val="accent3"/>
          </a:effectRef>
          <a:fontRef idx="minor">
            <a:schemeClr val="dk1"/>
          </a:fontRef>
        </p:style>
        <p:txBody>
          <a:bodyPr rtlCol="0" anchor="t"/>
          <a:lstStyle/>
          <a:p>
            <a:pPr algn="ctr"/>
            <a:r>
              <a:rPr lang="es-MX" dirty="0"/>
              <a:t>CPU</a:t>
            </a:r>
          </a:p>
        </p:txBody>
      </p:sp>
      <p:sp>
        <p:nvSpPr>
          <p:cNvPr id="19" name="29 Rectángulo">
            <a:extLst>
              <a:ext uri="{FF2B5EF4-FFF2-40B4-BE49-F238E27FC236}">
                <a16:creationId xmlns:a16="http://schemas.microsoft.com/office/drawing/2014/main" id="{841821C8-9B51-4055-9BD0-248003A745BD}"/>
              </a:ext>
            </a:extLst>
          </p:cNvPr>
          <p:cNvSpPr/>
          <p:nvPr/>
        </p:nvSpPr>
        <p:spPr>
          <a:xfrm>
            <a:off x="7961731" y="5894797"/>
            <a:ext cx="857256" cy="45027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t>Registro limite </a:t>
            </a:r>
          </a:p>
        </p:txBody>
      </p:sp>
      <p:cxnSp>
        <p:nvCxnSpPr>
          <p:cNvPr id="20" name="35 Forma">
            <a:extLst>
              <a:ext uri="{FF2B5EF4-FFF2-40B4-BE49-F238E27FC236}">
                <a16:creationId xmlns:a16="http://schemas.microsoft.com/office/drawing/2014/main" id="{C1FEBDA0-9CEF-472C-8E3A-1C9A0CEC1796}"/>
              </a:ext>
            </a:extLst>
          </p:cNvPr>
          <p:cNvCxnSpPr>
            <a:stCxn id="17" idx="3"/>
            <a:endCxn id="19" idx="1"/>
          </p:cNvCxnSpPr>
          <p:nvPr/>
        </p:nvCxnSpPr>
        <p:spPr>
          <a:xfrm>
            <a:off x="6265079" y="5769260"/>
            <a:ext cx="1696653" cy="350677"/>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21" name="31 Forma">
            <a:extLst>
              <a:ext uri="{FF2B5EF4-FFF2-40B4-BE49-F238E27FC236}">
                <a16:creationId xmlns:a16="http://schemas.microsoft.com/office/drawing/2014/main" id="{EF864C3A-9E97-46FA-80F6-4563FEF4F33A}"/>
              </a:ext>
            </a:extLst>
          </p:cNvPr>
          <p:cNvCxnSpPr>
            <a:stCxn id="17" idx="0"/>
          </p:cNvCxnSpPr>
          <p:nvPr/>
        </p:nvCxnSpPr>
        <p:spPr>
          <a:xfrm rot="16200000" flipV="1">
            <a:off x="4527869" y="4539149"/>
            <a:ext cx="223990" cy="1785950"/>
          </a:xfrm>
          <a:prstGeom prst="bentConnector2">
            <a:avLst/>
          </a:prstGeom>
          <a:ln>
            <a:tailEnd type="arrow"/>
          </a:ln>
        </p:spPr>
        <p:style>
          <a:lnRef idx="3">
            <a:schemeClr val="dk1"/>
          </a:lnRef>
          <a:fillRef idx="0">
            <a:schemeClr val="dk1"/>
          </a:fillRef>
          <a:effectRef idx="2">
            <a:schemeClr val="dk1"/>
          </a:effectRef>
          <a:fontRef idx="minor">
            <a:schemeClr val="tx1"/>
          </a:fontRef>
        </p:style>
      </p:cxnSp>
      <p:sp>
        <p:nvSpPr>
          <p:cNvPr id="22" name="32 CuadroTexto">
            <a:extLst>
              <a:ext uri="{FF2B5EF4-FFF2-40B4-BE49-F238E27FC236}">
                <a16:creationId xmlns:a16="http://schemas.microsoft.com/office/drawing/2014/main" id="{AB99DEE7-CDCF-45D3-B274-865356226A4F}"/>
              </a:ext>
            </a:extLst>
          </p:cNvPr>
          <p:cNvSpPr txBox="1"/>
          <p:nvPr/>
        </p:nvSpPr>
        <p:spPr>
          <a:xfrm>
            <a:off x="4912641" y="6290800"/>
            <a:ext cx="2048958" cy="276999"/>
          </a:xfrm>
          <a:prstGeom prst="rect">
            <a:avLst/>
          </a:prstGeom>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MX" sz="1200" b="1" dirty="0"/>
              <a:t>Protección de la Memoria</a:t>
            </a:r>
          </a:p>
        </p:txBody>
      </p:sp>
    </p:spTree>
    <p:extLst>
      <p:ext uri="{BB962C8B-B14F-4D97-AF65-F5344CB8AC3E}">
        <p14:creationId xmlns:p14="http://schemas.microsoft.com/office/powerpoint/2010/main" val="862506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3238480" y="744004"/>
            <a:ext cx="6643734" cy="369332"/>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s-MX" b="1" dirty="0"/>
              <a:t>Asignación de memoria contigua</a:t>
            </a:r>
            <a:endParaRPr lang="es-MX" dirty="0"/>
          </a:p>
        </p:txBody>
      </p:sp>
      <p:grpSp>
        <p:nvGrpSpPr>
          <p:cNvPr id="4" name="23 Grupo"/>
          <p:cNvGrpSpPr/>
          <p:nvPr/>
        </p:nvGrpSpPr>
        <p:grpSpPr>
          <a:xfrm>
            <a:off x="3238480" y="2421063"/>
            <a:ext cx="1214446" cy="2990895"/>
            <a:chOff x="1285852" y="2643182"/>
            <a:chExt cx="1428760" cy="3419499"/>
          </a:xfrm>
        </p:grpSpPr>
        <p:sp>
          <p:nvSpPr>
            <p:cNvPr id="25" name="24 Rectángulo"/>
            <p:cNvSpPr/>
            <p:nvPr/>
          </p:nvSpPr>
          <p:spPr>
            <a:xfrm>
              <a:off x="1285852" y="2643182"/>
              <a:ext cx="1428760" cy="428628"/>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50" b="1" dirty="0">
                  <a:solidFill>
                    <a:schemeClr val="tx1"/>
                  </a:solidFill>
                </a:rPr>
                <a:t>Núcleo del S.O</a:t>
              </a:r>
              <a:endParaRPr lang="es-MX" sz="1050" dirty="0">
                <a:solidFill>
                  <a:schemeClr val="tx1"/>
                </a:solidFill>
              </a:endParaRPr>
            </a:p>
            <a:p>
              <a:pPr algn="ctr"/>
              <a:r>
                <a:rPr lang="es-MX" sz="1050" b="1" dirty="0">
                  <a:solidFill>
                    <a:schemeClr val="tx1"/>
                  </a:solidFill>
                </a:rPr>
                <a:t>512</a:t>
              </a:r>
            </a:p>
          </p:txBody>
        </p:sp>
        <p:sp>
          <p:nvSpPr>
            <p:cNvPr id="26" name="25 Rectángulo"/>
            <p:cNvSpPr/>
            <p:nvPr/>
          </p:nvSpPr>
          <p:spPr>
            <a:xfrm>
              <a:off x="1285852" y="3067375"/>
              <a:ext cx="1428760" cy="428628"/>
            </a:xfrm>
            <a:prstGeom prst="rect">
              <a:avLst/>
            </a:prstGeom>
            <a:solidFill>
              <a:schemeClr val="accent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27" name="26 Rectángulo"/>
            <p:cNvSpPr/>
            <p:nvPr/>
          </p:nvSpPr>
          <p:spPr>
            <a:xfrm>
              <a:off x="1285852" y="3490913"/>
              <a:ext cx="1428760" cy="428628"/>
            </a:xfrm>
            <a:prstGeom prst="rect">
              <a:avLst/>
            </a:prstGeom>
            <a:solidFill>
              <a:schemeClr val="tx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28" name="27 Rectángulo"/>
            <p:cNvSpPr/>
            <p:nvPr/>
          </p:nvSpPr>
          <p:spPr>
            <a:xfrm>
              <a:off x="1285852" y="3919541"/>
              <a:ext cx="1428760" cy="428628"/>
            </a:xfrm>
            <a:prstGeom prst="rect">
              <a:avLst/>
            </a:prstGeom>
            <a:solidFill>
              <a:srgbClr val="7030A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29" name="28 Rectángulo"/>
            <p:cNvSpPr/>
            <p:nvPr/>
          </p:nvSpPr>
          <p:spPr>
            <a:xfrm>
              <a:off x="1285852" y="4348169"/>
              <a:ext cx="1428760" cy="428628"/>
            </a:xfrm>
            <a:prstGeom prst="rect">
              <a:avLst/>
            </a:prstGeom>
            <a:solidFill>
              <a:srgbClr val="92D05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30" name="29 Rectángulo"/>
            <p:cNvSpPr/>
            <p:nvPr/>
          </p:nvSpPr>
          <p:spPr>
            <a:xfrm>
              <a:off x="1285852" y="4776797"/>
              <a:ext cx="1428760" cy="428628"/>
            </a:xfrm>
            <a:prstGeom prst="rect">
              <a:avLst/>
            </a:prstGeom>
            <a:solidFill>
              <a:srgbClr val="FFC00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31" name="30 Rectángulo"/>
            <p:cNvSpPr/>
            <p:nvPr/>
          </p:nvSpPr>
          <p:spPr>
            <a:xfrm>
              <a:off x="1285852" y="5205425"/>
              <a:ext cx="1428760" cy="428628"/>
            </a:xfrm>
            <a:prstGeom prst="rect">
              <a:avLst/>
            </a:prstGeom>
            <a:solidFill>
              <a:srgbClr val="FF000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sp>
          <p:nvSpPr>
            <p:cNvPr id="32" name="31 Rectángulo"/>
            <p:cNvSpPr/>
            <p:nvPr/>
          </p:nvSpPr>
          <p:spPr>
            <a:xfrm>
              <a:off x="1285852" y="5634053"/>
              <a:ext cx="1428760" cy="428628"/>
            </a:xfrm>
            <a:prstGeom prst="rect">
              <a:avLst/>
            </a:prstGeom>
            <a:solidFill>
              <a:schemeClr val="bg1"/>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200" b="1" dirty="0">
                  <a:solidFill>
                    <a:schemeClr val="tx1"/>
                  </a:solidFill>
                </a:rPr>
                <a:t>512 k</a:t>
              </a:r>
            </a:p>
          </p:txBody>
        </p:sp>
      </p:grpSp>
      <p:sp>
        <p:nvSpPr>
          <p:cNvPr id="253" name="252 Rectángulo"/>
          <p:cNvSpPr/>
          <p:nvPr/>
        </p:nvSpPr>
        <p:spPr>
          <a:xfrm>
            <a:off x="2110966" y="1347774"/>
            <a:ext cx="4627976"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Particiones estáticas</a:t>
            </a:r>
          </a:p>
        </p:txBody>
      </p:sp>
      <p:sp>
        <p:nvSpPr>
          <p:cNvPr id="255" name="254 Rectángulo"/>
          <p:cNvSpPr/>
          <p:nvPr/>
        </p:nvSpPr>
        <p:spPr>
          <a:xfrm>
            <a:off x="7773007" y="1358881"/>
            <a:ext cx="2857504" cy="1184940"/>
          </a:xfrm>
          <a:prstGeom prst="rect">
            <a:avLst/>
          </a:prstGeom>
        </p:spPr>
        <p:txBody>
          <a:bodyPr wrap="square">
            <a:spAutoFit/>
          </a:bodyPr>
          <a:lstStyle/>
          <a:p>
            <a:pPr algn="just">
              <a:spcBef>
                <a:spcPts val="300"/>
              </a:spcBef>
              <a:spcAft>
                <a:spcPts val="300"/>
              </a:spcAft>
            </a:pPr>
            <a:r>
              <a:rPr lang="es-MX" sz="1200" b="1" dirty="0"/>
              <a:t>Organización de la memoria</a:t>
            </a:r>
            <a:r>
              <a:rPr lang="es-MX" sz="1100" dirty="0"/>
              <a:t>:</a:t>
            </a:r>
          </a:p>
          <a:p>
            <a:pPr algn="just">
              <a:spcBef>
                <a:spcPts val="300"/>
              </a:spcBef>
              <a:spcAft>
                <a:spcPts val="300"/>
              </a:spcAft>
            </a:pPr>
            <a:r>
              <a:rPr lang="es-MX" sz="1100" dirty="0"/>
              <a:t>La memoria se divide en regiones con límites fijos, con dos alternativas: </a:t>
            </a:r>
          </a:p>
          <a:p>
            <a:pPr marL="228600" indent="-228600" algn="just">
              <a:spcBef>
                <a:spcPts val="300"/>
              </a:spcBef>
              <a:spcAft>
                <a:spcPts val="300"/>
              </a:spcAft>
              <a:buAutoNum type="arabicPeriod"/>
            </a:pPr>
            <a:r>
              <a:rPr lang="es-MX" sz="1100" dirty="0"/>
              <a:t>particiones igual tamaño o </a:t>
            </a:r>
          </a:p>
          <a:p>
            <a:pPr marL="228600" indent="-228600" algn="just">
              <a:spcBef>
                <a:spcPts val="300"/>
              </a:spcBef>
              <a:spcAft>
                <a:spcPts val="300"/>
              </a:spcAft>
              <a:buAutoNum type="arabicPeriod"/>
            </a:pPr>
            <a:r>
              <a:rPr lang="es-MX" sz="1100" dirty="0"/>
              <a:t>particiones de diferentes tamaños.</a:t>
            </a:r>
          </a:p>
        </p:txBody>
      </p:sp>
      <p:grpSp>
        <p:nvGrpSpPr>
          <p:cNvPr id="125" name="172 Grupo"/>
          <p:cNvGrpSpPr/>
          <p:nvPr/>
        </p:nvGrpSpPr>
        <p:grpSpPr>
          <a:xfrm>
            <a:off x="4799856" y="2387238"/>
            <a:ext cx="1072800" cy="3113464"/>
            <a:chOff x="4643438" y="2643182"/>
            <a:chExt cx="1072800" cy="3113464"/>
          </a:xfrm>
        </p:grpSpPr>
        <p:sp>
          <p:nvSpPr>
            <p:cNvPr id="126" name="125 Rectángulo"/>
            <p:cNvSpPr/>
            <p:nvPr/>
          </p:nvSpPr>
          <p:spPr>
            <a:xfrm>
              <a:off x="4643438" y="2643182"/>
              <a:ext cx="1072800" cy="428628"/>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900" b="1" dirty="0">
                  <a:solidFill>
                    <a:schemeClr val="tx1"/>
                  </a:solidFill>
                </a:rPr>
                <a:t>Núcleo del S.O </a:t>
              </a:r>
            </a:p>
            <a:p>
              <a:pPr algn="ctr"/>
              <a:r>
                <a:rPr lang="es-MX" sz="900" b="1" dirty="0">
                  <a:solidFill>
                    <a:schemeClr val="tx1"/>
                  </a:solidFill>
                </a:rPr>
                <a:t>512</a:t>
              </a:r>
            </a:p>
          </p:txBody>
        </p:sp>
        <p:sp>
          <p:nvSpPr>
            <p:cNvPr id="127" name="126 Rectángulo"/>
            <p:cNvSpPr/>
            <p:nvPr/>
          </p:nvSpPr>
          <p:spPr>
            <a:xfrm>
              <a:off x="4643438" y="3067375"/>
              <a:ext cx="1072800" cy="180000"/>
            </a:xfrm>
            <a:prstGeom prst="rect">
              <a:avLst/>
            </a:prstGeom>
            <a:solidFill>
              <a:schemeClr val="accent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900" b="1" dirty="0">
                  <a:solidFill>
                    <a:schemeClr val="tx1"/>
                  </a:solidFill>
                </a:rPr>
                <a:t>128 k</a:t>
              </a:r>
            </a:p>
          </p:txBody>
        </p:sp>
        <p:sp>
          <p:nvSpPr>
            <p:cNvPr id="128" name="127 Rectángulo"/>
            <p:cNvSpPr/>
            <p:nvPr/>
          </p:nvSpPr>
          <p:spPr>
            <a:xfrm>
              <a:off x="4643438" y="3243093"/>
              <a:ext cx="1072800" cy="180000"/>
            </a:xfrm>
            <a:prstGeom prst="rect">
              <a:avLst/>
            </a:prstGeom>
            <a:solidFill>
              <a:schemeClr val="tx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50" b="1" dirty="0">
                  <a:solidFill>
                    <a:schemeClr val="tx1"/>
                  </a:solidFill>
                </a:rPr>
                <a:t>256 K</a:t>
              </a:r>
            </a:p>
          </p:txBody>
        </p:sp>
        <p:sp>
          <p:nvSpPr>
            <p:cNvPr id="129" name="128 Rectángulo"/>
            <p:cNvSpPr/>
            <p:nvPr/>
          </p:nvSpPr>
          <p:spPr>
            <a:xfrm>
              <a:off x="4643438" y="3426365"/>
              <a:ext cx="1072800" cy="180000"/>
            </a:xfrm>
            <a:prstGeom prst="rect">
              <a:avLst/>
            </a:prstGeom>
            <a:solidFill>
              <a:srgbClr val="7030A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100" b="1" dirty="0">
                  <a:solidFill>
                    <a:schemeClr val="tx1"/>
                  </a:solidFill>
                </a:rPr>
                <a:t>320 k</a:t>
              </a:r>
            </a:p>
          </p:txBody>
        </p:sp>
        <p:sp>
          <p:nvSpPr>
            <p:cNvPr id="130" name="129 Rectángulo"/>
            <p:cNvSpPr/>
            <p:nvPr/>
          </p:nvSpPr>
          <p:spPr>
            <a:xfrm>
              <a:off x="4643438" y="3610025"/>
              <a:ext cx="1072800" cy="288000"/>
            </a:xfrm>
            <a:prstGeom prst="rect">
              <a:avLst/>
            </a:prstGeom>
            <a:solidFill>
              <a:srgbClr val="92D05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b="1" dirty="0">
                  <a:solidFill>
                    <a:schemeClr val="tx1"/>
                  </a:solidFill>
                </a:rPr>
                <a:t>512 k</a:t>
              </a:r>
            </a:p>
          </p:txBody>
        </p:sp>
        <p:sp>
          <p:nvSpPr>
            <p:cNvPr id="131" name="130 Rectángulo"/>
            <p:cNvSpPr/>
            <p:nvPr/>
          </p:nvSpPr>
          <p:spPr>
            <a:xfrm>
              <a:off x="4643438" y="3898025"/>
              <a:ext cx="1072800" cy="581029"/>
            </a:xfrm>
            <a:prstGeom prst="rect">
              <a:avLst/>
            </a:prstGeom>
            <a:solidFill>
              <a:srgbClr val="FFC00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b="1" dirty="0">
                  <a:solidFill>
                    <a:schemeClr val="tx1"/>
                  </a:solidFill>
                </a:rPr>
                <a:t>576 k</a:t>
              </a:r>
            </a:p>
          </p:txBody>
        </p:sp>
        <p:sp>
          <p:nvSpPr>
            <p:cNvPr id="132" name="131 Rectángulo"/>
            <p:cNvSpPr/>
            <p:nvPr/>
          </p:nvSpPr>
          <p:spPr>
            <a:xfrm>
              <a:off x="4643438" y="4469529"/>
              <a:ext cx="1072800" cy="581029"/>
            </a:xfrm>
            <a:prstGeom prst="rect">
              <a:avLst/>
            </a:prstGeom>
            <a:solidFill>
              <a:srgbClr val="FF0000"/>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b="1" dirty="0">
                  <a:solidFill>
                    <a:schemeClr val="tx1"/>
                  </a:solidFill>
                </a:rPr>
                <a:t>768 k</a:t>
              </a:r>
            </a:p>
          </p:txBody>
        </p:sp>
        <p:sp>
          <p:nvSpPr>
            <p:cNvPr id="133" name="132 Rectángulo"/>
            <p:cNvSpPr/>
            <p:nvPr/>
          </p:nvSpPr>
          <p:spPr>
            <a:xfrm>
              <a:off x="4643438" y="5051791"/>
              <a:ext cx="1072800" cy="704855"/>
            </a:xfrm>
            <a:prstGeom prst="rect">
              <a:avLst/>
            </a:prstGeom>
            <a:solidFill>
              <a:schemeClr val="bg1"/>
            </a:solidFill>
            <a:ln w="38100"/>
          </p:spPr>
          <p:style>
            <a:lnRef idx="1">
              <a:schemeClr val="dk1"/>
            </a:lnRef>
            <a:fillRef idx="2">
              <a:schemeClr val="dk1"/>
            </a:fillRef>
            <a:effectRef idx="1">
              <a:schemeClr val="dk1"/>
            </a:effectRef>
            <a:fontRef idx="minor">
              <a:schemeClr val="dk1"/>
            </a:fontRef>
          </p:style>
          <p:txBody>
            <a:bodyPr rtlCol="0" anchor="ctr"/>
            <a:lstStyle/>
            <a:p>
              <a:pPr algn="ctr"/>
              <a:r>
                <a:rPr lang="es-MX" b="1" dirty="0">
                  <a:solidFill>
                    <a:schemeClr val="tx1"/>
                  </a:solidFill>
                </a:rPr>
                <a:t>1 M</a:t>
              </a:r>
            </a:p>
          </p:txBody>
        </p:sp>
      </p:grpSp>
      <p:sp>
        <p:nvSpPr>
          <p:cNvPr id="134" name="133 Rectángulo"/>
          <p:cNvSpPr/>
          <p:nvPr/>
        </p:nvSpPr>
        <p:spPr>
          <a:xfrm>
            <a:off x="7392144" y="3975225"/>
            <a:ext cx="2857504" cy="1938992"/>
          </a:xfrm>
          <a:prstGeom prst="rect">
            <a:avLst/>
          </a:prstGeom>
        </p:spPr>
        <p:txBody>
          <a:bodyPr wrap="square">
            <a:spAutoFit/>
          </a:bodyPr>
          <a:lstStyle/>
          <a:p>
            <a:pPr algn="just">
              <a:spcBef>
                <a:spcPts val="300"/>
              </a:spcBef>
              <a:spcAft>
                <a:spcPts val="300"/>
              </a:spcAft>
            </a:pPr>
            <a:r>
              <a:rPr lang="es-MX" sz="1200" b="1" dirty="0"/>
              <a:t>Asignación de procesos a la memoria:</a:t>
            </a:r>
          </a:p>
          <a:p>
            <a:pPr algn="just">
              <a:spcBef>
                <a:spcPts val="300"/>
              </a:spcBef>
              <a:spcAft>
                <a:spcPts val="300"/>
              </a:spcAft>
            </a:pPr>
            <a:r>
              <a:rPr lang="es-MX" sz="1100" dirty="0"/>
              <a:t>Se pueden tener dos esquemas de asignación de memoria en particiones estáticas utilizando colas de procesos:</a:t>
            </a:r>
          </a:p>
          <a:p>
            <a:pPr marL="228600" indent="-228600" algn="just">
              <a:spcBef>
                <a:spcPts val="300"/>
              </a:spcBef>
              <a:spcAft>
                <a:spcPts val="300"/>
              </a:spcAft>
              <a:buAutoNum type="arabicPeriod"/>
            </a:pPr>
            <a:r>
              <a:rPr lang="es-MX" sz="1100" dirty="0"/>
              <a:t>Colas de planificación para cada partición.</a:t>
            </a:r>
          </a:p>
          <a:p>
            <a:pPr marL="228600" indent="-228600" algn="just">
              <a:spcBef>
                <a:spcPts val="300"/>
              </a:spcBef>
              <a:spcAft>
                <a:spcPts val="300"/>
              </a:spcAft>
              <a:buAutoNum type="arabicPeriod"/>
            </a:pPr>
            <a:r>
              <a:rPr lang="es-MX" sz="1100" dirty="0"/>
              <a:t>Una cola de planificación para la memoria (mayor eficiencia)</a:t>
            </a:r>
          </a:p>
          <a:p>
            <a:pPr algn="just">
              <a:spcBef>
                <a:spcPts val="300"/>
              </a:spcBef>
              <a:spcAft>
                <a:spcPts val="300"/>
              </a:spcAft>
            </a:pPr>
            <a:endParaRPr lang="es-MX"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14600" y="-731044"/>
            <a:ext cx="7772400" cy="1462088"/>
          </a:xfrm>
        </p:spPr>
        <p:txBody>
          <a:bodyPr/>
          <a:lstStyle/>
          <a:p>
            <a:r>
              <a:rPr lang="is-IS" sz="2400" dirty="0"/>
              <a:t>PARTICIONES FIJAS</a:t>
            </a:r>
            <a:r>
              <a:rPr lang="pt-BR" sz="2400" dirty="0"/>
              <a:t>.</a:t>
            </a:r>
            <a:endParaRPr lang="es-ES" sz="2400" dirty="0"/>
          </a:p>
        </p:txBody>
      </p:sp>
      <p:sp>
        <p:nvSpPr>
          <p:cNvPr id="4" name="Rectangle 3"/>
          <p:cNvSpPr txBox="1">
            <a:spLocks noChangeArrowheads="1"/>
          </p:cNvSpPr>
          <p:nvPr/>
        </p:nvSpPr>
        <p:spPr bwMode="auto">
          <a:xfrm>
            <a:off x="1752601" y="1143002"/>
            <a:ext cx="8455025" cy="17525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normAutofit fontScale="92500" lnSpcReduction="20000"/>
          </a:bodyPr>
          <a:lstStyle>
            <a:lvl1pPr marL="0" indent="0" algn="ctr" rtl="0" eaLnBrk="0" fontAlgn="base" hangingPunct="0">
              <a:spcBef>
                <a:spcPct val="20000"/>
              </a:spcBef>
              <a:spcAft>
                <a:spcPct val="0"/>
              </a:spcAft>
              <a:buClr>
                <a:schemeClr val="folHlink"/>
              </a:buClr>
              <a:buSzPct val="60000"/>
              <a:buFont typeface="Wingdings" pitchFamily="2" charset="2"/>
              <a:buNone/>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charset="0"/>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charset="0"/>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charset="0"/>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charset="0"/>
              <a:buChar char="n"/>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9pPr>
          </a:lstStyle>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particiones se crean cuando se enciende el equipo permanecen con los tamaños iniciales hasta que el equipo se reinicie.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Es una alternativa muy vieja, las particiones se realizaban por el operador analizando los tamaños estimados de los trabajos de todo el día. </a:t>
            </a:r>
            <a:endParaRPr lang="es-PR" dirty="0">
              <a:latin typeface="Tahoma" charset="0"/>
              <a:ea typeface="ＭＳ Ｐゴシック" charset="0"/>
              <a:cs typeface="ＭＳ Ｐゴシック" charset="0"/>
            </a:endParaRPr>
          </a:p>
        </p:txBody>
      </p:sp>
      <p:pic>
        <p:nvPicPr>
          <p:cNvPr id="3" name="Imagen 2"/>
          <p:cNvPicPr>
            <a:picLocks noChangeAspect="1"/>
          </p:cNvPicPr>
          <p:nvPr/>
        </p:nvPicPr>
        <p:blipFill>
          <a:blip r:embed="rId2"/>
          <a:stretch>
            <a:fillRect/>
          </a:stretch>
        </p:blipFill>
        <p:spPr>
          <a:xfrm>
            <a:off x="1828800" y="2362200"/>
            <a:ext cx="8750300" cy="4584700"/>
          </a:xfrm>
          <a:prstGeom prst="rect">
            <a:avLst/>
          </a:prstGeom>
        </p:spPr>
      </p:pic>
    </p:spTree>
    <p:extLst>
      <p:ext uri="{BB962C8B-B14F-4D97-AF65-F5344CB8AC3E}">
        <p14:creationId xmlns:p14="http://schemas.microsoft.com/office/powerpoint/2010/main" val="1881255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3238480" y="744004"/>
            <a:ext cx="6643734" cy="369332"/>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s-MX" b="1" dirty="0"/>
              <a:t>Asignación de memoria contigua</a:t>
            </a:r>
            <a:endParaRPr lang="es-MX" dirty="0"/>
          </a:p>
        </p:txBody>
      </p:sp>
      <p:sp>
        <p:nvSpPr>
          <p:cNvPr id="253" name="252 Rectángulo"/>
          <p:cNvSpPr/>
          <p:nvPr/>
        </p:nvSpPr>
        <p:spPr>
          <a:xfrm>
            <a:off x="2435383" y="1388254"/>
            <a:ext cx="3178717"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000" dirty="0">
                <a:latin typeface="Consolas" pitchFamily="49" charset="0"/>
                <a:cs typeface="Consolas" pitchFamily="49" charset="0"/>
              </a:rPr>
              <a:t>Particiones estáticas</a:t>
            </a:r>
          </a:p>
        </p:txBody>
      </p:sp>
      <p:grpSp>
        <p:nvGrpSpPr>
          <p:cNvPr id="2" name="23 Grupo"/>
          <p:cNvGrpSpPr/>
          <p:nvPr/>
        </p:nvGrpSpPr>
        <p:grpSpPr>
          <a:xfrm>
            <a:off x="4853804" y="1997550"/>
            <a:ext cx="1214446" cy="2990895"/>
            <a:chOff x="1285852" y="2643182"/>
            <a:chExt cx="1428760" cy="3419499"/>
          </a:xfrm>
        </p:grpSpPr>
        <p:sp>
          <p:nvSpPr>
            <p:cNvPr id="25" name="24 Rectángulo"/>
            <p:cNvSpPr/>
            <p:nvPr/>
          </p:nvSpPr>
          <p:spPr>
            <a:xfrm>
              <a:off x="1285852" y="2643182"/>
              <a:ext cx="1428760" cy="428628"/>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50" b="1" dirty="0">
                  <a:solidFill>
                    <a:schemeClr val="tx1"/>
                  </a:solidFill>
                </a:rPr>
                <a:t>Sistema operativo</a:t>
              </a:r>
            </a:p>
          </p:txBody>
        </p:sp>
        <p:sp>
          <p:nvSpPr>
            <p:cNvPr id="26" name="25 Rectángulo"/>
            <p:cNvSpPr/>
            <p:nvPr/>
          </p:nvSpPr>
          <p:spPr>
            <a:xfrm>
              <a:off x="1285852" y="3067375"/>
              <a:ext cx="1428760" cy="423538"/>
            </a:xfrm>
            <a:prstGeom prst="rect">
              <a:avLst/>
            </a:prstGeom>
            <a:solidFill>
              <a:schemeClr val="accent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t"/>
            <a:lstStyle/>
            <a:p>
              <a:pPr algn="ctr"/>
              <a:endParaRPr lang="es-MX" sz="1200" b="1" dirty="0">
                <a:solidFill>
                  <a:schemeClr val="tx1"/>
                </a:solidFill>
              </a:endParaRPr>
            </a:p>
          </p:txBody>
        </p:sp>
        <p:sp>
          <p:nvSpPr>
            <p:cNvPr id="27" name="26 Rectángulo"/>
            <p:cNvSpPr/>
            <p:nvPr/>
          </p:nvSpPr>
          <p:spPr>
            <a:xfrm>
              <a:off x="1285852" y="3490913"/>
              <a:ext cx="1428760" cy="428628"/>
            </a:xfrm>
            <a:prstGeom prst="rect">
              <a:avLst/>
            </a:prstGeom>
            <a:solidFill>
              <a:schemeClr val="tx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t"/>
            <a:lstStyle/>
            <a:p>
              <a:pPr algn="ctr"/>
              <a:endParaRPr lang="es-MX" sz="1200" b="1" dirty="0">
                <a:solidFill>
                  <a:schemeClr val="tx1"/>
                </a:solidFill>
              </a:endParaRPr>
            </a:p>
          </p:txBody>
        </p:sp>
        <p:sp>
          <p:nvSpPr>
            <p:cNvPr id="28" name="27 Rectángulo"/>
            <p:cNvSpPr/>
            <p:nvPr/>
          </p:nvSpPr>
          <p:spPr>
            <a:xfrm>
              <a:off x="1285852" y="3919541"/>
              <a:ext cx="1428760" cy="428628"/>
            </a:xfrm>
            <a:prstGeom prst="rect">
              <a:avLst/>
            </a:prstGeom>
            <a:solidFill>
              <a:srgbClr val="7030A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29" name="28 Rectángulo"/>
            <p:cNvSpPr/>
            <p:nvPr/>
          </p:nvSpPr>
          <p:spPr>
            <a:xfrm>
              <a:off x="1285852" y="4348169"/>
              <a:ext cx="1428760" cy="428628"/>
            </a:xfrm>
            <a:prstGeom prst="rect">
              <a:avLst/>
            </a:prstGeom>
            <a:solidFill>
              <a:srgbClr val="92D05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30" name="29 Rectángulo"/>
            <p:cNvSpPr/>
            <p:nvPr/>
          </p:nvSpPr>
          <p:spPr>
            <a:xfrm>
              <a:off x="1285852" y="4776797"/>
              <a:ext cx="1428760" cy="428628"/>
            </a:xfrm>
            <a:prstGeom prst="rect">
              <a:avLst/>
            </a:prstGeom>
            <a:solidFill>
              <a:srgbClr val="FFC00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31" name="30 Rectángulo"/>
            <p:cNvSpPr/>
            <p:nvPr/>
          </p:nvSpPr>
          <p:spPr>
            <a:xfrm>
              <a:off x="1285852" y="5205425"/>
              <a:ext cx="1428760" cy="428628"/>
            </a:xfrm>
            <a:prstGeom prst="rect">
              <a:avLst/>
            </a:prstGeom>
            <a:solidFill>
              <a:srgbClr val="FF000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32" name="31 Rectángulo"/>
            <p:cNvSpPr/>
            <p:nvPr/>
          </p:nvSpPr>
          <p:spPr>
            <a:xfrm>
              <a:off x="1285852" y="5634053"/>
              <a:ext cx="1428760" cy="428628"/>
            </a:xfrm>
            <a:prstGeom prst="rect">
              <a:avLst/>
            </a:prstGeom>
            <a:solidFill>
              <a:schemeClr val="bg1"/>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grpSp>
      <p:grpSp>
        <p:nvGrpSpPr>
          <p:cNvPr id="12" name="46 Grupo"/>
          <p:cNvGrpSpPr/>
          <p:nvPr/>
        </p:nvGrpSpPr>
        <p:grpSpPr>
          <a:xfrm>
            <a:off x="3207104" y="2482468"/>
            <a:ext cx="1146905" cy="180000"/>
            <a:chOff x="1505189" y="2356355"/>
            <a:chExt cx="1146905" cy="433652"/>
          </a:xfrm>
          <a:solidFill>
            <a:schemeClr val="accent2">
              <a:lumMod val="60000"/>
              <a:lumOff val="40000"/>
            </a:schemeClr>
          </a:solidFill>
        </p:grpSpPr>
        <p:sp>
          <p:nvSpPr>
            <p:cNvPr id="151" name="150 Rectángulo"/>
            <p:cNvSpPr/>
            <p:nvPr/>
          </p:nvSpPr>
          <p:spPr>
            <a:xfrm flipH="1">
              <a:off x="1505189"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52" name="151 Rectángulo"/>
            <p:cNvSpPr/>
            <p:nvPr/>
          </p:nvSpPr>
          <p:spPr>
            <a:xfrm flipH="1">
              <a:off x="1648105"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53" name="152 Rectángulo"/>
            <p:cNvSpPr/>
            <p:nvPr/>
          </p:nvSpPr>
          <p:spPr>
            <a:xfrm flipH="1">
              <a:off x="1793475"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54" name="153 Rectángulo"/>
            <p:cNvSpPr/>
            <p:nvPr/>
          </p:nvSpPr>
          <p:spPr>
            <a:xfrm flipH="1">
              <a:off x="1934365" y="2357429"/>
              <a:ext cx="144000" cy="43257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55" name="154 Rectángulo"/>
            <p:cNvSpPr/>
            <p:nvPr/>
          </p:nvSpPr>
          <p:spPr>
            <a:xfrm flipH="1">
              <a:off x="2079639" y="2357429"/>
              <a:ext cx="144000" cy="428629"/>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56" name="155 Rectángulo"/>
            <p:cNvSpPr/>
            <p:nvPr/>
          </p:nvSpPr>
          <p:spPr>
            <a:xfrm flipH="1">
              <a:off x="2226596"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57" name="156 Rectángulo"/>
            <p:cNvSpPr/>
            <p:nvPr/>
          </p:nvSpPr>
          <p:spPr>
            <a:xfrm flipH="1">
              <a:off x="2367506"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58" name="157 Rectángulo"/>
            <p:cNvSpPr/>
            <p:nvPr/>
          </p:nvSpPr>
          <p:spPr>
            <a:xfrm flipH="1">
              <a:off x="2508094"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grpSp>
        <p:nvGrpSpPr>
          <p:cNvPr id="13" name="110 Grupo"/>
          <p:cNvGrpSpPr/>
          <p:nvPr/>
        </p:nvGrpSpPr>
        <p:grpSpPr>
          <a:xfrm>
            <a:off x="3214563" y="2831151"/>
            <a:ext cx="1146905" cy="167590"/>
            <a:chOff x="1505189" y="2356355"/>
            <a:chExt cx="1146905" cy="433652"/>
          </a:xfrm>
          <a:solidFill>
            <a:schemeClr val="tx2">
              <a:lumMod val="60000"/>
              <a:lumOff val="40000"/>
            </a:schemeClr>
          </a:solidFill>
        </p:grpSpPr>
        <p:sp>
          <p:nvSpPr>
            <p:cNvPr id="160" name="159 Rectángulo"/>
            <p:cNvSpPr/>
            <p:nvPr/>
          </p:nvSpPr>
          <p:spPr>
            <a:xfrm flipH="1">
              <a:off x="1505189"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61" name="160 Rectángulo"/>
            <p:cNvSpPr/>
            <p:nvPr/>
          </p:nvSpPr>
          <p:spPr>
            <a:xfrm flipH="1">
              <a:off x="1648105"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62" name="161 Rectángulo"/>
            <p:cNvSpPr/>
            <p:nvPr/>
          </p:nvSpPr>
          <p:spPr>
            <a:xfrm flipH="1">
              <a:off x="1793475"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63" name="162 Rectángulo"/>
            <p:cNvSpPr/>
            <p:nvPr/>
          </p:nvSpPr>
          <p:spPr>
            <a:xfrm flipH="1">
              <a:off x="1934365" y="2357429"/>
              <a:ext cx="144000" cy="43257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64" name="163 Rectángulo"/>
            <p:cNvSpPr/>
            <p:nvPr/>
          </p:nvSpPr>
          <p:spPr>
            <a:xfrm flipH="1">
              <a:off x="2079639" y="2357429"/>
              <a:ext cx="144000" cy="428629"/>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65" name="164 Rectángulo"/>
            <p:cNvSpPr/>
            <p:nvPr/>
          </p:nvSpPr>
          <p:spPr>
            <a:xfrm flipH="1">
              <a:off x="2226596"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66" name="165 Rectángulo"/>
            <p:cNvSpPr/>
            <p:nvPr/>
          </p:nvSpPr>
          <p:spPr>
            <a:xfrm flipH="1">
              <a:off x="2367506"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67" name="166 Rectángulo"/>
            <p:cNvSpPr/>
            <p:nvPr/>
          </p:nvSpPr>
          <p:spPr>
            <a:xfrm flipH="1">
              <a:off x="2508094"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grpSp>
        <p:nvGrpSpPr>
          <p:cNvPr id="14" name="119 Grupo"/>
          <p:cNvGrpSpPr/>
          <p:nvPr/>
        </p:nvGrpSpPr>
        <p:grpSpPr>
          <a:xfrm>
            <a:off x="3219457" y="3237776"/>
            <a:ext cx="1146905" cy="182615"/>
            <a:chOff x="1505189" y="2326015"/>
            <a:chExt cx="1146905" cy="472534"/>
          </a:xfrm>
          <a:solidFill>
            <a:schemeClr val="accent4">
              <a:lumMod val="75000"/>
            </a:schemeClr>
          </a:solidFill>
        </p:grpSpPr>
        <p:sp>
          <p:nvSpPr>
            <p:cNvPr id="169" name="168 Rectángulo"/>
            <p:cNvSpPr/>
            <p:nvPr/>
          </p:nvSpPr>
          <p:spPr>
            <a:xfrm flipH="1">
              <a:off x="1505189" y="2326015"/>
              <a:ext cx="144000" cy="465767"/>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0" name="169 Rectángulo"/>
            <p:cNvSpPr/>
            <p:nvPr/>
          </p:nvSpPr>
          <p:spPr>
            <a:xfrm flipH="1">
              <a:off x="1648105" y="2332785"/>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1" name="170 Rectángulo"/>
            <p:cNvSpPr/>
            <p:nvPr/>
          </p:nvSpPr>
          <p:spPr>
            <a:xfrm flipH="1">
              <a:off x="1793475" y="2332785"/>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2" name="171 Rectángulo"/>
            <p:cNvSpPr/>
            <p:nvPr/>
          </p:nvSpPr>
          <p:spPr>
            <a:xfrm flipH="1">
              <a:off x="1934365" y="2332785"/>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3" name="172 Rectángulo"/>
            <p:cNvSpPr/>
            <p:nvPr/>
          </p:nvSpPr>
          <p:spPr>
            <a:xfrm flipH="1">
              <a:off x="2079639" y="2332782"/>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4" name="173 Rectángulo"/>
            <p:cNvSpPr/>
            <p:nvPr/>
          </p:nvSpPr>
          <p:spPr>
            <a:xfrm flipH="1">
              <a:off x="2226596" y="2332782"/>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5" name="174 Rectángulo"/>
            <p:cNvSpPr/>
            <p:nvPr/>
          </p:nvSpPr>
          <p:spPr>
            <a:xfrm flipH="1">
              <a:off x="2367506" y="2332785"/>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6" name="175 Rectángulo"/>
            <p:cNvSpPr/>
            <p:nvPr/>
          </p:nvSpPr>
          <p:spPr>
            <a:xfrm flipH="1">
              <a:off x="2508094" y="2326018"/>
              <a:ext cx="144000" cy="465767"/>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grpSp>
        <p:nvGrpSpPr>
          <p:cNvPr id="15" name="128 Grupo"/>
          <p:cNvGrpSpPr/>
          <p:nvPr/>
        </p:nvGrpSpPr>
        <p:grpSpPr>
          <a:xfrm>
            <a:off x="3225245" y="3582650"/>
            <a:ext cx="1146905" cy="180416"/>
            <a:chOff x="1505189" y="2356352"/>
            <a:chExt cx="1146905" cy="466840"/>
          </a:xfrm>
          <a:solidFill>
            <a:srgbClr val="92D050"/>
          </a:solidFill>
        </p:grpSpPr>
        <p:sp>
          <p:nvSpPr>
            <p:cNvPr id="178" name="177 Rectángulo"/>
            <p:cNvSpPr/>
            <p:nvPr/>
          </p:nvSpPr>
          <p:spPr>
            <a:xfrm flipH="1">
              <a:off x="1505189" y="2356355"/>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79" name="178 Rectángulo"/>
            <p:cNvSpPr/>
            <p:nvPr/>
          </p:nvSpPr>
          <p:spPr>
            <a:xfrm flipH="1">
              <a:off x="1648105" y="2357429"/>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0" name="179 Rectángulo"/>
            <p:cNvSpPr/>
            <p:nvPr/>
          </p:nvSpPr>
          <p:spPr>
            <a:xfrm flipH="1">
              <a:off x="1793475" y="2357429"/>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1" name="180 Rectángulo"/>
            <p:cNvSpPr/>
            <p:nvPr/>
          </p:nvSpPr>
          <p:spPr>
            <a:xfrm flipH="1">
              <a:off x="1934365" y="2357429"/>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2" name="181 Rectángulo"/>
            <p:cNvSpPr/>
            <p:nvPr/>
          </p:nvSpPr>
          <p:spPr>
            <a:xfrm flipH="1">
              <a:off x="2079639" y="2357429"/>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3" name="182 Rectángulo"/>
            <p:cNvSpPr/>
            <p:nvPr/>
          </p:nvSpPr>
          <p:spPr>
            <a:xfrm flipH="1">
              <a:off x="2226596" y="2357429"/>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4" name="183 Rectángulo"/>
            <p:cNvSpPr/>
            <p:nvPr/>
          </p:nvSpPr>
          <p:spPr>
            <a:xfrm flipH="1">
              <a:off x="2367506" y="2357429"/>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5" name="184 Rectángulo"/>
            <p:cNvSpPr/>
            <p:nvPr/>
          </p:nvSpPr>
          <p:spPr>
            <a:xfrm flipH="1">
              <a:off x="2508094" y="2356352"/>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grpSp>
        <p:nvGrpSpPr>
          <p:cNvPr id="16" name="137 Grupo"/>
          <p:cNvGrpSpPr/>
          <p:nvPr/>
        </p:nvGrpSpPr>
        <p:grpSpPr>
          <a:xfrm>
            <a:off x="3232974" y="3968870"/>
            <a:ext cx="1146905" cy="180415"/>
            <a:chOff x="1505189" y="2356355"/>
            <a:chExt cx="1146905" cy="466838"/>
          </a:xfrm>
          <a:solidFill>
            <a:srgbClr val="FFC000"/>
          </a:solidFill>
        </p:grpSpPr>
        <p:sp>
          <p:nvSpPr>
            <p:cNvPr id="187" name="186 Rectángulo"/>
            <p:cNvSpPr/>
            <p:nvPr/>
          </p:nvSpPr>
          <p:spPr>
            <a:xfrm flipH="1">
              <a:off x="1505189" y="2356355"/>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8" name="187 Rectángulo"/>
            <p:cNvSpPr/>
            <p:nvPr/>
          </p:nvSpPr>
          <p:spPr>
            <a:xfrm flipH="1">
              <a:off x="1648105" y="2357429"/>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89" name="188 Rectángulo"/>
            <p:cNvSpPr/>
            <p:nvPr/>
          </p:nvSpPr>
          <p:spPr>
            <a:xfrm flipH="1">
              <a:off x="1793475" y="2357429"/>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0" name="189 Rectángulo"/>
            <p:cNvSpPr/>
            <p:nvPr/>
          </p:nvSpPr>
          <p:spPr>
            <a:xfrm flipH="1">
              <a:off x="1934365" y="2357429"/>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1" name="190 Rectángulo"/>
            <p:cNvSpPr/>
            <p:nvPr/>
          </p:nvSpPr>
          <p:spPr>
            <a:xfrm flipH="1">
              <a:off x="2079639" y="2357429"/>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2" name="191 Rectángulo"/>
            <p:cNvSpPr/>
            <p:nvPr/>
          </p:nvSpPr>
          <p:spPr>
            <a:xfrm flipH="1">
              <a:off x="2226596" y="2357429"/>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3" name="192 Rectángulo"/>
            <p:cNvSpPr/>
            <p:nvPr/>
          </p:nvSpPr>
          <p:spPr>
            <a:xfrm flipH="1">
              <a:off x="2367506" y="2357429"/>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4" name="193 Rectángulo"/>
            <p:cNvSpPr/>
            <p:nvPr/>
          </p:nvSpPr>
          <p:spPr>
            <a:xfrm flipH="1">
              <a:off x="2508094" y="2356355"/>
              <a:ext cx="144000" cy="465764"/>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grpSp>
        <p:nvGrpSpPr>
          <p:cNvPr id="17" name="146 Grupo"/>
          <p:cNvGrpSpPr/>
          <p:nvPr/>
        </p:nvGrpSpPr>
        <p:grpSpPr>
          <a:xfrm>
            <a:off x="3254273" y="4317149"/>
            <a:ext cx="1146905" cy="180000"/>
            <a:chOff x="1505189" y="2356355"/>
            <a:chExt cx="1146905" cy="433652"/>
          </a:xfrm>
          <a:solidFill>
            <a:srgbClr val="FF0000"/>
          </a:solidFill>
        </p:grpSpPr>
        <p:sp>
          <p:nvSpPr>
            <p:cNvPr id="196" name="195 Rectángulo"/>
            <p:cNvSpPr/>
            <p:nvPr/>
          </p:nvSpPr>
          <p:spPr>
            <a:xfrm flipH="1">
              <a:off x="1505189"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7" name="196 Rectángulo"/>
            <p:cNvSpPr/>
            <p:nvPr/>
          </p:nvSpPr>
          <p:spPr>
            <a:xfrm flipH="1">
              <a:off x="1648105"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8" name="197 Rectángulo"/>
            <p:cNvSpPr/>
            <p:nvPr/>
          </p:nvSpPr>
          <p:spPr>
            <a:xfrm flipH="1">
              <a:off x="1793475"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199" name="198 Rectángulo"/>
            <p:cNvSpPr/>
            <p:nvPr/>
          </p:nvSpPr>
          <p:spPr>
            <a:xfrm flipH="1">
              <a:off x="1934365" y="2357429"/>
              <a:ext cx="144000" cy="43257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0" name="199 Rectángulo"/>
            <p:cNvSpPr/>
            <p:nvPr/>
          </p:nvSpPr>
          <p:spPr>
            <a:xfrm flipH="1">
              <a:off x="2079639" y="2357429"/>
              <a:ext cx="144000" cy="428629"/>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1" name="200 Rectángulo"/>
            <p:cNvSpPr/>
            <p:nvPr/>
          </p:nvSpPr>
          <p:spPr>
            <a:xfrm flipH="1">
              <a:off x="2226596"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2" name="201 Rectángulo"/>
            <p:cNvSpPr/>
            <p:nvPr/>
          </p:nvSpPr>
          <p:spPr>
            <a:xfrm flipH="1">
              <a:off x="2367506" y="2357430"/>
              <a:ext cx="144000" cy="42862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3" name="202 Rectángulo"/>
            <p:cNvSpPr/>
            <p:nvPr/>
          </p:nvSpPr>
          <p:spPr>
            <a:xfrm flipH="1">
              <a:off x="2508094"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grpSp>
        <p:nvGrpSpPr>
          <p:cNvPr id="18" name="155 Grupo"/>
          <p:cNvGrpSpPr/>
          <p:nvPr/>
        </p:nvGrpSpPr>
        <p:grpSpPr>
          <a:xfrm>
            <a:off x="3231683" y="4710590"/>
            <a:ext cx="1146905" cy="169614"/>
            <a:chOff x="1505189" y="2356355"/>
            <a:chExt cx="1146905" cy="438889"/>
          </a:xfrm>
          <a:solidFill>
            <a:schemeClr val="bg1"/>
          </a:solidFill>
        </p:grpSpPr>
        <p:sp>
          <p:nvSpPr>
            <p:cNvPr id="205" name="204 Rectángulo"/>
            <p:cNvSpPr/>
            <p:nvPr/>
          </p:nvSpPr>
          <p:spPr>
            <a:xfrm flipH="1">
              <a:off x="1505189"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6" name="205 Rectángulo"/>
            <p:cNvSpPr/>
            <p:nvPr/>
          </p:nvSpPr>
          <p:spPr>
            <a:xfrm flipH="1">
              <a:off x="1648104" y="2357426"/>
              <a:ext cx="144000" cy="43781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7" name="206 Rectángulo"/>
            <p:cNvSpPr/>
            <p:nvPr/>
          </p:nvSpPr>
          <p:spPr>
            <a:xfrm flipH="1">
              <a:off x="1793475" y="2357424"/>
              <a:ext cx="144000" cy="43781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8" name="207 Rectángulo"/>
            <p:cNvSpPr/>
            <p:nvPr/>
          </p:nvSpPr>
          <p:spPr>
            <a:xfrm flipH="1">
              <a:off x="1934365" y="2357429"/>
              <a:ext cx="144000" cy="43257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09" name="208 Rectángulo"/>
            <p:cNvSpPr/>
            <p:nvPr/>
          </p:nvSpPr>
          <p:spPr>
            <a:xfrm flipH="1">
              <a:off x="2079639" y="2357421"/>
              <a:ext cx="144000" cy="43781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0" name="209 Rectángulo"/>
            <p:cNvSpPr/>
            <p:nvPr/>
          </p:nvSpPr>
          <p:spPr>
            <a:xfrm flipH="1">
              <a:off x="2226596" y="2357424"/>
              <a:ext cx="144000" cy="43781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1" name="210 Rectángulo"/>
            <p:cNvSpPr/>
            <p:nvPr/>
          </p:nvSpPr>
          <p:spPr>
            <a:xfrm flipH="1">
              <a:off x="2367506" y="2357424"/>
              <a:ext cx="144000" cy="437818"/>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2" name="211 Rectángulo"/>
            <p:cNvSpPr/>
            <p:nvPr/>
          </p:nvSpPr>
          <p:spPr>
            <a:xfrm flipH="1">
              <a:off x="2508094" y="2356355"/>
              <a:ext cx="144000" cy="433652"/>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sp>
        <p:nvSpPr>
          <p:cNvPr id="213" name="212 Flecha derecha"/>
          <p:cNvSpPr/>
          <p:nvPr/>
        </p:nvSpPr>
        <p:spPr>
          <a:xfrm>
            <a:off x="4417844" y="2507182"/>
            <a:ext cx="350008" cy="142876"/>
          </a:xfrm>
          <a:prstGeom prst="rightArrow">
            <a:avLst/>
          </a:prstGeom>
          <a:ln w="19050"/>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4" name="213 Flecha derecha"/>
          <p:cNvSpPr/>
          <p:nvPr/>
        </p:nvSpPr>
        <p:spPr>
          <a:xfrm>
            <a:off x="4417844" y="2863400"/>
            <a:ext cx="350008" cy="142876"/>
          </a:xfrm>
          <a:prstGeom prst="rightArrow">
            <a:avLst/>
          </a:prstGeom>
          <a:ln w="19050"/>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5" name="214 Flecha derecha"/>
          <p:cNvSpPr/>
          <p:nvPr/>
        </p:nvSpPr>
        <p:spPr>
          <a:xfrm>
            <a:off x="4417844" y="3239978"/>
            <a:ext cx="350008" cy="142876"/>
          </a:xfrm>
          <a:prstGeom prst="rightArrow">
            <a:avLst/>
          </a:prstGeom>
          <a:ln w="19050"/>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6" name="215 Flecha derecha"/>
          <p:cNvSpPr/>
          <p:nvPr/>
        </p:nvSpPr>
        <p:spPr>
          <a:xfrm>
            <a:off x="4424629" y="3614900"/>
            <a:ext cx="350008" cy="142876"/>
          </a:xfrm>
          <a:prstGeom prst="rightArrow">
            <a:avLst/>
          </a:prstGeom>
          <a:ln w="19050"/>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7" name="216 Flecha derecha"/>
          <p:cNvSpPr/>
          <p:nvPr/>
        </p:nvSpPr>
        <p:spPr>
          <a:xfrm>
            <a:off x="4432358" y="3968869"/>
            <a:ext cx="350008" cy="142876"/>
          </a:xfrm>
          <a:prstGeom prst="rightArrow">
            <a:avLst/>
          </a:prstGeom>
          <a:ln w="19050"/>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8" name="217 Flecha derecha"/>
          <p:cNvSpPr/>
          <p:nvPr/>
        </p:nvSpPr>
        <p:spPr>
          <a:xfrm>
            <a:off x="4453094" y="4341863"/>
            <a:ext cx="350008" cy="142876"/>
          </a:xfrm>
          <a:prstGeom prst="rightArrow">
            <a:avLst/>
          </a:prstGeom>
          <a:ln w="19050"/>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19" name="218 Flecha derecha"/>
          <p:cNvSpPr/>
          <p:nvPr/>
        </p:nvSpPr>
        <p:spPr>
          <a:xfrm>
            <a:off x="4431067" y="4727062"/>
            <a:ext cx="350008" cy="142876"/>
          </a:xfrm>
          <a:prstGeom prst="rightArrow">
            <a:avLst/>
          </a:prstGeom>
          <a:ln w="19050"/>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220" name="219 CuadroTexto"/>
          <p:cNvSpPr txBox="1"/>
          <p:nvPr/>
        </p:nvSpPr>
        <p:spPr>
          <a:xfrm>
            <a:off x="2004774" y="3439476"/>
            <a:ext cx="811441" cy="461665"/>
          </a:xfrm>
          <a:prstGeom prst="rect">
            <a:avLst/>
          </a:prstGeom>
          <a:ln w="28575"/>
        </p:spPr>
        <p:style>
          <a:lnRef idx="1">
            <a:schemeClr val="dk1"/>
          </a:lnRef>
          <a:fillRef idx="2">
            <a:schemeClr val="dk1"/>
          </a:fillRef>
          <a:effectRef idx="1">
            <a:schemeClr val="dk1"/>
          </a:effectRef>
          <a:fontRef idx="minor">
            <a:schemeClr val="dk1"/>
          </a:fontRef>
        </p:style>
        <p:txBody>
          <a:bodyPr wrap="none" rtlCol="0">
            <a:spAutoFit/>
          </a:bodyPr>
          <a:lstStyle/>
          <a:p>
            <a:pPr algn="ctr"/>
            <a:r>
              <a:rPr lang="es-MX" sz="1200" b="1" dirty="0"/>
              <a:t>Procesos</a:t>
            </a:r>
          </a:p>
          <a:p>
            <a:pPr algn="ctr"/>
            <a:r>
              <a:rPr lang="es-MX" sz="1200" b="1" dirty="0"/>
              <a:t>nuevos</a:t>
            </a:r>
          </a:p>
        </p:txBody>
      </p:sp>
      <p:cxnSp>
        <p:nvCxnSpPr>
          <p:cNvPr id="221" name="220 Conector recto"/>
          <p:cNvCxnSpPr>
            <a:stCxn id="220" idx="3"/>
          </p:cNvCxnSpPr>
          <p:nvPr/>
        </p:nvCxnSpPr>
        <p:spPr>
          <a:xfrm flipV="1">
            <a:off x="2816214" y="2914946"/>
            <a:ext cx="398348" cy="75536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2" name="221 Conector recto"/>
          <p:cNvCxnSpPr>
            <a:stCxn id="220" idx="3"/>
          </p:cNvCxnSpPr>
          <p:nvPr/>
        </p:nvCxnSpPr>
        <p:spPr>
          <a:xfrm flipV="1">
            <a:off x="2816214" y="3327776"/>
            <a:ext cx="403242" cy="342532"/>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3" name="222 Conector recto"/>
          <p:cNvCxnSpPr>
            <a:stCxn id="220" idx="3"/>
          </p:cNvCxnSpPr>
          <p:nvPr/>
        </p:nvCxnSpPr>
        <p:spPr>
          <a:xfrm>
            <a:off x="2816214" y="3670309"/>
            <a:ext cx="409030" cy="2343"/>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4" name="223 Conector recto"/>
          <p:cNvCxnSpPr>
            <a:stCxn id="220" idx="3"/>
          </p:cNvCxnSpPr>
          <p:nvPr/>
        </p:nvCxnSpPr>
        <p:spPr>
          <a:xfrm>
            <a:off x="2816215" y="3670309"/>
            <a:ext cx="416759" cy="38856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5" name="224 Conector recto"/>
          <p:cNvCxnSpPr>
            <a:stCxn id="220" idx="3"/>
          </p:cNvCxnSpPr>
          <p:nvPr/>
        </p:nvCxnSpPr>
        <p:spPr>
          <a:xfrm>
            <a:off x="2816214" y="3670309"/>
            <a:ext cx="438058" cy="736841"/>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6" name="225 Conector recto"/>
          <p:cNvCxnSpPr>
            <a:endCxn id="220" idx="3"/>
          </p:cNvCxnSpPr>
          <p:nvPr/>
        </p:nvCxnSpPr>
        <p:spPr>
          <a:xfrm flipH="1" flipV="1">
            <a:off x="2816215" y="3670309"/>
            <a:ext cx="251919" cy="707815"/>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7" name="226 Conector recto"/>
          <p:cNvCxnSpPr>
            <a:stCxn id="220" idx="3"/>
          </p:cNvCxnSpPr>
          <p:nvPr/>
        </p:nvCxnSpPr>
        <p:spPr>
          <a:xfrm>
            <a:off x="2816214" y="3670309"/>
            <a:ext cx="415468" cy="1124075"/>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5" name="234 Conector recto"/>
          <p:cNvCxnSpPr>
            <a:stCxn id="220" idx="3"/>
          </p:cNvCxnSpPr>
          <p:nvPr/>
        </p:nvCxnSpPr>
        <p:spPr>
          <a:xfrm flipV="1">
            <a:off x="2816215" y="2572468"/>
            <a:ext cx="390889" cy="1097840"/>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7" name="256 Forma"/>
          <p:cNvCxnSpPr>
            <a:stCxn id="234" idx="0"/>
            <a:endCxn id="32" idx="2"/>
          </p:cNvCxnSpPr>
          <p:nvPr/>
        </p:nvCxnSpPr>
        <p:spPr>
          <a:xfrm rot="16200000" flipV="1">
            <a:off x="5383352" y="5066119"/>
            <a:ext cx="655134" cy="499784"/>
          </a:xfrm>
          <a:prstGeom prst="bentConnector3">
            <a:avLst>
              <a:gd name="adj1" fmla="val 50000"/>
            </a:avLst>
          </a:prstGeom>
          <a:ln w="38100">
            <a:solidFill>
              <a:srgbClr val="00B0F0"/>
            </a:solidFill>
            <a:tailEnd type="arrow"/>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95" name="194 Rectángulo"/>
          <p:cNvSpPr/>
          <p:nvPr/>
        </p:nvSpPr>
        <p:spPr>
          <a:xfrm>
            <a:off x="4877732" y="2613796"/>
            <a:ext cx="1170000" cy="108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4" name="203 Rectángulo"/>
          <p:cNvSpPr/>
          <p:nvPr/>
        </p:nvSpPr>
        <p:spPr>
          <a:xfrm>
            <a:off x="4877732" y="2918374"/>
            <a:ext cx="1170000" cy="180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8" name="227 Rectángulo"/>
          <p:cNvSpPr/>
          <p:nvPr/>
        </p:nvSpPr>
        <p:spPr>
          <a:xfrm>
            <a:off x="4876716" y="3217992"/>
            <a:ext cx="1170000" cy="252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9" name="228 Rectángulo"/>
          <p:cNvSpPr/>
          <p:nvPr/>
        </p:nvSpPr>
        <p:spPr>
          <a:xfrm>
            <a:off x="4876983" y="3773436"/>
            <a:ext cx="1170000" cy="72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0" name="229 Rectángulo"/>
          <p:cNvSpPr/>
          <p:nvPr/>
        </p:nvSpPr>
        <p:spPr>
          <a:xfrm>
            <a:off x="4876716" y="4043139"/>
            <a:ext cx="1170000" cy="180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1" name="230 Rectángulo"/>
          <p:cNvSpPr/>
          <p:nvPr/>
        </p:nvSpPr>
        <p:spPr>
          <a:xfrm>
            <a:off x="4879448" y="4565441"/>
            <a:ext cx="1170000" cy="36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4" name="233 Rectángulo"/>
          <p:cNvSpPr/>
          <p:nvPr/>
        </p:nvSpPr>
        <p:spPr>
          <a:xfrm>
            <a:off x="2881292" y="5643579"/>
            <a:ext cx="6159039" cy="646331"/>
          </a:xfrm>
          <a:prstGeom prst="rect">
            <a:avLst/>
          </a:prstGeom>
        </p:spPr>
        <p:txBody>
          <a:bodyPr wrap="square">
            <a:spAutoFit/>
          </a:bodyPr>
          <a:lstStyle/>
          <a:p>
            <a:r>
              <a:rPr lang="es-MX" sz="1200" dirty="0"/>
              <a:t>Cuando un proceso se introduce en una partición, lo más probable es que su tamaño no sea el mismo (es decir, sea algo menor) que el de la partición. Esto origina un problema de desperdicio de memoria conocido como </a:t>
            </a:r>
            <a:r>
              <a:rPr lang="es-MX" sz="1200" b="1" dirty="0"/>
              <a:t>fragmentación interna</a:t>
            </a:r>
            <a:r>
              <a:rPr lang="es-MX" sz="1200" dirty="0"/>
              <a:t>.</a:t>
            </a:r>
          </a:p>
        </p:txBody>
      </p:sp>
      <p:cxnSp>
        <p:nvCxnSpPr>
          <p:cNvPr id="331" name="330 Forma"/>
          <p:cNvCxnSpPr>
            <a:stCxn id="234" idx="0"/>
            <a:endCxn id="273" idx="2"/>
          </p:cNvCxnSpPr>
          <p:nvPr/>
        </p:nvCxnSpPr>
        <p:spPr>
          <a:xfrm rot="5400000" flipH="1" flipV="1">
            <a:off x="7560864" y="3510962"/>
            <a:ext cx="532564" cy="3732671"/>
          </a:xfrm>
          <a:prstGeom prst="bentConnector4">
            <a:avLst>
              <a:gd name="adj1" fmla="val 50000"/>
              <a:gd name="adj2" fmla="val 106124"/>
            </a:avLst>
          </a:prstGeom>
          <a:ln w="38100">
            <a:solidFill>
              <a:srgbClr val="00B0F0"/>
            </a:solidFill>
            <a:tailEnd type="arrow"/>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51" name="350 Rectángulo"/>
          <p:cNvSpPr/>
          <p:nvPr/>
        </p:nvSpPr>
        <p:spPr>
          <a:xfrm>
            <a:off x="6514134" y="1549009"/>
            <a:ext cx="2156414" cy="1338123"/>
          </a:xfrm>
          <a:prstGeom prst="rect">
            <a:avLst/>
          </a:prstGeom>
        </p:spPr>
        <p:txBody>
          <a:bodyPr wrap="square">
            <a:spAutoFit/>
          </a:bodyPr>
          <a:lstStyle/>
          <a:p>
            <a:pPr>
              <a:lnSpc>
                <a:spcPct val="114000"/>
              </a:lnSpc>
            </a:pPr>
            <a:r>
              <a:rPr lang="es-MX" sz="1200" dirty="0"/>
              <a:t>Algunas colas estarán saturadas por procesos que tienen un tamaño similar a la partición mientras que otras estarán vacías o semivacías.</a:t>
            </a:r>
          </a:p>
        </p:txBody>
      </p:sp>
      <p:grpSp>
        <p:nvGrpSpPr>
          <p:cNvPr id="395" name="394 Grupo"/>
          <p:cNvGrpSpPr/>
          <p:nvPr/>
        </p:nvGrpSpPr>
        <p:grpSpPr>
          <a:xfrm>
            <a:off x="9098677" y="2120119"/>
            <a:ext cx="1214446" cy="2990895"/>
            <a:chOff x="7574677" y="2120118"/>
            <a:chExt cx="1214446" cy="2990895"/>
          </a:xfrm>
        </p:grpSpPr>
        <p:grpSp>
          <p:nvGrpSpPr>
            <p:cNvPr id="379" name="23 Grupo"/>
            <p:cNvGrpSpPr/>
            <p:nvPr/>
          </p:nvGrpSpPr>
          <p:grpSpPr>
            <a:xfrm>
              <a:off x="7574677" y="2120118"/>
              <a:ext cx="1214446" cy="2990895"/>
              <a:chOff x="1285852" y="2643182"/>
              <a:chExt cx="1428760" cy="3419499"/>
            </a:xfrm>
          </p:grpSpPr>
          <p:sp>
            <p:nvSpPr>
              <p:cNvPr id="380" name="379 Rectángulo"/>
              <p:cNvSpPr/>
              <p:nvPr/>
            </p:nvSpPr>
            <p:spPr>
              <a:xfrm>
                <a:off x="1285852" y="2643182"/>
                <a:ext cx="1428760" cy="428628"/>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50" b="1" dirty="0">
                    <a:solidFill>
                      <a:schemeClr val="tx1"/>
                    </a:solidFill>
                  </a:rPr>
                  <a:t>Sistema operativo</a:t>
                </a:r>
              </a:p>
            </p:txBody>
          </p:sp>
          <p:sp>
            <p:nvSpPr>
              <p:cNvPr id="381" name="380 Rectángulo"/>
              <p:cNvSpPr/>
              <p:nvPr/>
            </p:nvSpPr>
            <p:spPr>
              <a:xfrm>
                <a:off x="1285852" y="3067375"/>
                <a:ext cx="1428760" cy="423538"/>
              </a:xfrm>
              <a:prstGeom prst="rect">
                <a:avLst/>
              </a:prstGeom>
              <a:solidFill>
                <a:schemeClr val="accent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t"/>
              <a:lstStyle/>
              <a:p>
                <a:pPr algn="ctr"/>
                <a:endParaRPr lang="es-MX" sz="1200" b="1" dirty="0">
                  <a:solidFill>
                    <a:schemeClr val="tx1"/>
                  </a:solidFill>
                </a:endParaRPr>
              </a:p>
            </p:txBody>
          </p:sp>
          <p:sp>
            <p:nvSpPr>
              <p:cNvPr id="382" name="381 Rectángulo"/>
              <p:cNvSpPr/>
              <p:nvPr/>
            </p:nvSpPr>
            <p:spPr>
              <a:xfrm>
                <a:off x="1285852" y="3490913"/>
                <a:ext cx="1428760" cy="428628"/>
              </a:xfrm>
              <a:prstGeom prst="rect">
                <a:avLst/>
              </a:prstGeom>
              <a:solidFill>
                <a:schemeClr val="tx2">
                  <a:lumMod val="60000"/>
                  <a:lumOff val="40000"/>
                </a:schemeClr>
              </a:solidFill>
              <a:ln w="38100"/>
            </p:spPr>
            <p:style>
              <a:lnRef idx="1">
                <a:schemeClr val="dk1"/>
              </a:lnRef>
              <a:fillRef idx="2">
                <a:schemeClr val="dk1"/>
              </a:fillRef>
              <a:effectRef idx="1">
                <a:schemeClr val="dk1"/>
              </a:effectRef>
              <a:fontRef idx="minor">
                <a:schemeClr val="dk1"/>
              </a:fontRef>
            </p:style>
            <p:txBody>
              <a:bodyPr rtlCol="0" anchor="t"/>
              <a:lstStyle/>
              <a:p>
                <a:pPr algn="ctr"/>
                <a:endParaRPr lang="es-MX" sz="1200" b="1" dirty="0">
                  <a:solidFill>
                    <a:schemeClr val="tx1"/>
                  </a:solidFill>
                </a:endParaRPr>
              </a:p>
            </p:txBody>
          </p:sp>
          <p:sp>
            <p:nvSpPr>
              <p:cNvPr id="383" name="382 Rectángulo"/>
              <p:cNvSpPr/>
              <p:nvPr/>
            </p:nvSpPr>
            <p:spPr>
              <a:xfrm>
                <a:off x="1285852" y="3919541"/>
                <a:ext cx="1428760" cy="428628"/>
              </a:xfrm>
              <a:prstGeom prst="rect">
                <a:avLst/>
              </a:prstGeom>
              <a:solidFill>
                <a:srgbClr val="7030A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384" name="383 Rectángulo"/>
              <p:cNvSpPr/>
              <p:nvPr/>
            </p:nvSpPr>
            <p:spPr>
              <a:xfrm>
                <a:off x="1285852" y="4348169"/>
                <a:ext cx="1428760" cy="428628"/>
              </a:xfrm>
              <a:prstGeom prst="rect">
                <a:avLst/>
              </a:prstGeom>
              <a:solidFill>
                <a:srgbClr val="92D05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385" name="384 Rectángulo"/>
              <p:cNvSpPr/>
              <p:nvPr/>
            </p:nvSpPr>
            <p:spPr>
              <a:xfrm>
                <a:off x="1285852" y="4776797"/>
                <a:ext cx="1428760" cy="428628"/>
              </a:xfrm>
              <a:prstGeom prst="rect">
                <a:avLst/>
              </a:prstGeom>
              <a:solidFill>
                <a:srgbClr val="FFC00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386" name="385 Rectángulo"/>
              <p:cNvSpPr/>
              <p:nvPr/>
            </p:nvSpPr>
            <p:spPr>
              <a:xfrm>
                <a:off x="1285852" y="5205425"/>
                <a:ext cx="1428760" cy="428628"/>
              </a:xfrm>
              <a:prstGeom prst="rect">
                <a:avLst/>
              </a:prstGeom>
              <a:solidFill>
                <a:srgbClr val="FF0000"/>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sp>
            <p:nvSpPr>
              <p:cNvPr id="387" name="386 Rectángulo"/>
              <p:cNvSpPr/>
              <p:nvPr/>
            </p:nvSpPr>
            <p:spPr>
              <a:xfrm>
                <a:off x="1285852" y="5634053"/>
                <a:ext cx="1428760" cy="428628"/>
              </a:xfrm>
              <a:prstGeom prst="rect">
                <a:avLst/>
              </a:prstGeom>
              <a:solidFill>
                <a:schemeClr val="bg1"/>
              </a:solidFill>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200" b="1" dirty="0">
                  <a:solidFill>
                    <a:schemeClr val="tx1"/>
                  </a:solidFill>
                </a:endParaRPr>
              </a:p>
            </p:txBody>
          </p:sp>
        </p:grpSp>
        <p:sp>
          <p:nvSpPr>
            <p:cNvPr id="389" name="388 Rectángulo"/>
            <p:cNvSpPr/>
            <p:nvPr/>
          </p:nvSpPr>
          <p:spPr>
            <a:xfrm>
              <a:off x="7598605" y="2736365"/>
              <a:ext cx="1170000" cy="108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0" name="389 Rectángulo"/>
            <p:cNvSpPr/>
            <p:nvPr/>
          </p:nvSpPr>
          <p:spPr>
            <a:xfrm>
              <a:off x="7598605" y="3040943"/>
              <a:ext cx="1170000" cy="180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1" name="390 Rectángulo"/>
            <p:cNvSpPr/>
            <p:nvPr/>
          </p:nvSpPr>
          <p:spPr>
            <a:xfrm>
              <a:off x="7597589" y="3340561"/>
              <a:ext cx="1170000" cy="252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2" name="391 Rectángulo"/>
            <p:cNvSpPr/>
            <p:nvPr/>
          </p:nvSpPr>
          <p:spPr>
            <a:xfrm>
              <a:off x="7597856" y="3896005"/>
              <a:ext cx="1170000" cy="72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3" name="392 Rectángulo"/>
            <p:cNvSpPr/>
            <p:nvPr/>
          </p:nvSpPr>
          <p:spPr>
            <a:xfrm>
              <a:off x="7597589" y="4165708"/>
              <a:ext cx="1170000" cy="180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4" name="393 Rectángulo"/>
            <p:cNvSpPr/>
            <p:nvPr/>
          </p:nvSpPr>
          <p:spPr>
            <a:xfrm>
              <a:off x="7600321" y="4688010"/>
              <a:ext cx="1170000" cy="36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396" name="395 CuadroTexto"/>
          <p:cNvSpPr txBox="1"/>
          <p:nvPr/>
        </p:nvSpPr>
        <p:spPr>
          <a:xfrm>
            <a:off x="6405805" y="3538840"/>
            <a:ext cx="811441" cy="461665"/>
          </a:xfrm>
          <a:prstGeom prst="rect">
            <a:avLst/>
          </a:prstGeom>
          <a:ln w="28575"/>
        </p:spPr>
        <p:style>
          <a:lnRef idx="1">
            <a:schemeClr val="dk1"/>
          </a:lnRef>
          <a:fillRef idx="2">
            <a:schemeClr val="dk1"/>
          </a:fillRef>
          <a:effectRef idx="1">
            <a:schemeClr val="dk1"/>
          </a:effectRef>
          <a:fontRef idx="minor">
            <a:schemeClr val="dk1"/>
          </a:fontRef>
        </p:style>
        <p:txBody>
          <a:bodyPr wrap="none" rtlCol="0">
            <a:spAutoFit/>
          </a:bodyPr>
          <a:lstStyle/>
          <a:p>
            <a:pPr algn="ctr"/>
            <a:r>
              <a:rPr lang="es-MX" sz="1200" b="1" dirty="0"/>
              <a:t>Procesos</a:t>
            </a:r>
          </a:p>
          <a:p>
            <a:pPr algn="ctr"/>
            <a:r>
              <a:rPr lang="es-MX" sz="1200" b="1" dirty="0"/>
              <a:t>nuevos</a:t>
            </a:r>
          </a:p>
        </p:txBody>
      </p:sp>
      <p:cxnSp>
        <p:nvCxnSpPr>
          <p:cNvPr id="397" name="396 Conector recto de flecha"/>
          <p:cNvCxnSpPr>
            <a:stCxn id="396" idx="3"/>
          </p:cNvCxnSpPr>
          <p:nvPr/>
        </p:nvCxnSpPr>
        <p:spPr>
          <a:xfrm flipV="1">
            <a:off x="7217245" y="3757858"/>
            <a:ext cx="231460" cy="1181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nvGrpSpPr>
          <p:cNvPr id="398" name="128 Grupo"/>
          <p:cNvGrpSpPr/>
          <p:nvPr/>
        </p:nvGrpSpPr>
        <p:grpSpPr>
          <a:xfrm>
            <a:off x="7449426" y="3653793"/>
            <a:ext cx="1146905" cy="180416"/>
            <a:chOff x="1505189" y="2356352"/>
            <a:chExt cx="1146905" cy="466840"/>
          </a:xfrm>
          <a:solidFill>
            <a:srgbClr val="92D050"/>
          </a:solidFill>
        </p:grpSpPr>
        <p:sp>
          <p:nvSpPr>
            <p:cNvPr id="399" name="398 Rectángulo"/>
            <p:cNvSpPr/>
            <p:nvPr/>
          </p:nvSpPr>
          <p:spPr>
            <a:xfrm flipH="1">
              <a:off x="1505189" y="2356355"/>
              <a:ext cx="144000" cy="465764"/>
            </a:xfrm>
            <a:prstGeom prst="rect">
              <a:avLst/>
            </a:prstGeom>
            <a:solidFill>
              <a:schemeClr val="bg1">
                <a:lumMod val="7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400" name="399 Rectángulo"/>
            <p:cNvSpPr/>
            <p:nvPr/>
          </p:nvSpPr>
          <p:spPr>
            <a:xfrm flipH="1">
              <a:off x="1648105" y="2357429"/>
              <a:ext cx="144000" cy="465763"/>
            </a:xfrm>
            <a:prstGeom prst="rect">
              <a:avLst/>
            </a:prstGeom>
            <a:solidFill>
              <a:schemeClr val="accent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401" name="400 Rectángulo"/>
            <p:cNvSpPr/>
            <p:nvPr/>
          </p:nvSpPr>
          <p:spPr>
            <a:xfrm flipH="1">
              <a:off x="1793475" y="2357429"/>
              <a:ext cx="144000" cy="465763"/>
            </a:xfrm>
            <a:prstGeom prst="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402" name="401 Rectángulo"/>
            <p:cNvSpPr/>
            <p:nvPr/>
          </p:nvSpPr>
          <p:spPr>
            <a:xfrm flipH="1">
              <a:off x="1934365" y="2357429"/>
              <a:ext cx="144000" cy="465763"/>
            </a:xfrm>
            <a:prstGeom prst="rect">
              <a:avLst/>
            </a:prstGeom>
            <a:solidFill>
              <a:srgbClr val="FFC000"/>
            </a:solid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403" name="402 Rectángulo"/>
            <p:cNvSpPr/>
            <p:nvPr/>
          </p:nvSpPr>
          <p:spPr>
            <a:xfrm flipH="1">
              <a:off x="2079639" y="2357429"/>
              <a:ext cx="144000" cy="465763"/>
            </a:xfrm>
            <a:prstGeom prst="rect">
              <a:avLst/>
            </a:prstGeom>
            <a:solidFill>
              <a:schemeClr val="accent1">
                <a:lumMod val="7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404" name="403 Rectángulo"/>
            <p:cNvSpPr/>
            <p:nvPr/>
          </p:nvSpPr>
          <p:spPr>
            <a:xfrm flipH="1">
              <a:off x="2226596" y="2357429"/>
              <a:ext cx="144000" cy="465763"/>
            </a:xfrm>
            <a:prstGeom prst="rect">
              <a:avLst/>
            </a:prstGeom>
            <a:solidFill>
              <a:schemeClr val="accent4">
                <a:lumMod val="75000"/>
              </a:schemeClr>
            </a:solid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405" name="404 Rectángulo"/>
            <p:cNvSpPr/>
            <p:nvPr/>
          </p:nvSpPr>
          <p:spPr>
            <a:xfrm flipH="1">
              <a:off x="2367506" y="2357429"/>
              <a:ext cx="144000" cy="465763"/>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sp>
          <p:nvSpPr>
            <p:cNvPr id="406" name="405 Rectángulo"/>
            <p:cNvSpPr/>
            <p:nvPr/>
          </p:nvSpPr>
          <p:spPr>
            <a:xfrm flipH="1">
              <a:off x="2508094" y="2356352"/>
              <a:ext cx="144000" cy="465763"/>
            </a:xfrm>
            <a:prstGeom prst="rect">
              <a:avLst/>
            </a:prstGeom>
            <a:solidFill>
              <a:srgbClr val="FF0000"/>
            </a:solidFill>
          </p:spPr>
          <p:style>
            <a:lnRef idx="1">
              <a:schemeClr val="dk1"/>
            </a:lnRef>
            <a:fillRef idx="2">
              <a:schemeClr val="dk1"/>
            </a:fillRef>
            <a:effectRef idx="1">
              <a:schemeClr val="dk1"/>
            </a:effectRef>
            <a:fontRef idx="minor">
              <a:schemeClr val="dk1"/>
            </a:fontRef>
          </p:style>
          <p:txBody>
            <a:bodyPr rtlCol="0" anchor="ctr"/>
            <a:lstStyle/>
            <a:p>
              <a:pPr algn="ctr"/>
              <a:endParaRPr lang="es-MX"/>
            </a:p>
          </p:txBody>
        </p:sp>
      </p:grpSp>
      <p:cxnSp>
        <p:nvCxnSpPr>
          <p:cNvPr id="408" name="407 Conector recto de flecha"/>
          <p:cNvCxnSpPr>
            <a:stCxn id="406" idx="1"/>
            <a:endCxn id="381" idx="1"/>
          </p:cNvCxnSpPr>
          <p:nvPr/>
        </p:nvCxnSpPr>
        <p:spPr>
          <a:xfrm flipV="1">
            <a:off x="8596331" y="2676369"/>
            <a:ext cx="502347" cy="106742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0" name="409 Conector recto de flecha"/>
          <p:cNvCxnSpPr>
            <a:stCxn id="406" idx="1"/>
            <a:endCxn id="382" idx="1"/>
          </p:cNvCxnSpPr>
          <p:nvPr/>
        </p:nvCxnSpPr>
        <p:spPr>
          <a:xfrm flipV="1">
            <a:off x="8596331" y="3049045"/>
            <a:ext cx="502347" cy="6947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2" name="411 Conector recto de flecha"/>
          <p:cNvCxnSpPr>
            <a:stCxn id="406" idx="1"/>
            <a:endCxn id="391" idx="1"/>
          </p:cNvCxnSpPr>
          <p:nvPr/>
        </p:nvCxnSpPr>
        <p:spPr>
          <a:xfrm flipV="1">
            <a:off x="8596331" y="3466561"/>
            <a:ext cx="525259" cy="27723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4" name="413 Conector recto de flecha"/>
          <p:cNvCxnSpPr>
            <a:stCxn id="406" idx="1"/>
            <a:endCxn id="384" idx="1"/>
          </p:cNvCxnSpPr>
          <p:nvPr/>
        </p:nvCxnSpPr>
        <p:spPr>
          <a:xfrm>
            <a:off x="8596331" y="3743794"/>
            <a:ext cx="502347" cy="5505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6" name="415 Conector recto de flecha"/>
          <p:cNvCxnSpPr>
            <a:stCxn id="406" idx="1"/>
            <a:endCxn id="385" idx="1"/>
          </p:cNvCxnSpPr>
          <p:nvPr/>
        </p:nvCxnSpPr>
        <p:spPr>
          <a:xfrm>
            <a:off x="8596331" y="3743793"/>
            <a:ext cx="502347" cy="4299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18" name="417 Conector recto de flecha"/>
          <p:cNvCxnSpPr>
            <a:stCxn id="406" idx="1"/>
            <a:endCxn id="386" idx="1"/>
          </p:cNvCxnSpPr>
          <p:nvPr/>
        </p:nvCxnSpPr>
        <p:spPr>
          <a:xfrm>
            <a:off x="8596331" y="3743794"/>
            <a:ext cx="502347" cy="80486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20" name="419 Conector recto de flecha"/>
          <p:cNvCxnSpPr>
            <a:stCxn id="406" idx="1"/>
            <a:endCxn id="387" idx="1"/>
          </p:cNvCxnSpPr>
          <p:nvPr/>
        </p:nvCxnSpPr>
        <p:spPr>
          <a:xfrm>
            <a:off x="8596331" y="3743794"/>
            <a:ext cx="502347" cy="117976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14600" y="-731044"/>
            <a:ext cx="7772400" cy="1462088"/>
          </a:xfrm>
        </p:spPr>
        <p:txBody>
          <a:bodyPr/>
          <a:lstStyle/>
          <a:p>
            <a:r>
              <a:rPr lang="is-IS" sz="2400"/>
              <a:t>PARTICIONES DINAMICAS</a:t>
            </a:r>
            <a:endParaRPr lang="es-ES" sz="2400" dirty="0">
              <a:solidFill>
                <a:srgbClr val="FF0000"/>
              </a:solidFill>
            </a:endParaRPr>
          </a:p>
        </p:txBody>
      </p:sp>
      <p:sp>
        <p:nvSpPr>
          <p:cNvPr id="4" name="Rectangle 3"/>
          <p:cNvSpPr txBox="1">
            <a:spLocks noChangeArrowheads="1"/>
          </p:cNvSpPr>
          <p:nvPr/>
        </p:nvSpPr>
        <p:spPr bwMode="auto">
          <a:xfrm>
            <a:off x="1752601" y="1143002"/>
            <a:ext cx="8455025" cy="25907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normAutofit fontScale="85000" lnSpcReduction="20000"/>
          </a:bodyPr>
          <a:lstStyle>
            <a:lvl1pPr marL="0" indent="0" algn="ctr" rtl="0" eaLnBrk="0" fontAlgn="base" hangingPunct="0">
              <a:spcBef>
                <a:spcPct val="20000"/>
              </a:spcBef>
              <a:spcAft>
                <a:spcPct val="0"/>
              </a:spcAft>
              <a:buClr>
                <a:schemeClr val="folHlink"/>
              </a:buClr>
              <a:buSzPct val="60000"/>
              <a:buFont typeface="Wingdings" pitchFamily="2" charset="2"/>
              <a:buNone/>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charset="0"/>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charset="0"/>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charset="0"/>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charset="0"/>
              <a:buChar char="n"/>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9pPr>
          </a:lstStyle>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particiones contiguas de tamaño variable.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una estructura de datos suficiente </a:t>
            </a:r>
          </a:p>
          <a:p>
            <a:pPr marL="1600200" lvl="2" indent="-457200" eaLnBrk="1" hangingPunct="1">
              <a:lnSpc>
                <a:spcPct val="90000"/>
              </a:lnSpc>
              <a:buFont typeface="Arial"/>
              <a:buChar char="•"/>
            </a:pPr>
            <a:r>
              <a:rPr lang="es-ES_tradnl" dirty="0">
                <a:latin typeface="Tahoma" charset="0"/>
                <a:ea typeface="ＭＳ Ｐゴシック" charset="0"/>
                <a:cs typeface="ＭＳ Ｐゴシック" charset="0"/>
              </a:rPr>
              <a:t>dónde había huecos disponibles de RAM </a:t>
            </a:r>
          </a:p>
          <a:p>
            <a:pPr marL="1600200" lvl="2" indent="-457200" eaLnBrk="1" hangingPunct="1">
              <a:lnSpc>
                <a:spcPct val="90000"/>
              </a:lnSpc>
              <a:buFont typeface="Arial"/>
              <a:buChar char="•"/>
            </a:pPr>
            <a:r>
              <a:rPr lang="es-ES_tradnl" dirty="0">
                <a:latin typeface="Tahoma" charset="0"/>
                <a:ea typeface="ＭＳ Ｐゴシック" charset="0"/>
                <a:cs typeface="ＭＳ Ｐゴシック" charset="0"/>
              </a:rPr>
              <a:t>dónde había particiones ocupadas por programas en ejecución.</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 Así, cuando un programa requería ser cargado a RAM,</a:t>
            </a:r>
          </a:p>
          <a:p>
            <a:pPr marL="1600200" lvl="2" indent="-457200" eaLnBrk="1" hangingPunct="1">
              <a:lnSpc>
                <a:spcPct val="90000"/>
              </a:lnSpc>
              <a:buFont typeface="Arial"/>
              <a:buChar char="•"/>
            </a:pPr>
            <a:r>
              <a:rPr lang="es-ES_tradnl" dirty="0">
                <a:latin typeface="Tahoma" charset="0"/>
                <a:ea typeface="ＭＳ Ｐゴシック" charset="0"/>
                <a:cs typeface="ＭＳ Ｐゴシック" charset="0"/>
              </a:rPr>
              <a:t> el sistema analizaba los huecos para saber si había alguno de tamaño suficiente para el programa entrante,</a:t>
            </a:r>
          </a:p>
          <a:p>
            <a:pPr marL="1600200" lvl="2" indent="-457200" eaLnBrk="1" hangingPunct="1">
              <a:lnSpc>
                <a:spcPct val="90000"/>
              </a:lnSpc>
              <a:buFont typeface="Arial"/>
              <a:buChar char="•"/>
            </a:pPr>
            <a:r>
              <a:rPr lang="es-ES_tradnl" dirty="0">
                <a:latin typeface="Tahoma" charset="0"/>
                <a:ea typeface="ＭＳ Ｐゴシック" charset="0"/>
                <a:cs typeface="ＭＳ Ｐゴシック" charset="0"/>
              </a:rPr>
              <a:t> si era así, le asignaba el espacio.</a:t>
            </a:r>
          </a:p>
          <a:p>
            <a:pPr marL="1600200" lvl="2" indent="-457200" eaLnBrk="1" hangingPunct="1">
              <a:lnSpc>
                <a:spcPct val="90000"/>
              </a:lnSpc>
              <a:buFont typeface="Arial"/>
              <a:buChar char="•"/>
            </a:pPr>
            <a:r>
              <a:rPr lang="es-ES_tradnl" dirty="0">
                <a:latin typeface="Tahoma" charset="0"/>
                <a:ea typeface="ＭＳ Ｐゴシック" charset="0"/>
                <a:cs typeface="ＭＳ Ｐゴシック" charset="0"/>
              </a:rPr>
              <a:t> Si no, intentaba relocalizar los programas existentes .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Fragmentación externa</a:t>
            </a:r>
          </a:p>
          <a:p>
            <a:pPr marL="457200" indent="-457200" eaLnBrk="1" hangingPunct="1">
              <a:lnSpc>
                <a:spcPct val="90000"/>
              </a:lnSpc>
              <a:buFont typeface="Arial"/>
              <a:buChar char="•"/>
            </a:pPr>
            <a:endParaRPr lang="es-ES_tradnl" dirty="0">
              <a:latin typeface="Tahoma" charset="0"/>
              <a:ea typeface="ＭＳ Ｐゴシック" charset="0"/>
              <a:cs typeface="ＭＳ Ｐゴシック" charset="0"/>
            </a:endParaRPr>
          </a:p>
          <a:p>
            <a:pPr marL="457200" indent="-457200" eaLnBrk="1" hangingPunct="1">
              <a:lnSpc>
                <a:spcPct val="90000"/>
              </a:lnSpc>
              <a:buFont typeface="Arial"/>
              <a:buChar char="•"/>
            </a:pPr>
            <a:endParaRPr lang="es-PR" dirty="0">
              <a:latin typeface="Tahoma" charset="0"/>
              <a:ea typeface="ＭＳ Ｐゴシック" charset="0"/>
              <a:cs typeface="ＭＳ Ｐゴシック" charset="0"/>
            </a:endParaRPr>
          </a:p>
        </p:txBody>
      </p:sp>
      <p:pic>
        <p:nvPicPr>
          <p:cNvPr id="5" name="Imagen 4"/>
          <p:cNvPicPr>
            <a:picLocks noChangeAspect="1"/>
          </p:cNvPicPr>
          <p:nvPr/>
        </p:nvPicPr>
        <p:blipFill>
          <a:blip r:embed="rId2"/>
          <a:stretch>
            <a:fillRect/>
          </a:stretch>
        </p:blipFill>
        <p:spPr>
          <a:xfrm>
            <a:off x="1828800" y="3733800"/>
            <a:ext cx="8445500" cy="3454400"/>
          </a:xfrm>
          <a:prstGeom prst="rect">
            <a:avLst/>
          </a:prstGeom>
        </p:spPr>
      </p:pic>
    </p:spTree>
    <p:extLst>
      <p:ext uri="{BB962C8B-B14F-4D97-AF65-F5344CB8AC3E}">
        <p14:creationId xmlns:p14="http://schemas.microsoft.com/office/powerpoint/2010/main" val="502573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204 Rectángulo"/>
          <p:cNvSpPr/>
          <p:nvPr/>
        </p:nvSpPr>
        <p:spPr>
          <a:xfrm>
            <a:off x="3491032" y="2285992"/>
            <a:ext cx="360000" cy="877408"/>
          </a:xfrm>
          <a:prstGeom prst="rect">
            <a:avLst/>
          </a:prstGeom>
          <a:solidFill>
            <a:schemeClr val="accent6">
              <a:lumMod val="40000"/>
              <a:lumOff val="6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a:t>
            </a:r>
          </a:p>
        </p:txBody>
      </p:sp>
      <p:sp>
        <p:nvSpPr>
          <p:cNvPr id="255" name="254 Rectángulo"/>
          <p:cNvSpPr/>
          <p:nvPr/>
        </p:nvSpPr>
        <p:spPr>
          <a:xfrm>
            <a:off x="3489292" y="3160888"/>
            <a:ext cx="360000" cy="209518"/>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56" name="255 Rectángulo"/>
          <p:cNvSpPr/>
          <p:nvPr/>
        </p:nvSpPr>
        <p:spPr>
          <a:xfrm>
            <a:off x="3490362" y="335696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57" name="256 Rectángulo"/>
          <p:cNvSpPr/>
          <p:nvPr/>
        </p:nvSpPr>
        <p:spPr>
          <a:xfrm>
            <a:off x="3490362" y="356449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0" name="229 Rectángulo"/>
          <p:cNvSpPr/>
          <p:nvPr/>
        </p:nvSpPr>
        <p:spPr>
          <a:xfrm>
            <a:off x="4024298" y="2280281"/>
            <a:ext cx="360000" cy="830866"/>
          </a:xfrm>
          <a:prstGeom prst="rect">
            <a:avLst/>
          </a:prstGeom>
          <a:solidFill>
            <a:schemeClr val="accent6">
              <a:lumMod val="40000"/>
              <a:lumOff val="6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a:t>
            </a:r>
          </a:p>
        </p:txBody>
      </p:sp>
      <p:sp>
        <p:nvSpPr>
          <p:cNvPr id="231" name="230 Rectángulo"/>
          <p:cNvSpPr/>
          <p:nvPr/>
        </p:nvSpPr>
        <p:spPr>
          <a:xfrm>
            <a:off x="4024298" y="3111148"/>
            <a:ext cx="360000" cy="209518"/>
          </a:xfrm>
          <a:prstGeom prst="rect">
            <a:avLst/>
          </a:prstGeom>
          <a:solidFill>
            <a:schemeClr val="bg1"/>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F</a:t>
            </a:r>
          </a:p>
        </p:txBody>
      </p:sp>
      <p:sp>
        <p:nvSpPr>
          <p:cNvPr id="253" name="252 Rectángulo"/>
          <p:cNvSpPr/>
          <p:nvPr/>
        </p:nvSpPr>
        <p:spPr>
          <a:xfrm>
            <a:off x="4026032" y="330722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54" name="253 Rectángulo"/>
          <p:cNvSpPr/>
          <p:nvPr/>
        </p:nvSpPr>
        <p:spPr>
          <a:xfrm>
            <a:off x="4026032" y="351475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99" name="198 Rectángulo"/>
          <p:cNvSpPr/>
          <p:nvPr/>
        </p:nvSpPr>
        <p:spPr>
          <a:xfrm>
            <a:off x="2881290" y="2272545"/>
            <a:ext cx="360000" cy="890855"/>
          </a:xfrm>
          <a:prstGeom prst="rect">
            <a:avLst/>
          </a:prstGeom>
          <a:solidFill>
            <a:schemeClr val="accent6">
              <a:lumMod val="40000"/>
              <a:lumOff val="6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a:t>
            </a:r>
          </a:p>
        </p:txBody>
      </p:sp>
      <p:sp>
        <p:nvSpPr>
          <p:cNvPr id="197" name="196 Rectángulo"/>
          <p:cNvSpPr/>
          <p:nvPr/>
        </p:nvSpPr>
        <p:spPr>
          <a:xfrm>
            <a:off x="2881290" y="3163400"/>
            <a:ext cx="360000" cy="566586"/>
          </a:xfrm>
          <a:prstGeom prst="rect">
            <a:avLst/>
          </a:prstGeom>
          <a:solidFill>
            <a:srgbClr val="92D05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a:t>
            </a:r>
          </a:p>
        </p:txBody>
      </p:sp>
      <p:sp>
        <p:nvSpPr>
          <p:cNvPr id="106" name="105 Rectángulo"/>
          <p:cNvSpPr/>
          <p:nvPr/>
        </p:nvSpPr>
        <p:spPr>
          <a:xfrm>
            <a:off x="2884122" y="3722248"/>
            <a:ext cx="360000" cy="412553"/>
          </a:xfrm>
          <a:prstGeom prst="rect">
            <a:avLst/>
          </a:prstGeom>
          <a:solidFill>
            <a:srgbClr val="FFC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a:t>
            </a:r>
          </a:p>
        </p:txBody>
      </p:sp>
      <p:sp>
        <p:nvSpPr>
          <p:cNvPr id="196" name="195 Rectángulo"/>
          <p:cNvSpPr/>
          <p:nvPr/>
        </p:nvSpPr>
        <p:spPr>
          <a:xfrm>
            <a:off x="2884108" y="4134801"/>
            <a:ext cx="360000" cy="209519"/>
          </a:xfrm>
          <a:prstGeom prst="rect">
            <a:avLst/>
          </a:prstGeom>
          <a:solidFill>
            <a:schemeClr val="tx2">
              <a:lumMod val="60000"/>
              <a:lumOff val="4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D</a:t>
            </a:r>
          </a:p>
        </p:txBody>
      </p:sp>
      <p:sp>
        <p:nvSpPr>
          <p:cNvPr id="195" name="194 Rectángulo"/>
          <p:cNvSpPr/>
          <p:nvPr/>
        </p:nvSpPr>
        <p:spPr>
          <a:xfrm>
            <a:off x="2884122" y="4343521"/>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9" name="8 Rectángulo"/>
          <p:cNvSpPr/>
          <p:nvPr/>
        </p:nvSpPr>
        <p:spPr>
          <a:xfrm>
            <a:off x="2390877" y="224554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0" name="9 Rectángulo"/>
          <p:cNvSpPr/>
          <p:nvPr/>
        </p:nvSpPr>
        <p:spPr>
          <a:xfrm>
            <a:off x="2390877" y="244732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1" name="10 Rectángulo"/>
          <p:cNvSpPr/>
          <p:nvPr/>
        </p:nvSpPr>
        <p:spPr>
          <a:xfrm>
            <a:off x="2390877" y="265486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2" name="11 Rectángulo"/>
          <p:cNvSpPr/>
          <p:nvPr/>
        </p:nvSpPr>
        <p:spPr>
          <a:xfrm>
            <a:off x="2390877" y="2864379"/>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3" name="12 Rectángulo"/>
          <p:cNvSpPr/>
          <p:nvPr/>
        </p:nvSpPr>
        <p:spPr>
          <a:xfrm>
            <a:off x="2390877" y="306421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4" name="13 Rectángulo"/>
          <p:cNvSpPr/>
          <p:nvPr/>
        </p:nvSpPr>
        <p:spPr>
          <a:xfrm>
            <a:off x="2390877" y="326599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5" name="14 Rectángulo"/>
          <p:cNvSpPr/>
          <p:nvPr/>
        </p:nvSpPr>
        <p:spPr>
          <a:xfrm>
            <a:off x="2390877" y="3473534"/>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6" name="15 Rectángulo"/>
          <p:cNvSpPr/>
          <p:nvPr/>
        </p:nvSpPr>
        <p:spPr>
          <a:xfrm>
            <a:off x="2390877" y="368305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7" name="16 Rectángulo"/>
          <p:cNvSpPr/>
          <p:nvPr/>
        </p:nvSpPr>
        <p:spPr>
          <a:xfrm>
            <a:off x="2390877" y="3892572"/>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8" name="17 Rectángulo"/>
          <p:cNvSpPr/>
          <p:nvPr/>
        </p:nvSpPr>
        <p:spPr>
          <a:xfrm>
            <a:off x="2390877" y="4094352"/>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9" name="18 Rectángulo"/>
          <p:cNvSpPr/>
          <p:nvPr/>
        </p:nvSpPr>
        <p:spPr>
          <a:xfrm>
            <a:off x="2390877" y="4301889"/>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0" name="19 Rectángulo"/>
          <p:cNvSpPr/>
          <p:nvPr/>
        </p:nvSpPr>
        <p:spPr>
          <a:xfrm>
            <a:off x="2390877" y="451140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1" name="20 Rectángulo"/>
          <p:cNvSpPr/>
          <p:nvPr/>
        </p:nvSpPr>
        <p:spPr>
          <a:xfrm>
            <a:off x="2390877" y="471953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2" name="21 Rectángulo"/>
          <p:cNvSpPr/>
          <p:nvPr/>
        </p:nvSpPr>
        <p:spPr>
          <a:xfrm>
            <a:off x="2390877" y="492521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3" name="22 Rectángulo"/>
          <p:cNvSpPr/>
          <p:nvPr/>
        </p:nvSpPr>
        <p:spPr>
          <a:xfrm>
            <a:off x="2390877" y="5132755"/>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10" name="109 Rectángulo"/>
          <p:cNvSpPr/>
          <p:nvPr/>
        </p:nvSpPr>
        <p:spPr>
          <a:xfrm>
            <a:off x="2884122" y="455060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11" name="110 Rectángulo"/>
          <p:cNvSpPr/>
          <p:nvPr/>
        </p:nvSpPr>
        <p:spPr>
          <a:xfrm>
            <a:off x="2884122" y="4750441"/>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12" name="111 Rectángulo"/>
          <p:cNvSpPr/>
          <p:nvPr/>
        </p:nvSpPr>
        <p:spPr>
          <a:xfrm>
            <a:off x="2884122" y="4952221"/>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13" name="112 Rectángulo"/>
          <p:cNvSpPr/>
          <p:nvPr/>
        </p:nvSpPr>
        <p:spPr>
          <a:xfrm>
            <a:off x="2884122" y="515975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07" name="206 Rectángulo"/>
          <p:cNvSpPr/>
          <p:nvPr/>
        </p:nvSpPr>
        <p:spPr>
          <a:xfrm>
            <a:off x="3489292" y="3735695"/>
            <a:ext cx="360000" cy="412553"/>
          </a:xfrm>
          <a:prstGeom prst="rect">
            <a:avLst/>
          </a:prstGeom>
          <a:solidFill>
            <a:srgbClr val="FFC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a:t>
            </a:r>
          </a:p>
        </p:txBody>
      </p:sp>
      <p:sp>
        <p:nvSpPr>
          <p:cNvPr id="208" name="207 Rectángulo"/>
          <p:cNvSpPr/>
          <p:nvPr/>
        </p:nvSpPr>
        <p:spPr>
          <a:xfrm>
            <a:off x="3493850" y="414824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09" name="208 Rectángulo"/>
          <p:cNvSpPr/>
          <p:nvPr/>
        </p:nvSpPr>
        <p:spPr>
          <a:xfrm>
            <a:off x="3493864" y="4356968"/>
            <a:ext cx="360000" cy="616439"/>
          </a:xfrm>
          <a:prstGeom prst="rect">
            <a:avLst/>
          </a:prstGeom>
          <a:solidFill>
            <a:srgbClr val="FF0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E</a:t>
            </a:r>
          </a:p>
        </p:txBody>
      </p:sp>
      <p:sp>
        <p:nvSpPr>
          <p:cNvPr id="212" name="211 Rectángulo"/>
          <p:cNvSpPr/>
          <p:nvPr/>
        </p:nvSpPr>
        <p:spPr>
          <a:xfrm>
            <a:off x="3493864" y="496566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13" name="212 Rectángulo"/>
          <p:cNvSpPr/>
          <p:nvPr/>
        </p:nvSpPr>
        <p:spPr>
          <a:xfrm>
            <a:off x="3493864" y="5173205"/>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2" name="231 Rectángulo"/>
          <p:cNvSpPr/>
          <p:nvPr/>
        </p:nvSpPr>
        <p:spPr>
          <a:xfrm>
            <a:off x="4023222" y="3722242"/>
            <a:ext cx="360000" cy="420295"/>
          </a:xfrm>
          <a:prstGeom prst="rect">
            <a:avLst/>
          </a:prstGeom>
          <a:solidFill>
            <a:srgbClr val="FFC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a:t>
            </a:r>
          </a:p>
        </p:txBody>
      </p:sp>
      <p:sp>
        <p:nvSpPr>
          <p:cNvPr id="233" name="232 Rectángulo"/>
          <p:cNvSpPr/>
          <p:nvPr/>
        </p:nvSpPr>
        <p:spPr>
          <a:xfrm>
            <a:off x="4023208" y="414253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4" name="233 Rectángulo"/>
          <p:cNvSpPr/>
          <p:nvPr/>
        </p:nvSpPr>
        <p:spPr>
          <a:xfrm>
            <a:off x="4023222" y="4351257"/>
            <a:ext cx="360000" cy="616439"/>
          </a:xfrm>
          <a:prstGeom prst="rect">
            <a:avLst/>
          </a:prstGeom>
          <a:solidFill>
            <a:srgbClr val="FF0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E</a:t>
            </a:r>
          </a:p>
        </p:txBody>
      </p:sp>
      <p:sp>
        <p:nvSpPr>
          <p:cNvPr id="235" name="234 Rectángulo"/>
          <p:cNvSpPr/>
          <p:nvPr/>
        </p:nvSpPr>
        <p:spPr>
          <a:xfrm>
            <a:off x="4023222" y="495995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6" name="235 Rectángulo"/>
          <p:cNvSpPr/>
          <p:nvPr/>
        </p:nvSpPr>
        <p:spPr>
          <a:xfrm>
            <a:off x="4023222" y="5167494"/>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 name="1 Rectángulo"/>
          <p:cNvSpPr/>
          <p:nvPr/>
        </p:nvSpPr>
        <p:spPr>
          <a:xfrm>
            <a:off x="3238480" y="744004"/>
            <a:ext cx="6643734" cy="369332"/>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s-MX" b="1" dirty="0"/>
              <a:t>Asignación de memoria contigua</a:t>
            </a:r>
            <a:endParaRPr lang="es-MX" dirty="0"/>
          </a:p>
        </p:txBody>
      </p:sp>
      <p:sp>
        <p:nvSpPr>
          <p:cNvPr id="3" name="2 Rectángulo"/>
          <p:cNvSpPr/>
          <p:nvPr/>
        </p:nvSpPr>
        <p:spPr>
          <a:xfrm>
            <a:off x="2039528" y="1285861"/>
            <a:ext cx="4342224"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Particiones dinámicas</a:t>
            </a:r>
          </a:p>
        </p:txBody>
      </p:sp>
      <p:grpSp>
        <p:nvGrpSpPr>
          <p:cNvPr id="289" name="288 Grupo"/>
          <p:cNvGrpSpPr/>
          <p:nvPr/>
        </p:nvGrpSpPr>
        <p:grpSpPr>
          <a:xfrm>
            <a:off x="2092662" y="2284732"/>
            <a:ext cx="360000" cy="3096731"/>
            <a:chOff x="6286512" y="2850581"/>
            <a:chExt cx="360000" cy="3096731"/>
          </a:xfrm>
          <a:noFill/>
        </p:grpSpPr>
        <p:sp>
          <p:nvSpPr>
            <p:cNvPr id="290" name="289 Rectángulo"/>
            <p:cNvSpPr/>
            <p:nvPr/>
          </p:nvSpPr>
          <p:spPr>
            <a:xfrm>
              <a:off x="6286512" y="2850581"/>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91" name="290 Rectángulo"/>
            <p:cNvSpPr/>
            <p:nvPr/>
          </p:nvSpPr>
          <p:spPr>
            <a:xfrm>
              <a:off x="6286512" y="3052361"/>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92" name="291 Rectángulo"/>
            <p:cNvSpPr/>
            <p:nvPr/>
          </p:nvSpPr>
          <p:spPr>
            <a:xfrm>
              <a:off x="6286512" y="3259898"/>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93" name="292 Rectángulo"/>
            <p:cNvSpPr/>
            <p:nvPr/>
          </p:nvSpPr>
          <p:spPr>
            <a:xfrm>
              <a:off x="6286512" y="3469417"/>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294" name="293 Rectángulo"/>
            <p:cNvSpPr/>
            <p:nvPr/>
          </p:nvSpPr>
          <p:spPr>
            <a:xfrm>
              <a:off x="6286512" y="3669255"/>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295" name="294 Rectángulo"/>
            <p:cNvSpPr/>
            <p:nvPr/>
          </p:nvSpPr>
          <p:spPr>
            <a:xfrm>
              <a:off x="6286512" y="3871035"/>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296" name="295 Rectángulo"/>
            <p:cNvSpPr/>
            <p:nvPr/>
          </p:nvSpPr>
          <p:spPr>
            <a:xfrm>
              <a:off x="6286512" y="4078572"/>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297" name="296 Rectángulo"/>
            <p:cNvSpPr/>
            <p:nvPr/>
          </p:nvSpPr>
          <p:spPr>
            <a:xfrm>
              <a:off x="6286512" y="4288091"/>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298" name="297 Rectángulo"/>
            <p:cNvSpPr/>
            <p:nvPr/>
          </p:nvSpPr>
          <p:spPr>
            <a:xfrm>
              <a:off x="6286512" y="4497610"/>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299" name="298 Rectángulo"/>
            <p:cNvSpPr/>
            <p:nvPr/>
          </p:nvSpPr>
          <p:spPr>
            <a:xfrm>
              <a:off x="6286512" y="4699390"/>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300" name="299 Rectángulo"/>
            <p:cNvSpPr/>
            <p:nvPr/>
          </p:nvSpPr>
          <p:spPr>
            <a:xfrm>
              <a:off x="6286512" y="4906927"/>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301" name="300 Rectángulo"/>
            <p:cNvSpPr/>
            <p:nvPr/>
          </p:nvSpPr>
          <p:spPr>
            <a:xfrm>
              <a:off x="6286512" y="5116446"/>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302" name="301 Rectángulo"/>
            <p:cNvSpPr/>
            <p:nvPr/>
          </p:nvSpPr>
          <p:spPr>
            <a:xfrm>
              <a:off x="6286512" y="5328476"/>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303" name="302 Rectángulo"/>
            <p:cNvSpPr/>
            <p:nvPr/>
          </p:nvSpPr>
          <p:spPr>
            <a:xfrm>
              <a:off x="6286512" y="5530256"/>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304" name="303 Rectángulo"/>
            <p:cNvSpPr/>
            <p:nvPr/>
          </p:nvSpPr>
          <p:spPr>
            <a:xfrm>
              <a:off x="6286512" y="5737793"/>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grpSp>
      <p:sp>
        <p:nvSpPr>
          <p:cNvPr id="305" name="304 Rectángulo"/>
          <p:cNvSpPr/>
          <p:nvPr/>
        </p:nvSpPr>
        <p:spPr>
          <a:xfrm>
            <a:off x="6021752" y="2662599"/>
            <a:ext cx="360000" cy="209519"/>
          </a:xfrm>
          <a:prstGeom prst="rect">
            <a:avLst/>
          </a:prstGeom>
          <a:solidFill>
            <a:schemeClr val="accent4">
              <a:lumMod val="60000"/>
              <a:lumOff val="4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306" name="305 Rectángulo"/>
          <p:cNvSpPr/>
          <p:nvPr/>
        </p:nvSpPr>
        <p:spPr>
          <a:xfrm>
            <a:off x="6021752" y="2864379"/>
            <a:ext cx="360000" cy="209519"/>
          </a:xfrm>
          <a:prstGeom prst="rect">
            <a:avLst/>
          </a:prstGeom>
          <a:solidFill>
            <a:schemeClr val="accent4">
              <a:lumMod val="60000"/>
              <a:lumOff val="4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307" name="306 Rectángulo"/>
          <p:cNvSpPr/>
          <p:nvPr/>
        </p:nvSpPr>
        <p:spPr>
          <a:xfrm>
            <a:off x="6021752" y="3071916"/>
            <a:ext cx="360000" cy="209519"/>
          </a:xfrm>
          <a:prstGeom prst="rect">
            <a:avLst/>
          </a:prstGeom>
          <a:solidFill>
            <a:schemeClr val="accent4">
              <a:lumMod val="60000"/>
              <a:lumOff val="4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308" name="307 CuadroTexto"/>
          <p:cNvSpPr txBox="1"/>
          <p:nvPr/>
        </p:nvSpPr>
        <p:spPr>
          <a:xfrm>
            <a:off x="6062410" y="2372670"/>
            <a:ext cx="274434" cy="253916"/>
          </a:xfrm>
          <a:prstGeom prst="rect">
            <a:avLst/>
          </a:prstGeom>
          <a:noFill/>
        </p:spPr>
        <p:txBody>
          <a:bodyPr wrap="none" rtlCol="0">
            <a:spAutoFit/>
          </a:bodyPr>
          <a:lstStyle/>
          <a:p>
            <a:r>
              <a:rPr lang="es-MX" sz="1050" b="1" dirty="0"/>
              <a:t>G</a:t>
            </a:r>
          </a:p>
        </p:txBody>
      </p:sp>
      <p:cxnSp>
        <p:nvCxnSpPr>
          <p:cNvPr id="310" name="309 Conector recto de flecha"/>
          <p:cNvCxnSpPr>
            <a:stCxn id="306" idx="1"/>
          </p:cNvCxnSpPr>
          <p:nvPr/>
        </p:nvCxnSpPr>
        <p:spPr>
          <a:xfrm rot="10800000" flipV="1">
            <a:off x="4386032" y="2969138"/>
            <a:ext cx="1635720" cy="54358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12" name="311 Conector recto de flecha"/>
          <p:cNvCxnSpPr>
            <a:stCxn id="306" idx="1"/>
          </p:cNvCxnSpPr>
          <p:nvPr/>
        </p:nvCxnSpPr>
        <p:spPr>
          <a:xfrm rot="10800000" flipV="1">
            <a:off x="4386032" y="2969138"/>
            <a:ext cx="1635720" cy="13327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15" name="314 Conector recto de flecha"/>
          <p:cNvCxnSpPr>
            <a:stCxn id="306" idx="1"/>
          </p:cNvCxnSpPr>
          <p:nvPr/>
        </p:nvCxnSpPr>
        <p:spPr>
          <a:xfrm rot="10800000" flipV="1">
            <a:off x="4383208" y="2969138"/>
            <a:ext cx="1638544" cy="215668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16" name="315 Rectángulo"/>
          <p:cNvSpPr/>
          <p:nvPr/>
        </p:nvSpPr>
        <p:spPr>
          <a:xfrm>
            <a:off x="7381884" y="2000240"/>
            <a:ext cx="2214578" cy="3381222"/>
          </a:xfrm>
          <a:prstGeom prst="rect">
            <a:avLst/>
          </a:prstGeom>
        </p:spPr>
        <p:style>
          <a:lnRef idx="1">
            <a:schemeClr val="accent1"/>
          </a:lnRef>
          <a:fillRef idx="2">
            <a:schemeClr val="accent1"/>
          </a:fillRef>
          <a:effectRef idx="1">
            <a:schemeClr val="accent1"/>
          </a:effectRef>
          <a:fontRef idx="minor">
            <a:schemeClr val="dk1"/>
          </a:fontRef>
        </p:style>
        <p:txBody>
          <a:bodyPr rtlCol="0" anchor="t"/>
          <a:lstStyle/>
          <a:p>
            <a:pPr algn="ctr"/>
            <a:r>
              <a:rPr lang="es-MX" b="1" dirty="0"/>
              <a:t>Memoria Virtual</a:t>
            </a:r>
          </a:p>
        </p:txBody>
      </p:sp>
      <p:sp>
        <p:nvSpPr>
          <p:cNvPr id="323" name="322 Flecha derecha"/>
          <p:cNvSpPr/>
          <p:nvPr/>
        </p:nvSpPr>
        <p:spPr>
          <a:xfrm rot="10800000">
            <a:off x="6664694" y="2864378"/>
            <a:ext cx="502876" cy="199838"/>
          </a:xfrm>
          <a:prstGeom prst="rightArrow">
            <a:avLst/>
          </a:prstGeom>
          <a:solidFill>
            <a:schemeClr val="tx2"/>
          </a:solidFill>
        </p:spPr>
        <p:style>
          <a:lnRef idx="2">
            <a:schemeClr val="dk1"/>
          </a:lnRef>
          <a:fillRef idx="1">
            <a:schemeClr val="lt1"/>
          </a:fillRef>
          <a:effectRef idx="0">
            <a:schemeClr val="dk1"/>
          </a:effectRef>
          <a:fontRef idx="minor">
            <a:schemeClr val="dk1"/>
          </a:fontRef>
        </p:style>
        <p:txBody>
          <a:bodyPr rtlCol="0" anchor="ctr"/>
          <a:lstStyle/>
          <a:p>
            <a:pPr algn="ctr"/>
            <a:endParaRPr lang="es-MX"/>
          </a:p>
        </p:txBody>
      </p:sp>
      <p:sp>
        <p:nvSpPr>
          <p:cNvPr id="324" name="323 Flecha derecha"/>
          <p:cNvSpPr/>
          <p:nvPr/>
        </p:nvSpPr>
        <p:spPr>
          <a:xfrm>
            <a:off x="4886087" y="5057971"/>
            <a:ext cx="1857388" cy="207537"/>
          </a:xfrm>
          <a:prstGeom prst="rightArrow">
            <a:avLst/>
          </a:prstGeom>
          <a:solidFill>
            <a:schemeClr val="tx2"/>
          </a:solidFill>
        </p:spPr>
        <p:style>
          <a:lnRef idx="2">
            <a:schemeClr val="dk1"/>
          </a:lnRef>
          <a:fillRef idx="1">
            <a:schemeClr val="lt1"/>
          </a:fillRef>
          <a:effectRef idx="0">
            <a:schemeClr val="dk1"/>
          </a:effectRef>
          <a:fontRef idx="minor">
            <a:schemeClr val="dk1"/>
          </a:fontRef>
        </p:style>
        <p:txBody>
          <a:bodyPr rtlCol="0" anchor="ctr"/>
          <a:lstStyle/>
          <a:p>
            <a:pPr algn="ctr"/>
            <a:endParaRPr lang="es-MX"/>
          </a:p>
        </p:txBody>
      </p:sp>
      <p:sp>
        <p:nvSpPr>
          <p:cNvPr id="325" name="324 CuadroTexto"/>
          <p:cNvSpPr txBox="1"/>
          <p:nvPr/>
        </p:nvSpPr>
        <p:spPr>
          <a:xfrm>
            <a:off x="5301752" y="4692860"/>
            <a:ext cx="1080000" cy="307777"/>
          </a:xfrm>
          <a:prstGeom prst="rect">
            <a:avLst/>
          </a:prstGeom>
          <a:noFill/>
        </p:spPr>
        <p:txBody>
          <a:bodyPr wrap="square" rtlCol="0">
            <a:spAutoFit/>
          </a:bodyPr>
          <a:lstStyle/>
          <a:p>
            <a:r>
              <a:rPr lang="es-MX" sz="1400" b="1" dirty="0"/>
              <a:t>A, F, C o E</a:t>
            </a:r>
          </a:p>
        </p:txBody>
      </p:sp>
      <p:sp>
        <p:nvSpPr>
          <p:cNvPr id="326" name="325 CuadroTexto"/>
          <p:cNvSpPr txBox="1"/>
          <p:nvPr/>
        </p:nvSpPr>
        <p:spPr>
          <a:xfrm>
            <a:off x="4310051" y="5429265"/>
            <a:ext cx="3231299" cy="430887"/>
          </a:xfrm>
          <a:prstGeom prst="rect">
            <a:avLst/>
          </a:prstGeom>
          <a:noFill/>
        </p:spPr>
        <p:txBody>
          <a:bodyPr wrap="square" rtlCol="0">
            <a:spAutoFit/>
          </a:bodyPr>
          <a:lstStyle/>
          <a:p>
            <a:r>
              <a:rPr lang="es-MX" sz="1100" dirty="0"/>
              <a:t>Pasar temporalmente un proceso para dar oportunidad a un nuevo proceso para ejecutarse</a:t>
            </a:r>
          </a:p>
        </p:txBody>
      </p:sp>
      <p:sp>
        <p:nvSpPr>
          <p:cNvPr id="327" name="326 CuadroTexto"/>
          <p:cNvSpPr txBox="1"/>
          <p:nvPr/>
        </p:nvSpPr>
        <p:spPr>
          <a:xfrm>
            <a:off x="4738678" y="2754152"/>
            <a:ext cx="1063112" cy="246221"/>
          </a:xfrm>
          <a:prstGeom prst="rect">
            <a:avLst/>
          </a:prstGeom>
          <a:noFill/>
        </p:spPr>
        <p:txBody>
          <a:bodyPr wrap="none" rtlCol="0">
            <a:spAutoFit/>
          </a:bodyPr>
          <a:lstStyle/>
          <a:p>
            <a:r>
              <a:rPr lang="es-MX" sz="1000" dirty="0"/>
              <a:t>No hay espacio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204 Rectángulo"/>
          <p:cNvSpPr/>
          <p:nvPr/>
        </p:nvSpPr>
        <p:spPr>
          <a:xfrm>
            <a:off x="3491032" y="2285992"/>
            <a:ext cx="360000" cy="877408"/>
          </a:xfrm>
          <a:prstGeom prst="rect">
            <a:avLst/>
          </a:prstGeom>
          <a:solidFill>
            <a:schemeClr val="accent6">
              <a:lumMod val="40000"/>
              <a:lumOff val="6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a:t>
            </a:r>
          </a:p>
        </p:txBody>
      </p:sp>
      <p:sp>
        <p:nvSpPr>
          <p:cNvPr id="255" name="254 Rectángulo"/>
          <p:cNvSpPr/>
          <p:nvPr/>
        </p:nvSpPr>
        <p:spPr>
          <a:xfrm>
            <a:off x="3489292" y="3160888"/>
            <a:ext cx="360000" cy="209518"/>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56" name="255 Rectángulo"/>
          <p:cNvSpPr/>
          <p:nvPr/>
        </p:nvSpPr>
        <p:spPr>
          <a:xfrm>
            <a:off x="3490362" y="335696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57" name="256 Rectángulo"/>
          <p:cNvSpPr/>
          <p:nvPr/>
        </p:nvSpPr>
        <p:spPr>
          <a:xfrm>
            <a:off x="3490362" y="356449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0" name="229 Rectángulo"/>
          <p:cNvSpPr/>
          <p:nvPr/>
        </p:nvSpPr>
        <p:spPr>
          <a:xfrm>
            <a:off x="4024298" y="2280281"/>
            <a:ext cx="360000" cy="830866"/>
          </a:xfrm>
          <a:prstGeom prst="rect">
            <a:avLst/>
          </a:prstGeom>
          <a:solidFill>
            <a:schemeClr val="accent6">
              <a:lumMod val="40000"/>
              <a:lumOff val="6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a:t>
            </a:r>
          </a:p>
        </p:txBody>
      </p:sp>
      <p:sp>
        <p:nvSpPr>
          <p:cNvPr id="231" name="230 Rectángulo"/>
          <p:cNvSpPr/>
          <p:nvPr/>
        </p:nvSpPr>
        <p:spPr>
          <a:xfrm>
            <a:off x="4024298" y="3111148"/>
            <a:ext cx="360000" cy="209518"/>
          </a:xfrm>
          <a:prstGeom prst="rect">
            <a:avLst/>
          </a:prstGeom>
          <a:solidFill>
            <a:schemeClr val="bg1"/>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F</a:t>
            </a:r>
          </a:p>
        </p:txBody>
      </p:sp>
      <p:sp>
        <p:nvSpPr>
          <p:cNvPr id="253" name="252 Rectángulo"/>
          <p:cNvSpPr/>
          <p:nvPr/>
        </p:nvSpPr>
        <p:spPr>
          <a:xfrm>
            <a:off x="4026032" y="330722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54" name="253 Rectángulo"/>
          <p:cNvSpPr/>
          <p:nvPr/>
        </p:nvSpPr>
        <p:spPr>
          <a:xfrm>
            <a:off x="4026032" y="351475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99" name="198 Rectángulo"/>
          <p:cNvSpPr/>
          <p:nvPr/>
        </p:nvSpPr>
        <p:spPr>
          <a:xfrm>
            <a:off x="2881290" y="2272545"/>
            <a:ext cx="360000" cy="890855"/>
          </a:xfrm>
          <a:prstGeom prst="rect">
            <a:avLst/>
          </a:prstGeom>
          <a:solidFill>
            <a:schemeClr val="accent6">
              <a:lumMod val="40000"/>
              <a:lumOff val="6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a:t>
            </a:r>
          </a:p>
        </p:txBody>
      </p:sp>
      <p:sp>
        <p:nvSpPr>
          <p:cNvPr id="197" name="196 Rectángulo"/>
          <p:cNvSpPr/>
          <p:nvPr/>
        </p:nvSpPr>
        <p:spPr>
          <a:xfrm>
            <a:off x="2881290" y="3163400"/>
            <a:ext cx="360000" cy="566586"/>
          </a:xfrm>
          <a:prstGeom prst="rect">
            <a:avLst/>
          </a:prstGeom>
          <a:solidFill>
            <a:srgbClr val="92D05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a:t>
            </a:r>
          </a:p>
        </p:txBody>
      </p:sp>
      <p:sp>
        <p:nvSpPr>
          <p:cNvPr id="106" name="105 Rectángulo"/>
          <p:cNvSpPr/>
          <p:nvPr/>
        </p:nvSpPr>
        <p:spPr>
          <a:xfrm>
            <a:off x="2884122" y="3722248"/>
            <a:ext cx="360000" cy="412553"/>
          </a:xfrm>
          <a:prstGeom prst="rect">
            <a:avLst/>
          </a:prstGeom>
          <a:solidFill>
            <a:srgbClr val="FFC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a:t>
            </a:r>
          </a:p>
        </p:txBody>
      </p:sp>
      <p:sp>
        <p:nvSpPr>
          <p:cNvPr id="196" name="195 Rectángulo"/>
          <p:cNvSpPr/>
          <p:nvPr/>
        </p:nvSpPr>
        <p:spPr>
          <a:xfrm>
            <a:off x="2884108" y="4134801"/>
            <a:ext cx="360000" cy="209519"/>
          </a:xfrm>
          <a:prstGeom prst="rect">
            <a:avLst/>
          </a:prstGeom>
          <a:solidFill>
            <a:schemeClr val="tx2">
              <a:lumMod val="60000"/>
              <a:lumOff val="4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D</a:t>
            </a:r>
          </a:p>
        </p:txBody>
      </p:sp>
      <p:sp>
        <p:nvSpPr>
          <p:cNvPr id="195" name="194 Rectángulo"/>
          <p:cNvSpPr/>
          <p:nvPr/>
        </p:nvSpPr>
        <p:spPr>
          <a:xfrm>
            <a:off x="2884122" y="4343521"/>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9" name="8 Rectángulo"/>
          <p:cNvSpPr/>
          <p:nvPr/>
        </p:nvSpPr>
        <p:spPr>
          <a:xfrm>
            <a:off x="2390877" y="224554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0" name="9 Rectángulo"/>
          <p:cNvSpPr/>
          <p:nvPr/>
        </p:nvSpPr>
        <p:spPr>
          <a:xfrm>
            <a:off x="2390877" y="244732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1" name="10 Rectángulo"/>
          <p:cNvSpPr/>
          <p:nvPr/>
        </p:nvSpPr>
        <p:spPr>
          <a:xfrm>
            <a:off x="2390877" y="265486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2" name="11 Rectángulo"/>
          <p:cNvSpPr/>
          <p:nvPr/>
        </p:nvSpPr>
        <p:spPr>
          <a:xfrm>
            <a:off x="2390877" y="2864379"/>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3" name="12 Rectángulo"/>
          <p:cNvSpPr/>
          <p:nvPr/>
        </p:nvSpPr>
        <p:spPr>
          <a:xfrm>
            <a:off x="2390877" y="306421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4" name="13 Rectángulo"/>
          <p:cNvSpPr/>
          <p:nvPr/>
        </p:nvSpPr>
        <p:spPr>
          <a:xfrm>
            <a:off x="2390877" y="326599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5" name="14 Rectángulo"/>
          <p:cNvSpPr/>
          <p:nvPr/>
        </p:nvSpPr>
        <p:spPr>
          <a:xfrm>
            <a:off x="2390877" y="3473534"/>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6" name="15 Rectángulo"/>
          <p:cNvSpPr/>
          <p:nvPr/>
        </p:nvSpPr>
        <p:spPr>
          <a:xfrm>
            <a:off x="2390877" y="368305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7" name="16 Rectángulo"/>
          <p:cNvSpPr/>
          <p:nvPr/>
        </p:nvSpPr>
        <p:spPr>
          <a:xfrm>
            <a:off x="2390877" y="3892572"/>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8" name="17 Rectángulo"/>
          <p:cNvSpPr/>
          <p:nvPr/>
        </p:nvSpPr>
        <p:spPr>
          <a:xfrm>
            <a:off x="2390877" y="4094352"/>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9" name="18 Rectángulo"/>
          <p:cNvSpPr/>
          <p:nvPr/>
        </p:nvSpPr>
        <p:spPr>
          <a:xfrm>
            <a:off x="2390877" y="4301889"/>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0" name="19 Rectángulo"/>
          <p:cNvSpPr/>
          <p:nvPr/>
        </p:nvSpPr>
        <p:spPr>
          <a:xfrm>
            <a:off x="2390877" y="451140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1" name="20 Rectángulo"/>
          <p:cNvSpPr/>
          <p:nvPr/>
        </p:nvSpPr>
        <p:spPr>
          <a:xfrm>
            <a:off x="2390877" y="471953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2" name="21 Rectángulo"/>
          <p:cNvSpPr/>
          <p:nvPr/>
        </p:nvSpPr>
        <p:spPr>
          <a:xfrm>
            <a:off x="2390877" y="492521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3" name="22 Rectángulo"/>
          <p:cNvSpPr/>
          <p:nvPr/>
        </p:nvSpPr>
        <p:spPr>
          <a:xfrm>
            <a:off x="2390877" y="5132755"/>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10" name="109 Rectángulo"/>
          <p:cNvSpPr/>
          <p:nvPr/>
        </p:nvSpPr>
        <p:spPr>
          <a:xfrm>
            <a:off x="2884122" y="455060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11" name="110 Rectángulo"/>
          <p:cNvSpPr/>
          <p:nvPr/>
        </p:nvSpPr>
        <p:spPr>
          <a:xfrm>
            <a:off x="2884122" y="4750441"/>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12" name="111 Rectángulo"/>
          <p:cNvSpPr/>
          <p:nvPr/>
        </p:nvSpPr>
        <p:spPr>
          <a:xfrm>
            <a:off x="2884122" y="4952221"/>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13" name="112 Rectángulo"/>
          <p:cNvSpPr/>
          <p:nvPr/>
        </p:nvSpPr>
        <p:spPr>
          <a:xfrm>
            <a:off x="2884122" y="515975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07" name="206 Rectángulo"/>
          <p:cNvSpPr/>
          <p:nvPr/>
        </p:nvSpPr>
        <p:spPr>
          <a:xfrm>
            <a:off x="3489292" y="3735695"/>
            <a:ext cx="360000" cy="412553"/>
          </a:xfrm>
          <a:prstGeom prst="rect">
            <a:avLst/>
          </a:prstGeom>
          <a:solidFill>
            <a:srgbClr val="FFC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a:t>
            </a:r>
          </a:p>
        </p:txBody>
      </p:sp>
      <p:sp>
        <p:nvSpPr>
          <p:cNvPr id="208" name="207 Rectángulo"/>
          <p:cNvSpPr/>
          <p:nvPr/>
        </p:nvSpPr>
        <p:spPr>
          <a:xfrm>
            <a:off x="3493850" y="414824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09" name="208 Rectángulo"/>
          <p:cNvSpPr/>
          <p:nvPr/>
        </p:nvSpPr>
        <p:spPr>
          <a:xfrm>
            <a:off x="3493864" y="4356968"/>
            <a:ext cx="360000" cy="616439"/>
          </a:xfrm>
          <a:prstGeom prst="rect">
            <a:avLst/>
          </a:prstGeom>
          <a:solidFill>
            <a:srgbClr val="FF0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E</a:t>
            </a:r>
          </a:p>
        </p:txBody>
      </p:sp>
      <p:sp>
        <p:nvSpPr>
          <p:cNvPr id="212" name="211 Rectángulo"/>
          <p:cNvSpPr/>
          <p:nvPr/>
        </p:nvSpPr>
        <p:spPr>
          <a:xfrm>
            <a:off x="3493864" y="4965668"/>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13" name="212 Rectángulo"/>
          <p:cNvSpPr/>
          <p:nvPr/>
        </p:nvSpPr>
        <p:spPr>
          <a:xfrm>
            <a:off x="3493864" y="5173205"/>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2" name="231 Rectángulo"/>
          <p:cNvSpPr/>
          <p:nvPr/>
        </p:nvSpPr>
        <p:spPr>
          <a:xfrm>
            <a:off x="4023222" y="3722242"/>
            <a:ext cx="360000" cy="420295"/>
          </a:xfrm>
          <a:prstGeom prst="rect">
            <a:avLst/>
          </a:prstGeom>
          <a:solidFill>
            <a:srgbClr val="FFC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a:t>
            </a:r>
          </a:p>
        </p:txBody>
      </p:sp>
      <p:sp>
        <p:nvSpPr>
          <p:cNvPr id="233" name="232 Rectángulo"/>
          <p:cNvSpPr/>
          <p:nvPr/>
        </p:nvSpPr>
        <p:spPr>
          <a:xfrm>
            <a:off x="4023208" y="414253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4" name="233 Rectángulo"/>
          <p:cNvSpPr/>
          <p:nvPr/>
        </p:nvSpPr>
        <p:spPr>
          <a:xfrm>
            <a:off x="4023222" y="4351257"/>
            <a:ext cx="360000" cy="616439"/>
          </a:xfrm>
          <a:prstGeom prst="rect">
            <a:avLst/>
          </a:prstGeom>
          <a:solidFill>
            <a:srgbClr val="FF0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E</a:t>
            </a:r>
          </a:p>
        </p:txBody>
      </p:sp>
      <p:sp>
        <p:nvSpPr>
          <p:cNvPr id="235" name="234 Rectángulo"/>
          <p:cNvSpPr/>
          <p:nvPr/>
        </p:nvSpPr>
        <p:spPr>
          <a:xfrm>
            <a:off x="4023222" y="495995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36" name="235 Rectángulo"/>
          <p:cNvSpPr/>
          <p:nvPr/>
        </p:nvSpPr>
        <p:spPr>
          <a:xfrm>
            <a:off x="4023222" y="5167494"/>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 name="1 Rectángulo"/>
          <p:cNvSpPr/>
          <p:nvPr/>
        </p:nvSpPr>
        <p:spPr>
          <a:xfrm>
            <a:off x="3238480" y="744004"/>
            <a:ext cx="6643734" cy="369332"/>
          </a:xfrm>
          <a:prstGeom prst="rect">
            <a:avLst/>
          </a:prstGeom>
          <a:ln/>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s-MX" b="1" dirty="0"/>
              <a:t>Asignación de memoria contigua</a:t>
            </a:r>
            <a:endParaRPr lang="es-MX" dirty="0"/>
          </a:p>
        </p:txBody>
      </p:sp>
      <p:sp>
        <p:nvSpPr>
          <p:cNvPr id="3" name="2 Rectángulo"/>
          <p:cNvSpPr/>
          <p:nvPr/>
        </p:nvSpPr>
        <p:spPr>
          <a:xfrm>
            <a:off x="2039528" y="1285861"/>
            <a:ext cx="4342224"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Particiones dinámicas</a:t>
            </a:r>
          </a:p>
        </p:txBody>
      </p:sp>
      <p:grpSp>
        <p:nvGrpSpPr>
          <p:cNvPr id="4" name="288 Grupo"/>
          <p:cNvGrpSpPr/>
          <p:nvPr/>
        </p:nvGrpSpPr>
        <p:grpSpPr>
          <a:xfrm>
            <a:off x="2092662" y="2284732"/>
            <a:ext cx="360000" cy="3096731"/>
            <a:chOff x="6286512" y="2850581"/>
            <a:chExt cx="360000" cy="3096731"/>
          </a:xfrm>
          <a:noFill/>
        </p:grpSpPr>
        <p:sp>
          <p:nvSpPr>
            <p:cNvPr id="290" name="289 Rectángulo"/>
            <p:cNvSpPr/>
            <p:nvPr/>
          </p:nvSpPr>
          <p:spPr>
            <a:xfrm>
              <a:off x="6286512" y="2850581"/>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91" name="290 Rectángulo"/>
            <p:cNvSpPr/>
            <p:nvPr/>
          </p:nvSpPr>
          <p:spPr>
            <a:xfrm>
              <a:off x="6286512" y="3052361"/>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92" name="291 Rectángulo"/>
            <p:cNvSpPr/>
            <p:nvPr/>
          </p:nvSpPr>
          <p:spPr>
            <a:xfrm>
              <a:off x="6286512" y="3259898"/>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93" name="292 Rectángulo"/>
            <p:cNvSpPr/>
            <p:nvPr/>
          </p:nvSpPr>
          <p:spPr>
            <a:xfrm>
              <a:off x="6286512" y="3469417"/>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294" name="293 Rectángulo"/>
            <p:cNvSpPr/>
            <p:nvPr/>
          </p:nvSpPr>
          <p:spPr>
            <a:xfrm>
              <a:off x="6286512" y="3669255"/>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295" name="294 Rectángulo"/>
            <p:cNvSpPr/>
            <p:nvPr/>
          </p:nvSpPr>
          <p:spPr>
            <a:xfrm>
              <a:off x="6286512" y="3871035"/>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296" name="295 Rectángulo"/>
            <p:cNvSpPr/>
            <p:nvPr/>
          </p:nvSpPr>
          <p:spPr>
            <a:xfrm>
              <a:off x="6286512" y="4078572"/>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297" name="296 Rectángulo"/>
            <p:cNvSpPr/>
            <p:nvPr/>
          </p:nvSpPr>
          <p:spPr>
            <a:xfrm>
              <a:off x="6286512" y="4288091"/>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298" name="297 Rectángulo"/>
            <p:cNvSpPr/>
            <p:nvPr/>
          </p:nvSpPr>
          <p:spPr>
            <a:xfrm>
              <a:off x="6286512" y="4497610"/>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299" name="298 Rectángulo"/>
            <p:cNvSpPr/>
            <p:nvPr/>
          </p:nvSpPr>
          <p:spPr>
            <a:xfrm>
              <a:off x="6286512" y="4699390"/>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300" name="299 Rectángulo"/>
            <p:cNvSpPr/>
            <p:nvPr/>
          </p:nvSpPr>
          <p:spPr>
            <a:xfrm>
              <a:off x="6286512" y="4906927"/>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301" name="300 Rectángulo"/>
            <p:cNvSpPr/>
            <p:nvPr/>
          </p:nvSpPr>
          <p:spPr>
            <a:xfrm>
              <a:off x="6286512" y="5116446"/>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302" name="301 Rectángulo"/>
            <p:cNvSpPr/>
            <p:nvPr/>
          </p:nvSpPr>
          <p:spPr>
            <a:xfrm>
              <a:off x="6286512" y="5328476"/>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303" name="302 Rectángulo"/>
            <p:cNvSpPr/>
            <p:nvPr/>
          </p:nvSpPr>
          <p:spPr>
            <a:xfrm>
              <a:off x="6286512" y="5530256"/>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304" name="303 Rectángulo"/>
            <p:cNvSpPr/>
            <p:nvPr/>
          </p:nvSpPr>
          <p:spPr>
            <a:xfrm>
              <a:off x="6286512" y="5737793"/>
              <a:ext cx="360000" cy="209519"/>
            </a:xfrm>
            <a:prstGeom prst="rect">
              <a:avLst/>
            </a:prstGeom>
            <a:grp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grpSp>
      <p:sp>
        <p:nvSpPr>
          <p:cNvPr id="75" name="74 CuadroTexto"/>
          <p:cNvSpPr txBox="1"/>
          <p:nvPr/>
        </p:nvSpPr>
        <p:spPr>
          <a:xfrm>
            <a:off x="5024430" y="2145226"/>
            <a:ext cx="3143272" cy="1015663"/>
          </a:xfrm>
          <a:prstGeom prst="rect">
            <a:avLst/>
          </a:prstGeom>
          <a:noFill/>
        </p:spPr>
        <p:txBody>
          <a:bodyPr wrap="square" rtlCol="0">
            <a:spAutoFit/>
          </a:bodyPr>
          <a:lstStyle/>
          <a:p>
            <a:r>
              <a:rPr lang="es-MX" sz="1200" dirty="0"/>
              <a:t>El continuo ingreso y salida de los procesos producen huecos en la memoria demasiado pequeños para que un proceso pueda colocarse. A este tipo de fragmentación se le conoce como </a:t>
            </a:r>
            <a:r>
              <a:rPr lang="es-MX" sz="1200" b="1" dirty="0"/>
              <a:t>fragmentación externa</a:t>
            </a:r>
            <a:r>
              <a:rPr lang="es-MX" sz="1200" dirty="0"/>
              <a:t>.</a:t>
            </a:r>
          </a:p>
        </p:txBody>
      </p:sp>
      <p:sp>
        <p:nvSpPr>
          <p:cNvPr id="76" name="75 CuadroTexto"/>
          <p:cNvSpPr txBox="1"/>
          <p:nvPr/>
        </p:nvSpPr>
        <p:spPr>
          <a:xfrm>
            <a:off x="6381752" y="3774015"/>
            <a:ext cx="3500462" cy="1754326"/>
          </a:xfrm>
          <a:prstGeom prst="rect">
            <a:avLst/>
          </a:prstGeom>
          <a:noFill/>
        </p:spPr>
        <p:txBody>
          <a:bodyPr wrap="square" rtlCol="0">
            <a:spAutoFit/>
          </a:bodyPr>
          <a:lstStyle/>
          <a:p>
            <a:r>
              <a:rPr lang="es-MX" sz="1200" dirty="0"/>
              <a:t>La recuperación de los huecos de memoria puede llevarse a cabo por medio de la técnica de compactación donde los espacios disponibles de memoria son colocados en la parte inferior y los procesos en la parte superior. Sin embargo, este proceso es demasiado lento y posiblemente no justifique el consumo de recursos, debido a que el sistema debe estar inactivo para poder realizar la compactación.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14600" y="-731044"/>
            <a:ext cx="7772400" cy="1462088"/>
          </a:xfrm>
        </p:spPr>
        <p:txBody>
          <a:bodyPr/>
          <a:lstStyle/>
          <a:p>
            <a:r>
              <a:rPr lang="is-IS" sz="2400" dirty="0"/>
              <a:t>Problema de la colocación</a:t>
            </a:r>
            <a:r>
              <a:rPr lang="pt-BR" sz="2400" dirty="0"/>
              <a:t>.</a:t>
            </a:r>
            <a:endParaRPr lang="es-ES" sz="2400" dirty="0"/>
          </a:p>
        </p:txBody>
      </p:sp>
      <p:sp>
        <p:nvSpPr>
          <p:cNvPr id="4" name="Rectangle 3"/>
          <p:cNvSpPr txBox="1">
            <a:spLocks noChangeArrowheads="1"/>
          </p:cNvSpPr>
          <p:nvPr/>
        </p:nvSpPr>
        <p:spPr bwMode="auto">
          <a:xfrm>
            <a:off x="1752601" y="1143002"/>
            <a:ext cx="8455025" cy="51815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normAutofit fontScale="62500" lnSpcReduction="20000"/>
          </a:bodyPr>
          <a:lstStyle>
            <a:lvl1pPr marL="0" indent="0" algn="ctr" rtl="0" eaLnBrk="0" fontAlgn="base" hangingPunct="0">
              <a:spcBef>
                <a:spcPct val="20000"/>
              </a:spcBef>
              <a:spcAft>
                <a:spcPct val="0"/>
              </a:spcAft>
              <a:buClr>
                <a:schemeClr val="folHlink"/>
              </a:buClr>
              <a:buSzPct val="60000"/>
              <a:buFont typeface="Wingdings" pitchFamily="2" charset="2"/>
              <a:buNone/>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hlink"/>
              </a:buClr>
              <a:buSzPct val="55000"/>
              <a:buFont typeface="Wingdings" charset="0"/>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charset="0"/>
              <a:buChar char="n"/>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charset="0"/>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charset="0"/>
              <a:buChar char="n"/>
              <a:defRPr sz="2000">
                <a:solidFill>
                  <a:schemeClr val="tx1"/>
                </a:solidFill>
                <a:latin typeface="+mn-lt"/>
                <a:ea typeface="ＭＳ Ｐゴシック" charset="-128"/>
              </a:defRPr>
            </a:lvl5pPr>
            <a:lvl6pPr marL="25146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6pPr>
            <a:lvl7pPr marL="29718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7pPr>
            <a:lvl8pPr marL="34290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8pPr>
            <a:lvl9pPr marL="3886200" indent="-228600" algn="l" rtl="0" eaLnBrk="1" fontAlgn="base" hangingPunct="1">
              <a:spcBef>
                <a:spcPct val="20000"/>
              </a:spcBef>
              <a:spcAft>
                <a:spcPct val="0"/>
              </a:spcAft>
              <a:buClr>
                <a:schemeClr val="accent1"/>
              </a:buClr>
              <a:buSzPct val="50000"/>
              <a:buFont typeface="Wingdings" pitchFamily="2" charset="2"/>
              <a:buChar char="n"/>
              <a:defRPr>
                <a:solidFill>
                  <a:schemeClr val="tx1"/>
                </a:solidFill>
                <a:latin typeface="+mn-lt"/>
              </a:defRPr>
            </a:lvl9pPr>
          </a:lstStyle>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En relación a los esquemas de particiones fijas y particiones variables surgen varios problemas:</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 ¿en base a qué criterio se elige el mejor tamaño de partición para un programa? </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por ejemplo, si el sistema tiene dos huecos, uno de 18K y otro de 24K para un proceso que desea 15K, ¿cuál se le asigna?</a:t>
            </a:r>
          </a:p>
          <a:p>
            <a:pPr marL="1200150" lvl="1" indent="-457200" eaLnBrk="1" hangingPunct="1">
              <a:lnSpc>
                <a:spcPct val="90000"/>
              </a:lnSpc>
              <a:buFont typeface="Arial"/>
              <a:buChar char="•"/>
            </a:pPr>
            <a:endParaRPr lang="es-ES_tradnl" dirty="0">
              <a:latin typeface="Tahoma" charset="0"/>
              <a:ea typeface="ＭＳ Ｐゴシック" charset="0"/>
              <a:cs typeface="ＭＳ Ｐゴシック" charset="0"/>
            </a:endParaRPr>
          </a:p>
          <a:p>
            <a:pPr marL="457200" indent="-457200" algn="l" eaLnBrk="1" hangingPunct="1">
              <a:lnSpc>
                <a:spcPct val="90000"/>
              </a:lnSpc>
              <a:buFont typeface="Arial"/>
              <a:buChar char="•"/>
            </a:pPr>
            <a:r>
              <a:rPr lang="es-ES_tradnl" dirty="0">
                <a:latin typeface="Tahoma" charset="0"/>
                <a:ea typeface="ＭＳ Ｐゴシック" charset="0"/>
                <a:cs typeface="ＭＳ Ｐゴシック" charset="0"/>
              </a:rPr>
              <a:t>varios algoritmos para dar respuesta a la pregunta anterior</a:t>
            </a:r>
          </a:p>
          <a:p>
            <a:pPr marL="457200" indent="-457200" algn="l" eaLnBrk="1" hangingPunct="1">
              <a:lnSpc>
                <a:spcPct val="90000"/>
              </a:lnSpc>
              <a:buFont typeface="Arial"/>
              <a:buChar char="•"/>
            </a:pPr>
            <a:endParaRPr lang="es-ES_tradnl" dirty="0">
              <a:latin typeface="Tahoma" charset="0"/>
              <a:ea typeface="ＭＳ Ｐゴシック" charset="0"/>
              <a:cs typeface="ＭＳ Ｐゴシック" charset="0"/>
            </a:endParaRP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  Primer ajuste: se asigna el primer hueco que sea mayor al tamaño deseado.</a:t>
            </a:r>
          </a:p>
          <a:p>
            <a:pPr marL="1200150" lvl="1" indent="-457200" eaLnBrk="1" hangingPunct="1">
              <a:lnSpc>
                <a:spcPct val="90000"/>
              </a:lnSpc>
              <a:buFont typeface="Arial"/>
              <a:buChar char="•"/>
            </a:pPr>
            <a:endParaRPr lang="es-ES_tradnl" dirty="0">
              <a:latin typeface="Tahoma" charset="0"/>
              <a:ea typeface="ＭＳ Ｐゴシック" charset="0"/>
              <a:cs typeface="ＭＳ Ｐゴシック" charset="0"/>
            </a:endParaRP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  Mejor ajuste: se asigna el hueco cuyo tamaño exceda en la menor cantidad al tamaño deseado. Requiere de una búsqueda exhaustiva.</a:t>
            </a: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  Peor ajuste: se asigna el hueco cuyo tamaño exceda en la mayor cantidad al tamaño deseado. Requiere también de una búsqueda exhaustiva.</a:t>
            </a:r>
          </a:p>
          <a:p>
            <a:pPr lvl="1" eaLnBrk="1" hangingPunct="1">
              <a:lnSpc>
                <a:spcPct val="90000"/>
              </a:lnSpc>
            </a:pPr>
            <a:endParaRPr lang="es-ES_tradnl" dirty="0">
              <a:latin typeface="Tahoma" charset="0"/>
              <a:ea typeface="ＭＳ Ｐゴシック" charset="0"/>
              <a:cs typeface="ＭＳ Ｐゴシック" charset="0"/>
            </a:endParaRP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  El siguiente ajuste: es igual que el «primer ajuste» con la diferencia que se deja un apuntador al lugar en donde se asignó el último hueco para realizar la siguiente búsqueda a partir de él.</a:t>
            </a:r>
          </a:p>
          <a:p>
            <a:pPr lvl="1" eaLnBrk="1" hangingPunct="1">
              <a:lnSpc>
                <a:spcPct val="90000"/>
              </a:lnSpc>
            </a:pPr>
            <a:endParaRPr lang="es-ES_tradnl" dirty="0">
              <a:latin typeface="Tahoma" charset="0"/>
              <a:ea typeface="ＭＳ Ｐゴシック" charset="0"/>
              <a:cs typeface="ＭＳ Ｐゴシック" charset="0"/>
            </a:endParaRPr>
          </a:p>
          <a:p>
            <a:pPr marL="1200150" lvl="1" indent="-457200" eaLnBrk="1" hangingPunct="1">
              <a:lnSpc>
                <a:spcPct val="90000"/>
              </a:lnSpc>
              <a:buFont typeface="Arial"/>
              <a:buChar char="•"/>
            </a:pPr>
            <a:r>
              <a:rPr lang="es-ES_tradnl" dirty="0">
                <a:latin typeface="Tahoma" charset="0"/>
                <a:ea typeface="ＭＳ Ｐゴシック" charset="0"/>
                <a:cs typeface="ＭＳ Ｐゴシック" charset="0"/>
              </a:rPr>
              <a:t>•  Ajuste rápido: se mantienen listas enlazadas separadas de acuerdo a los tamaños de los huecos, para así buscarle a los procesos un hueco más rápido en la cola correspondiente.</a:t>
            </a:r>
          </a:p>
          <a:p>
            <a:pPr marL="457200" indent="-457200" algn="l" eaLnBrk="1" hangingPunct="1">
              <a:lnSpc>
                <a:spcPct val="90000"/>
              </a:lnSpc>
              <a:buFont typeface="Arial"/>
              <a:buChar char="•"/>
            </a:pPr>
            <a:endParaRPr lang="es-ES_tradnl" dirty="0">
              <a:latin typeface="Tahoma" charset="0"/>
              <a:ea typeface="ＭＳ Ｐゴシック" charset="0"/>
              <a:cs typeface="ＭＳ Ｐゴシック" charset="0"/>
            </a:endParaRPr>
          </a:p>
          <a:p>
            <a:pPr marL="457200" indent="-457200" algn="l" eaLnBrk="1" hangingPunct="1">
              <a:lnSpc>
                <a:spcPct val="90000"/>
              </a:lnSpc>
              <a:buFont typeface="Arial"/>
              <a:buChar char="•"/>
            </a:pPr>
            <a:endParaRPr lang="es-ES_tradnl" dirty="0">
              <a:latin typeface="Tahoma" charset="0"/>
              <a:ea typeface="ＭＳ Ｐゴシック" charset="0"/>
              <a:cs typeface="ＭＳ Ｐゴシック" charset="0"/>
            </a:endParaRPr>
          </a:p>
          <a:p>
            <a:pPr marL="457200" indent="-457200" eaLnBrk="1" hangingPunct="1">
              <a:lnSpc>
                <a:spcPct val="90000"/>
              </a:lnSpc>
              <a:buFont typeface="Arial"/>
              <a:buChar char="•"/>
            </a:pPr>
            <a:endParaRPr lang="es-ES_tradnl" dirty="0">
              <a:latin typeface="Tahoma" charset="0"/>
              <a:ea typeface="ＭＳ Ｐゴシック" charset="0"/>
              <a:cs typeface="ＭＳ Ｐゴシック" charset="0"/>
            </a:endParaRPr>
          </a:p>
          <a:p>
            <a:pPr marL="457200" indent="-457200" eaLnBrk="1" hangingPunct="1">
              <a:lnSpc>
                <a:spcPct val="90000"/>
              </a:lnSpc>
              <a:buFont typeface="Arial"/>
              <a:buChar char="•"/>
            </a:pPr>
            <a:endParaRPr lang="es-PR" dirty="0">
              <a:latin typeface="Tahoma" charset="0"/>
              <a:ea typeface="ＭＳ Ｐゴシック" charset="0"/>
              <a:cs typeface="ＭＳ Ｐゴシック" charset="0"/>
            </a:endParaRPr>
          </a:p>
        </p:txBody>
      </p:sp>
      <p:sp>
        <p:nvSpPr>
          <p:cNvPr id="5" name="229 Rectángulo">
            <a:extLst>
              <a:ext uri="{FF2B5EF4-FFF2-40B4-BE49-F238E27FC236}">
                <a16:creationId xmlns:a16="http://schemas.microsoft.com/office/drawing/2014/main" id="{08D2A46C-3F7E-4B58-8921-77F2FC75A2EB}"/>
              </a:ext>
            </a:extLst>
          </p:cNvPr>
          <p:cNvSpPr/>
          <p:nvPr/>
        </p:nvSpPr>
        <p:spPr>
          <a:xfrm>
            <a:off x="763076" y="1967624"/>
            <a:ext cx="360000" cy="830866"/>
          </a:xfrm>
          <a:prstGeom prst="rect">
            <a:avLst/>
          </a:prstGeom>
          <a:solidFill>
            <a:schemeClr val="accent6">
              <a:lumMod val="40000"/>
              <a:lumOff val="60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a:t>
            </a:r>
          </a:p>
        </p:txBody>
      </p:sp>
      <p:sp>
        <p:nvSpPr>
          <p:cNvPr id="6" name="230 Rectángulo">
            <a:extLst>
              <a:ext uri="{FF2B5EF4-FFF2-40B4-BE49-F238E27FC236}">
                <a16:creationId xmlns:a16="http://schemas.microsoft.com/office/drawing/2014/main" id="{18F17C27-00D3-4BC5-9382-37FC6538FE20}"/>
              </a:ext>
            </a:extLst>
          </p:cNvPr>
          <p:cNvSpPr/>
          <p:nvPr/>
        </p:nvSpPr>
        <p:spPr>
          <a:xfrm>
            <a:off x="763076" y="2798491"/>
            <a:ext cx="360000" cy="209518"/>
          </a:xfrm>
          <a:prstGeom prst="rect">
            <a:avLst/>
          </a:prstGeom>
          <a:solidFill>
            <a:schemeClr val="bg1"/>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F</a:t>
            </a:r>
          </a:p>
        </p:txBody>
      </p:sp>
      <p:sp>
        <p:nvSpPr>
          <p:cNvPr id="7" name="252 Rectángulo">
            <a:extLst>
              <a:ext uri="{FF2B5EF4-FFF2-40B4-BE49-F238E27FC236}">
                <a16:creationId xmlns:a16="http://schemas.microsoft.com/office/drawing/2014/main" id="{BDD28081-BD31-49D2-80A8-6AB1DEB58AA2}"/>
              </a:ext>
            </a:extLst>
          </p:cNvPr>
          <p:cNvSpPr/>
          <p:nvPr/>
        </p:nvSpPr>
        <p:spPr>
          <a:xfrm>
            <a:off x="764810" y="2994563"/>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8" name="253 Rectángulo">
            <a:extLst>
              <a:ext uri="{FF2B5EF4-FFF2-40B4-BE49-F238E27FC236}">
                <a16:creationId xmlns:a16="http://schemas.microsoft.com/office/drawing/2014/main" id="{952B71F0-7356-4C1C-BC68-C8B8C2C7244C}"/>
              </a:ext>
            </a:extLst>
          </p:cNvPr>
          <p:cNvSpPr/>
          <p:nvPr/>
        </p:nvSpPr>
        <p:spPr>
          <a:xfrm>
            <a:off x="764810" y="320210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9" name="8 Rectángulo">
            <a:extLst>
              <a:ext uri="{FF2B5EF4-FFF2-40B4-BE49-F238E27FC236}">
                <a16:creationId xmlns:a16="http://schemas.microsoft.com/office/drawing/2014/main" id="{121B85FF-E49C-49DF-8DA8-C73A5E56E99D}"/>
              </a:ext>
            </a:extLst>
          </p:cNvPr>
          <p:cNvSpPr/>
          <p:nvPr/>
        </p:nvSpPr>
        <p:spPr>
          <a:xfrm>
            <a:off x="754871" y="5058867"/>
            <a:ext cx="360000" cy="411299"/>
          </a:xfrm>
          <a:prstGeom prst="rect">
            <a:avLst/>
          </a:prstGeom>
          <a:solidFill>
            <a:schemeClr val="accent4">
              <a:lumMod val="75000"/>
            </a:schemeClr>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b="1" dirty="0"/>
              <a:t>G</a:t>
            </a:r>
          </a:p>
        </p:txBody>
      </p:sp>
      <p:sp>
        <p:nvSpPr>
          <p:cNvPr id="10" name="10 Rectángulo">
            <a:extLst>
              <a:ext uri="{FF2B5EF4-FFF2-40B4-BE49-F238E27FC236}">
                <a16:creationId xmlns:a16="http://schemas.microsoft.com/office/drawing/2014/main" id="{A8318035-B772-42EA-AA55-3A209A0FF9EE}"/>
              </a:ext>
            </a:extLst>
          </p:cNvPr>
          <p:cNvSpPr/>
          <p:nvPr/>
        </p:nvSpPr>
        <p:spPr>
          <a:xfrm>
            <a:off x="761986" y="5470166"/>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1" name="11 Rectángulo">
            <a:extLst>
              <a:ext uri="{FF2B5EF4-FFF2-40B4-BE49-F238E27FC236}">
                <a16:creationId xmlns:a16="http://schemas.microsoft.com/office/drawing/2014/main" id="{58228FC8-8A34-4998-95D4-B40E9DA2547D}"/>
              </a:ext>
            </a:extLst>
          </p:cNvPr>
          <p:cNvSpPr/>
          <p:nvPr/>
        </p:nvSpPr>
        <p:spPr>
          <a:xfrm>
            <a:off x="761986" y="5679685"/>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2" name="231 Rectángulo">
            <a:extLst>
              <a:ext uri="{FF2B5EF4-FFF2-40B4-BE49-F238E27FC236}">
                <a16:creationId xmlns:a16="http://schemas.microsoft.com/office/drawing/2014/main" id="{30293A74-0606-4E98-93FE-1909450A4589}"/>
              </a:ext>
            </a:extLst>
          </p:cNvPr>
          <p:cNvSpPr/>
          <p:nvPr/>
        </p:nvSpPr>
        <p:spPr>
          <a:xfrm>
            <a:off x="762000" y="3409585"/>
            <a:ext cx="360000" cy="420295"/>
          </a:xfrm>
          <a:prstGeom prst="rect">
            <a:avLst/>
          </a:prstGeom>
          <a:solidFill>
            <a:srgbClr val="FFC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a:t>
            </a:r>
          </a:p>
        </p:txBody>
      </p:sp>
      <p:sp>
        <p:nvSpPr>
          <p:cNvPr id="13" name="232 Rectángulo">
            <a:extLst>
              <a:ext uri="{FF2B5EF4-FFF2-40B4-BE49-F238E27FC236}">
                <a16:creationId xmlns:a16="http://schemas.microsoft.com/office/drawing/2014/main" id="{35DB2E2A-043F-437A-A77A-B18DDD405E3C}"/>
              </a:ext>
            </a:extLst>
          </p:cNvPr>
          <p:cNvSpPr/>
          <p:nvPr/>
        </p:nvSpPr>
        <p:spPr>
          <a:xfrm>
            <a:off x="761986" y="382988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4" name="233 Rectángulo">
            <a:extLst>
              <a:ext uri="{FF2B5EF4-FFF2-40B4-BE49-F238E27FC236}">
                <a16:creationId xmlns:a16="http://schemas.microsoft.com/office/drawing/2014/main" id="{7C6215CA-747D-4680-ADA4-588F852C6A0F}"/>
              </a:ext>
            </a:extLst>
          </p:cNvPr>
          <p:cNvSpPr/>
          <p:nvPr/>
        </p:nvSpPr>
        <p:spPr>
          <a:xfrm>
            <a:off x="762000" y="4038600"/>
            <a:ext cx="360000" cy="616439"/>
          </a:xfrm>
          <a:prstGeom prst="rect">
            <a:avLst/>
          </a:prstGeom>
          <a:solidFill>
            <a:srgbClr val="FF0000"/>
          </a:solidFill>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E</a:t>
            </a:r>
          </a:p>
        </p:txBody>
      </p:sp>
      <p:sp>
        <p:nvSpPr>
          <p:cNvPr id="15" name="234 Rectángulo">
            <a:extLst>
              <a:ext uri="{FF2B5EF4-FFF2-40B4-BE49-F238E27FC236}">
                <a16:creationId xmlns:a16="http://schemas.microsoft.com/office/drawing/2014/main" id="{691566EA-2A22-415C-B4C3-73C682F3F110}"/>
              </a:ext>
            </a:extLst>
          </p:cNvPr>
          <p:cNvSpPr/>
          <p:nvPr/>
        </p:nvSpPr>
        <p:spPr>
          <a:xfrm>
            <a:off x="762000" y="4647300"/>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6" name="235 Rectángulo">
            <a:extLst>
              <a:ext uri="{FF2B5EF4-FFF2-40B4-BE49-F238E27FC236}">
                <a16:creationId xmlns:a16="http://schemas.microsoft.com/office/drawing/2014/main" id="{864DEB2F-A534-41BC-95B7-76613A4E5E35}"/>
              </a:ext>
            </a:extLst>
          </p:cNvPr>
          <p:cNvSpPr/>
          <p:nvPr/>
        </p:nvSpPr>
        <p:spPr>
          <a:xfrm>
            <a:off x="762000" y="4854837"/>
            <a:ext cx="360000"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7" name="64 Rectángulo">
            <a:extLst>
              <a:ext uri="{FF2B5EF4-FFF2-40B4-BE49-F238E27FC236}">
                <a16:creationId xmlns:a16="http://schemas.microsoft.com/office/drawing/2014/main" id="{7979BCF4-22B0-4014-AA4A-0B9F57841403}"/>
              </a:ext>
            </a:extLst>
          </p:cNvPr>
          <p:cNvSpPr/>
          <p:nvPr/>
        </p:nvSpPr>
        <p:spPr>
          <a:xfrm flipH="1">
            <a:off x="1759181" y="935474"/>
            <a:ext cx="428628" cy="209519"/>
          </a:xfrm>
          <a:prstGeom prst="rect">
            <a:avLst/>
          </a:prstGeom>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H</a:t>
            </a:r>
          </a:p>
        </p:txBody>
      </p:sp>
      <p:sp>
        <p:nvSpPr>
          <p:cNvPr id="18" name="65 Rectángulo">
            <a:extLst>
              <a:ext uri="{FF2B5EF4-FFF2-40B4-BE49-F238E27FC236}">
                <a16:creationId xmlns:a16="http://schemas.microsoft.com/office/drawing/2014/main" id="{99C02BC7-05F7-4BB3-9DC0-EFE3B63E4C73}"/>
              </a:ext>
            </a:extLst>
          </p:cNvPr>
          <p:cNvSpPr/>
          <p:nvPr/>
        </p:nvSpPr>
        <p:spPr>
          <a:xfrm>
            <a:off x="604849" y="578567"/>
            <a:ext cx="487633" cy="923330"/>
          </a:xfrm>
          <a:prstGeom prst="rect">
            <a:avLst/>
          </a:prstGeom>
          <a:noFill/>
        </p:spPr>
        <p:txBody>
          <a:bodyPr wrap="none" lIns="91440" tIns="45720" rIns="91440" bIns="45720">
            <a:spAutoFit/>
          </a:bodyPr>
          <a:lstStyle/>
          <a:p>
            <a:pPr algn="ctr"/>
            <a:r>
              <a:rPr lang="es-ES" sz="5400" b="1" dirty="0">
                <a:ln w="12700">
                  <a:solidFill>
                    <a:schemeClr val="tx2">
                      <a:satMod val="155000"/>
                    </a:schemeClr>
                  </a:solidFill>
                  <a:prstDash val="solid"/>
                </a:ln>
                <a:solidFill>
                  <a:srgbClr val="C00000"/>
                </a:solidFill>
                <a:effectLst>
                  <a:outerShdw blurRad="41275" dist="20320" dir="1800000" algn="tl" rotWithShape="0">
                    <a:srgbClr val="000000">
                      <a:alpha val="40000"/>
                    </a:srgbClr>
                  </a:outerShdw>
                </a:effectLst>
              </a:rPr>
              <a:t>?</a:t>
            </a:r>
          </a:p>
        </p:txBody>
      </p:sp>
      <p:cxnSp>
        <p:nvCxnSpPr>
          <p:cNvPr id="19" name="67 Conector recto de flecha">
            <a:extLst>
              <a:ext uri="{FF2B5EF4-FFF2-40B4-BE49-F238E27FC236}">
                <a16:creationId xmlns:a16="http://schemas.microsoft.com/office/drawing/2014/main" id="{F8E99EC7-AF7D-497E-8C5E-991BA1670BEE}"/>
              </a:ext>
            </a:extLst>
          </p:cNvPr>
          <p:cNvCxnSpPr>
            <a:stCxn id="17" idx="3"/>
            <a:endCxn id="18" idx="3"/>
          </p:cNvCxnSpPr>
          <p:nvPr/>
        </p:nvCxnSpPr>
        <p:spPr>
          <a:xfrm flipH="1" flipV="1">
            <a:off x="1092481" y="1040233"/>
            <a:ext cx="666700" cy="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96166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Overlays</a:t>
            </a:r>
            <a:endParaRPr lang="es-ES" dirty="0"/>
          </a:p>
        </p:txBody>
      </p:sp>
      <p:sp>
        <p:nvSpPr>
          <p:cNvPr id="3" name="Marcador de contenido 2"/>
          <p:cNvSpPr>
            <a:spLocks noGrp="1"/>
          </p:cNvSpPr>
          <p:nvPr>
            <p:ph idx="1"/>
          </p:nvPr>
        </p:nvSpPr>
        <p:spPr/>
        <p:txBody>
          <a:bodyPr/>
          <a:lstStyle/>
          <a:p>
            <a:r>
              <a:rPr lang="es-ES_tradnl"/>
              <a:t>Para ejecutar </a:t>
            </a:r>
            <a:r>
              <a:rPr lang="es-ES_tradnl" dirty="0"/>
              <a:t>grandes cantidades de código en áreas de memoria muy pequeñas, auxiliados por algunas llamadas al sistema operativo. </a:t>
            </a:r>
          </a:p>
          <a:p>
            <a:r>
              <a:rPr lang="es-ES_tradnl" dirty="0"/>
              <a:t>Es así como nacen los «</a:t>
            </a:r>
            <a:r>
              <a:rPr lang="es-ES_tradnl" dirty="0" err="1"/>
              <a:t>overlays</a:t>
            </a:r>
            <a:r>
              <a:rPr lang="es-ES_tradnl" dirty="0"/>
              <a:t>».</a:t>
            </a:r>
          </a:p>
          <a:p>
            <a:endParaRPr lang="es-ES_tradnl" dirty="0"/>
          </a:p>
          <a:p>
            <a:endParaRPr lang="es-ES" dirty="0"/>
          </a:p>
        </p:txBody>
      </p:sp>
      <p:sp>
        <p:nvSpPr>
          <p:cNvPr id="4" name="Marcador de número de diapositiva 3"/>
          <p:cNvSpPr>
            <a:spLocks noGrp="1"/>
          </p:cNvSpPr>
          <p:nvPr>
            <p:ph type="sldNum" sz="quarter" idx="12"/>
          </p:nvPr>
        </p:nvSpPr>
        <p:spPr/>
        <p:txBody>
          <a:bodyPr/>
          <a:lstStyle/>
          <a:p>
            <a:fld id="{59AE25A0-826B-3145-9930-D12CB40D9CBD}" type="slidenum">
              <a:rPr lang="en-US" smtClean="0"/>
              <a:pPr/>
              <a:t>18</a:t>
            </a:fld>
            <a:endParaRPr lang="en-US"/>
          </a:p>
        </p:txBody>
      </p:sp>
    </p:spTree>
    <p:extLst>
      <p:ext uri="{BB962C8B-B14F-4D97-AF65-F5344CB8AC3E}">
        <p14:creationId xmlns:p14="http://schemas.microsoft.com/office/powerpoint/2010/main" val="2989197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p:txBody>
          <a:bodyPr/>
          <a:lstStyle/>
          <a:p>
            <a:pPr eaLnBrk="1" hangingPunct="1"/>
            <a:r>
              <a:rPr lang="es-PR">
                <a:latin typeface="Tahoma" charset="0"/>
                <a:ea typeface="ＭＳ Ｐゴシック" charset="0"/>
                <a:cs typeface="ＭＳ Ｐゴシック" charset="0"/>
              </a:rPr>
              <a:t>3. Administración de la Memoria: La Memoria Virtual</a:t>
            </a:r>
          </a:p>
        </p:txBody>
      </p:sp>
      <p:sp>
        <p:nvSpPr>
          <p:cNvPr id="16387" name="Rectangle 3"/>
          <p:cNvSpPr>
            <a:spLocks noGrp="1" noChangeArrowheads="1"/>
          </p:cNvSpPr>
          <p:nvPr>
            <p:ph type="subTitle" idx="1"/>
          </p:nvPr>
        </p:nvSpPr>
        <p:spPr/>
        <p:txBody>
          <a:bodyPr/>
          <a:lstStyle/>
          <a:p>
            <a:pPr eaLnBrk="1" hangingPunct="1">
              <a:buFont typeface="Wingdings" charset="0"/>
              <a:buNone/>
            </a:pPr>
            <a:r>
              <a:rPr lang="es-PR">
                <a:latin typeface="Tahoma" charset="0"/>
                <a:ea typeface="ＭＳ Ｐゴシック" charset="0"/>
                <a:cs typeface="ＭＳ Ｐゴシック" charset="0"/>
              </a:rPr>
              <a:t>Fundamentos de Sistemas Operativos</a:t>
            </a:r>
          </a:p>
          <a:p>
            <a:pPr eaLnBrk="1" hangingPunct="1">
              <a:buFont typeface="Wingdings" charset="0"/>
              <a:buNone/>
            </a:pPr>
            <a:endParaRPr lang="es-PR">
              <a:latin typeface="Tahoma" charset="0"/>
              <a:ea typeface="ＭＳ Ｐゴシック" charset="0"/>
              <a:cs typeface="ＭＳ Ｐゴシック"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Introducción</a:t>
            </a:r>
          </a:p>
        </p:txBody>
      </p:sp>
      <p:sp>
        <p:nvSpPr>
          <p:cNvPr id="18435" name="Rectangle 3"/>
          <p:cNvSpPr>
            <a:spLocks noGrp="1" noChangeArrowheads="1"/>
          </p:cNvSpPr>
          <p:nvPr>
            <p:ph idx="1"/>
          </p:nvPr>
        </p:nvSpPr>
        <p:spPr>
          <a:xfrm>
            <a:off x="2894013" y="1827214"/>
            <a:ext cx="7313612" cy="4497387"/>
          </a:xfrm>
        </p:spPr>
        <p:txBody>
          <a:bodyPr/>
          <a:lstStyle/>
          <a:p>
            <a:pPr eaLnBrk="1" hangingPunct="1">
              <a:lnSpc>
                <a:spcPct val="90000"/>
              </a:lnSpc>
            </a:pPr>
            <a:r>
              <a:rPr lang="es-PR" dirty="0">
                <a:latin typeface="Tahoma" charset="0"/>
                <a:ea typeface="ＭＳ Ｐゴシック" charset="0"/>
                <a:cs typeface="ＭＳ Ｐゴシック" charset="0"/>
              </a:rPr>
              <a:t>Los esquemas para la asignación de memoria vistos en la lección anterior requerían que un programa que se fuera a ejecutar debía:</a:t>
            </a:r>
          </a:p>
          <a:p>
            <a:pPr lvl="1" eaLnBrk="1" hangingPunct="1">
              <a:lnSpc>
                <a:spcPct val="90000"/>
              </a:lnSpc>
            </a:pPr>
            <a:r>
              <a:rPr lang="es-PR" dirty="0">
                <a:latin typeface="Tahoma" charset="0"/>
                <a:ea typeface="ＭＳ Ｐゴシック" charset="0"/>
              </a:rPr>
              <a:t>Ser cargado completamente en memoria primaria.</a:t>
            </a:r>
          </a:p>
          <a:p>
            <a:pPr lvl="1" eaLnBrk="1" hangingPunct="1">
              <a:lnSpc>
                <a:spcPct val="90000"/>
              </a:lnSpc>
            </a:pPr>
            <a:r>
              <a:rPr lang="es-PR" dirty="0">
                <a:latin typeface="Tahoma" charset="0"/>
                <a:ea typeface="ＭＳ Ｐゴシック" charset="0"/>
              </a:rPr>
              <a:t>Estar en localizaciones continuas.</a:t>
            </a:r>
          </a:p>
          <a:p>
            <a:pPr eaLnBrk="1" hangingPunct="1">
              <a:lnSpc>
                <a:spcPct val="90000"/>
              </a:lnSpc>
            </a:pPr>
            <a:r>
              <a:rPr lang="es-PR" dirty="0">
                <a:latin typeface="Tahoma" charset="0"/>
                <a:ea typeface="ＭＳ Ｐゴシック" charset="0"/>
                <a:cs typeface="ＭＳ Ｐゴシック" charset="0"/>
              </a:rPr>
              <a:t>Históricamente, el segundo de estas restricciones fue la primera en ser eliminada.</a:t>
            </a:r>
          </a:p>
        </p:txBody>
      </p:sp>
      <p:sp>
        <p:nvSpPr>
          <p:cNvPr id="1843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B1176443-0C76-CF42-A299-97F97B3427CA}" type="slidenum">
              <a:rPr lang="en-US" sz="1400"/>
              <a:pPr eaLnBrk="1" hangingPunct="1"/>
              <a:t>20</a:t>
            </a:fld>
            <a:endParaRPr lang="en-US" sz="1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a:t>
            </a:r>
          </a:p>
        </p:txBody>
      </p:sp>
      <p:sp>
        <p:nvSpPr>
          <p:cNvPr id="20483" name="Rectangle 3"/>
          <p:cNvSpPr>
            <a:spLocks noGrp="1" noChangeArrowheads="1"/>
          </p:cNvSpPr>
          <p:nvPr>
            <p:ph idx="1"/>
          </p:nvPr>
        </p:nvSpPr>
        <p:spPr>
          <a:xfrm>
            <a:off x="2894013" y="1827214"/>
            <a:ext cx="7313612" cy="4802187"/>
          </a:xfrm>
        </p:spPr>
        <p:txBody>
          <a:bodyPr/>
          <a:lstStyle/>
          <a:p>
            <a:pPr eaLnBrk="1" hangingPunct="1">
              <a:lnSpc>
                <a:spcPct val="90000"/>
              </a:lnSpc>
            </a:pPr>
            <a:r>
              <a:rPr lang="es-PR">
                <a:latin typeface="Tahoma" charset="0"/>
                <a:ea typeface="ＭＳ Ｐゴシック" charset="0"/>
                <a:cs typeface="ＭＳ Ｐゴシック" charset="0"/>
              </a:rPr>
              <a:t>En el esquema de </a:t>
            </a:r>
            <a:r>
              <a:rPr lang="es-PR" b="1">
                <a:latin typeface="Tahoma" charset="0"/>
                <a:ea typeface="ＭＳ Ｐゴシック" charset="0"/>
                <a:cs typeface="ＭＳ Ｐゴシック" charset="0"/>
              </a:rPr>
              <a:t>asignación paginada de memoria</a:t>
            </a:r>
            <a:r>
              <a:rPr lang="es-PR">
                <a:latin typeface="Tahoma" charset="0"/>
                <a:ea typeface="ＭＳ Ｐゴシック" charset="0"/>
                <a:cs typeface="ＭＳ Ｐゴシック" charset="0"/>
              </a:rPr>
              <a:t> (</a:t>
            </a:r>
            <a:r>
              <a:rPr lang="es-PR" i="1">
                <a:latin typeface="Tahoma" charset="0"/>
                <a:ea typeface="ＭＳ Ｐゴシック" charset="0"/>
                <a:cs typeface="ＭＳ Ｐゴシック" charset="0"/>
              </a:rPr>
              <a:t>paged memory allocation</a:t>
            </a:r>
            <a:r>
              <a:rPr lang="es-PR">
                <a:latin typeface="Tahoma" charset="0"/>
                <a:ea typeface="ＭＳ Ｐゴシック" charset="0"/>
                <a:cs typeface="ＭＳ Ｐゴシック" charset="0"/>
              </a:rPr>
              <a:t>) el programa que se carga a memoria se divide en porciones del mismo tamaño llamadas </a:t>
            </a:r>
            <a:r>
              <a:rPr lang="es-PR" b="1">
                <a:latin typeface="Tahoma" charset="0"/>
                <a:ea typeface="ＭＳ Ｐゴシック" charset="0"/>
                <a:cs typeface="ＭＳ Ｐゴシック" charset="0"/>
              </a:rPr>
              <a:t>páginas</a:t>
            </a:r>
            <a:r>
              <a:rPr lang="es-PR">
                <a:latin typeface="Tahoma" charset="0"/>
                <a:ea typeface="ＭＳ Ｐゴシック" charset="0"/>
                <a:cs typeface="ＭＳ Ｐゴシック" charset="0"/>
              </a:rPr>
              <a:t>.</a:t>
            </a:r>
          </a:p>
          <a:p>
            <a:pPr lvl="1" eaLnBrk="1" hangingPunct="1">
              <a:lnSpc>
                <a:spcPct val="90000"/>
              </a:lnSpc>
            </a:pPr>
            <a:r>
              <a:rPr lang="es-PR">
                <a:latin typeface="Tahoma" charset="0"/>
                <a:ea typeface="ＭＳ Ｐゴシック" charset="0"/>
              </a:rPr>
              <a:t>Estas páginas </a:t>
            </a:r>
            <a:r>
              <a:rPr lang="es-PR" b="1" i="1">
                <a:latin typeface="Tahoma" charset="0"/>
                <a:ea typeface="ＭＳ Ｐゴシック" charset="0"/>
              </a:rPr>
              <a:t>no</a:t>
            </a:r>
            <a:r>
              <a:rPr lang="es-PR">
                <a:latin typeface="Tahoma" charset="0"/>
                <a:ea typeface="ＭＳ Ｐゴシック" charset="0"/>
              </a:rPr>
              <a:t> tienen que ser colocadas de forma continua en memoria.</a:t>
            </a:r>
          </a:p>
          <a:p>
            <a:pPr lvl="1" eaLnBrk="1" hangingPunct="1">
              <a:lnSpc>
                <a:spcPct val="90000"/>
              </a:lnSpc>
            </a:pPr>
            <a:r>
              <a:rPr lang="es-PR">
                <a:latin typeface="Tahoma" charset="0"/>
                <a:ea typeface="ＭＳ Ｐゴシック" charset="0"/>
              </a:rPr>
              <a:t>Pero </a:t>
            </a:r>
            <a:r>
              <a:rPr lang="es-PR" b="1" i="1">
                <a:latin typeface="Tahoma" charset="0"/>
                <a:ea typeface="ＭＳ Ｐゴシック" charset="0"/>
              </a:rPr>
              <a:t>todas</a:t>
            </a:r>
            <a:r>
              <a:rPr lang="es-PR">
                <a:latin typeface="Tahoma" charset="0"/>
                <a:ea typeface="ＭＳ Ｐゴシック" charset="0"/>
              </a:rPr>
              <a:t> las páginas deben ser cargadas antes de ejecutar el programa.</a:t>
            </a:r>
          </a:p>
        </p:txBody>
      </p:sp>
      <p:sp>
        <p:nvSpPr>
          <p:cNvPr id="2048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247EB99B-A945-6647-9604-2B2079B89A63}" type="slidenum">
              <a:rPr lang="en-US" sz="1400"/>
              <a:pPr eaLnBrk="1" hangingPunct="1"/>
              <a:t>21</a:t>
            </a:fld>
            <a:endParaRPr 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84 Grupo"/>
          <p:cNvGrpSpPr/>
          <p:nvPr/>
        </p:nvGrpSpPr>
        <p:grpSpPr>
          <a:xfrm>
            <a:off x="2649337" y="2127524"/>
            <a:ext cx="2021543" cy="4285109"/>
            <a:chOff x="3873427" y="1285860"/>
            <a:chExt cx="3281916" cy="4550441"/>
          </a:xfrm>
        </p:grpSpPr>
        <p:sp>
          <p:nvSpPr>
            <p:cNvPr id="3" name="2 Rectángulo"/>
            <p:cNvSpPr/>
            <p:nvPr/>
          </p:nvSpPr>
          <p:spPr>
            <a:xfrm>
              <a:off x="5581719" y="4137144"/>
              <a:ext cx="1571636" cy="340276"/>
            </a:xfrm>
            <a:prstGeom prst="rect">
              <a:avLst/>
            </a:prstGeom>
            <a:solidFill>
              <a:schemeClr val="bg1"/>
            </a:solidFill>
            <a:ln w="38100">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4" name="3 Rectángulo"/>
            <p:cNvSpPr/>
            <p:nvPr/>
          </p:nvSpPr>
          <p:spPr>
            <a:xfrm>
              <a:off x="5581719" y="1785926"/>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0</a:t>
              </a:r>
            </a:p>
          </p:txBody>
        </p:sp>
        <p:sp>
          <p:nvSpPr>
            <p:cNvPr id="5" name="4 Rectángulo"/>
            <p:cNvSpPr/>
            <p:nvPr/>
          </p:nvSpPr>
          <p:spPr>
            <a:xfrm>
              <a:off x="5581719" y="2122681"/>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6" name="5 Rectángulo"/>
            <p:cNvSpPr/>
            <p:nvPr/>
          </p:nvSpPr>
          <p:spPr>
            <a:xfrm>
              <a:off x="5581719" y="2458916"/>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7" name="6 Rectángulo"/>
            <p:cNvSpPr/>
            <p:nvPr/>
          </p:nvSpPr>
          <p:spPr>
            <a:xfrm>
              <a:off x="5581719" y="2787616"/>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0</a:t>
              </a:r>
            </a:p>
          </p:txBody>
        </p:sp>
        <p:sp>
          <p:nvSpPr>
            <p:cNvPr id="8" name="7 Rectángulo"/>
            <p:cNvSpPr/>
            <p:nvPr/>
          </p:nvSpPr>
          <p:spPr>
            <a:xfrm>
              <a:off x="5581719" y="3127892"/>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9" name="8 Rectángulo"/>
            <p:cNvSpPr/>
            <p:nvPr/>
          </p:nvSpPr>
          <p:spPr>
            <a:xfrm>
              <a:off x="5581719" y="3468168"/>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10" name="9 Rectángulo"/>
            <p:cNvSpPr/>
            <p:nvPr/>
          </p:nvSpPr>
          <p:spPr>
            <a:xfrm>
              <a:off x="5581719" y="3808444"/>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0</a:t>
              </a:r>
            </a:p>
          </p:txBody>
        </p:sp>
        <p:sp>
          <p:nvSpPr>
            <p:cNvPr id="11" name="10 Elipse"/>
            <p:cNvSpPr/>
            <p:nvPr/>
          </p:nvSpPr>
          <p:spPr>
            <a:xfrm>
              <a:off x="6321818" y="217982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12" name="11 Elipse"/>
            <p:cNvSpPr/>
            <p:nvPr/>
          </p:nvSpPr>
          <p:spPr>
            <a:xfrm>
              <a:off x="6321818" y="227701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13" name="12 Elipse"/>
            <p:cNvSpPr/>
            <p:nvPr/>
          </p:nvSpPr>
          <p:spPr>
            <a:xfrm>
              <a:off x="6322993" y="237027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14" name="13 Abrir llave"/>
            <p:cNvSpPr/>
            <p:nvPr/>
          </p:nvSpPr>
          <p:spPr>
            <a:xfrm>
              <a:off x="5215011" y="1785926"/>
              <a:ext cx="244147" cy="1013265"/>
            </a:xfrm>
            <a:prstGeom prst="leftBrace">
              <a:avLst>
                <a:gd name="adj1" fmla="val 8333"/>
                <a:gd name="adj2" fmla="val 48612"/>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15" name="14 CuadroTexto"/>
            <p:cNvSpPr txBox="1"/>
            <p:nvPr/>
          </p:nvSpPr>
          <p:spPr>
            <a:xfrm>
              <a:off x="4142584" y="2121091"/>
              <a:ext cx="1214447" cy="261467"/>
            </a:xfrm>
            <a:prstGeom prst="rect">
              <a:avLst/>
            </a:prstGeom>
            <a:noFill/>
          </p:spPr>
          <p:txBody>
            <a:bodyPr wrap="square" rtlCol="0">
              <a:spAutoFit/>
            </a:bodyPr>
            <a:lstStyle/>
            <a:p>
              <a:r>
                <a:rPr lang="es-MX" sz="1000" b="1" dirty="0">
                  <a:solidFill>
                    <a:schemeClr val="accent1">
                      <a:lumMod val="75000"/>
                    </a:schemeClr>
                  </a:solidFill>
                </a:rPr>
                <a:t>Página 0</a:t>
              </a:r>
            </a:p>
          </p:txBody>
        </p:sp>
        <p:sp>
          <p:nvSpPr>
            <p:cNvPr id="16" name="15 Rectángulo"/>
            <p:cNvSpPr/>
            <p:nvPr/>
          </p:nvSpPr>
          <p:spPr>
            <a:xfrm>
              <a:off x="5581719" y="1785926"/>
              <a:ext cx="1571636" cy="101326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17" name="16 Rectángulo"/>
            <p:cNvSpPr/>
            <p:nvPr/>
          </p:nvSpPr>
          <p:spPr>
            <a:xfrm>
              <a:off x="5583707" y="2798063"/>
              <a:ext cx="1571636" cy="101326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18" name="17 Elipse"/>
            <p:cNvSpPr/>
            <p:nvPr/>
          </p:nvSpPr>
          <p:spPr>
            <a:xfrm>
              <a:off x="6346375" y="319153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19" name="18 Elipse"/>
            <p:cNvSpPr/>
            <p:nvPr/>
          </p:nvSpPr>
          <p:spPr>
            <a:xfrm>
              <a:off x="6346375" y="328872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20" name="19 Elipse"/>
            <p:cNvSpPr/>
            <p:nvPr/>
          </p:nvSpPr>
          <p:spPr>
            <a:xfrm>
              <a:off x="6347550" y="338198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21" name="20 Rectángulo"/>
            <p:cNvSpPr/>
            <p:nvPr/>
          </p:nvSpPr>
          <p:spPr>
            <a:xfrm>
              <a:off x="5583707" y="4482759"/>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22" name="21 Elipse"/>
            <p:cNvSpPr/>
            <p:nvPr/>
          </p:nvSpPr>
          <p:spPr>
            <a:xfrm>
              <a:off x="6348363" y="420324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23" name="22 Elipse"/>
            <p:cNvSpPr/>
            <p:nvPr/>
          </p:nvSpPr>
          <p:spPr>
            <a:xfrm>
              <a:off x="6348363" y="428885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24" name="23 Elipse"/>
            <p:cNvSpPr/>
            <p:nvPr/>
          </p:nvSpPr>
          <p:spPr>
            <a:xfrm>
              <a:off x="6349538" y="438211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25" name="24 Rectángulo"/>
            <p:cNvSpPr/>
            <p:nvPr/>
          </p:nvSpPr>
          <p:spPr>
            <a:xfrm>
              <a:off x="5583707" y="3811328"/>
              <a:ext cx="1571636" cy="1013265"/>
            </a:xfrm>
            <a:prstGeom prst="rect">
              <a:avLst/>
            </a:prstGeom>
            <a:noFill/>
            <a:ln w="5715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cxnSp>
          <p:nvCxnSpPr>
            <p:cNvPr id="26" name="25 Conector recto"/>
            <p:cNvCxnSpPr/>
            <p:nvPr/>
          </p:nvCxnSpPr>
          <p:spPr>
            <a:xfrm rot="5400000">
              <a:off x="5456511" y="4315870"/>
              <a:ext cx="288000" cy="0"/>
            </a:xfrm>
            <a:prstGeom prst="line">
              <a:avLst/>
            </a:prstGeom>
            <a:ln w="57150">
              <a:solidFill>
                <a:schemeClr val="bg1"/>
              </a:solidFill>
            </a:ln>
            <a:effectLst/>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rot="5400000">
              <a:off x="7011342" y="4315872"/>
              <a:ext cx="28800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27 Abrir llave"/>
            <p:cNvSpPr/>
            <p:nvPr/>
          </p:nvSpPr>
          <p:spPr>
            <a:xfrm>
              <a:off x="5207444" y="2827807"/>
              <a:ext cx="245590" cy="1013265"/>
            </a:xfrm>
            <a:prstGeom prst="leftBrace">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29" name="28 CuadroTexto"/>
            <p:cNvSpPr txBox="1"/>
            <p:nvPr/>
          </p:nvSpPr>
          <p:spPr>
            <a:xfrm>
              <a:off x="4142584" y="3171384"/>
              <a:ext cx="1224034" cy="261467"/>
            </a:xfrm>
            <a:prstGeom prst="rect">
              <a:avLst/>
            </a:prstGeom>
            <a:noFill/>
          </p:spPr>
          <p:txBody>
            <a:bodyPr wrap="square" rtlCol="0">
              <a:spAutoFit/>
            </a:bodyPr>
            <a:lstStyle/>
            <a:p>
              <a:r>
                <a:rPr lang="es-MX" sz="1000" b="1" dirty="0">
                  <a:solidFill>
                    <a:schemeClr val="accent1">
                      <a:lumMod val="75000"/>
                    </a:schemeClr>
                  </a:solidFill>
                </a:rPr>
                <a:t>Página 1</a:t>
              </a:r>
            </a:p>
          </p:txBody>
        </p:sp>
        <p:sp>
          <p:nvSpPr>
            <p:cNvPr id="30" name="29 Elipse"/>
            <p:cNvSpPr/>
            <p:nvPr/>
          </p:nvSpPr>
          <p:spPr>
            <a:xfrm>
              <a:off x="4860337" y="419166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31" name="30 Elipse"/>
            <p:cNvSpPr/>
            <p:nvPr/>
          </p:nvSpPr>
          <p:spPr>
            <a:xfrm>
              <a:off x="4860337" y="428885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32" name="31 Elipse"/>
            <p:cNvSpPr/>
            <p:nvPr/>
          </p:nvSpPr>
          <p:spPr>
            <a:xfrm>
              <a:off x="4861512" y="438211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33" name="32 Rectángulo"/>
            <p:cNvSpPr/>
            <p:nvPr/>
          </p:nvSpPr>
          <p:spPr>
            <a:xfrm>
              <a:off x="5583707" y="4823035"/>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1</a:t>
              </a:r>
            </a:p>
          </p:txBody>
        </p:sp>
        <p:sp>
          <p:nvSpPr>
            <p:cNvPr id="34" name="33 Rectángulo"/>
            <p:cNvSpPr/>
            <p:nvPr/>
          </p:nvSpPr>
          <p:spPr>
            <a:xfrm>
              <a:off x="5583707" y="5159790"/>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35" name="34 Rectángulo"/>
            <p:cNvSpPr/>
            <p:nvPr/>
          </p:nvSpPr>
          <p:spPr>
            <a:xfrm>
              <a:off x="5583707" y="5496025"/>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36" name="35 Elipse"/>
            <p:cNvSpPr/>
            <p:nvPr/>
          </p:nvSpPr>
          <p:spPr>
            <a:xfrm>
              <a:off x="6323806" y="521693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37" name="36 Elipse"/>
            <p:cNvSpPr/>
            <p:nvPr/>
          </p:nvSpPr>
          <p:spPr>
            <a:xfrm>
              <a:off x="6323806" y="53141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38" name="37 Elipse"/>
            <p:cNvSpPr/>
            <p:nvPr/>
          </p:nvSpPr>
          <p:spPr>
            <a:xfrm>
              <a:off x="6324981" y="540738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39" name="38 Abrir llave"/>
            <p:cNvSpPr/>
            <p:nvPr/>
          </p:nvSpPr>
          <p:spPr>
            <a:xfrm>
              <a:off x="5219213" y="4823035"/>
              <a:ext cx="244147" cy="1013265"/>
            </a:xfrm>
            <a:prstGeom prst="leftBrace">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40" name="39 CuadroTexto"/>
            <p:cNvSpPr txBox="1"/>
            <p:nvPr/>
          </p:nvSpPr>
          <p:spPr>
            <a:xfrm>
              <a:off x="3873427" y="5188248"/>
              <a:ext cx="1435504" cy="261467"/>
            </a:xfrm>
            <a:prstGeom prst="rect">
              <a:avLst/>
            </a:prstGeom>
            <a:noFill/>
          </p:spPr>
          <p:txBody>
            <a:bodyPr wrap="square" rtlCol="0">
              <a:spAutoFit/>
            </a:bodyPr>
            <a:lstStyle/>
            <a:p>
              <a:r>
                <a:rPr lang="es-MX" sz="1000" b="1" dirty="0">
                  <a:solidFill>
                    <a:schemeClr val="accent1">
                      <a:lumMod val="75000"/>
                    </a:schemeClr>
                  </a:solidFill>
                </a:rPr>
                <a:t>Página n-1</a:t>
              </a:r>
            </a:p>
          </p:txBody>
        </p:sp>
        <p:sp>
          <p:nvSpPr>
            <p:cNvPr id="41" name="40 Rectángulo"/>
            <p:cNvSpPr/>
            <p:nvPr/>
          </p:nvSpPr>
          <p:spPr>
            <a:xfrm>
              <a:off x="5583707" y="4823035"/>
              <a:ext cx="1571636" cy="101326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2" name="41 CuadroTexto"/>
            <p:cNvSpPr txBox="1"/>
            <p:nvPr/>
          </p:nvSpPr>
          <p:spPr>
            <a:xfrm>
              <a:off x="5561530" y="1285860"/>
              <a:ext cx="1537222" cy="424885"/>
            </a:xfrm>
            <a:prstGeom prst="rect">
              <a:avLst/>
            </a:prstGeom>
            <a:noFill/>
          </p:spPr>
          <p:txBody>
            <a:bodyPr wrap="square" rtlCol="0">
              <a:spAutoFit/>
            </a:bodyPr>
            <a:lstStyle/>
            <a:p>
              <a:pPr algn="ctr"/>
              <a:r>
                <a:rPr lang="es-MX" sz="1000" b="1" dirty="0">
                  <a:solidFill>
                    <a:schemeClr val="accent1">
                      <a:lumMod val="75000"/>
                    </a:schemeClr>
                  </a:solidFill>
                </a:rPr>
                <a:t>Programa XYZ</a:t>
              </a:r>
            </a:p>
          </p:txBody>
        </p:sp>
      </p:grpSp>
      <p:grpSp>
        <p:nvGrpSpPr>
          <p:cNvPr id="43" name="42 Grupo"/>
          <p:cNvGrpSpPr/>
          <p:nvPr/>
        </p:nvGrpSpPr>
        <p:grpSpPr>
          <a:xfrm>
            <a:off x="7024694" y="848338"/>
            <a:ext cx="3071834" cy="1437655"/>
            <a:chOff x="4786314" y="557305"/>
            <a:chExt cx="3071834" cy="1437655"/>
          </a:xfrm>
        </p:grpSpPr>
        <p:sp>
          <p:nvSpPr>
            <p:cNvPr id="44" name="43 Rectángulo"/>
            <p:cNvSpPr/>
            <p:nvPr/>
          </p:nvSpPr>
          <p:spPr>
            <a:xfrm>
              <a:off x="5959105"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45" name="44 Rectángulo"/>
            <p:cNvSpPr/>
            <p:nvPr/>
          </p:nvSpPr>
          <p:spPr>
            <a:xfrm>
              <a:off x="6137247"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46" name="45 Rectángulo"/>
            <p:cNvSpPr/>
            <p:nvPr/>
          </p:nvSpPr>
          <p:spPr>
            <a:xfrm>
              <a:off x="4885248"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47" name="46 Rectángulo"/>
            <p:cNvSpPr/>
            <p:nvPr/>
          </p:nvSpPr>
          <p:spPr>
            <a:xfrm>
              <a:off x="5061878"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0</a:t>
              </a:r>
            </a:p>
          </p:txBody>
        </p:sp>
        <p:sp>
          <p:nvSpPr>
            <p:cNvPr id="48" name="47 Rectángulo"/>
            <p:cNvSpPr/>
            <p:nvPr/>
          </p:nvSpPr>
          <p:spPr>
            <a:xfrm>
              <a:off x="5240843"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49" name="48 Rectángulo"/>
            <p:cNvSpPr/>
            <p:nvPr/>
          </p:nvSpPr>
          <p:spPr>
            <a:xfrm>
              <a:off x="5418270"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50" name="49 Rectángulo"/>
            <p:cNvSpPr/>
            <p:nvPr/>
          </p:nvSpPr>
          <p:spPr>
            <a:xfrm>
              <a:off x="5780135"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51" name="50 Rectángulo"/>
            <p:cNvSpPr/>
            <p:nvPr/>
          </p:nvSpPr>
          <p:spPr>
            <a:xfrm>
              <a:off x="5596141"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0</a:t>
              </a:r>
            </a:p>
          </p:txBody>
        </p:sp>
        <p:sp>
          <p:nvSpPr>
            <p:cNvPr id="52" name="51 Rectángulo"/>
            <p:cNvSpPr/>
            <p:nvPr/>
          </p:nvSpPr>
          <p:spPr>
            <a:xfrm>
              <a:off x="6316217"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53" name="52 Rectángulo"/>
            <p:cNvSpPr/>
            <p:nvPr/>
          </p:nvSpPr>
          <p:spPr>
            <a:xfrm>
              <a:off x="6495187"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0</a:t>
              </a:r>
            </a:p>
          </p:txBody>
        </p:sp>
        <p:sp>
          <p:nvSpPr>
            <p:cNvPr id="54" name="53 Rectángulo"/>
            <p:cNvSpPr/>
            <p:nvPr/>
          </p:nvSpPr>
          <p:spPr>
            <a:xfrm>
              <a:off x="6678352"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55" name="54 Rectángulo"/>
            <p:cNvSpPr/>
            <p:nvPr/>
          </p:nvSpPr>
          <p:spPr>
            <a:xfrm>
              <a:off x="6857322"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56" name="55 Rectángulo"/>
            <p:cNvSpPr/>
            <p:nvPr/>
          </p:nvSpPr>
          <p:spPr>
            <a:xfrm>
              <a:off x="7215262"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57" name="56 Rectángulo"/>
            <p:cNvSpPr/>
            <p:nvPr/>
          </p:nvSpPr>
          <p:spPr>
            <a:xfrm>
              <a:off x="7036292"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0</a:t>
              </a:r>
            </a:p>
          </p:txBody>
        </p:sp>
        <p:sp>
          <p:nvSpPr>
            <p:cNvPr id="58" name="57 Rectángulo"/>
            <p:cNvSpPr/>
            <p:nvPr/>
          </p:nvSpPr>
          <p:spPr>
            <a:xfrm>
              <a:off x="7394232"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59" name="58 Rectángulo"/>
            <p:cNvSpPr/>
            <p:nvPr/>
          </p:nvSpPr>
          <p:spPr>
            <a:xfrm>
              <a:off x="7573202" y="1095259"/>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800" dirty="0"/>
                <a:t>1</a:t>
              </a:r>
            </a:p>
          </p:txBody>
        </p:sp>
        <p:sp>
          <p:nvSpPr>
            <p:cNvPr id="60" name="59 Rectángulo"/>
            <p:cNvSpPr/>
            <p:nvPr/>
          </p:nvSpPr>
          <p:spPr>
            <a:xfrm>
              <a:off x="4842680" y="982235"/>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a:t>
              </a:r>
            </a:p>
          </p:txBody>
        </p:sp>
        <p:sp>
          <p:nvSpPr>
            <p:cNvPr id="61" name="60 Rectángulo"/>
            <p:cNvSpPr/>
            <p:nvPr/>
          </p:nvSpPr>
          <p:spPr>
            <a:xfrm>
              <a:off x="5029356" y="978910"/>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2</a:t>
              </a:r>
            </a:p>
          </p:txBody>
        </p:sp>
        <p:sp>
          <p:nvSpPr>
            <p:cNvPr id="62" name="61 Rectángulo"/>
            <p:cNvSpPr/>
            <p:nvPr/>
          </p:nvSpPr>
          <p:spPr>
            <a:xfrm>
              <a:off x="4786314" y="557305"/>
              <a:ext cx="3071834" cy="415498"/>
            </a:xfrm>
            <a:prstGeom prst="rect">
              <a:avLst/>
            </a:prstGeom>
          </p:spPr>
          <p:txBody>
            <a:bodyPr wrap="square">
              <a:spAutoFit/>
            </a:bodyPr>
            <a:lstStyle/>
            <a:p>
              <a:r>
                <a:rPr lang="es-MX" sz="1000" dirty="0"/>
                <a:t>Los ordenadores modernos normalmente tienen un tamaño de palabra de 16, 32 ó 64 bits.</a:t>
              </a:r>
            </a:p>
          </p:txBody>
        </p:sp>
        <p:sp>
          <p:nvSpPr>
            <p:cNvPr id="63" name="62 Rectángulo"/>
            <p:cNvSpPr/>
            <p:nvPr/>
          </p:nvSpPr>
          <p:spPr>
            <a:xfrm>
              <a:off x="5197352" y="984744"/>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3</a:t>
              </a:r>
            </a:p>
          </p:txBody>
        </p:sp>
        <p:sp>
          <p:nvSpPr>
            <p:cNvPr id="64" name="63 Rectángulo"/>
            <p:cNvSpPr/>
            <p:nvPr/>
          </p:nvSpPr>
          <p:spPr>
            <a:xfrm>
              <a:off x="5382938" y="978910"/>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4</a:t>
              </a:r>
            </a:p>
          </p:txBody>
        </p:sp>
        <p:sp>
          <p:nvSpPr>
            <p:cNvPr id="65" name="64 Rectángulo"/>
            <p:cNvSpPr/>
            <p:nvPr/>
          </p:nvSpPr>
          <p:spPr>
            <a:xfrm>
              <a:off x="5562084" y="978910"/>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5</a:t>
              </a:r>
            </a:p>
          </p:txBody>
        </p:sp>
        <p:sp>
          <p:nvSpPr>
            <p:cNvPr id="66" name="65 Rectángulo"/>
            <p:cNvSpPr/>
            <p:nvPr/>
          </p:nvSpPr>
          <p:spPr>
            <a:xfrm>
              <a:off x="5743446" y="983934"/>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6</a:t>
              </a:r>
            </a:p>
          </p:txBody>
        </p:sp>
        <p:sp>
          <p:nvSpPr>
            <p:cNvPr id="67" name="66 Rectángulo"/>
            <p:cNvSpPr/>
            <p:nvPr/>
          </p:nvSpPr>
          <p:spPr>
            <a:xfrm>
              <a:off x="5914250" y="978618"/>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7</a:t>
              </a:r>
            </a:p>
          </p:txBody>
        </p:sp>
        <p:sp>
          <p:nvSpPr>
            <p:cNvPr id="68" name="67 Rectángulo"/>
            <p:cNvSpPr/>
            <p:nvPr/>
          </p:nvSpPr>
          <p:spPr>
            <a:xfrm>
              <a:off x="6103874" y="983934"/>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8</a:t>
              </a:r>
            </a:p>
          </p:txBody>
        </p:sp>
        <p:sp>
          <p:nvSpPr>
            <p:cNvPr id="69" name="68 Rectángulo"/>
            <p:cNvSpPr/>
            <p:nvPr/>
          </p:nvSpPr>
          <p:spPr>
            <a:xfrm>
              <a:off x="6278155" y="983934"/>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9</a:t>
              </a:r>
            </a:p>
          </p:txBody>
        </p:sp>
        <p:sp>
          <p:nvSpPr>
            <p:cNvPr id="70" name="69 Rectángulo"/>
            <p:cNvSpPr/>
            <p:nvPr/>
          </p:nvSpPr>
          <p:spPr>
            <a:xfrm>
              <a:off x="6457125" y="983934"/>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10</a:t>
              </a:r>
            </a:p>
          </p:txBody>
        </p:sp>
        <p:sp>
          <p:nvSpPr>
            <p:cNvPr id="71" name="70 Rectángulo"/>
            <p:cNvSpPr/>
            <p:nvPr/>
          </p:nvSpPr>
          <p:spPr>
            <a:xfrm>
              <a:off x="6637262" y="982235"/>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11</a:t>
              </a:r>
            </a:p>
          </p:txBody>
        </p:sp>
        <p:sp>
          <p:nvSpPr>
            <p:cNvPr id="72" name="71 Rectángulo"/>
            <p:cNvSpPr/>
            <p:nvPr/>
          </p:nvSpPr>
          <p:spPr>
            <a:xfrm>
              <a:off x="6819574" y="983934"/>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12</a:t>
              </a:r>
            </a:p>
          </p:txBody>
        </p:sp>
        <p:sp>
          <p:nvSpPr>
            <p:cNvPr id="73" name="72 Rectángulo"/>
            <p:cNvSpPr/>
            <p:nvPr/>
          </p:nvSpPr>
          <p:spPr>
            <a:xfrm>
              <a:off x="6990949" y="982235"/>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13</a:t>
              </a:r>
            </a:p>
          </p:txBody>
        </p:sp>
        <p:sp>
          <p:nvSpPr>
            <p:cNvPr id="74" name="73 Rectángulo"/>
            <p:cNvSpPr/>
            <p:nvPr/>
          </p:nvSpPr>
          <p:spPr>
            <a:xfrm>
              <a:off x="7175356" y="973886"/>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14</a:t>
              </a:r>
            </a:p>
          </p:txBody>
        </p:sp>
        <p:sp>
          <p:nvSpPr>
            <p:cNvPr id="75" name="74 Rectángulo"/>
            <p:cNvSpPr/>
            <p:nvPr/>
          </p:nvSpPr>
          <p:spPr>
            <a:xfrm>
              <a:off x="7353058" y="983642"/>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15</a:t>
              </a:r>
            </a:p>
          </p:txBody>
        </p:sp>
        <p:sp>
          <p:nvSpPr>
            <p:cNvPr id="76" name="75 Rectángulo"/>
            <p:cNvSpPr/>
            <p:nvPr/>
          </p:nvSpPr>
          <p:spPr>
            <a:xfrm>
              <a:off x="7529686" y="983642"/>
              <a:ext cx="252000" cy="108000"/>
            </a:xfrm>
            <a:prstGeom prst="rect">
              <a:avLst/>
            </a:prstGeom>
            <a:noFill/>
            <a:ln>
              <a:noFill/>
            </a:ln>
          </p:spPr>
          <p:style>
            <a:lnRef idx="2">
              <a:schemeClr val="dk1"/>
            </a:lnRef>
            <a:fillRef idx="1">
              <a:schemeClr val="lt1"/>
            </a:fillRef>
            <a:effectRef idx="0">
              <a:schemeClr val="dk1"/>
            </a:effectRef>
            <a:fontRef idx="minor">
              <a:schemeClr val="dk1"/>
            </a:fontRef>
          </p:style>
          <p:txBody>
            <a:bodyPr vert="horz" rtlCol="0" anchor="ctr"/>
            <a:lstStyle/>
            <a:p>
              <a:pPr algn="ctr"/>
              <a:r>
                <a:rPr lang="es-MX" sz="500" dirty="0"/>
                <a:t>16</a:t>
              </a:r>
            </a:p>
          </p:txBody>
        </p:sp>
        <p:sp>
          <p:nvSpPr>
            <p:cNvPr id="77" name="76 Cerrar llave"/>
            <p:cNvSpPr/>
            <p:nvPr/>
          </p:nvSpPr>
          <p:spPr>
            <a:xfrm rot="5400000">
              <a:off x="6189261" y="192006"/>
              <a:ext cx="265330" cy="2873357"/>
            </a:xfrm>
            <a:prstGeom prst="rightBrace">
              <a:avLst>
                <a:gd name="adj1" fmla="val 8333"/>
                <a:gd name="adj2" fmla="val 51208"/>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78" name="77 CuadroTexto"/>
            <p:cNvSpPr txBox="1"/>
            <p:nvPr/>
          </p:nvSpPr>
          <p:spPr>
            <a:xfrm>
              <a:off x="5944394" y="1687183"/>
              <a:ext cx="805798" cy="307777"/>
            </a:xfrm>
            <a:prstGeom prst="rect">
              <a:avLst/>
            </a:prstGeom>
            <a:noFill/>
          </p:spPr>
          <p:txBody>
            <a:bodyPr wrap="none" rtlCol="0">
              <a:spAutoFit/>
            </a:bodyPr>
            <a:lstStyle/>
            <a:p>
              <a:r>
                <a:rPr lang="es-MX" sz="1400" b="1" dirty="0">
                  <a:solidFill>
                    <a:schemeClr val="accent1">
                      <a:lumMod val="75000"/>
                    </a:schemeClr>
                  </a:solidFill>
                </a:rPr>
                <a:t>palabra</a:t>
              </a:r>
            </a:p>
          </p:txBody>
        </p:sp>
      </p:grpSp>
      <p:grpSp>
        <p:nvGrpSpPr>
          <p:cNvPr id="79" name="158 Grupo"/>
          <p:cNvGrpSpPr/>
          <p:nvPr/>
        </p:nvGrpSpPr>
        <p:grpSpPr>
          <a:xfrm>
            <a:off x="7267736" y="2390965"/>
            <a:ext cx="2999338" cy="2300557"/>
            <a:chOff x="273810" y="2564824"/>
            <a:chExt cx="3870121" cy="2361511"/>
          </a:xfrm>
        </p:grpSpPr>
        <p:sp>
          <p:nvSpPr>
            <p:cNvPr id="80" name="79 CuadroTexto"/>
            <p:cNvSpPr txBox="1"/>
            <p:nvPr/>
          </p:nvSpPr>
          <p:spPr>
            <a:xfrm>
              <a:off x="2985597" y="3278049"/>
              <a:ext cx="1158334" cy="252745"/>
            </a:xfrm>
            <a:prstGeom prst="rect">
              <a:avLst/>
            </a:prstGeom>
            <a:noFill/>
          </p:spPr>
          <p:txBody>
            <a:bodyPr wrap="square" rtlCol="0">
              <a:spAutoFit/>
            </a:bodyPr>
            <a:lstStyle/>
            <a:p>
              <a:r>
                <a:rPr lang="es-MX" sz="1000" b="1" dirty="0">
                  <a:solidFill>
                    <a:schemeClr val="accent1">
                      <a:lumMod val="75000"/>
                    </a:schemeClr>
                  </a:solidFill>
                </a:rPr>
                <a:t>Marco n-1</a:t>
              </a:r>
            </a:p>
          </p:txBody>
        </p:sp>
        <p:sp>
          <p:nvSpPr>
            <p:cNvPr id="81" name="80 Rectángulo"/>
            <p:cNvSpPr/>
            <p:nvPr/>
          </p:nvSpPr>
          <p:spPr>
            <a:xfrm>
              <a:off x="1557505" y="2564824"/>
              <a:ext cx="1280945"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Página 0</a:t>
              </a:r>
            </a:p>
          </p:txBody>
        </p:sp>
        <p:sp>
          <p:nvSpPr>
            <p:cNvPr id="82" name="81 Rectángulo"/>
            <p:cNvSpPr/>
            <p:nvPr/>
          </p:nvSpPr>
          <p:spPr>
            <a:xfrm>
              <a:off x="1557505" y="2901579"/>
              <a:ext cx="1280945"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83" name="82 Rectángulo"/>
            <p:cNvSpPr/>
            <p:nvPr/>
          </p:nvSpPr>
          <p:spPr>
            <a:xfrm>
              <a:off x="1557505" y="3237814"/>
              <a:ext cx="1280945"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Página n-1</a:t>
              </a:r>
            </a:p>
          </p:txBody>
        </p:sp>
        <p:sp>
          <p:nvSpPr>
            <p:cNvPr id="84" name="83 Rectángulo"/>
            <p:cNvSpPr/>
            <p:nvPr/>
          </p:nvSpPr>
          <p:spPr>
            <a:xfrm>
              <a:off x="1557505" y="3566514"/>
              <a:ext cx="1280945"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Página </a:t>
              </a:r>
            </a:p>
          </p:txBody>
        </p:sp>
        <p:sp>
          <p:nvSpPr>
            <p:cNvPr id="85" name="84 Elipse"/>
            <p:cNvSpPr/>
            <p:nvPr/>
          </p:nvSpPr>
          <p:spPr>
            <a:xfrm>
              <a:off x="2160715" y="2958727"/>
              <a:ext cx="37263"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86" name="85 Elipse"/>
            <p:cNvSpPr/>
            <p:nvPr/>
          </p:nvSpPr>
          <p:spPr>
            <a:xfrm>
              <a:off x="2160715" y="3055912"/>
              <a:ext cx="37263"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87" name="86 Elipse"/>
            <p:cNvSpPr/>
            <p:nvPr/>
          </p:nvSpPr>
          <p:spPr>
            <a:xfrm>
              <a:off x="2161672" y="3149174"/>
              <a:ext cx="37263"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88" name="87 Abrir llave"/>
            <p:cNvSpPr/>
            <p:nvPr/>
          </p:nvSpPr>
          <p:spPr>
            <a:xfrm flipH="1">
              <a:off x="2898291" y="2564824"/>
              <a:ext cx="98867" cy="344352"/>
            </a:xfrm>
            <a:prstGeom prst="leftBrace">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89" name="88 CuadroTexto"/>
            <p:cNvSpPr txBox="1"/>
            <p:nvPr/>
          </p:nvSpPr>
          <p:spPr>
            <a:xfrm>
              <a:off x="2997158" y="2575732"/>
              <a:ext cx="977266" cy="252745"/>
            </a:xfrm>
            <a:prstGeom prst="rect">
              <a:avLst/>
            </a:prstGeom>
            <a:noFill/>
          </p:spPr>
          <p:txBody>
            <a:bodyPr wrap="square" rtlCol="0">
              <a:spAutoFit/>
            </a:bodyPr>
            <a:lstStyle/>
            <a:p>
              <a:r>
                <a:rPr lang="es-MX" sz="1000" b="1" dirty="0">
                  <a:solidFill>
                    <a:schemeClr val="accent1">
                      <a:lumMod val="75000"/>
                    </a:schemeClr>
                  </a:solidFill>
                </a:rPr>
                <a:t>Marco 0</a:t>
              </a:r>
            </a:p>
          </p:txBody>
        </p:sp>
        <p:sp>
          <p:nvSpPr>
            <p:cNvPr id="90" name="89 Rectángulo"/>
            <p:cNvSpPr/>
            <p:nvPr/>
          </p:nvSpPr>
          <p:spPr>
            <a:xfrm>
              <a:off x="1557505" y="2564824"/>
              <a:ext cx="1280945" cy="101326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91" name="90 Elipse"/>
            <p:cNvSpPr/>
            <p:nvPr/>
          </p:nvSpPr>
          <p:spPr>
            <a:xfrm>
              <a:off x="2180729" y="3970434"/>
              <a:ext cx="37263"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92" name="91 Elipse"/>
            <p:cNvSpPr/>
            <p:nvPr/>
          </p:nvSpPr>
          <p:spPr>
            <a:xfrm>
              <a:off x="2180729" y="4067619"/>
              <a:ext cx="37263"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93" name="92 Elipse"/>
            <p:cNvSpPr/>
            <p:nvPr/>
          </p:nvSpPr>
          <p:spPr>
            <a:xfrm>
              <a:off x="2181687" y="4160881"/>
              <a:ext cx="37263"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94" name="93 Rectángulo"/>
            <p:cNvSpPr/>
            <p:nvPr/>
          </p:nvSpPr>
          <p:spPr>
            <a:xfrm>
              <a:off x="1559125" y="4271932"/>
              <a:ext cx="1280945"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Página</a:t>
              </a:r>
            </a:p>
          </p:txBody>
        </p:sp>
        <p:sp>
          <p:nvSpPr>
            <p:cNvPr id="95" name="94 Abrir llave"/>
            <p:cNvSpPr/>
            <p:nvPr/>
          </p:nvSpPr>
          <p:spPr>
            <a:xfrm flipH="1">
              <a:off x="2898294" y="3231744"/>
              <a:ext cx="98863" cy="323196"/>
            </a:xfrm>
            <a:prstGeom prst="leftBrace">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96" name="95 CuadroTexto"/>
            <p:cNvSpPr txBox="1"/>
            <p:nvPr/>
          </p:nvSpPr>
          <p:spPr>
            <a:xfrm>
              <a:off x="1799428" y="4665691"/>
              <a:ext cx="935328" cy="260644"/>
            </a:xfrm>
            <a:prstGeom prst="rect">
              <a:avLst/>
            </a:prstGeom>
            <a:noFill/>
          </p:spPr>
          <p:txBody>
            <a:bodyPr wrap="none" rtlCol="0">
              <a:spAutoFit/>
            </a:bodyPr>
            <a:lstStyle/>
            <a:p>
              <a:r>
                <a:rPr lang="es-MX" sz="1050" b="1" dirty="0">
                  <a:solidFill>
                    <a:schemeClr val="accent1">
                      <a:lumMod val="75000"/>
                    </a:schemeClr>
                  </a:solidFill>
                </a:rPr>
                <a:t>Memoria</a:t>
              </a:r>
            </a:p>
          </p:txBody>
        </p:sp>
        <p:sp>
          <p:nvSpPr>
            <p:cNvPr id="97" name="96 CuadroTexto"/>
            <p:cNvSpPr txBox="1"/>
            <p:nvPr/>
          </p:nvSpPr>
          <p:spPr>
            <a:xfrm>
              <a:off x="273810" y="2809243"/>
              <a:ext cx="1073701" cy="410711"/>
            </a:xfrm>
            <a:prstGeom prst="rect">
              <a:avLst/>
            </a:prstGeom>
            <a:noFill/>
          </p:spPr>
          <p:txBody>
            <a:bodyPr wrap="square" rtlCol="0">
              <a:spAutoFit/>
            </a:bodyPr>
            <a:lstStyle/>
            <a:p>
              <a:pPr algn="ctr"/>
              <a:r>
                <a:rPr lang="es-MX" sz="1000" b="1" dirty="0">
                  <a:solidFill>
                    <a:schemeClr val="accent1">
                      <a:lumMod val="75000"/>
                    </a:schemeClr>
                  </a:solidFill>
                </a:rPr>
                <a:t>Programa</a:t>
              </a:r>
            </a:p>
            <a:p>
              <a:pPr algn="ctr"/>
              <a:r>
                <a:rPr lang="es-MX" sz="1000" b="1" dirty="0">
                  <a:solidFill>
                    <a:schemeClr val="accent1">
                      <a:lumMod val="75000"/>
                    </a:schemeClr>
                  </a:solidFill>
                </a:rPr>
                <a:t>XYZ</a:t>
              </a:r>
            </a:p>
          </p:txBody>
        </p:sp>
        <p:sp>
          <p:nvSpPr>
            <p:cNvPr id="98" name="97 Abrir llave"/>
            <p:cNvSpPr/>
            <p:nvPr/>
          </p:nvSpPr>
          <p:spPr>
            <a:xfrm>
              <a:off x="1314460" y="2564824"/>
              <a:ext cx="180894" cy="1013266"/>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grpSp>
      <p:sp>
        <p:nvSpPr>
          <p:cNvPr id="99" name="98 Rectángulo"/>
          <p:cNvSpPr/>
          <p:nvPr/>
        </p:nvSpPr>
        <p:spPr>
          <a:xfrm>
            <a:off x="1952597" y="1962827"/>
            <a:ext cx="1304641" cy="646331"/>
          </a:xfrm>
          <a:prstGeom prst="rect">
            <a:avLst/>
          </a:prstGeom>
          <a:ln>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vert="horz" wrap="square" anchor="ctr">
            <a:spAutoFit/>
          </a:bodyPr>
          <a:lstStyle/>
          <a:p>
            <a:pPr marL="228600" indent="-228600">
              <a:buSzPct val="150000"/>
              <a:buFont typeface="+mj-lt"/>
              <a:buAutoNum type="arabicPeriod"/>
            </a:pPr>
            <a:r>
              <a:rPr lang="es-MX" sz="900" dirty="0">
                <a:solidFill>
                  <a:prstClr val="black"/>
                </a:solidFill>
              </a:rPr>
              <a:t>Cada página consiste en </a:t>
            </a:r>
            <a:r>
              <a:rPr lang="es-MX" sz="900" b="1" dirty="0">
                <a:solidFill>
                  <a:prstClr val="black"/>
                </a:solidFill>
              </a:rPr>
              <a:t>z</a:t>
            </a:r>
            <a:r>
              <a:rPr lang="es-MX" sz="900" dirty="0">
                <a:solidFill>
                  <a:prstClr val="black"/>
                </a:solidFill>
              </a:rPr>
              <a:t> palabras contiguas</a:t>
            </a:r>
          </a:p>
        </p:txBody>
      </p:sp>
      <p:sp>
        <p:nvSpPr>
          <p:cNvPr id="100" name="99 Rectángulo"/>
          <p:cNvSpPr/>
          <p:nvPr/>
        </p:nvSpPr>
        <p:spPr>
          <a:xfrm>
            <a:off x="4837628" y="2090601"/>
            <a:ext cx="2286000" cy="646331"/>
          </a:xfrm>
          <a:prstGeom prst="rect">
            <a:avLst/>
          </a:prstGeom>
          <a:ln>
            <a:solidFill>
              <a:schemeClr val="accent3">
                <a:lumMod val="75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228600" indent="-228600">
              <a:buSzPct val="150000"/>
              <a:buFont typeface="+mj-lt"/>
              <a:buAutoNum type="arabicPeriod" startAt="2"/>
            </a:pPr>
            <a:r>
              <a:rPr lang="es-MX" sz="900" dirty="0">
                <a:solidFill>
                  <a:prstClr val="black"/>
                </a:solidFill>
              </a:rPr>
              <a:t>Un espacio de direcciones </a:t>
            </a:r>
            <a:r>
              <a:rPr lang="es-MX" sz="900" b="1" dirty="0">
                <a:solidFill>
                  <a:prstClr val="black"/>
                </a:solidFill>
              </a:rPr>
              <a:t>N</a:t>
            </a:r>
            <a:r>
              <a:rPr lang="es-MX" sz="900" dirty="0">
                <a:solidFill>
                  <a:prstClr val="black"/>
                </a:solidFill>
              </a:rPr>
              <a:t> de un programa consiste de </a:t>
            </a:r>
            <a:r>
              <a:rPr lang="es-MX" sz="900" b="1" dirty="0">
                <a:solidFill>
                  <a:prstClr val="black"/>
                </a:solidFill>
              </a:rPr>
              <a:t>n</a:t>
            </a:r>
            <a:r>
              <a:rPr lang="es-MX" sz="900" dirty="0">
                <a:solidFill>
                  <a:prstClr val="black"/>
                </a:solidFill>
              </a:rPr>
              <a:t> páginas (0,1,2,3…n-1) (n*z direcciones virtuales) </a:t>
            </a:r>
          </a:p>
        </p:txBody>
      </p:sp>
      <p:cxnSp>
        <p:nvCxnSpPr>
          <p:cNvPr id="101" name="100 Forma"/>
          <p:cNvCxnSpPr>
            <a:stCxn id="99" idx="2"/>
            <a:endCxn id="15" idx="1"/>
          </p:cNvCxnSpPr>
          <p:nvPr/>
        </p:nvCxnSpPr>
        <p:spPr>
          <a:xfrm rot="16200000" flipH="1">
            <a:off x="2496019" y="2718055"/>
            <a:ext cx="428006" cy="210210"/>
          </a:xfrm>
          <a:prstGeom prst="bentConnector2">
            <a:avLst/>
          </a:prstGeom>
          <a:ln>
            <a:tailEnd type="arrow"/>
          </a:ln>
        </p:spPr>
        <p:style>
          <a:lnRef idx="3">
            <a:schemeClr val="dk1"/>
          </a:lnRef>
          <a:fillRef idx="0">
            <a:schemeClr val="dk1"/>
          </a:fillRef>
          <a:effectRef idx="2">
            <a:schemeClr val="dk1"/>
          </a:effectRef>
          <a:fontRef idx="minor">
            <a:schemeClr val="tx1"/>
          </a:fontRef>
        </p:style>
      </p:cxnSp>
      <p:sp>
        <p:nvSpPr>
          <p:cNvPr id="102" name="101 Rectángulo"/>
          <p:cNvSpPr/>
          <p:nvPr/>
        </p:nvSpPr>
        <p:spPr>
          <a:xfrm>
            <a:off x="8018515" y="5459915"/>
            <a:ext cx="2286000" cy="504040"/>
          </a:xfrm>
          <a:prstGeom prst="rect">
            <a:avLst/>
          </a:prstGeom>
          <a:ln>
            <a:solidFill>
              <a:schemeClr val="accent4">
                <a:lumMod val="75000"/>
              </a:schemeClr>
            </a:solidFill>
          </a:ln>
        </p:spPr>
        <p:style>
          <a:lnRef idx="1">
            <a:schemeClr val="accent4"/>
          </a:lnRef>
          <a:fillRef idx="2">
            <a:schemeClr val="accent4"/>
          </a:fillRef>
          <a:effectRef idx="1">
            <a:schemeClr val="accent4"/>
          </a:effectRef>
          <a:fontRef idx="minor">
            <a:schemeClr val="dk1"/>
          </a:fontRef>
        </p:style>
        <p:txBody>
          <a:bodyPr wrap="square">
            <a:spAutoFit/>
          </a:bodyPr>
          <a:lstStyle/>
          <a:p>
            <a:pPr marL="228600" indent="-228600">
              <a:buSzPct val="150000"/>
              <a:buFont typeface="+mj-lt"/>
              <a:buAutoNum type="arabicPeriod" startAt="3"/>
            </a:pPr>
            <a:r>
              <a:rPr lang="es-MX" sz="900" dirty="0"/>
              <a:t>el espacio de memoria consiste de </a:t>
            </a:r>
            <a:r>
              <a:rPr lang="es-MX" sz="900" b="1" dirty="0"/>
              <a:t>m</a:t>
            </a:r>
            <a:r>
              <a:rPr lang="es-MX" sz="900" dirty="0"/>
              <a:t> marcos de paginas (0,z,2z,…,(m-1)z)(m*z posiciones)</a:t>
            </a:r>
          </a:p>
        </p:txBody>
      </p:sp>
      <p:cxnSp>
        <p:nvCxnSpPr>
          <p:cNvPr id="103" name="102 Forma"/>
          <p:cNvCxnSpPr>
            <a:stCxn id="102" idx="0"/>
            <a:endCxn id="96" idx="2"/>
          </p:cNvCxnSpPr>
          <p:nvPr/>
        </p:nvCxnSpPr>
        <p:spPr>
          <a:xfrm rot="16200000" flipV="1">
            <a:off x="8602824" y="4901224"/>
            <a:ext cx="768394" cy="348988"/>
          </a:xfrm>
          <a:prstGeom prst="bentConnector3">
            <a:avLst>
              <a:gd name="adj1" fmla="val 50000"/>
            </a:avLst>
          </a:prstGeom>
          <a:ln>
            <a:tailEnd type="arrow"/>
          </a:ln>
        </p:spPr>
        <p:style>
          <a:lnRef idx="3">
            <a:schemeClr val="dk1"/>
          </a:lnRef>
          <a:fillRef idx="0">
            <a:schemeClr val="dk1"/>
          </a:fillRef>
          <a:effectRef idx="2">
            <a:schemeClr val="dk1"/>
          </a:effectRef>
          <a:fontRef idx="minor">
            <a:schemeClr val="tx1"/>
          </a:fontRef>
        </p:style>
      </p:cxnSp>
      <p:cxnSp>
        <p:nvCxnSpPr>
          <p:cNvPr id="104" name="103 Forma"/>
          <p:cNvCxnSpPr>
            <a:stCxn id="97" idx="1"/>
            <a:endCxn id="100" idx="2"/>
          </p:cNvCxnSpPr>
          <p:nvPr/>
        </p:nvCxnSpPr>
        <p:spPr>
          <a:xfrm rot="10800000">
            <a:off x="5980628" y="2736931"/>
            <a:ext cx="1287108" cy="92198"/>
          </a:xfrm>
          <a:prstGeom prst="bentConnector2">
            <a:avLst/>
          </a:prstGeom>
          <a:ln>
            <a:headEnd type="arrow" w="med" len="med"/>
            <a:tailEnd type="none" w="med" len="med"/>
          </a:ln>
        </p:spPr>
        <p:style>
          <a:lnRef idx="3">
            <a:schemeClr val="dk1"/>
          </a:lnRef>
          <a:fillRef idx="0">
            <a:schemeClr val="dk1"/>
          </a:fillRef>
          <a:effectRef idx="2">
            <a:schemeClr val="dk1"/>
          </a:effectRef>
          <a:fontRef idx="minor">
            <a:schemeClr val="tx1"/>
          </a:fontRef>
        </p:style>
      </p:cxnSp>
      <p:sp>
        <p:nvSpPr>
          <p:cNvPr id="105" name="104 Rectángulo"/>
          <p:cNvSpPr/>
          <p:nvPr/>
        </p:nvSpPr>
        <p:spPr>
          <a:xfrm>
            <a:off x="5448050" y="3965134"/>
            <a:ext cx="2173268" cy="196739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14000"/>
              </a:lnSpc>
              <a:spcBef>
                <a:spcPts val="600"/>
              </a:spcBef>
              <a:spcAft>
                <a:spcPts val="600"/>
              </a:spcAft>
            </a:pPr>
            <a:r>
              <a:rPr lang="es-MX" sz="1100" dirty="0"/>
              <a:t>La técnica de paginación simple es similar a la partición estática. </a:t>
            </a:r>
          </a:p>
          <a:p>
            <a:pPr>
              <a:lnSpc>
                <a:spcPct val="114000"/>
              </a:lnSpc>
              <a:spcBef>
                <a:spcPts val="600"/>
              </a:spcBef>
              <a:spcAft>
                <a:spcPts val="600"/>
              </a:spcAft>
            </a:pPr>
            <a:r>
              <a:rPr lang="es-MX" sz="1100" dirty="0"/>
              <a:t>Las diferencias están en que, con paginación las particiones son más pequeñas, un programa puede ocupar más de una partición y éstas no tienen por qué estar contiguas.</a:t>
            </a:r>
          </a:p>
        </p:txBody>
      </p:sp>
      <p:sp>
        <p:nvSpPr>
          <p:cNvPr id="128" name="127 CuadroTexto"/>
          <p:cNvSpPr txBox="1"/>
          <p:nvPr/>
        </p:nvSpPr>
        <p:spPr>
          <a:xfrm>
            <a:off x="3167042" y="714356"/>
            <a:ext cx="2857520" cy="400110"/>
          </a:xfrm>
          <a:prstGeom prst="rect">
            <a:avLst/>
          </a:prstGeom>
          <a:ln/>
        </p:spPr>
        <p:style>
          <a:lnRef idx="2">
            <a:schemeClr val="accent3"/>
          </a:lnRef>
          <a:fillRef idx="1">
            <a:schemeClr val="lt1"/>
          </a:fillRef>
          <a:effectRef idx="0">
            <a:schemeClr val="accent3"/>
          </a:effectRef>
          <a:fontRef idx="minor">
            <a:schemeClr val="dk1"/>
          </a:fontRef>
        </p:style>
        <p:txBody>
          <a:bodyPr wrap="square" rtlCol="0">
            <a:spAutoFit/>
          </a:bodyPr>
          <a:lstStyle/>
          <a:p>
            <a:pPr marL="352425"/>
            <a:r>
              <a:rPr lang="es-MX" sz="2000" b="1" i="1" dirty="0">
                <a:solidFill>
                  <a:schemeClr val="tx1"/>
                </a:solidFill>
              </a:rPr>
              <a:t>Memoria virtual</a:t>
            </a:r>
          </a:p>
        </p:txBody>
      </p:sp>
      <p:sp>
        <p:nvSpPr>
          <p:cNvPr id="129" name="128 Rectángulo"/>
          <p:cNvSpPr/>
          <p:nvPr/>
        </p:nvSpPr>
        <p:spPr>
          <a:xfrm>
            <a:off x="2361200" y="1357299"/>
            <a:ext cx="2163165"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Paginación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22531" name="Rectangle 3"/>
          <p:cNvSpPr>
            <a:spLocks noGrp="1" noChangeArrowheads="1"/>
          </p:cNvSpPr>
          <p:nvPr>
            <p:ph idx="1"/>
          </p:nvPr>
        </p:nvSpPr>
        <p:spPr/>
        <p:txBody>
          <a:bodyPr/>
          <a:lstStyle/>
          <a:p>
            <a:pPr eaLnBrk="1" hangingPunct="1"/>
            <a:r>
              <a:rPr lang="es-PR">
                <a:latin typeface="Tahoma" charset="0"/>
                <a:ea typeface="ＭＳ Ｐゴシック" charset="0"/>
                <a:cs typeface="ＭＳ Ｐゴシック" charset="0"/>
              </a:rPr>
              <a:t>La mayoría de los s.o. escogen un tamaño de página que sea igual al tamaño de un </a:t>
            </a:r>
            <a:r>
              <a:rPr lang="es-PR" b="1">
                <a:latin typeface="Tahoma" charset="0"/>
                <a:ea typeface="ＭＳ Ｐゴシック" charset="0"/>
                <a:cs typeface="ＭＳ Ｐゴシック" charset="0"/>
              </a:rPr>
              <a:t>sector</a:t>
            </a:r>
            <a:r>
              <a:rPr lang="es-PR">
                <a:latin typeface="Tahoma" charset="0"/>
                <a:ea typeface="ＭＳ Ｐゴシック" charset="0"/>
                <a:cs typeface="ＭＳ Ｐゴシック" charset="0"/>
              </a:rPr>
              <a:t> (bloque) de disco.</a:t>
            </a:r>
          </a:p>
          <a:p>
            <a:pPr eaLnBrk="1" hangingPunct="1"/>
            <a:r>
              <a:rPr lang="es-PR">
                <a:latin typeface="Tahoma" charset="0"/>
                <a:ea typeface="ＭＳ Ｐゴシック" charset="0"/>
                <a:cs typeface="ＭＳ Ｐゴシック" charset="0"/>
              </a:rPr>
              <a:t>Esto se hace para que cada página sea cargada con una sola operación de lectura de disco.</a:t>
            </a:r>
          </a:p>
        </p:txBody>
      </p:sp>
      <p:sp>
        <p:nvSpPr>
          <p:cNvPr id="2253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B2DEAE5-993B-AE45-BB57-6B58936E1984}" type="slidenum">
              <a:rPr lang="en-US" sz="1400"/>
              <a:pPr eaLnBrk="1" hangingPunct="1"/>
              <a:t>23</a:t>
            </a:fld>
            <a:endParaRPr lang="en-US" sz="1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24579" name="Rectangle 3"/>
          <p:cNvSpPr>
            <a:spLocks noGrp="1" noChangeArrowheads="1"/>
          </p:cNvSpPr>
          <p:nvPr>
            <p:ph idx="1"/>
          </p:nvPr>
        </p:nvSpPr>
        <p:spPr/>
        <p:txBody>
          <a:bodyPr/>
          <a:lstStyle/>
          <a:p>
            <a:pPr eaLnBrk="1" hangingPunct="1"/>
            <a:r>
              <a:rPr lang="es-PR">
                <a:latin typeface="Tahoma" charset="0"/>
                <a:ea typeface="ＭＳ Ｐゴシック" charset="0"/>
                <a:cs typeface="ＭＳ Ｐゴシック" charset="0"/>
              </a:rPr>
              <a:t>La memoria, a su vez, se divide en porciones del mismo tamaño de los sectores de disco llamadas </a:t>
            </a:r>
            <a:r>
              <a:rPr lang="es-PR" b="1">
                <a:latin typeface="Tahoma" charset="0"/>
                <a:ea typeface="ＭＳ Ｐゴシック" charset="0"/>
                <a:cs typeface="ＭＳ Ｐゴシック" charset="0"/>
              </a:rPr>
              <a:t>marcos de página</a:t>
            </a:r>
            <a:r>
              <a:rPr lang="es-PR">
                <a:latin typeface="Tahoma" charset="0"/>
                <a:ea typeface="ＭＳ Ｐゴシック" charset="0"/>
                <a:cs typeface="ＭＳ Ｐゴシック" charset="0"/>
              </a:rPr>
              <a:t> (</a:t>
            </a:r>
            <a:r>
              <a:rPr lang="es-PR" i="1">
                <a:latin typeface="Tahoma" charset="0"/>
                <a:ea typeface="ＭＳ Ｐゴシック" charset="0"/>
                <a:cs typeface="ＭＳ Ｐゴシック" charset="0"/>
              </a:rPr>
              <a:t>page frames</a:t>
            </a:r>
            <a:r>
              <a:rPr lang="es-PR">
                <a:latin typeface="Tahoma" charset="0"/>
                <a:ea typeface="ＭＳ Ｐゴシック" charset="0"/>
                <a:cs typeface="ＭＳ Ｐゴシック" charset="0"/>
              </a:rPr>
              <a:t>).</a:t>
            </a:r>
          </a:p>
          <a:p>
            <a:pPr eaLnBrk="1" hangingPunct="1"/>
            <a:r>
              <a:rPr lang="es-PR">
                <a:latin typeface="Tahoma" charset="0"/>
                <a:ea typeface="ＭＳ Ｐゴシック" charset="0"/>
                <a:cs typeface="ＭＳ Ｐゴシック" charset="0"/>
              </a:rPr>
              <a:t>Por lo tanto,</a:t>
            </a:r>
          </a:p>
          <a:p>
            <a:pPr lvl="1" eaLnBrk="1" hangingPunct="1"/>
            <a:r>
              <a:rPr lang="es-PR">
                <a:latin typeface="Tahoma" charset="0"/>
                <a:ea typeface="ＭＳ Ｐゴシック" charset="0"/>
              </a:rPr>
              <a:t>Un sector de disco contendrá</a:t>
            </a:r>
          </a:p>
          <a:p>
            <a:pPr lvl="2" eaLnBrk="1" hangingPunct="1"/>
            <a:r>
              <a:rPr lang="es-PR">
                <a:latin typeface="Tahoma" charset="0"/>
                <a:ea typeface="ＭＳ Ｐゴシック" charset="0"/>
              </a:rPr>
              <a:t>Una página de instrucciones que cabrá en</a:t>
            </a:r>
          </a:p>
          <a:p>
            <a:pPr lvl="3" eaLnBrk="1" hangingPunct="1"/>
            <a:r>
              <a:rPr lang="es-PR" sz="1800">
                <a:latin typeface="Tahoma" charset="0"/>
                <a:ea typeface="ＭＳ Ｐゴシック" charset="0"/>
              </a:rPr>
              <a:t>Un marco de página de memoria primaria</a:t>
            </a:r>
          </a:p>
        </p:txBody>
      </p:sp>
      <p:sp>
        <p:nvSpPr>
          <p:cNvPr id="2458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0C902170-AF32-1A4E-9526-69ED5D358CFF}" type="slidenum">
              <a:rPr lang="en-US" sz="1400"/>
              <a:pPr eaLnBrk="1" hangingPunct="1"/>
              <a:t>24</a:t>
            </a:fld>
            <a:endParaRPr lang="en-US"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26627" name="Rectangle 3"/>
          <p:cNvSpPr>
            <a:spLocks noGrp="1" noChangeArrowheads="1"/>
          </p:cNvSpPr>
          <p:nvPr>
            <p:ph idx="1"/>
          </p:nvPr>
        </p:nvSpPr>
        <p:spPr/>
        <p:txBody>
          <a:bodyPr/>
          <a:lstStyle/>
          <a:p>
            <a:pPr marL="552450" indent="-552450"/>
            <a:r>
              <a:rPr lang="es-PR">
                <a:latin typeface="Tahoma" charset="0"/>
                <a:ea typeface="ＭＳ Ｐゴシック" charset="0"/>
                <a:cs typeface="ＭＳ Ｐゴシック" charset="0"/>
              </a:rPr>
              <a:t>Antes de ejecutar un programa el Administrador de la Memoria:</a:t>
            </a:r>
          </a:p>
          <a:p>
            <a:pPr marL="933450" lvl="1" indent="-476250">
              <a:buFont typeface="Wingdings" charset="0"/>
              <a:buAutoNum type="arabicPeriod"/>
            </a:pPr>
            <a:r>
              <a:rPr lang="es-PR">
                <a:latin typeface="Tahoma" charset="0"/>
                <a:ea typeface="ＭＳ Ｐゴシック" charset="0"/>
              </a:rPr>
              <a:t>Determina la cantidad de páginas en el programa.</a:t>
            </a:r>
          </a:p>
          <a:p>
            <a:pPr marL="933450" lvl="1" indent="-476250">
              <a:buFont typeface="Wingdings" charset="0"/>
              <a:buAutoNum type="arabicPeriod"/>
            </a:pPr>
            <a:r>
              <a:rPr lang="es-PR">
                <a:latin typeface="Tahoma" charset="0"/>
                <a:ea typeface="ＭＳ Ｐゴシック" charset="0"/>
              </a:rPr>
              <a:t>Localiza los marcos de página en la memoria primaria.</a:t>
            </a:r>
          </a:p>
          <a:p>
            <a:pPr marL="933450" lvl="1" indent="-476250">
              <a:buFont typeface="Wingdings" charset="0"/>
              <a:buAutoNum type="arabicPeriod"/>
            </a:pPr>
            <a:r>
              <a:rPr lang="es-PR">
                <a:latin typeface="Tahoma" charset="0"/>
                <a:ea typeface="ＭＳ Ｐゴシック" charset="0"/>
              </a:rPr>
              <a:t>Carga todas las páginas a sus respectivos marcos.</a:t>
            </a:r>
          </a:p>
        </p:txBody>
      </p:sp>
      <p:sp>
        <p:nvSpPr>
          <p:cNvPr id="2662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42208A94-349C-D04B-AEED-8ED5EE3A7D87}" type="slidenum">
              <a:rPr lang="en-US" sz="1400"/>
              <a:pPr eaLnBrk="1" hangingPunct="1"/>
              <a:t>25</a:t>
            </a:fld>
            <a:endParaRPr lang="en-US"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314612" y="136193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6" name="5 Rectángulo"/>
          <p:cNvSpPr/>
          <p:nvPr/>
        </p:nvSpPr>
        <p:spPr>
          <a:xfrm>
            <a:off x="2314612" y="156371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7" name="6 Rectángulo"/>
          <p:cNvSpPr/>
          <p:nvPr/>
        </p:nvSpPr>
        <p:spPr>
          <a:xfrm>
            <a:off x="2314612" y="1771256"/>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8" name="7 Rectángulo"/>
          <p:cNvSpPr/>
          <p:nvPr/>
        </p:nvSpPr>
        <p:spPr>
          <a:xfrm>
            <a:off x="2314612" y="1980775"/>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9" name="8 Rectángulo"/>
          <p:cNvSpPr/>
          <p:nvPr/>
        </p:nvSpPr>
        <p:spPr>
          <a:xfrm>
            <a:off x="2314612" y="2180613"/>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0" name="9 Rectángulo"/>
          <p:cNvSpPr/>
          <p:nvPr/>
        </p:nvSpPr>
        <p:spPr>
          <a:xfrm>
            <a:off x="2314612" y="2382393"/>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1" name="10 Rectángulo"/>
          <p:cNvSpPr/>
          <p:nvPr/>
        </p:nvSpPr>
        <p:spPr>
          <a:xfrm>
            <a:off x="2314612" y="2589930"/>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2" name="11 Rectángulo"/>
          <p:cNvSpPr/>
          <p:nvPr/>
        </p:nvSpPr>
        <p:spPr>
          <a:xfrm>
            <a:off x="2314612" y="279944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5" name="14 Rectángulo"/>
          <p:cNvSpPr/>
          <p:nvPr/>
        </p:nvSpPr>
        <p:spPr>
          <a:xfrm>
            <a:off x="2314612" y="3008968"/>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6" name="15 Rectángulo"/>
          <p:cNvSpPr/>
          <p:nvPr/>
        </p:nvSpPr>
        <p:spPr>
          <a:xfrm>
            <a:off x="2314612" y="3210748"/>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7" name="16 Rectángulo"/>
          <p:cNvSpPr/>
          <p:nvPr/>
        </p:nvSpPr>
        <p:spPr>
          <a:xfrm>
            <a:off x="2314612" y="3418285"/>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8" name="17 Rectángulo"/>
          <p:cNvSpPr/>
          <p:nvPr/>
        </p:nvSpPr>
        <p:spPr>
          <a:xfrm>
            <a:off x="2314612" y="3627804"/>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19" name="18 Rectángulo"/>
          <p:cNvSpPr/>
          <p:nvPr/>
        </p:nvSpPr>
        <p:spPr>
          <a:xfrm>
            <a:off x="2314612" y="3828817"/>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0" name="19 Rectángulo"/>
          <p:cNvSpPr/>
          <p:nvPr/>
        </p:nvSpPr>
        <p:spPr>
          <a:xfrm>
            <a:off x="2314612" y="4030597"/>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21" name="20 Rectángulo"/>
          <p:cNvSpPr/>
          <p:nvPr/>
        </p:nvSpPr>
        <p:spPr>
          <a:xfrm>
            <a:off x="2314612" y="4238134"/>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600" b="1" dirty="0"/>
          </a:p>
        </p:txBody>
      </p:sp>
      <p:sp>
        <p:nvSpPr>
          <p:cNvPr id="38" name="37 Rectángulo"/>
          <p:cNvSpPr/>
          <p:nvPr/>
        </p:nvSpPr>
        <p:spPr>
          <a:xfrm>
            <a:off x="1947769" y="136193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39" name="38 Rectángulo"/>
          <p:cNvSpPr/>
          <p:nvPr/>
        </p:nvSpPr>
        <p:spPr>
          <a:xfrm>
            <a:off x="1947769" y="156371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40" name="39 Rectángulo"/>
          <p:cNvSpPr/>
          <p:nvPr/>
        </p:nvSpPr>
        <p:spPr>
          <a:xfrm>
            <a:off x="1947769" y="1771256"/>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41" name="40 Rectángulo"/>
          <p:cNvSpPr/>
          <p:nvPr/>
        </p:nvSpPr>
        <p:spPr>
          <a:xfrm>
            <a:off x="1947769" y="198077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42" name="41 Rectángulo"/>
          <p:cNvSpPr/>
          <p:nvPr/>
        </p:nvSpPr>
        <p:spPr>
          <a:xfrm>
            <a:off x="1947769" y="218061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43" name="42 Rectángulo"/>
          <p:cNvSpPr/>
          <p:nvPr/>
        </p:nvSpPr>
        <p:spPr>
          <a:xfrm>
            <a:off x="1947769" y="238239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44" name="43 Rectángulo"/>
          <p:cNvSpPr/>
          <p:nvPr/>
        </p:nvSpPr>
        <p:spPr>
          <a:xfrm>
            <a:off x="1947769" y="258993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45" name="44 Rectángulo"/>
          <p:cNvSpPr/>
          <p:nvPr/>
        </p:nvSpPr>
        <p:spPr>
          <a:xfrm>
            <a:off x="1947769" y="279944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46" name="45 Rectángulo"/>
          <p:cNvSpPr/>
          <p:nvPr/>
        </p:nvSpPr>
        <p:spPr>
          <a:xfrm>
            <a:off x="1947769" y="300896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47" name="46 Rectángulo"/>
          <p:cNvSpPr/>
          <p:nvPr/>
        </p:nvSpPr>
        <p:spPr>
          <a:xfrm>
            <a:off x="1947769" y="321074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48" name="47 Rectángulo"/>
          <p:cNvSpPr/>
          <p:nvPr/>
        </p:nvSpPr>
        <p:spPr>
          <a:xfrm>
            <a:off x="1947769" y="341828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49" name="48 Rectángulo"/>
          <p:cNvSpPr/>
          <p:nvPr/>
        </p:nvSpPr>
        <p:spPr>
          <a:xfrm>
            <a:off x="1947769" y="362780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50" name="49 Rectángulo"/>
          <p:cNvSpPr/>
          <p:nvPr/>
        </p:nvSpPr>
        <p:spPr>
          <a:xfrm>
            <a:off x="1947769" y="383983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51" name="50 Rectángulo"/>
          <p:cNvSpPr/>
          <p:nvPr/>
        </p:nvSpPr>
        <p:spPr>
          <a:xfrm>
            <a:off x="1947769" y="404161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52" name="51 Rectángulo"/>
          <p:cNvSpPr/>
          <p:nvPr/>
        </p:nvSpPr>
        <p:spPr>
          <a:xfrm>
            <a:off x="1947769" y="4249151"/>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sp>
        <p:nvSpPr>
          <p:cNvPr id="53" name="52 Rectángulo"/>
          <p:cNvSpPr/>
          <p:nvPr/>
        </p:nvSpPr>
        <p:spPr>
          <a:xfrm>
            <a:off x="3674237" y="1377417"/>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A.0</a:t>
            </a:r>
          </a:p>
        </p:txBody>
      </p:sp>
      <p:sp>
        <p:nvSpPr>
          <p:cNvPr id="54" name="53 Rectángulo"/>
          <p:cNvSpPr/>
          <p:nvPr/>
        </p:nvSpPr>
        <p:spPr>
          <a:xfrm>
            <a:off x="3674237" y="1579197"/>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A.1</a:t>
            </a:r>
          </a:p>
        </p:txBody>
      </p:sp>
      <p:sp>
        <p:nvSpPr>
          <p:cNvPr id="55" name="54 Rectángulo"/>
          <p:cNvSpPr/>
          <p:nvPr/>
        </p:nvSpPr>
        <p:spPr>
          <a:xfrm>
            <a:off x="3674237" y="1786734"/>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A.2</a:t>
            </a:r>
          </a:p>
        </p:txBody>
      </p:sp>
      <p:sp>
        <p:nvSpPr>
          <p:cNvPr id="56" name="55 Rectángulo"/>
          <p:cNvSpPr/>
          <p:nvPr/>
        </p:nvSpPr>
        <p:spPr>
          <a:xfrm>
            <a:off x="3674237" y="1996253"/>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A.3</a:t>
            </a:r>
          </a:p>
        </p:txBody>
      </p:sp>
      <p:sp>
        <p:nvSpPr>
          <p:cNvPr id="57" name="56 Rectángulo"/>
          <p:cNvSpPr/>
          <p:nvPr/>
        </p:nvSpPr>
        <p:spPr>
          <a:xfrm>
            <a:off x="3674237" y="2208283"/>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58" name="57 Rectángulo"/>
          <p:cNvSpPr/>
          <p:nvPr/>
        </p:nvSpPr>
        <p:spPr>
          <a:xfrm>
            <a:off x="3674237" y="2410063"/>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59" name="58 Rectángulo"/>
          <p:cNvSpPr/>
          <p:nvPr/>
        </p:nvSpPr>
        <p:spPr>
          <a:xfrm>
            <a:off x="3674237" y="2617600"/>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0" name="59 Rectángulo"/>
          <p:cNvSpPr/>
          <p:nvPr/>
        </p:nvSpPr>
        <p:spPr>
          <a:xfrm>
            <a:off x="3674237" y="282711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1" name="60 Rectángulo"/>
          <p:cNvSpPr/>
          <p:nvPr/>
        </p:nvSpPr>
        <p:spPr>
          <a:xfrm>
            <a:off x="3674237" y="3036638"/>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2" name="61 Rectángulo"/>
          <p:cNvSpPr/>
          <p:nvPr/>
        </p:nvSpPr>
        <p:spPr>
          <a:xfrm>
            <a:off x="3674237" y="3238418"/>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3" name="62 Rectángulo"/>
          <p:cNvSpPr/>
          <p:nvPr/>
        </p:nvSpPr>
        <p:spPr>
          <a:xfrm>
            <a:off x="3674237" y="3445955"/>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4" name="63 Rectángulo"/>
          <p:cNvSpPr/>
          <p:nvPr/>
        </p:nvSpPr>
        <p:spPr>
          <a:xfrm>
            <a:off x="3674237" y="3655474"/>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5" name="64 Rectángulo"/>
          <p:cNvSpPr/>
          <p:nvPr/>
        </p:nvSpPr>
        <p:spPr>
          <a:xfrm>
            <a:off x="3674237" y="3855312"/>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6" name="65 Rectángulo"/>
          <p:cNvSpPr/>
          <p:nvPr/>
        </p:nvSpPr>
        <p:spPr>
          <a:xfrm>
            <a:off x="3674237" y="4057092"/>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7" name="66 Rectángulo"/>
          <p:cNvSpPr/>
          <p:nvPr/>
        </p:nvSpPr>
        <p:spPr>
          <a:xfrm>
            <a:off x="3674237" y="426462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68" name="67 Rectángulo"/>
          <p:cNvSpPr/>
          <p:nvPr/>
        </p:nvSpPr>
        <p:spPr>
          <a:xfrm>
            <a:off x="3307394" y="1377417"/>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69" name="68 Rectángulo"/>
          <p:cNvSpPr/>
          <p:nvPr/>
        </p:nvSpPr>
        <p:spPr>
          <a:xfrm>
            <a:off x="3307394" y="1579197"/>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70" name="69 Rectángulo"/>
          <p:cNvSpPr/>
          <p:nvPr/>
        </p:nvSpPr>
        <p:spPr>
          <a:xfrm>
            <a:off x="3307394" y="178673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71" name="70 Rectángulo"/>
          <p:cNvSpPr/>
          <p:nvPr/>
        </p:nvSpPr>
        <p:spPr>
          <a:xfrm>
            <a:off x="3307394" y="199625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72" name="71 Rectángulo"/>
          <p:cNvSpPr/>
          <p:nvPr/>
        </p:nvSpPr>
        <p:spPr>
          <a:xfrm>
            <a:off x="3307394" y="220828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73" name="72 Rectángulo"/>
          <p:cNvSpPr/>
          <p:nvPr/>
        </p:nvSpPr>
        <p:spPr>
          <a:xfrm>
            <a:off x="3307394" y="241006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74" name="73 Rectángulo"/>
          <p:cNvSpPr/>
          <p:nvPr/>
        </p:nvSpPr>
        <p:spPr>
          <a:xfrm>
            <a:off x="3307394" y="261760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75" name="74 Rectángulo"/>
          <p:cNvSpPr/>
          <p:nvPr/>
        </p:nvSpPr>
        <p:spPr>
          <a:xfrm>
            <a:off x="3307394" y="282711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76" name="75 Rectángulo"/>
          <p:cNvSpPr/>
          <p:nvPr/>
        </p:nvSpPr>
        <p:spPr>
          <a:xfrm>
            <a:off x="3307394" y="303663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77" name="76 Rectángulo"/>
          <p:cNvSpPr/>
          <p:nvPr/>
        </p:nvSpPr>
        <p:spPr>
          <a:xfrm>
            <a:off x="3307394" y="323841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78" name="77 Rectángulo"/>
          <p:cNvSpPr/>
          <p:nvPr/>
        </p:nvSpPr>
        <p:spPr>
          <a:xfrm>
            <a:off x="3307394" y="344595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79" name="78 Rectángulo"/>
          <p:cNvSpPr/>
          <p:nvPr/>
        </p:nvSpPr>
        <p:spPr>
          <a:xfrm>
            <a:off x="3307394" y="365547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80" name="79 Rectángulo"/>
          <p:cNvSpPr/>
          <p:nvPr/>
        </p:nvSpPr>
        <p:spPr>
          <a:xfrm>
            <a:off x="3307394" y="385531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81" name="80 Rectángulo"/>
          <p:cNvSpPr/>
          <p:nvPr/>
        </p:nvSpPr>
        <p:spPr>
          <a:xfrm>
            <a:off x="3307394" y="405709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82" name="81 Rectángulo"/>
          <p:cNvSpPr/>
          <p:nvPr/>
        </p:nvSpPr>
        <p:spPr>
          <a:xfrm>
            <a:off x="3307394" y="426462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sp>
        <p:nvSpPr>
          <p:cNvPr id="113" name="112 Rectángulo"/>
          <p:cNvSpPr/>
          <p:nvPr/>
        </p:nvSpPr>
        <p:spPr>
          <a:xfrm>
            <a:off x="5095868" y="1369678"/>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A.0</a:t>
            </a:r>
          </a:p>
        </p:txBody>
      </p:sp>
      <p:sp>
        <p:nvSpPr>
          <p:cNvPr id="114" name="113 Rectángulo"/>
          <p:cNvSpPr/>
          <p:nvPr/>
        </p:nvSpPr>
        <p:spPr>
          <a:xfrm>
            <a:off x="5095868" y="1571458"/>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A.1</a:t>
            </a:r>
          </a:p>
        </p:txBody>
      </p:sp>
      <p:sp>
        <p:nvSpPr>
          <p:cNvPr id="115" name="114 Rectángulo"/>
          <p:cNvSpPr/>
          <p:nvPr/>
        </p:nvSpPr>
        <p:spPr>
          <a:xfrm>
            <a:off x="5095868" y="1778995"/>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A.2</a:t>
            </a:r>
          </a:p>
        </p:txBody>
      </p:sp>
      <p:sp>
        <p:nvSpPr>
          <p:cNvPr id="116" name="115 Rectángulo"/>
          <p:cNvSpPr/>
          <p:nvPr/>
        </p:nvSpPr>
        <p:spPr>
          <a:xfrm>
            <a:off x="5095868" y="1988514"/>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A.3</a:t>
            </a:r>
          </a:p>
        </p:txBody>
      </p:sp>
      <p:sp>
        <p:nvSpPr>
          <p:cNvPr id="117" name="116 Rectángulo"/>
          <p:cNvSpPr/>
          <p:nvPr/>
        </p:nvSpPr>
        <p:spPr>
          <a:xfrm>
            <a:off x="5095868" y="2200544"/>
            <a:ext cx="642942" cy="209519"/>
          </a:xfrm>
          <a:prstGeom prst="rect">
            <a:avLst/>
          </a:prstGeom>
          <a:solidFill>
            <a:schemeClr val="tx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B.0</a:t>
            </a:r>
          </a:p>
        </p:txBody>
      </p:sp>
      <p:sp>
        <p:nvSpPr>
          <p:cNvPr id="118" name="117 Rectángulo"/>
          <p:cNvSpPr/>
          <p:nvPr/>
        </p:nvSpPr>
        <p:spPr>
          <a:xfrm>
            <a:off x="5095868" y="2402324"/>
            <a:ext cx="642942" cy="209519"/>
          </a:xfrm>
          <a:prstGeom prst="rect">
            <a:avLst/>
          </a:prstGeom>
          <a:solidFill>
            <a:schemeClr val="tx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B.1</a:t>
            </a:r>
          </a:p>
        </p:txBody>
      </p:sp>
      <p:sp>
        <p:nvSpPr>
          <p:cNvPr id="119" name="118 Rectángulo"/>
          <p:cNvSpPr/>
          <p:nvPr/>
        </p:nvSpPr>
        <p:spPr>
          <a:xfrm>
            <a:off x="5095868" y="2609861"/>
            <a:ext cx="642942" cy="209519"/>
          </a:xfrm>
          <a:prstGeom prst="rect">
            <a:avLst/>
          </a:prstGeom>
          <a:solidFill>
            <a:schemeClr val="tx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B.2</a:t>
            </a:r>
          </a:p>
        </p:txBody>
      </p:sp>
      <p:sp>
        <p:nvSpPr>
          <p:cNvPr id="120" name="119 Rectángulo"/>
          <p:cNvSpPr/>
          <p:nvPr/>
        </p:nvSpPr>
        <p:spPr>
          <a:xfrm>
            <a:off x="5095868" y="2819380"/>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1" name="120 Rectángulo"/>
          <p:cNvSpPr/>
          <p:nvPr/>
        </p:nvSpPr>
        <p:spPr>
          <a:xfrm>
            <a:off x="5095868" y="302889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2" name="121 Rectángulo"/>
          <p:cNvSpPr/>
          <p:nvPr/>
        </p:nvSpPr>
        <p:spPr>
          <a:xfrm>
            <a:off x="5095868" y="323067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3" name="122 Rectángulo"/>
          <p:cNvSpPr/>
          <p:nvPr/>
        </p:nvSpPr>
        <p:spPr>
          <a:xfrm>
            <a:off x="5095868" y="3438216"/>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4" name="123 Rectángulo"/>
          <p:cNvSpPr/>
          <p:nvPr/>
        </p:nvSpPr>
        <p:spPr>
          <a:xfrm>
            <a:off x="5095868" y="3647735"/>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5" name="124 Rectángulo"/>
          <p:cNvSpPr/>
          <p:nvPr/>
        </p:nvSpPr>
        <p:spPr>
          <a:xfrm>
            <a:off x="5095868" y="3859765"/>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6" name="125 Rectángulo"/>
          <p:cNvSpPr/>
          <p:nvPr/>
        </p:nvSpPr>
        <p:spPr>
          <a:xfrm>
            <a:off x="5095868" y="4061545"/>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7" name="126 Rectángulo"/>
          <p:cNvSpPr/>
          <p:nvPr/>
        </p:nvSpPr>
        <p:spPr>
          <a:xfrm>
            <a:off x="5095868" y="4269082"/>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28" name="127 Rectángulo"/>
          <p:cNvSpPr/>
          <p:nvPr/>
        </p:nvSpPr>
        <p:spPr>
          <a:xfrm>
            <a:off x="4729025" y="136967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129" name="128 Rectángulo"/>
          <p:cNvSpPr/>
          <p:nvPr/>
        </p:nvSpPr>
        <p:spPr>
          <a:xfrm>
            <a:off x="4729025" y="157145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130" name="129 Rectángulo"/>
          <p:cNvSpPr/>
          <p:nvPr/>
        </p:nvSpPr>
        <p:spPr>
          <a:xfrm>
            <a:off x="4729025" y="177899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131" name="130 Rectángulo"/>
          <p:cNvSpPr/>
          <p:nvPr/>
        </p:nvSpPr>
        <p:spPr>
          <a:xfrm>
            <a:off x="4729025" y="198851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132" name="131 Rectángulo"/>
          <p:cNvSpPr/>
          <p:nvPr/>
        </p:nvSpPr>
        <p:spPr>
          <a:xfrm>
            <a:off x="4729025" y="220054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133" name="132 Rectángulo"/>
          <p:cNvSpPr/>
          <p:nvPr/>
        </p:nvSpPr>
        <p:spPr>
          <a:xfrm>
            <a:off x="4729025" y="240232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134" name="133 Rectángulo"/>
          <p:cNvSpPr/>
          <p:nvPr/>
        </p:nvSpPr>
        <p:spPr>
          <a:xfrm>
            <a:off x="4729025" y="2609861"/>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135" name="134 Rectángulo"/>
          <p:cNvSpPr/>
          <p:nvPr/>
        </p:nvSpPr>
        <p:spPr>
          <a:xfrm>
            <a:off x="4729025" y="281938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136" name="135 Rectángulo"/>
          <p:cNvSpPr/>
          <p:nvPr/>
        </p:nvSpPr>
        <p:spPr>
          <a:xfrm>
            <a:off x="4729025" y="302889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137" name="136 Rectángulo"/>
          <p:cNvSpPr/>
          <p:nvPr/>
        </p:nvSpPr>
        <p:spPr>
          <a:xfrm>
            <a:off x="4729025" y="323067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138" name="137 Rectángulo"/>
          <p:cNvSpPr/>
          <p:nvPr/>
        </p:nvSpPr>
        <p:spPr>
          <a:xfrm>
            <a:off x="4729025" y="3438216"/>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139" name="138 Rectángulo"/>
          <p:cNvSpPr/>
          <p:nvPr/>
        </p:nvSpPr>
        <p:spPr>
          <a:xfrm>
            <a:off x="4729025" y="364773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140" name="139 Rectángulo"/>
          <p:cNvSpPr/>
          <p:nvPr/>
        </p:nvSpPr>
        <p:spPr>
          <a:xfrm>
            <a:off x="4729025" y="385976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141" name="140 Rectángulo"/>
          <p:cNvSpPr/>
          <p:nvPr/>
        </p:nvSpPr>
        <p:spPr>
          <a:xfrm>
            <a:off x="4729025" y="406154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142" name="141 Rectángulo"/>
          <p:cNvSpPr/>
          <p:nvPr/>
        </p:nvSpPr>
        <p:spPr>
          <a:xfrm>
            <a:off x="4729025" y="426908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sp>
        <p:nvSpPr>
          <p:cNvPr id="145" name="144 Rectángulo"/>
          <p:cNvSpPr/>
          <p:nvPr/>
        </p:nvSpPr>
        <p:spPr>
          <a:xfrm>
            <a:off x="6453190" y="1377417"/>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A.0</a:t>
            </a:r>
          </a:p>
        </p:txBody>
      </p:sp>
      <p:sp>
        <p:nvSpPr>
          <p:cNvPr id="146" name="145 Rectángulo"/>
          <p:cNvSpPr/>
          <p:nvPr/>
        </p:nvSpPr>
        <p:spPr>
          <a:xfrm>
            <a:off x="6453190" y="1579197"/>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A.1</a:t>
            </a:r>
          </a:p>
        </p:txBody>
      </p:sp>
      <p:sp>
        <p:nvSpPr>
          <p:cNvPr id="147" name="146 Rectángulo"/>
          <p:cNvSpPr/>
          <p:nvPr/>
        </p:nvSpPr>
        <p:spPr>
          <a:xfrm>
            <a:off x="6453190" y="1786734"/>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A.2</a:t>
            </a:r>
          </a:p>
        </p:txBody>
      </p:sp>
      <p:sp>
        <p:nvSpPr>
          <p:cNvPr id="148" name="147 Rectángulo"/>
          <p:cNvSpPr/>
          <p:nvPr/>
        </p:nvSpPr>
        <p:spPr>
          <a:xfrm>
            <a:off x="6453190" y="1996253"/>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A.3</a:t>
            </a:r>
          </a:p>
        </p:txBody>
      </p:sp>
      <p:sp>
        <p:nvSpPr>
          <p:cNvPr id="149" name="148 Rectángulo"/>
          <p:cNvSpPr/>
          <p:nvPr/>
        </p:nvSpPr>
        <p:spPr>
          <a:xfrm>
            <a:off x="6453190" y="2208283"/>
            <a:ext cx="642942" cy="209519"/>
          </a:xfrm>
          <a:prstGeom prst="rect">
            <a:avLst/>
          </a:prstGeom>
          <a:solidFill>
            <a:schemeClr val="tx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B.0</a:t>
            </a:r>
          </a:p>
        </p:txBody>
      </p:sp>
      <p:sp>
        <p:nvSpPr>
          <p:cNvPr id="150" name="149 Rectángulo"/>
          <p:cNvSpPr/>
          <p:nvPr/>
        </p:nvSpPr>
        <p:spPr>
          <a:xfrm>
            <a:off x="6453190" y="2410063"/>
            <a:ext cx="642942" cy="209519"/>
          </a:xfrm>
          <a:prstGeom prst="rect">
            <a:avLst/>
          </a:prstGeom>
          <a:solidFill>
            <a:schemeClr val="tx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B.1</a:t>
            </a:r>
          </a:p>
        </p:txBody>
      </p:sp>
      <p:sp>
        <p:nvSpPr>
          <p:cNvPr id="151" name="150 Rectángulo"/>
          <p:cNvSpPr/>
          <p:nvPr/>
        </p:nvSpPr>
        <p:spPr>
          <a:xfrm>
            <a:off x="6453190" y="2617600"/>
            <a:ext cx="642942" cy="209519"/>
          </a:xfrm>
          <a:prstGeom prst="rect">
            <a:avLst/>
          </a:prstGeom>
          <a:solidFill>
            <a:schemeClr val="tx2">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B.2</a:t>
            </a:r>
          </a:p>
        </p:txBody>
      </p:sp>
      <p:sp>
        <p:nvSpPr>
          <p:cNvPr id="152" name="151 Rectángulo"/>
          <p:cNvSpPr/>
          <p:nvPr/>
        </p:nvSpPr>
        <p:spPr>
          <a:xfrm>
            <a:off x="6453190" y="2827119"/>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C.0</a:t>
            </a:r>
          </a:p>
        </p:txBody>
      </p:sp>
      <p:sp>
        <p:nvSpPr>
          <p:cNvPr id="153" name="152 Rectángulo"/>
          <p:cNvSpPr/>
          <p:nvPr/>
        </p:nvSpPr>
        <p:spPr>
          <a:xfrm>
            <a:off x="6453190" y="3036638"/>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C.1</a:t>
            </a:r>
          </a:p>
        </p:txBody>
      </p:sp>
      <p:sp>
        <p:nvSpPr>
          <p:cNvPr id="154" name="153 Rectángulo"/>
          <p:cNvSpPr/>
          <p:nvPr/>
        </p:nvSpPr>
        <p:spPr>
          <a:xfrm>
            <a:off x="6453190" y="3238418"/>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C.2</a:t>
            </a:r>
          </a:p>
        </p:txBody>
      </p:sp>
      <p:sp>
        <p:nvSpPr>
          <p:cNvPr id="155" name="154 Rectángulo"/>
          <p:cNvSpPr/>
          <p:nvPr/>
        </p:nvSpPr>
        <p:spPr>
          <a:xfrm>
            <a:off x="6453190" y="3445955"/>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C.3</a:t>
            </a:r>
          </a:p>
        </p:txBody>
      </p:sp>
      <p:sp>
        <p:nvSpPr>
          <p:cNvPr id="156" name="155 Rectángulo"/>
          <p:cNvSpPr/>
          <p:nvPr/>
        </p:nvSpPr>
        <p:spPr>
          <a:xfrm>
            <a:off x="6453190" y="3655474"/>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57" name="156 Rectángulo"/>
          <p:cNvSpPr/>
          <p:nvPr/>
        </p:nvSpPr>
        <p:spPr>
          <a:xfrm>
            <a:off x="6453190" y="3855312"/>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58" name="157 Rectángulo"/>
          <p:cNvSpPr/>
          <p:nvPr/>
        </p:nvSpPr>
        <p:spPr>
          <a:xfrm>
            <a:off x="6453190" y="4057092"/>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59" name="158 Rectángulo"/>
          <p:cNvSpPr/>
          <p:nvPr/>
        </p:nvSpPr>
        <p:spPr>
          <a:xfrm>
            <a:off x="6453190" y="426462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60" name="159 Rectángulo"/>
          <p:cNvSpPr/>
          <p:nvPr/>
        </p:nvSpPr>
        <p:spPr>
          <a:xfrm>
            <a:off x="6086347" y="1377417"/>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161" name="160 Rectángulo"/>
          <p:cNvSpPr/>
          <p:nvPr/>
        </p:nvSpPr>
        <p:spPr>
          <a:xfrm>
            <a:off x="6086347" y="1579197"/>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162" name="161 Rectángulo"/>
          <p:cNvSpPr/>
          <p:nvPr/>
        </p:nvSpPr>
        <p:spPr>
          <a:xfrm>
            <a:off x="6086347" y="178673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163" name="162 Rectángulo"/>
          <p:cNvSpPr/>
          <p:nvPr/>
        </p:nvSpPr>
        <p:spPr>
          <a:xfrm>
            <a:off x="6086347" y="199625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164" name="163 Rectángulo"/>
          <p:cNvSpPr/>
          <p:nvPr/>
        </p:nvSpPr>
        <p:spPr>
          <a:xfrm>
            <a:off x="6086347" y="220828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165" name="164 Rectángulo"/>
          <p:cNvSpPr/>
          <p:nvPr/>
        </p:nvSpPr>
        <p:spPr>
          <a:xfrm>
            <a:off x="6086347" y="241006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166" name="165 Rectángulo"/>
          <p:cNvSpPr/>
          <p:nvPr/>
        </p:nvSpPr>
        <p:spPr>
          <a:xfrm>
            <a:off x="6086347" y="261760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167" name="166 Rectángulo"/>
          <p:cNvSpPr/>
          <p:nvPr/>
        </p:nvSpPr>
        <p:spPr>
          <a:xfrm>
            <a:off x="6086347" y="282711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168" name="167 Rectángulo"/>
          <p:cNvSpPr/>
          <p:nvPr/>
        </p:nvSpPr>
        <p:spPr>
          <a:xfrm>
            <a:off x="6086347" y="303663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169" name="168 Rectángulo"/>
          <p:cNvSpPr/>
          <p:nvPr/>
        </p:nvSpPr>
        <p:spPr>
          <a:xfrm>
            <a:off x="6086347" y="323841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170" name="169 Rectángulo"/>
          <p:cNvSpPr/>
          <p:nvPr/>
        </p:nvSpPr>
        <p:spPr>
          <a:xfrm>
            <a:off x="6086347" y="344595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171" name="170 Rectángulo"/>
          <p:cNvSpPr/>
          <p:nvPr/>
        </p:nvSpPr>
        <p:spPr>
          <a:xfrm>
            <a:off x="6086347" y="365547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172" name="171 Rectángulo"/>
          <p:cNvSpPr/>
          <p:nvPr/>
        </p:nvSpPr>
        <p:spPr>
          <a:xfrm>
            <a:off x="6086347" y="385531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173" name="172 Rectángulo"/>
          <p:cNvSpPr/>
          <p:nvPr/>
        </p:nvSpPr>
        <p:spPr>
          <a:xfrm>
            <a:off x="6086347" y="405709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174" name="173 Rectángulo"/>
          <p:cNvSpPr/>
          <p:nvPr/>
        </p:nvSpPr>
        <p:spPr>
          <a:xfrm>
            <a:off x="6086347" y="426462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sp>
        <p:nvSpPr>
          <p:cNvPr id="143" name="142 Rectángulo"/>
          <p:cNvSpPr/>
          <p:nvPr/>
        </p:nvSpPr>
        <p:spPr>
          <a:xfrm>
            <a:off x="7881950" y="1377417"/>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A.0</a:t>
            </a:r>
          </a:p>
        </p:txBody>
      </p:sp>
      <p:sp>
        <p:nvSpPr>
          <p:cNvPr id="144" name="143 Rectángulo"/>
          <p:cNvSpPr/>
          <p:nvPr/>
        </p:nvSpPr>
        <p:spPr>
          <a:xfrm>
            <a:off x="7881950" y="1579197"/>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A.1</a:t>
            </a:r>
          </a:p>
        </p:txBody>
      </p:sp>
      <p:sp>
        <p:nvSpPr>
          <p:cNvPr id="175" name="174 Rectángulo"/>
          <p:cNvSpPr/>
          <p:nvPr/>
        </p:nvSpPr>
        <p:spPr>
          <a:xfrm>
            <a:off x="7881950" y="1786734"/>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A.2</a:t>
            </a:r>
          </a:p>
        </p:txBody>
      </p:sp>
      <p:sp>
        <p:nvSpPr>
          <p:cNvPr id="176" name="175 Rectángulo"/>
          <p:cNvSpPr/>
          <p:nvPr/>
        </p:nvSpPr>
        <p:spPr>
          <a:xfrm>
            <a:off x="7881950" y="1996253"/>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A.3</a:t>
            </a:r>
          </a:p>
        </p:txBody>
      </p:sp>
      <p:sp>
        <p:nvSpPr>
          <p:cNvPr id="177" name="176 Rectángulo"/>
          <p:cNvSpPr/>
          <p:nvPr/>
        </p:nvSpPr>
        <p:spPr>
          <a:xfrm>
            <a:off x="7881950" y="2208283"/>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78" name="177 Rectángulo"/>
          <p:cNvSpPr/>
          <p:nvPr/>
        </p:nvSpPr>
        <p:spPr>
          <a:xfrm>
            <a:off x="7881950" y="2410063"/>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79" name="178 Rectángulo"/>
          <p:cNvSpPr/>
          <p:nvPr/>
        </p:nvSpPr>
        <p:spPr>
          <a:xfrm>
            <a:off x="7881950" y="2617600"/>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80" name="179 Rectángulo"/>
          <p:cNvSpPr/>
          <p:nvPr/>
        </p:nvSpPr>
        <p:spPr>
          <a:xfrm>
            <a:off x="7881950" y="2827119"/>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C.0</a:t>
            </a:r>
          </a:p>
        </p:txBody>
      </p:sp>
      <p:sp>
        <p:nvSpPr>
          <p:cNvPr id="181" name="180 Rectángulo"/>
          <p:cNvSpPr/>
          <p:nvPr/>
        </p:nvSpPr>
        <p:spPr>
          <a:xfrm>
            <a:off x="7881950" y="3036638"/>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C.1</a:t>
            </a:r>
          </a:p>
        </p:txBody>
      </p:sp>
      <p:sp>
        <p:nvSpPr>
          <p:cNvPr id="182" name="181 Rectángulo"/>
          <p:cNvSpPr/>
          <p:nvPr/>
        </p:nvSpPr>
        <p:spPr>
          <a:xfrm>
            <a:off x="7881950" y="3238418"/>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C.2</a:t>
            </a:r>
          </a:p>
        </p:txBody>
      </p:sp>
      <p:sp>
        <p:nvSpPr>
          <p:cNvPr id="183" name="182 Rectángulo"/>
          <p:cNvSpPr/>
          <p:nvPr/>
        </p:nvSpPr>
        <p:spPr>
          <a:xfrm>
            <a:off x="7881950" y="3445955"/>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C.3</a:t>
            </a:r>
          </a:p>
        </p:txBody>
      </p:sp>
      <p:sp>
        <p:nvSpPr>
          <p:cNvPr id="184" name="183 Rectángulo"/>
          <p:cNvSpPr/>
          <p:nvPr/>
        </p:nvSpPr>
        <p:spPr>
          <a:xfrm>
            <a:off x="7881950" y="3655474"/>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85" name="184 Rectángulo"/>
          <p:cNvSpPr/>
          <p:nvPr/>
        </p:nvSpPr>
        <p:spPr>
          <a:xfrm>
            <a:off x="7881950" y="3855312"/>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86" name="185 Rectángulo"/>
          <p:cNvSpPr/>
          <p:nvPr/>
        </p:nvSpPr>
        <p:spPr>
          <a:xfrm>
            <a:off x="7881950" y="4057092"/>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87" name="186 Rectángulo"/>
          <p:cNvSpPr/>
          <p:nvPr/>
        </p:nvSpPr>
        <p:spPr>
          <a:xfrm>
            <a:off x="7881950" y="4264629"/>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188" name="187 Rectángulo"/>
          <p:cNvSpPr/>
          <p:nvPr/>
        </p:nvSpPr>
        <p:spPr>
          <a:xfrm>
            <a:off x="7515107" y="1377417"/>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189" name="188 Rectángulo"/>
          <p:cNvSpPr/>
          <p:nvPr/>
        </p:nvSpPr>
        <p:spPr>
          <a:xfrm>
            <a:off x="7515107" y="1579197"/>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190" name="189 Rectángulo"/>
          <p:cNvSpPr/>
          <p:nvPr/>
        </p:nvSpPr>
        <p:spPr>
          <a:xfrm>
            <a:off x="7515107" y="178673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191" name="190 Rectángulo"/>
          <p:cNvSpPr/>
          <p:nvPr/>
        </p:nvSpPr>
        <p:spPr>
          <a:xfrm>
            <a:off x="7515107" y="199625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192" name="191 Rectángulo"/>
          <p:cNvSpPr/>
          <p:nvPr/>
        </p:nvSpPr>
        <p:spPr>
          <a:xfrm>
            <a:off x="7515107" y="220828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193" name="192 Rectángulo"/>
          <p:cNvSpPr/>
          <p:nvPr/>
        </p:nvSpPr>
        <p:spPr>
          <a:xfrm>
            <a:off x="7515107" y="241006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194" name="193 Rectángulo"/>
          <p:cNvSpPr/>
          <p:nvPr/>
        </p:nvSpPr>
        <p:spPr>
          <a:xfrm>
            <a:off x="7515107" y="261760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195" name="194 Rectángulo"/>
          <p:cNvSpPr/>
          <p:nvPr/>
        </p:nvSpPr>
        <p:spPr>
          <a:xfrm>
            <a:off x="7515107" y="282711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196" name="195 Rectángulo"/>
          <p:cNvSpPr/>
          <p:nvPr/>
        </p:nvSpPr>
        <p:spPr>
          <a:xfrm>
            <a:off x="7515107" y="303663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197" name="196 Rectángulo"/>
          <p:cNvSpPr/>
          <p:nvPr/>
        </p:nvSpPr>
        <p:spPr>
          <a:xfrm>
            <a:off x="7515107" y="323841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198" name="197 Rectángulo"/>
          <p:cNvSpPr/>
          <p:nvPr/>
        </p:nvSpPr>
        <p:spPr>
          <a:xfrm>
            <a:off x="7515107" y="344595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199" name="198 Rectángulo"/>
          <p:cNvSpPr/>
          <p:nvPr/>
        </p:nvSpPr>
        <p:spPr>
          <a:xfrm>
            <a:off x="7515107" y="365547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200" name="199 Rectángulo"/>
          <p:cNvSpPr/>
          <p:nvPr/>
        </p:nvSpPr>
        <p:spPr>
          <a:xfrm>
            <a:off x="7515107" y="386750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201" name="200 Rectángulo"/>
          <p:cNvSpPr/>
          <p:nvPr/>
        </p:nvSpPr>
        <p:spPr>
          <a:xfrm>
            <a:off x="7515107" y="406928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202" name="201 Rectángulo"/>
          <p:cNvSpPr/>
          <p:nvPr/>
        </p:nvSpPr>
        <p:spPr>
          <a:xfrm>
            <a:off x="7515107" y="4276821"/>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sp>
        <p:nvSpPr>
          <p:cNvPr id="203" name="202 Rectángulo"/>
          <p:cNvSpPr/>
          <p:nvPr/>
        </p:nvSpPr>
        <p:spPr>
          <a:xfrm>
            <a:off x="9239272" y="1357299"/>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A.0</a:t>
            </a:r>
          </a:p>
        </p:txBody>
      </p:sp>
      <p:sp>
        <p:nvSpPr>
          <p:cNvPr id="204" name="203 Rectángulo"/>
          <p:cNvSpPr/>
          <p:nvPr/>
        </p:nvSpPr>
        <p:spPr>
          <a:xfrm>
            <a:off x="9239272" y="1559079"/>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A.1</a:t>
            </a:r>
          </a:p>
        </p:txBody>
      </p:sp>
      <p:sp>
        <p:nvSpPr>
          <p:cNvPr id="205" name="204 Rectángulo"/>
          <p:cNvSpPr/>
          <p:nvPr/>
        </p:nvSpPr>
        <p:spPr>
          <a:xfrm>
            <a:off x="9239272" y="1766616"/>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A.2</a:t>
            </a:r>
          </a:p>
        </p:txBody>
      </p:sp>
      <p:sp>
        <p:nvSpPr>
          <p:cNvPr id="206" name="205 Rectángulo"/>
          <p:cNvSpPr/>
          <p:nvPr/>
        </p:nvSpPr>
        <p:spPr>
          <a:xfrm>
            <a:off x="9239272" y="1976135"/>
            <a:ext cx="642942" cy="209519"/>
          </a:xfrm>
          <a:prstGeom prst="rect">
            <a:avLst/>
          </a:prstGeom>
          <a:solidFill>
            <a:schemeClr val="accent6">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A.3</a:t>
            </a:r>
          </a:p>
        </p:txBody>
      </p:sp>
      <p:sp>
        <p:nvSpPr>
          <p:cNvPr id="207" name="206 Rectángulo"/>
          <p:cNvSpPr/>
          <p:nvPr/>
        </p:nvSpPr>
        <p:spPr>
          <a:xfrm>
            <a:off x="9239272" y="2177148"/>
            <a:ext cx="642942" cy="209519"/>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D.0</a:t>
            </a:r>
          </a:p>
        </p:txBody>
      </p:sp>
      <p:sp>
        <p:nvSpPr>
          <p:cNvPr id="208" name="207 Rectángulo"/>
          <p:cNvSpPr/>
          <p:nvPr/>
        </p:nvSpPr>
        <p:spPr>
          <a:xfrm>
            <a:off x="9239272" y="2378928"/>
            <a:ext cx="642942" cy="209519"/>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D.1</a:t>
            </a:r>
          </a:p>
        </p:txBody>
      </p:sp>
      <p:sp>
        <p:nvSpPr>
          <p:cNvPr id="209" name="208 Rectángulo"/>
          <p:cNvSpPr/>
          <p:nvPr/>
        </p:nvSpPr>
        <p:spPr>
          <a:xfrm>
            <a:off x="9239272" y="2586465"/>
            <a:ext cx="642942" cy="209519"/>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D.2</a:t>
            </a:r>
          </a:p>
        </p:txBody>
      </p:sp>
      <p:sp>
        <p:nvSpPr>
          <p:cNvPr id="210" name="209 Rectángulo"/>
          <p:cNvSpPr/>
          <p:nvPr/>
        </p:nvSpPr>
        <p:spPr>
          <a:xfrm>
            <a:off x="9239272" y="2795984"/>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C.0</a:t>
            </a:r>
          </a:p>
        </p:txBody>
      </p:sp>
      <p:sp>
        <p:nvSpPr>
          <p:cNvPr id="211" name="210 Rectángulo"/>
          <p:cNvSpPr/>
          <p:nvPr/>
        </p:nvSpPr>
        <p:spPr>
          <a:xfrm>
            <a:off x="9239272" y="3005503"/>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C.1</a:t>
            </a:r>
          </a:p>
        </p:txBody>
      </p:sp>
      <p:sp>
        <p:nvSpPr>
          <p:cNvPr id="212" name="211 Rectángulo"/>
          <p:cNvSpPr/>
          <p:nvPr/>
        </p:nvSpPr>
        <p:spPr>
          <a:xfrm>
            <a:off x="9239272" y="3207283"/>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C.2</a:t>
            </a:r>
          </a:p>
        </p:txBody>
      </p:sp>
      <p:sp>
        <p:nvSpPr>
          <p:cNvPr id="213" name="212 Rectángulo"/>
          <p:cNvSpPr/>
          <p:nvPr/>
        </p:nvSpPr>
        <p:spPr>
          <a:xfrm>
            <a:off x="9239272" y="3414820"/>
            <a:ext cx="642942" cy="209519"/>
          </a:xfrm>
          <a:prstGeom prst="rect">
            <a:avLst/>
          </a:prstGeom>
          <a:solidFill>
            <a:srgbClr val="92D05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C.3</a:t>
            </a:r>
          </a:p>
        </p:txBody>
      </p:sp>
      <p:sp>
        <p:nvSpPr>
          <p:cNvPr id="214" name="213 Rectángulo"/>
          <p:cNvSpPr/>
          <p:nvPr/>
        </p:nvSpPr>
        <p:spPr>
          <a:xfrm>
            <a:off x="9239272" y="3624339"/>
            <a:ext cx="642942" cy="209519"/>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D.3</a:t>
            </a:r>
          </a:p>
        </p:txBody>
      </p:sp>
      <p:sp>
        <p:nvSpPr>
          <p:cNvPr id="215" name="214 Rectángulo"/>
          <p:cNvSpPr/>
          <p:nvPr/>
        </p:nvSpPr>
        <p:spPr>
          <a:xfrm>
            <a:off x="9239272" y="3824177"/>
            <a:ext cx="642942" cy="209519"/>
          </a:xfrm>
          <a:prstGeom prst="rect">
            <a:avLst/>
          </a:prstGeom>
          <a:solidFill>
            <a:srgbClr val="FFFF00"/>
          </a:solidFill>
        </p:spPr>
        <p:style>
          <a:lnRef idx="1">
            <a:schemeClr val="dk1"/>
          </a:lnRef>
          <a:fillRef idx="2">
            <a:schemeClr val="dk1"/>
          </a:fillRef>
          <a:effectRef idx="1">
            <a:schemeClr val="dk1"/>
          </a:effectRef>
          <a:fontRef idx="minor">
            <a:schemeClr val="dk1"/>
          </a:fontRef>
        </p:style>
        <p:txBody>
          <a:bodyPr rtlCol="0" anchor="ctr"/>
          <a:lstStyle/>
          <a:p>
            <a:pPr algn="ctr"/>
            <a:r>
              <a:rPr lang="es-MX" sz="1100" dirty="0"/>
              <a:t>D.4</a:t>
            </a:r>
          </a:p>
        </p:txBody>
      </p:sp>
      <p:sp>
        <p:nvSpPr>
          <p:cNvPr id="216" name="215 Rectángulo"/>
          <p:cNvSpPr/>
          <p:nvPr/>
        </p:nvSpPr>
        <p:spPr>
          <a:xfrm>
            <a:off x="9239272" y="4025957"/>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17" name="216 Rectángulo"/>
          <p:cNvSpPr/>
          <p:nvPr/>
        </p:nvSpPr>
        <p:spPr>
          <a:xfrm>
            <a:off x="9239272" y="4233494"/>
            <a:ext cx="642942"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MX" sz="1400" dirty="0"/>
          </a:p>
        </p:txBody>
      </p:sp>
      <p:sp>
        <p:nvSpPr>
          <p:cNvPr id="218" name="217 Rectángulo"/>
          <p:cNvSpPr/>
          <p:nvPr/>
        </p:nvSpPr>
        <p:spPr>
          <a:xfrm>
            <a:off x="8879272" y="135729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19" name="218 Rectángulo"/>
          <p:cNvSpPr/>
          <p:nvPr/>
        </p:nvSpPr>
        <p:spPr>
          <a:xfrm>
            <a:off x="8879272" y="155907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20" name="219 Rectángulo"/>
          <p:cNvSpPr/>
          <p:nvPr/>
        </p:nvSpPr>
        <p:spPr>
          <a:xfrm>
            <a:off x="8879272" y="1766616"/>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21" name="220 Rectángulo"/>
          <p:cNvSpPr/>
          <p:nvPr/>
        </p:nvSpPr>
        <p:spPr>
          <a:xfrm>
            <a:off x="8879272" y="197613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222" name="221 Rectángulo"/>
          <p:cNvSpPr/>
          <p:nvPr/>
        </p:nvSpPr>
        <p:spPr>
          <a:xfrm>
            <a:off x="8879272" y="218816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223" name="222 Rectángulo"/>
          <p:cNvSpPr/>
          <p:nvPr/>
        </p:nvSpPr>
        <p:spPr>
          <a:xfrm>
            <a:off x="8879272" y="238994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224" name="223 Rectángulo"/>
          <p:cNvSpPr/>
          <p:nvPr/>
        </p:nvSpPr>
        <p:spPr>
          <a:xfrm>
            <a:off x="8879272" y="259748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225" name="224 Rectángulo"/>
          <p:cNvSpPr/>
          <p:nvPr/>
        </p:nvSpPr>
        <p:spPr>
          <a:xfrm>
            <a:off x="8879272" y="2807001"/>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226" name="225 Rectángulo"/>
          <p:cNvSpPr/>
          <p:nvPr/>
        </p:nvSpPr>
        <p:spPr>
          <a:xfrm>
            <a:off x="8879272" y="301652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227" name="226 Rectángulo"/>
          <p:cNvSpPr/>
          <p:nvPr/>
        </p:nvSpPr>
        <p:spPr>
          <a:xfrm>
            <a:off x="8879272" y="321830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228" name="227 Rectángulo"/>
          <p:cNvSpPr/>
          <p:nvPr/>
        </p:nvSpPr>
        <p:spPr>
          <a:xfrm>
            <a:off x="8879272" y="3425837"/>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229" name="228 Rectángulo"/>
          <p:cNvSpPr/>
          <p:nvPr/>
        </p:nvSpPr>
        <p:spPr>
          <a:xfrm>
            <a:off x="8879272" y="3635356"/>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230" name="229 Rectángulo"/>
          <p:cNvSpPr/>
          <p:nvPr/>
        </p:nvSpPr>
        <p:spPr>
          <a:xfrm>
            <a:off x="8879272" y="3847386"/>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231" name="230 Rectángulo"/>
          <p:cNvSpPr/>
          <p:nvPr/>
        </p:nvSpPr>
        <p:spPr>
          <a:xfrm>
            <a:off x="8879272" y="4049166"/>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232" name="231 Rectángulo"/>
          <p:cNvSpPr/>
          <p:nvPr/>
        </p:nvSpPr>
        <p:spPr>
          <a:xfrm>
            <a:off x="8879272" y="425670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sp>
        <p:nvSpPr>
          <p:cNvPr id="233" name="232 CuadroTexto"/>
          <p:cNvSpPr txBox="1"/>
          <p:nvPr/>
        </p:nvSpPr>
        <p:spPr>
          <a:xfrm>
            <a:off x="2024035" y="4574268"/>
            <a:ext cx="1147835" cy="430887"/>
          </a:xfrm>
          <a:prstGeom prst="rect">
            <a:avLst/>
          </a:prstGeom>
          <a:noFill/>
        </p:spPr>
        <p:txBody>
          <a:bodyPr wrap="square" rtlCol="0">
            <a:spAutoFit/>
          </a:bodyPr>
          <a:lstStyle/>
          <a:p>
            <a:pPr marL="228600" indent="-228600">
              <a:buAutoNum type="alphaLcParenBoth"/>
            </a:pPr>
            <a:r>
              <a:rPr lang="es-MX" sz="1100" b="1" dirty="0"/>
              <a:t>15 páginas libres</a:t>
            </a:r>
          </a:p>
        </p:txBody>
      </p:sp>
      <p:sp>
        <p:nvSpPr>
          <p:cNvPr id="234" name="233 CuadroTexto"/>
          <p:cNvSpPr txBox="1"/>
          <p:nvPr/>
        </p:nvSpPr>
        <p:spPr>
          <a:xfrm>
            <a:off x="3324270" y="4598652"/>
            <a:ext cx="1147835" cy="430887"/>
          </a:xfrm>
          <a:prstGeom prst="rect">
            <a:avLst/>
          </a:prstGeom>
          <a:noFill/>
        </p:spPr>
        <p:txBody>
          <a:bodyPr wrap="square" rtlCol="0">
            <a:spAutoFit/>
          </a:bodyPr>
          <a:lstStyle/>
          <a:p>
            <a:pPr marL="228600" indent="-228600">
              <a:buFont typeface="+mj-lt"/>
              <a:buAutoNum type="alphaLcParenR" startAt="2"/>
            </a:pPr>
            <a:r>
              <a:rPr lang="es-MX" sz="1100" b="1" dirty="0"/>
              <a:t>Carga del proceso A</a:t>
            </a:r>
          </a:p>
        </p:txBody>
      </p:sp>
      <p:sp>
        <p:nvSpPr>
          <p:cNvPr id="235" name="234 CuadroTexto"/>
          <p:cNvSpPr txBox="1"/>
          <p:nvPr/>
        </p:nvSpPr>
        <p:spPr>
          <a:xfrm>
            <a:off x="4733852" y="4574268"/>
            <a:ext cx="1147835" cy="430887"/>
          </a:xfrm>
          <a:prstGeom prst="rect">
            <a:avLst/>
          </a:prstGeom>
          <a:noFill/>
        </p:spPr>
        <p:txBody>
          <a:bodyPr wrap="square" rtlCol="0">
            <a:spAutoFit/>
          </a:bodyPr>
          <a:lstStyle/>
          <a:p>
            <a:pPr marL="228600" indent="-228600">
              <a:buFont typeface="+mj-lt"/>
              <a:buAutoNum type="alphaLcParenR" startAt="3"/>
            </a:pPr>
            <a:r>
              <a:rPr lang="es-MX" sz="1100" b="1" dirty="0"/>
              <a:t>Carga del proceso B</a:t>
            </a:r>
          </a:p>
        </p:txBody>
      </p:sp>
      <p:sp>
        <p:nvSpPr>
          <p:cNvPr id="236" name="235 CuadroTexto"/>
          <p:cNvSpPr txBox="1"/>
          <p:nvPr/>
        </p:nvSpPr>
        <p:spPr>
          <a:xfrm>
            <a:off x="6162612" y="4574268"/>
            <a:ext cx="1147835" cy="430887"/>
          </a:xfrm>
          <a:prstGeom prst="rect">
            <a:avLst/>
          </a:prstGeom>
          <a:noFill/>
        </p:spPr>
        <p:txBody>
          <a:bodyPr wrap="square" rtlCol="0">
            <a:spAutoFit/>
          </a:bodyPr>
          <a:lstStyle/>
          <a:p>
            <a:pPr marL="228600" indent="-228600">
              <a:buFont typeface="+mj-lt"/>
              <a:buAutoNum type="alphaLcParenR" startAt="4"/>
            </a:pPr>
            <a:r>
              <a:rPr lang="es-MX" sz="1100" b="1" dirty="0"/>
              <a:t>Carga del proceso C</a:t>
            </a:r>
          </a:p>
        </p:txBody>
      </p:sp>
      <p:sp>
        <p:nvSpPr>
          <p:cNvPr id="237" name="236 CuadroTexto"/>
          <p:cNvSpPr txBox="1"/>
          <p:nvPr/>
        </p:nvSpPr>
        <p:spPr>
          <a:xfrm>
            <a:off x="7591372" y="4574268"/>
            <a:ext cx="1433587" cy="430887"/>
          </a:xfrm>
          <a:prstGeom prst="rect">
            <a:avLst/>
          </a:prstGeom>
          <a:noFill/>
        </p:spPr>
        <p:txBody>
          <a:bodyPr wrap="square" rtlCol="0">
            <a:spAutoFit/>
          </a:bodyPr>
          <a:lstStyle/>
          <a:p>
            <a:pPr marL="228600" indent="-228600">
              <a:buFont typeface="+mj-lt"/>
              <a:buAutoNum type="alphaLcParenR" startAt="5"/>
            </a:pPr>
            <a:r>
              <a:rPr lang="es-MX" sz="1100" b="1" dirty="0"/>
              <a:t>Expulsión del proceso B</a:t>
            </a:r>
          </a:p>
        </p:txBody>
      </p:sp>
      <p:sp>
        <p:nvSpPr>
          <p:cNvPr id="239" name="238 CuadroTexto"/>
          <p:cNvSpPr txBox="1"/>
          <p:nvPr/>
        </p:nvSpPr>
        <p:spPr>
          <a:xfrm>
            <a:off x="9024959" y="4572009"/>
            <a:ext cx="1147835" cy="430887"/>
          </a:xfrm>
          <a:prstGeom prst="rect">
            <a:avLst/>
          </a:prstGeom>
          <a:noFill/>
        </p:spPr>
        <p:txBody>
          <a:bodyPr wrap="square" rtlCol="0">
            <a:spAutoFit/>
          </a:bodyPr>
          <a:lstStyle/>
          <a:p>
            <a:pPr marL="228600" indent="-228600">
              <a:buFont typeface="+mj-lt"/>
              <a:buAutoNum type="alphaLcParenR" startAt="6"/>
            </a:pPr>
            <a:r>
              <a:rPr lang="es-MX" sz="1100" b="1" dirty="0"/>
              <a:t>Carga del proceso D</a:t>
            </a:r>
          </a:p>
        </p:txBody>
      </p:sp>
      <p:sp>
        <p:nvSpPr>
          <p:cNvPr id="248" name="247 Rectángulo"/>
          <p:cNvSpPr/>
          <p:nvPr/>
        </p:nvSpPr>
        <p:spPr>
          <a:xfrm>
            <a:off x="2095472" y="514351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49" name="248 Rectángulo"/>
          <p:cNvSpPr/>
          <p:nvPr/>
        </p:nvSpPr>
        <p:spPr>
          <a:xfrm>
            <a:off x="2095472" y="5345293"/>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50" name="249 Rectángulo"/>
          <p:cNvSpPr/>
          <p:nvPr/>
        </p:nvSpPr>
        <p:spPr>
          <a:xfrm>
            <a:off x="2095472" y="555283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51" name="250 Rectángulo"/>
          <p:cNvSpPr/>
          <p:nvPr/>
        </p:nvSpPr>
        <p:spPr>
          <a:xfrm>
            <a:off x="2095472" y="5762349"/>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253" name="252 Rectángulo"/>
          <p:cNvSpPr/>
          <p:nvPr/>
        </p:nvSpPr>
        <p:spPr>
          <a:xfrm>
            <a:off x="4105390" y="5170475"/>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a:t>
            </a:r>
          </a:p>
        </p:txBody>
      </p:sp>
      <p:sp>
        <p:nvSpPr>
          <p:cNvPr id="254" name="253 Rectángulo"/>
          <p:cNvSpPr/>
          <p:nvPr/>
        </p:nvSpPr>
        <p:spPr>
          <a:xfrm>
            <a:off x="4105390" y="5372255"/>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a:t>
            </a:r>
          </a:p>
        </p:txBody>
      </p:sp>
      <p:sp>
        <p:nvSpPr>
          <p:cNvPr id="255" name="254 Rectángulo"/>
          <p:cNvSpPr/>
          <p:nvPr/>
        </p:nvSpPr>
        <p:spPr>
          <a:xfrm>
            <a:off x="4105390" y="5579792"/>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a:t>
            </a:r>
          </a:p>
        </p:txBody>
      </p:sp>
      <p:sp>
        <p:nvSpPr>
          <p:cNvPr id="258" name="257 Rectángulo"/>
          <p:cNvSpPr/>
          <p:nvPr/>
        </p:nvSpPr>
        <p:spPr>
          <a:xfrm>
            <a:off x="3738546" y="517047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59" name="258 Rectángulo"/>
          <p:cNvSpPr/>
          <p:nvPr/>
        </p:nvSpPr>
        <p:spPr>
          <a:xfrm>
            <a:off x="3738546" y="537225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60" name="259 Rectángulo"/>
          <p:cNvSpPr/>
          <p:nvPr/>
        </p:nvSpPr>
        <p:spPr>
          <a:xfrm>
            <a:off x="3738546" y="557979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63" name="262 Rectángulo"/>
          <p:cNvSpPr/>
          <p:nvPr/>
        </p:nvSpPr>
        <p:spPr>
          <a:xfrm>
            <a:off x="7605852" y="5163468"/>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264" name="263 Rectángulo"/>
          <p:cNvSpPr/>
          <p:nvPr/>
        </p:nvSpPr>
        <p:spPr>
          <a:xfrm>
            <a:off x="7605852" y="5365248"/>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5</a:t>
            </a:r>
          </a:p>
        </p:txBody>
      </p:sp>
      <p:sp>
        <p:nvSpPr>
          <p:cNvPr id="265" name="264 Rectángulo"/>
          <p:cNvSpPr/>
          <p:nvPr/>
        </p:nvSpPr>
        <p:spPr>
          <a:xfrm>
            <a:off x="7605852" y="5572785"/>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6</a:t>
            </a:r>
          </a:p>
        </p:txBody>
      </p:sp>
      <p:sp>
        <p:nvSpPr>
          <p:cNvPr id="266" name="265 Rectángulo"/>
          <p:cNvSpPr/>
          <p:nvPr/>
        </p:nvSpPr>
        <p:spPr>
          <a:xfrm>
            <a:off x="7605852" y="5782304"/>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11</a:t>
            </a:r>
          </a:p>
        </p:txBody>
      </p:sp>
      <p:sp>
        <p:nvSpPr>
          <p:cNvPr id="267" name="266 Rectángulo"/>
          <p:cNvSpPr/>
          <p:nvPr/>
        </p:nvSpPr>
        <p:spPr>
          <a:xfrm>
            <a:off x="7605852" y="5982142"/>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12</a:t>
            </a:r>
          </a:p>
        </p:txBody>
      </p:sp>
      <p:sp>
        <p:nvSpPr>
          <p:cNvPr id="268" name="267 Rectángulo"/>
          <p:cNvSpPr/>
          <p:nvPr/>
        </p:nvSpPr>
        <p:spPr>
          <a:xfrm>
            <a:off x="7239008" y="516346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69" name="268 Rectángulo"/>
          <p:cNvSpPr/>
          <p:nvPr/>
        </p:nvSpPr>
        <p:spPr>
          <a:xfrm>
            <a:off x="7239008" y="5365248"/>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70" name="269 Rectángulo"/>
          <p:cNvSpPr/>
          <p:nvPr/>
        </p:nvSpPr>
        <p:spPr>
          <a:xfrm>
            <a:off x="7239008" y="5572785"/>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71" name="270 Rectángulo"/>
          <p:cNvSpPr/>
          <p:nvPr/>
        </p:nvSpPr>
        <p:spPr>
          <a:xfrm>
            <a:off x="7239008" y="578230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272" name="271 Rectángulo"/>
          <p:cNvSpPr/>
          <p:nvPr/>
        </p:nvSpPr>
        <p:spPr>
          <a:xfrm>
            <a:off x="7239008" y="5982142"/>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4</a:t>
            </a:r>
          </a:p>
        </p:txBody>
      </p:sp>
      <p:sp>
        <p:nvSpPr>
          <p:cNvPr id="283" name="282 Rectángulo"/>
          <p:cNvSpPr/>
          <p:nvPr/>
        </p:nvSpPr>
        <p:spPr>
          <a:xfrm>
            <a:off x="5819902" y="5160924"/>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7</a:t>
            </a:r>
          </a:p>
        </p:txBody>
      </p:sp>
      <p:sp>
        <p:nvSpPr>
          <p:cNvPr id="284" name="283 Rectángulo"/>
          <p:cNvSpPr/>
          <p:nvPr/>
        </p:nvSpPr>
        <p:spPr>
          <a:xfrm>
            <a:off x="5819902" y="5362704"/>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8</a:t>
            </a:r>
          </a:p>
        </p:txBody>
      </p:sp>
      <p:sp>
        <p:nvSpPr>
          <p:cNvPr id="285" name="284 Rectángulo"/>
          <p:cNvSpPr/>
          <p:nvPr/>
        </p:nvSpPr>
        <p:spPr>
          <a:xfrm>
            <a:off x="5819902" y="5570241"/>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9</a:t>
            </a:r>
          </a:p>
        </p:txBody>
      </p:sp>
      <p:sp>
        <p:nvSpPr>
          <p:cNvPr id="286" name="285 Rectángulo"/>
          <p:cNvSpPr/>
          <p:nvPr/>
        </p:nvSpPr>
        <p:spPr>
          <a:xfrm>
            <a:off x="5819902" y="5779760"/>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10</a:t>
            </a:r>
          </a:p>
        </p:txBody>
      </p:sp>
      <p:sp>
        <p:nvSpPr>
          <p:cNvPr id="287" name="286 Rectángulo"/>
          <p:cNvSpPr/>
          <p:nvPr/>
        </p:nvSpPr>
        <p:spPr>
          <a:xfrm>
            <a:off x="5453058" y="516092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88" name="287 Rectángulo"/>
          <p:cNvSpPr/>
          <p:nvPr/>
        </p:nvSpPr>
        <p:spPr>
          <a:xfrm>
            <a:off x="5453058" y="5362704"/>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89" name="288 Rectángulo"/>
          <p:cNvSpPr/>
          <p:nvPr/>
        </p:nvSpPr>
        <p:spPr>
          <a:xfrm>
            <a:off x="5453058" y="5570241"/>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90" name="289 Rectángulo"/>
          <p:cNvSpPr/>
          <p:nvPr/>
        </p:nvSpPr>
        <p:spPr>
          <a:xfrm>
            <a:off x="5453058" y="5779760"/>
            <a:ext cx="360000" cy="209519"/>
          </a:xfrm>
          <a:prstGeom prst="rect">
            <a:avLst/>
          </a:prstGeom>
          <a:solidFill>
            <a:schemeClr val="bg1"/>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291" name="290 Rectángulo"/>
          <p:cNvSpPr/>
          <p:nvPr/>
        </p:nvSpPr>
        <p:spPr>
          <a:xfrm>
            <a:off x="9177488" y="5232094"/>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13</a:t>
            </a:r>
          </a:p>
        </p:txBody>
      </p:sp>
      <p:sp>
        <p:nvSpPr>
          <p:cNvPr id="292" name="291 Rectángulo"/>
          <p:cNvSpPr/>
          <p:nvPr/>
        </p:nvSpPr>
        <p:spPr>
          <a:xfrm>
            <a:off x="9177488" y="5433874"/>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14</a:t>
            </a:r>
          </a:p>
        </p:txBody>
      </p:sp>
      <p:sp>
        <p:nvSpPr>
          <p:cNvPr id="299" name="298 CuadroTexto"/>
          <p:cNvSpPr txBox="1"/>
          <p:nvPr/>
        </p:nvSpPr>
        <p:spPr>
          <a:xfrm>
            <a:off x="2773277" y="5143512"/>
            <a:ext cx="1076397" cy="600164"/>
          </a:xfrm>
          <a:prstGeom prst="rect">
            <a:avLst/>
          </a:prstGeom>
          <a:noFill/>
        </p:spPr>
        <p:txBody>
          <a:bodyPr wrap="square" rtlCol="0">
            <a:spAutoFit/>
          </a:bodyPr>
          <a:lstStyle/>
          <a:p>
            <a:r>
              <a:rPr lang="es-MX" sz="1100" b="1" dirty="0"/>
              <a:t>Tablas del páginas del Proceso A</a:t>
            </a:r>
          </a:p>
        </p:txBody>
      </p:sp>
      <p:sp>
        <p:nvSpPr>
          <p:cNvPr id="300" name="299 CuadroTexto"/>
          <p:cNvSpPr txBox="1"/>
          <p:nvPr/>
        </p:nvSpPr>
        <p:spPr>
          <a:xfrm>
            <a:off x="4524365" y="5167896"/>
            <a:ext cx="1076397" cy="600164"/>
          </a:xfrm>
          <a:prstGeom prst="rect">
            <a:avLst/>
          </a:prstGeom>
          <a:noFill/>
        </p:spPr>
        <p:txBody>
          <a:bodyPr wrap="square" rtlCol="0">
            <a:spAutoFit/>
          </a:bodyPr>
          <a:lstStyle/>
          <a:p>
            <a:r>
              <a:rPr lang="es-MX" sz="1100" b="1" dirty="0"/>
              <a:t>Tablas del páginas del Proceso B</a:t>
            </a:r>
          </a:p>
        </p:txBody>
      </p:sp>
      <p:sp>
        <p:nvSpPr>
          <p:cNvPr id="301" name="300 CuadroTexto"/>
          <p:cNvSpPr txBox="1"/>
          <p:nvPr/>
        </p:nvSpPr>
        <p:spPr>
          <a:xfrm>
            <a:off x="6238877" y="5160923"/>
            <a:ext cx="1076397" cy="600164"/>
          </a:xfrm>
          <a:prstGeom prst="rect">
            <a:avLst/>
          </a:prstGeom>
          <a:noFill/>
        </p:spPr>
        <p:txBody>
          <a:bodyPr wrap="square" rtlCol="0">
            <a:spAutoFit/>
          </a:bodyPr>
          <a:lstStyle/>
          <a:p>
            <a:r>
              <a:rPr lang="es-MX" sz="1100" b="1" dirty="0"/>
              <a:t>Tablas del páginas del Proceso C</a:t>
            </a:r>
          </a:p>
        </p:txBody>
      </p:sp>
      <p:sp>
        <p:nvSpPr>
          <p:cNvPr id="243" name="242 Rectángulo"/>
          <p:cNvSpPr/>
          <p:nvPr/>
        </p:nvSpPr>
        <p:spPr>
          <a:xfrm>
            <a:off x="2364780" y="5155705"/>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0</a:t>
            </a:r>
          </a:p>
        </p:txBody>
      </p:sp>
      <p:sp>
        <p:nvSpPr>
          <p:cNvPr id="244" name="243 Rectángulo"/>
          <p:cNvSpPr/>
          <p:nvPr/>
        </p:nvSpPr>
        <p:spPr>
          <a:xfrm>
            <a:off x="2364780" y="5357485"/>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1</a:t>
            </a:r>
          </a:p>
        </p:txBody>
      </p:sp>
      <p:sp>
        <p:nvSpPr>
          <p:cNvPr id="245" name="244 Rectángulo"/>
          <p:cNvSpPr/>
          <p:nvPr/>
        </p:nvSpPr>
        <p:spPr>
          <a:xfrm>
            <a:off x="2364780" y="5565022"/>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2</a:t>
            </a:r>
          </a:p>
        </p:txBody>
      </p:sp>
      <p:sp>
        <p:nvSpPr>
          <p:cNvPr id="246" name="245 Rectángulo"/>
          <p:cNvSpPr/>
          <p:nvPr/>
        </p:nvSpPr>
        <p:spPr>
          <a:xfrm>
            <a:off x="2364780" y="5774541"/>
            <a:ext cx="418975" cy="20951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200" dirty="0"/>
              <a:t>3</a:t>
            </a:r>
          </a:p>
        </p:txBody>
      </p:sp>
      <p:sp>
        <p:nvSpPr>
          <p:cNvPr id="302" name="301 CuadroTexto"/>
          <p:cNvSpPr txBox="1"/>
          <p:nvPr/>
        </p:nvSpPr>
        <p:spPr>
          <a:xfrm>
            <a:off x="8024827" y="5174376"/>
            <a:ext cx="1076397" cy="600164"/>
          </a:xfrm>
          <a:prstGeom prst="rect">
            <a:avLst/>
          </a:prstGeom>
          <a:noFill/>
        </p:spPr>
        <p:txBody>
          <a:bodyPr wrap="square" rtlCol="0">
            <a:spAutoFit/>
          </a:bodyPr>
          <a:lstStyle/>
          <a:p>
            <a:r>
              <a:rPr lang="es-MX" sz="1100" b="1" dirty="0"/>
              <a:t>Tablas del páginas del Proceso D</a:t>
            </a:r>
          </a:p>
        </p:txBody>
      </p:sp>
      <p:sp>
        <p:nvSpPr>
          <p:cNvPr id="307" name="306 CuadroTexto"/>
          <p:cNvSpPr txBox="1"/>
          <p:nvPr/>
        </p:nvSpPr>
        <p:spPr>
          <a:xfrm>
            <a:off x="9177488" y="5712758"/>
            <a:ext cx="1276231" cy="430887"/>
          </a:xfrm>
          <a:prstGeom prst="rect">
            <a:avLst/>
          </a:prstGeom>
          <a:noFill/>
        </p:spPr>
        <p:txBody>
          <a:bodyPr wrap="square" rtlCol="0">
            <a:spAutoFit/>
          </a:bodyPr>
          <a:lstStyle/>
          <a:p>
            <a:r>
              <a:rPr lang="es-MX" sz="1100" b="1" dirty="0"/>
              <a:t>Listas de marcos libres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28675" name="Rectangle 3"/>
          <p:cNvSpPr>
            <a:spLocks noGrp="1" noChangeArrowheads="1"/>
          </p:cNvSpPr>
          <p:nvPr>
            <p:ph idx="1"/>
          </p:nvPr>
        </p:nvSpPr>
        <p:spPr>
          <a:xfrm>
            <a:off x="2894013" y="1827214"/>
            <a:ext cx="7313612" cy="4725987"/>
          </a:xfrm>
        </p:spPr>
        <p:txBody>
          <a:bodyPr/>
          <a:lstStyle/>
          <a:p>
            <a:pPr eaLnBrk="1" hangingPunct="1">
              <a:lnSpc>
                <a:spcPct val="90000"/>
              </a:lnSpc>
            </a:pPr>
            <a:r>
              <a:rPr lang="es-PR">
                <a:latin typeface="Tahoma" charset="0"/>
                <a:ea typeface="ＭＳ Ｐゴシック" charset="0"/>
                <a:cs typeface="ＭＳ Ｐゴシック" charset="0"/>
              </a:rPr>
              <a:t>Como los marcos de página pueden son reutilizados tan pronto quedan disponibles no hay fragmentación externa.</a:t>
            </a:r>
          </a:p>
          <a:p>
            <a:pPr eaLnBrk="1" hangingPunct="1">
              <a:lnSpc>
                <a:spcPct val="90000"/>
              </a:lnSpc>
            </a:pPr>
            <a:r>
              <a:rPr lang="es-PR">
                <a:latin typeface="Tahoma" charset="0"/>
                <a:ea typeface="ＭＳ Ｐゴシック" charset="0"/>
                <a:cs typeface="ＭＳ Ｐゴシック" charset="0"/>
              </a:rPr>
              <a:t>Como las páginas no tienen que estar continuas en memoria no hay necesidad de relocalizar.</a:t>
            </a:r>
          </a:p>
          <a:p>
            <a:pPr eaLnBrk="1" hangingPunct="1">
              <a:lnSpc>
                <a:spcPct val="90000"/>
              </a:lnSpc>
            </a:pPr>
            <a:r>
              <a:rPr lang="es-PR">
                <a:latin typeface="Tahoma" charset="0"/>
                <a:ea typeface="ＭＳ Ｐゴシック" charset="0"/>
                <a:cs typeface="ＭＳ Ｐゴシック" charset="0"/>
              </a:rPr>
              <a:t>La dificultad en este esquema es cómo el Administrador de la Memoria monitorea dónde está cada página.</a:t>
            </a:r>
          </a:p>
        </p:txBody>
      </p:sp>
      <p:sp>
        <p:nvSpPr>
          <p:cNvPr id="2867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E1C58CC-552F-C44B-A0E6-E6C9154C4353}" type="slidenum">
              <a:rPr lang="en-US" sz="1400"/>
              <a:pPr eaLnBrk="1" hangingPunct="1"/>
              <a:t>27</a:t>
            </a:fld>
            <a:endParaRPr 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30723" name="Rectangle 3"/>
          <p:cNvSpPr>
            <a:spLocks noGrp="1" noChangeArrowheads="1"/>
          </p:cNvSpPr>
          <p:nvPr>
            <p:ph idx="1"/>
          </p:nvPr>
        </p:nvSpPr>
        <p:spPr>
          <a:xfrm>
            <a:off x="2895601" y="1600200"/>
            <a:ext cx="7313613" cy="1143000"/>
          </a:xfrm>
        </p:spPr>
        <p:txBody>
          <a:bodyPr/>
          <a:lstStyle/>
          <a:p>
            <a:pPr eaLnBrk="1" hangingPunct="1">
              <a:lnSpc>
                <a:spcPct val="90000"/>
              </a:lnSpc>
            </a:pPr>
            <a:r>
              <a:rPr lang="es-PR" sz="2300">
                <a:latin typeface="Tahoma" charset="0"/>
                <a:ea typeface="ＭＳ Ｐゴシック" charset="0"/>
                <a:cs typeface="ＭＳ Ｐゴシック" charset="0"/>
              </a:rPr>
              <a:t>La siguiente figura muestra que un problema (pero pequeño) es la fragmentación interna del último marco de página.</a:t>
            </a:r>
          </a:p>
        </p:txBody>
      </p:sp>
      <p:sp>
        <p:nvSpPr>
          <p:cNvPr id="3072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74F011C2-A830-D240-A71C-815EC4FE9ED5}" type="slidenum">
              <a:rPr lang="en-US" sz="1400"/>
              <a:pPr eaLnBrk="1" hangingPunct="1"/>
              <a:t>28</a:t>
            </a:fld>
            <a:endParaRPr lang="en-US" sz="1400"/>
          </a:p>
        </p:txBody>
      </p:sp>
      <p:pic>
        <p:nvPicPr>
          <p:cNvPr id="3072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2743200"/>
            <a:ext cx="7999413" cy="36766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32771" name="Rectangle 3"/>
          <p:cNvSpPr>
            <a:spLocks noGrp="1" noChangeArrowheads="1"/>
          </p:cNvSpPr>
          <p:nvPr>
            <p:ph idx="1"/>
          </p:nvPr>
        </p:nvSpPr>
        <p:spPr/>
        <p:txBody>
          <a:bodyPr/>
          <a:lstStyle/>
          <a:p>
            <a:pPr eaLnBrk="1" hangingPunct="1"/>
            <a:r>
              <a:rPr lang="es-PR">
                <a:latin typeface="Tahoma" charset="0"/>
                <a:ea typeface="ＭＳ Ｐゴシック" charset="0"/>
                <a:cs typeface="ＭＳ Ｐゴシック" charset="0"/>
              </a:rPr>
              <a:t>Hay tres tablas que deben ser manejadas:</a:t>
            </a:r>
          </a:p>
          <a:p>
            <a:pPr lvl="1" eaLnBrk="1" hangingPunct="1"/>
            <a:r>
              <a:rPr lang="es-PR" b="1">
                <a:latin typeface="Tahoma" charset="0"/>
                <a:ea typeface="ＭＳ Ｐゴシック" charset="0"/>
              </a:rPr>
              <a:t>Tabla de Trabajos</a:t>
            </a:r>
            <a:r>
              <a:rPr lang="es-PR">
                <a:latin typeface="Tahoma" charset="0"/>
                <a:ea typeface="ＭＳ Ｐゴシック" charset="0"/>
              </a:rPr>
              <a:t> (</a:t>
            </a:r>
            <a:r>
              <a:rPr lang="es-PR" i="1">
                <a:latin typeface="Tahoma" charset="0"/>
                <a:ea typeface="ＭＳ Ｐゴシック" charset="0"/>
              </a:rPr>
              <a:t>Job Table</a:t>
            </a:r>
            <a:r>
              <a:rPr lang="es-PR">
                <a:latin typeface="Tahoma" charset="0"/>
                <a:ea typeface="ＭＳ Ｐゴシック" charset="0"/>
              </a:rPr>
              <a:t>, JT)</a:t>
            </a:r>
          </a:p>
          <a:p>
            <a:pPr lvl="1" eaLnBrk="1" hangingPunct="1"/>
            <a:r>
              <a:rPr lang="es-PR" b="1">
                <a:latin typeface="Tahoma" charset="0"/>
                <a:ea typeface="ＭＳ Ｐゴシック" charset="0"/>
              </a:rPr>
              <a:t>Tabla de Correspondencia de Páginas</a:t>
            </a:r>
            <a:r>
              <a:rPr lang="es-PR">
                <a:latin typeface="Tahoma" charset="0"/>
                <a:ea typeface="ＭＳ Ｐゴシック" charset="0"/>
              </a:rPr>
              <a:t> (</a:t>
            </a:r>
            <a:r>
              <a:rPr lang="es-PR" i="1">
                <a:latin typeface="Tahoma" charset="0"/>
                <a:ea typeface="ＭＳ Ｐゴシック" charset="0"/>
              </a:rPr>
              <a:t>Page Map Table</a:t>
            </a:r>
            <a:r>
              <a:rPr lang="es-PR">
                <a:latin typeface="Tahoma" charset="0"/>
                <a:ea typeface="ＭＳ Ｐゴシック" charset="0"/>
              </a:rPr>
              <a:t>, PMT)</a:t>
            </a:r>
          </a:p>
          <a:p>
            <a:pPr lvl="1" eaLnBrk="1" hangingPunct="1"/>
            <a:r>
              <a:rPr lang="es-PR" b="1">
                <a:latin typeface="Tahoma" charset="0"/>
                <a:ea typeface="ＭＳ Ｐゴシック" charset="0"/>
              </a:rPr>
              <a:t>Tabla de Correspondencia de la Memoria</a:t>
            </a:r>
            <a:r>
              <a:rPr lang="es-PR">
                <a:latin typeface="Tahoma" charset="0"/>
                <a:ea typeface="ＭＳ Ｐゴシック" charset="0"/>
              </a:rPr>
              <a:t> (</a:t>
            </a:r>
            <a:r>
              <a:rPr lang="es-PR" i="1">
                <a:latin typeface="Tahoma" charset="0"/>
                <a:ea typeface="ＭＳ Ｐゴシック" charset="0"/>
              </a:rPr>
              <a:t>Memory Map Table</a:t>
            </a:r>
            <a:r>
              <a:rPr lang="es-PR">
                <a:latin typeface="Tahoma" charset="0"/>
                <a:ea typeface="ＭＳ Ｐゴシック" charset="0"/>
              </a:rPr>
              <a:t>, MMT)</a:t>
            </a:r>
          </a:p>
        </p:txBody>
      </p:sp>
      <p:sp>
        <p:nvSpPr>
          <p:cNvPr id="3277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285FD20-A801-944B-B63A-3EFF8A645EDE}" type="slidenum">
              <a:rPr lang="en-US" sz="1400"/>
              <a:pPr eaLnBrk="1" hangingPunct="1"/>
              <a:t>29</a:t>
            </a:fld>
            <a:endParaRPr lang="en-US"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34819" name="Rectangle 3"/>
          <p:cNvSpPr>
            <a:spLocks noGrp="1" noChangeArrowheads="1"/>
          </p:cNvSpPr>
          <p:nvPr>
            <p:ph idx="1"/>
          </p:nvPr>
        </p:nvSpPr>
        <p:spPr>
          <a:xfrm>
            <a:off x="2895601" y="1524000"/>
            <a:ext cx="7313613" cy="2744788"/>
          </a:xfrm>
        </p:spPr>
        <p:txBody>
          <a:bodyPr/>
          <a:lstStyle/>
          <a:p>
            <a:pPr eaLnBrk="1" hangingPunct="1"/>
            <a:r>
              <a:rPr lang="es-PR" sz="2600">
                <a:latin typeface="Tahoma" charset="0"/>
                <a:ea typeface="ＭＳ Ｐゴシック" charset="0"/>
                <a:cs typeface="ＭＳ Ｐゴシック" charset="0"/>
              </a:rPr>
              <a:t>La Tabla de Trabajos (JT) contiene, para cada programa en memoria:</a:t>
            </a:r>
          </a:p>
          <a:p>
            <a:pPr lvl="1" eaLnBrk="1" hangingPunct="1"/>
            <a:r>
              <a:rPr lang="es-PR">
                <a:latin typeface="Tahoma" charset="0"/>
                <a:ea typeface="ＭＳ Ｐゴシック" charset="0"/>
              </a:rPr>
              <a:t>El número del programa (</a:t>
            </a:r>
            <a:r>
              <a:rPr lang="es-PR" i="1">
                <a:latin typeface="Tahoma" charset="0"/>
                <a:ea typeface="ＭＳ Ｐゴシック" charset="0"/>
              </a:rPr>
              <a:t>job</a:t>
            </a:r>
            <a:r>
              <a:rPr lang="es-PR">
                <a:latin typeface="Tahoma" charset="0"/>
                <a:ea typeface="ＭＳ Ｐゴシック" charset="0"/>
              </a:rPr>
              <a:t>)</a:t>
            </a:r>
          </a:p>
          <a:p>
            <a:pPr lvl="1" eaLnBrk="1" hangingPunct="1"/>
            <a:r>
              <a:rPr lang="es-PR">
                <a:latin typeface="Tahoma" charset="0"/>
                <a:ea typeface="ＭＳ Ｐゴシック" charset="0"/>
              </a:rPr>
              <a:t>Su tamaño</a:t>
            </a:r>
          </a:p>
          <a:p>
            <a:pPr lvl="1" eaLnBrk="1" hangingPunct="1"/>
            <a:r>
              <a:rPr lang="es-PR">
                <a:latin typeface="Tahoma" charset="0"/>
                <a:ea typeface="ＭＳ Ｐゴシック" charset="0"/>
              </a:rPr>
              <a:t>La localización de su Tabla de Correspondencia de Páginas (PMT)</a:t>
            </a:r>
          </a:p>
        </p:txBody>
      </p:sp>
      <p:sp>
        <p:nvSpPr>
          <p:cNvPr id="3482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54B74A4-7909-5443-890F-C1C95D445407}" type="slidenum">
              <a:rPr lang="en-US" sz="1400"/>
              <a:pPr eaLnBrk="1" hangingPunct="1"/>
              <a:t>30</a:t>
            </a:fld>
            <a:endParaRPr lang="en-US" sz="1400"/>
          </a:p>
        </p:txBody>
      </p:sp>
      <p:pic>
        <p:nvPicPr>
          <p:cNvPr id="34821" name="Picture 6"/>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52600" y="4038600"/>
            <a:ext cx="8763000" cy="241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36867" name="Rectangle 3"/>
          <p:cNvSpPr>
            <a:spLocks noGrp="1" noChangeArrowheads="1"/>
          </p:cNvSpPr>
          <p:nvPr>
            <p:ph idx="1"/>
          </p:nvPr>
        </p:nvSpPr>
        <p:spPr>
          <a:xfrm>
            <a:off x="2894013" y="1827214"/>
            <a:ext cx="7313612" cy="2592387"/>
          </a:xfrm>
        </p:spPr>
        <p:txBody>
          <a:bodyPr/>
          <a:lstStyle/>
          <a:p>
            <a:pPr eaLnBrk="1" hangingPunct="1">
              <a:lnSpc>
                <a:spcPct val="90000"/>
              </a:lnSpc>
            </a:pPr>
            <a:r>
              <a:rPr lang="es-PR">
                <a:latin typeface="Tahoma" charset="0"/>
                <a:ea typeface="ＭＳ Ｐゴシック" charset="0"/>
                <a:cs typeface="ＭＳ Ｐゴシック" charset="0"/>
              </a:rPr>
              <a:t>Cada programa tiene su propia Tabla de Correspondencia de Páginas (PMT) que contiene:</a:t>
            </a:r>
          </a:p>
          <a:p>
            <a:pPr lvl="1" eaLnBrk="1" hangingPunct="1">
              <a:lnSpc>
                <a:spcPct val="90000"/>
              </a:lnSpc>
            </a:pPr>
            <a:r>
              <a:rPr lang="es-PR" sz="2600">
                <a:latin typeface="Tahoma" charset="0"/>
                <a:ea typeface="ＭＳ Ｐゴシック" charset="0"/>
              </a:rPr>
              <a:t>El número de cada página</a:t>
            </a:r>
          </a:p>
          <a:p>
            <a:pPr lvl="1" eaLnBrk="1" hangingPunct="1">
              <a:lnSpc>
                <a:spcPct val="90000"/>
              </a:lnSpc>
            </a:pPr>
            <a:r>
              <a:rPr lang="es-PR" sz="2600">
                <a:latin typeface="Tahoma" charset="0"/>
                <a:ea typeface="ＭＳ Ｐゴシック" charset="0"/>
              </a:rPr>
              <a:t>El número del marco en memoria primaria donde se cargó</a:t>
            </a:r>
          </a:p>
        </p:txBody>
      </p:sp>
      <p:sp>
        <p:nvSpPr>
          <p:cNvPr id="3686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97ECBCE-86C2-2048-B402-084E20811DB5}" type="slidenum">
              <a:rPr lang="en-US" sz="1400"/>
              <a:pPr eaLnBrk="1" hangingPunct="1"/>
              <a:t>31</a:t>
            </a:fld>
            <a:endParaRPr lang="en-US" sz="1400"/>
          </a:p>
        </p:txBody>
      </p:sp>
      <p:pic>
        <p:nvPicPr>
          <p:cNvPr id="368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1" y="4572000"/>
            <a:ext cx="5419725" cy="1809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38915" name="Rectangle 3"/>
          <p:cNvSpPr>
            <a:spLocks noGrp="1" noChangeArrowheads="1"/>
          </p:cNvSpPr>
          <p:nvPr>
            <p:ph idx="1"/>
          </p:nvPr>
        </p:nvSpPr>
        <p:spPr>
          <a:xfrm>
            <a:off x="2894014" y="1827214"/>
            <a:ext cx="3811587" cy="4573587"/>
          </a:xfrm>
        </p:spPr>
        <p:txBody>
          <a:bodyPr/>
          <a:lstStyle/>
          <a:p>
            <a:pPr eaLnBrk="1" hangingPunct="1">
              <a:lnSpc>
                <a:spcPct val="90000"/>
              </a:lnSpc>
            </a:pPr>
            <a:r>
              <a:rPr lang="es-PR">
                <a:latin typeface="Tahoma" charset="0"/>
                <a:ea typeface="ＭＳ Ｐゴシック" charset="0"/>
                <a:cs typeface="ＭＳ Ｐゴシック" charset="0"/>
              </a:rPr>
              <a:t>La Tabla de Correspondencia de la Memoria contiene (MMT):</a:t>
            </a:r>
          </a:p>
          <a:p>
            <a:pPr lvl="1" eaLnBrk="1" hangingPunct="1">
              <a:lnSpc>
                <a:spcPct val="90000"/>
              </a:lnSpc>
            </a:pPr>
            <a:r>
              <a:rPr lang="es-PR">
                <a:latin typeface="Tahoma" charset="0"/>
                <a:ea typeface="ＭＳ Ｐゴシック" charset="0"/>
              </a:rPr>
              <a:t>El número de cada marco de página</a:t>
            </a:r>
          </a:p>
          <a:p>
            <a:pPr lvl="1" eaLnBrk="1" hangingPunct="1">
              <a:lnSpc>
                <a:spcPct val="90000"/>
              </a:lnSpc>
            </a:pPr>
            <a:r>
              <a:rPr lang="es-PR">
                <a:latin typeface="Tahoma" charset="0"/>
                <a:ea typeface="ＭＳ Ｐゴシック" charset="0"/>
              </a:rPr>
              <a:t>El estatus (libre/ocupado) de cada marco de página</a:t>
            </a:r>
          </a:p>
        </p:txBody>
      </p:sp>
      <p:sp>
        <p:nvSpPr>
          <p:cNvPr id="3891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D3F2643-C009-C140-8410-C717DD3C9670}" type="slidenum">
              <a:rPr lang="en-US" sz="1400"/>
              <a:pPr eaLnBrk="1" hangingPunct="1"/>
              <a:t>32</a:t>
            </a:fld>
            <a:endParaRPr lang="en-US" sz="1400"/>
          </a:p>
        </p:txBody>
      </p:sp>
      <p:pic>
        <p:nvPicPr>
          <p:cNvPr id="389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1" y="1600201"/>
            <a:ext cx="2390775" cy="4695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40963" name="Rectangle 3"/>
          <p:cNvSpPr>
            <a:spLocks noGrp="1" noChangeArrowheads="1"/>
          </p:cNvSpPr>
          <p:nvPr>
            <p:ph idx="1"/>
          </p:nvPr>
        </p:nvSpPr>
        <p:spPr>
          <a:xfrm>
            <a:off x="2894013" y="1827214"/>
            <a:ext cx="7313612" cy="5030787"/>
          </a:xfrm>
        </p:spPr>
        <p:txBody>
          <a:bodyPr/>
          <a:lstStyle/>
          <a:p>
            <a:pPr eaLnBrk="1" hangingPunct="1">
              <a:lnSpc>
                <a:spcPct val="90000"/>
              </a:lnSpc>
            </a:pPr>
            <a:r>
              <a:rPr lang="es-PR">
                <a:latin typeface="Tahoma" charset="0"/>
                <a:ea typeface="ＭＳ Ｐゴシック" charset="0"/>
                <a:cs typeface="ＭＳ Ｐゴシック" charset="0"/>
              </a:rPr>
              <a:t>Si se divide el número de una línea de código por el tamaño de la página,</a:t>
            </a:r>
          </a:p>
          <a:p>
            <a:pPr lvl="1" eaLnBrk="1" hangingPunct="1">
              <a:lnSpc>
                <a:spcPct val="90000"/>
              </a:lnSpc>
            </a:pPr>
            <a:r>
              <a:rPr lang="es-PR">
                <a:latin typeface="Tahoma" charset="0"/>
                <a:ea typeface="ＭＳ Ｐゴシック" charset="0"/>
              </a:rPr>
              <a:t>El cociente es el número de la página</a:t>
            </a:r>
          </a:p>
          <a:p>
            <a:pPr lvl="1" eaLnBrk="1" hangingPunct="1">
              <a:lnSpc>
                <a:spcPct val="90000"/>
              </a:lnSpc>
            </a:pPr>
            <a:r>
              <a:rPr lang="es-PR">
                <a:latin typeface="Tahoma" charset="0"/>
                <a:ea typeface="ＭＳ Ｐゴシック" charset="0"/>
              </a:rPr>
              <a:t>El residuo es el </a:t>
            </a:r>
            <a:r>
              <a:rPr lang="es-PR" b="1">
                <a:latin typeface="Tahoma" charset="0"/>
                <a:ea typeface="ＭＳ Ｐゴシック" charset="0"/>
              </a:rPr>
              <a:t>desplazamiento</a:t>
            </a:r>
            <a:r>
              <a:rPr lang="es-PR">
                <a:latin typeface="Tahoma" charset="0"/>
                <a:ea typeface="ＭＳ Ｐゴシック" charset="0"/>
              </a:rPr>
              <a:t> (</a:t>
            </a:r>
            <a:r>
              <a:rPr lang="es-PR" i="1">
                <a:latin typeface="Tahoma" charset="0"/>
                <a:ea typeface="ＭＳ Ｐゴシック" charset="0"/>
              </a:rPr>
              <a:t>displacement</a:t>
            </a:r>
            <a:r>
              <a:rPr lang="es-PR">
                <a:latin typeface="Tahoma" charset="0"/>
                <a:ea typeface="ＭＳ Ｐゴシック" charset="0"/>
              </a:rPr>
              <a:t>, </a:t>
            </a:r>
            <a:r>
              <a:rPr lang="es-PR" i="1">
                <a:latin typeface="Tahoma" charset="0"/>
                <a:ea typeface="ＭＳ Ｐゴシック" charset="0"/>
              </a:rPr>
              <a:t>offset</a:t>
            </a:r>
            <a:r>
              <a:rPr lang="es-PR">
                <a:latin typeface="Tahoma" charset="0"/>
                <a:ea typeface="ＭＳ Ｐゴシック" charset="0"/>
              </a:rPr>
              <a:t>) de la línea de código con respecto al comienzo de la página</a:t>
            </a:r>
          </a:p>
          <a:p>
            <a:pPr eaLnBrk="1" hangingPunct="1">
              <a:lnSpc>
                <a:spcPct val="90000"/>
              </a:lnSpc>
            </a:pPr>
            <a:r>
              <a:rPr lang="es-PR">
                <a:latin typeface="Tahoma" charset="0"/>
                <a:ea typeface="ＭＳ Ｐゴシック" charset="0"/>
                <a:cs typeface="ＭＳ Ｐゴシック" charset="0"/>
              </a:rPr>
              <a:t>Como se ve en la próxima figura, las páginas y la líneas dentro de cada página se numeran comenzando en 0.</a:t>
            </a:r>
          </a:p>
        </p:txBody>
      </p:sp>
      <p:sp>
        <p:nvSpPr>
          <p:cNvPr id="4096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7BB9E8DE-400B-7840-9C7C-4D8827812821}" type="slidenum">
              <a:rPr lang="en-US" sz="1400"/>
              <a:pPr eaLnBrk="1" hangingPunct="1"/>
              <a:t>33</a:t>
            </a:fld>
            <a:endParaRPr lang="en-US"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45059" name="Rectangle 3"/>
          <p:cNvSpPr>
            <a:spLocks noGrp="1" noChangeArrowheads="1"/>
          </p:cNvSpPr>
          <p:nvPr>
            <p:ph idx="1"/>
          </p:nvPr>
        </p:nvSpPr>
        <p:spPr>
          <a:xfrm>
            <a:off x="2894013" y="1827214"/>
            <a:ext cx="7313612" cy="4725987"/>
          </a:xfrm>
        </p:spPr>
        <p:txBody>
          <a:bodyPr/>
          <a:lstStyle/>
          <a:p>
            <a:pPr eaLnBrk="1" hangingPunct="1"/>
            <a:r>
              <a:rPr lang="es-PR">
                <a:latin typeface="Tahoma" charset="0"/>
                <a:ea typeface="ＭＳ Ｐゴシック" charset="0"/>
                <a:cs typeface="ＭＳ Ｐゴシック" charset="0"/>
              </a:rPr>
              <a:t>Para calcular la </a:t>
            </a:r>
            <a:r>
              <a:rPr lang="es-PR" b="1" i="1">
                <a:latin typeface="Tahoma" charset="0"/>
                <a:ea typeface="ＭＳ Ｐゴシック" charset="0"/>
                <a:cs typeface="ＭＳ Ｐゴシック" charset="0"/>
              </a:rPr>
              <a:t>localización absoluta</a:t>
            </a:r>
            <a:r>
              <a:rPr lang="es-PR">
                <a:latin typeface="Tahoma" charset="0"/>
                <a:ea typeface="ＭＳ Ｐゴシック" charset="0"/>
                <a:cs typeface="ＭＳ Ｐゴシック" charset="0"/>
              </a:rPr>
              <a:t> de la línea en memoria:</a:t>
            </a:r>
          </a:p>
          <a:p>
            <a:pPr lvl="1" eaLnBrk="1" hangingPunct="1"/>
            <a:r>
              <a:rPr lang="es-PR">
                <a:latin typeface="Tahoma" charset="0"/>
                <a:ea typeface="ＭＳ Ｐゴシック" charset="0"/>
              </a:rPr>
              <a:t>Hay que buscar en el PMT del programa cuál marco contiene la página.</a:t>
            </a:r>
          </a:p>
          <a:p>
            <a:pPr lvl="1" eaLnBrk="1" hangingPunct="1"/>
            <a:r>
              <a:rPr lang="es-PR">
                <a:latin typeface="Tahoma" charset="0"/>
                <a:ea typeface="ＭＳ Ｐゴシック" charset="0"/>
              </a:rPr>
              <a:t>Hay que obtener la dirección del marco de página:</a:t>
            </a:r>
          </a:p>
          <a:p>
            <a:pPr lvl="1" eaLnBrk="1" hangingPunct="1">
              <a:buFont typeface="Wingdings" charset="0"/>
              <a:buNone/>
            </a:pPr>
            <a:r>
              <a:rPr lang="es-PR" sz="2000">
                <a:latin typeface="Tahoma" charset="0"/>
                <a:ea typeface="ＭＳ Ｐゴシック" charset="0"/>
              </a:rPr>
              <a:t>addressOfPageFrame = pageFrameNum * pageSize</a:t>
            </a:r>
          </a:p>
          <a:p>
            <a:pPr lvl="1" eaLnBrk="1" hangingPunct="1"/>
            <a:r>
              <a:rPr lang="es-PR">
                <a:latin typeface="Tahoma" charset="0"/>
                <a:ea typeface="ＭＳ Ｐゴシック" charset="0"/>
              </a:rPr>
              <a:t>Hay que obtener la dirección de la línea dentro del marco:</a:t>
            </a:r>
          </a:p>
          <a:p>
            <a:pPr lvl="1" eaLnBrk="1" hangingPunct="1">
              <a:buFont typeface="Wingdings" charset="0"/>
              <a:buNone/>
            </a:pPr>
            <a:r>
              <a:rPr lang="es-PR" sz="2000">
                <a:latin typeface="Tahoma" charset="0"/>
                <a:ea typeface="ＭＳ Ｐゴシック" charset="0"/>
              </a:rPr>
              <a:t>addressOfInstruction = addressOfPageFrame + displacement</a:t>
            </a:r>
          </a:p>
        </p:txBody>
      </p:sp>
      <p:sp>
        <p:nvSpPr>
          <p:cNvPr id="4506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414EE28-8F51-D44E-8979-2E94D1AD57FF}" type="slidenum">
              <a:rPr lang="en-US" sz="1400"/>
              <a:pPr eaLnBrk="1" hangingPunct="1"/>
              <a:t>34</a:t>
            </a:fld>
            <a:endParaRPr lang="en-US"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47107" name="Rectangle 3"/>
          <p:cNvSpPr>
            <a:spLocks noGrp="1" noChangeArrowheads="1"/>
          </p:cNvSpPr>
          <p:nvPr>
            <p:ph idx="1"/>
          </p:nvPr>
        </p:nvSpPr>
        <p:spPr>
          <a:xfrm>
            <a:off x="2894013" y="1827214"/>
            <a:ext cx="7313612" cy="1373187"/>
          </a:xfrm>
        </p:spPr>
        <p:txBody>
          <a:bodyPr/>
          <a:lstStyle/>
          <a:p>
            <a:pPr eaLnBrk="1" hangingPunct="1"/>
            <a:r>
              <a:rPr lang="es-PR" sz="2500">
                <a:latin typeface="Tahoma" charset="0"/>
                <a:ea typeface="ＭＳ Ｐゴシック" charset="0"/>
                <a:cs typeface="ＭＳ Ｐゴシック" charset="0"/>
              </a:rPr>
              <a:t>¿Cuál es la localización de la línea 518 en memoria, asumiendo que cada marco contiene 512 líneas?  La dirección 1542 .</a:t>
            </a:r>
          </a:p>
        </p:txBody>
      </p:sp>
      <p:sp>
        <p:nvSpPr>
          <p:cNvPr id="4710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9888FEF-1187-424D-A4D0-E3528F0781CE}" type="slidenum">
              <a:rPr lang="en-US" sz="1400"/>
              <a:pPr eaLnBrk="1" hangingPunct="1"/>
              <a:t>35</a:t>
            </a:fld>
            <a:endParaRPr lang="en-US" sz="1400"/>
          </a:p>
        </p:txBody>
      </p:sp>
      <p:pic>
        <p:nvPicPr>
          <p:cNvPr id="4710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3352801"/>
            <a:ext cx="7935913" cy="3038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3257638" y="714356"/>
            <a:ext cx="6383424" cy="509820"/>
          </a:xfrm>
          <a:prstGeom prst="rect">
            <a:avLst/>
          </a:prstGeom>
        </p:spPr>
        <p:txBody>
          <a:bodyPr wrap="square">
            <a:spAutoFit/>
          </a:bodyPr>
          <a:lstStyle/>
          <a:p>
            <a:pPr>
              <a:lnSpc>
                <a:spcPct val="130000"/>
              </a:lnSpc>
              <a:spcBef>
                <a:spcPts val="200"/>
              </a:spcBef>
              <a:spcAft>
                <a:spcPts val="200"/>
              </a:spcAft>
            </a:pPr>
            <a:r>
              <a:rPr lang="es-MX" sz="1100" dirty="0"/>
              <a:t>Una dirección virtual </a:t>
            </a:r>
            <a:r>
              <a:rPr lang="es-MX" sz="1100" b="1" dirty="0"/>
              <a:t>a</a:t>
            </a:r>
            <a:r>
              <a:rPr lang="es-MX" sz="1100" dirty="0"/>
              <a:t> es equivalente a una dirección dada como una dupla (p, d), en la cual </a:t>
            </a:r>
            <a:r>
              <a:rPr lang="es-MX" sz="1100" b="1" dirty="0"/>
              <a:t>p</a:t>
            </a:r>
            <a:r>
              <a:rPr lang="es-MX" sz="1100" dirty="0"/>
              <a:t> es el número de la página y </a:t>
            </a:r>
            <a:r>
              <a:rPr lang="es-MX" sz="1100" b="1" dirty="0"/>
              <a:t>d</a:t>
            </a:r>
            <a:r>
              <a:rPr lang="es-MX" sz="1100" dirty="0"/>
              <a:t> el número de la palabra dentro de la página</a:t>
            </a:r>
          </a:p>
        </p:txBody>
      </p:sp>
      <p:grpSp>
        <p:nvGrpSpPr>
          <p:cNvPr id="2" name="84 Grupo"/>
          <p:cNvGrpSpPr/>
          <p:nvPr/>
        </p:nvGrpSpPr>
        <p:grpSpPr>
          <a:xfrm>
            <a:off x="2095473" y="2281912"/>
            <a:ext cx="2021543" cy="3814201"/>
            <a:chOff x="3873427" y="1785926"/>
            <a:chExt cx="3281916" cy="4050375"/>
          </a:xfrm>
        </p:grpSpPr>
        <p:sp>
          <p:nvSpPr>
            <p:cNvPr id="37" name="36 Rectángulo"/>
            <p:cNvSpPr/>
            <p:nvPr/>
          </p:nvSpPr>
          <p:spPr>
            <a:xfrm>
              <a:off x="5581719" y="4137144"/>
              <a:ext cx="1571637" cy="340276"/>
            </a:xfrm>
            <a:prstGeom prst="rect">
              <a:avLst/>
            </a:prstGeom>
            <a:solidFill>
              <a:schemeClr val="bg1"/>
            </a:solidFill>
            <a:ln w="38100">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38" name="37 Rectángulo"/>
            <p:cNvSpPr/>
            <p:nvPr/>
          </p:nvSpPr>
          <p:spPr>
            <a:xfrm>
              <a:off x="5581719" y="1785926"/>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0</a:t>
              </a:r>
            </a:p>
          </p:txBody>
        </p:sp>
        <p:sp>
          <p:nvSpPr>
            <p:cNvPr id="39" name="38 Rectángulo"/>
            <p:cNvSpPr/>
            <p:nvPr/>
          </p:nvSpPr>
          <p:spPr>
            <a:xfrm>
              <a:off x="5581719" y="2122681"/>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40" name="39 Rectángulo"/>
            <p:cNvSpPr/>
            <p:nvPr/>
          </p:nvSpPr>
          <p:spPr>
            <a:xfrm>
              <a:off x="5581719" y="2458916"/>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41" name="40 Rectángulo"/>
            <p:cNvSpPr/>
            <p:nvPr/>
          </p:nvSpPr>
          <p:spPr>
            <a:xfrm>
              <a:off x="5581719" y="2787616"/>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0</a:t>
              </a:r>
            </a:p>
          </p:txBody>
        </p:sp>
        <p:sp>
          <p:nvSpPr>
            <p:cNvPr id="42" name="41 Rectángulo"/>
            <p:cNvSpPr/>
            <p:nvPr/>
          </p:nvSpPr>
          <p:spPr>
            <a:xfrm>
              <a:off x="5581719" y="3127892"/>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43" name="42 Rectángulo"/>
            <p:cNvSpPr/>
            <p:nvPr/>
          </p:nvSpPr>
          <p:spPr>
            <a:xfrm>
              <a:off x="5581719" y="3468168"/>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44" name="43 Rectángulo"/>
            <p:cNvSpPr/>
            <p:nvPr/>
          </p:nvSpPr>
          <p:spPr>
            <a:xfrm>
              <a:off x="5581719" y="3808444"/>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0</a:t>
              </a:r>
            </a:p>
          </p:txBody>
        </p:sp>
        <p:sp>
          <p:nvSpPr>
            <p:cNvPr id="45" name="44 Elipse"/>
            <p:cNvSpPr/>
            <p:nvPr/>
          </p:nvSpPr>
          <p:spPr>
            <a:xfrm>
              <a:off x="6321818" y="217982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6" name="45 Elipse"/>
            <p:cNvSpPr/>
            <p:nvPr/>
          </p:nvSpPr>
          <p:spPr>
            <a:xfrm>
              <a:off x="6321818" y="227701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7" name="46 Elipse"/>
            <p:cNvSpPr/>
            <p:nvPr/>
          </p:nvSpPr>
          <p:spPr>
            <a:xfrm>
              <a:off x="6322993" y="237027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8" name="47 Abrir llave"/>
            <p:cNvSpPr/>
            <p:nvPr/>
          </p:nvSpPr>
          <p:spPr>
            <a:xfrm>
              <a:off x="5215011" y="1785926"/>
              <a:ext cx="244147" cy="1013265"/>
            </a:xfrm>
            <a:prstGeom prst="leftBrace">
              <a:avLst>
                <a:gd name="adj1" fmla="val 8333"/>
                <a:gd name="adj2" fmla="val 48612"/>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49" name="48 CuadroTexto"/>
            <p:cNvSpPr txBox="1"/>
            <p:nvPr/>
          </p:nvSpPr>
          <p:spPr>
            <a:xfrm>
              <a:off x="4142584" y="2121091"/>
              <a:ext cx="1214447" cy="261467"/>
            </a:xfrm>
            <a:prstGeom prst="rect">
              <a:avLst/>
            </a:prstGeom>
            <a:noFill/>
          </p:spPr>
          <p:txBody>
            <a:bodyPr wrap="square" rtlCol="0">
              <a:spAutoFit/>
            </a:bodyPr>
            <a:lstStyle/>
            <a:p>
              <a:r>
                <a:rPr lang="es-MX" sz="1000" b="1" dirty="0">
                  <a:solidFill>
                    <a:schemeClr val="accent1">
                      <a:lumMod val="75000"/>
                    </a:schemeClr>
                  </a:solidFill>
                </a:rPr>
                <a:t>Página 0</a:t>
              </a:r>
            </a:p>
          </p:txBody>
        </p:sp>
        <p:sp>
          <p:nvSpPr>
            <p:cNvPr id="50" name="49 Rectángulo"/>
            <p:cNvSpPr/>
            <p:nvPr/>
          </p:nvSpPr>
          <p:spPr>
            <a:xfrm>
              <a:off x="5581719" y="1785927"/>
              <a:ext cx="1571637" cy="99395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51" name="50 Rectángulo"/>
            <p:cNvSpPr/>
            <p:nvPr/>
          </p:nvSpPr>
          <p:spPr>
            <a:xfrm>
              <a:off x="5583707" y="2798063"/>
              <a:ext cx="1571636" cy="101326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52" name="51 Elipse"/>
            <p:cNvSpPr/>
            <p:nvPr/>
          </p:nvSpPr>
          <p:spPr>
            <a:xfrm>
              <a:off x="6346375" y="319153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53" name="52 Elipse"/>
            <p:cNvSpPr/>
            <p:nvPr/>
          </p:nvSpPr>
          <p:spPr>
            <a:xfrm>
              <a:off x="6346375" y="328872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54" name="53 Elipse"/>
            <p:cNvSpPr/>
            <p:nvPr/>
          </p:nvSpPr>
          <p:spPr>
            <a:xfrm>
              <a:off x="6347550" y="338198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55" name="54 Rectángulo"/>
            <p:cNvSpPr/>
            <p:nvPr/>
          </p:nvSpPr>
          <p:spPr>
            <a:xfrm>
              <a:off x="5583707" y="4482759"/>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56" name="55 Elipse"/>
            <p:cNvSpPr/>
            <p:nvPr/>
          </p:nvSpPr>
          <p:spPr>
            <a:xfrm>
              <a:off x="6348363" y="420324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61" name="60 Elipse"/>
            <p:cNvSpPr/>
            <p:nvPr/>
          </p:nvSpPr>
          <p:spPr>
            <a:xfrm>
              <a:off x="6348363" y="428885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62" name="61 Elipse"/>
            <p:cNvSpPr/>
            <p:nvPr/>
          </p:nvSpPr>
          <p:spPr>
            <a:xfrm>
              <a:off x="6349538" y="438211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63" name="62 Rectángulo"/>
            <p:cNvSpPr/>
            <p:nvPr/>
          </p:nvSpPr>
          <p:spPr>
            <a:xfrm>
              <a:off x="5583707" y="3811328"/>
              <a:ext cx="1571636" cy="1013265"/>
            </a:xfrm>
            <a:prstGeom prst="rect">
              <a:avLst/>
            </a:prstGeom>
            <a:noFill/>
            <a:ln w="381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cxnSp>
          <p:nvCxnSpPr>
            <p:cNvPr id="70" name="69 Conector recto"/>
            <p:cNvCxnSpPr/>
            <p:nvPr/>
          </p:nvCxnSpPr>
          <p:spPr>
            <a:xfrm rot="5400000">
              <a:off x="5456511" y="4315870"/>
              <a:ext cx="288000" cy="0"/>
            </a:xfrm>
            <a:prstGeom prst="line">
              <a:avLst/>
            </a:prstGeom>
            <a:ln w="57150">
              <a:solidFill>
                <a:schemeClr val="bg1"/>
              </a:solidFill>
            </a:ln>
            <a:effectLst/>
          </p:spPr>
          <p:style>
            <a:lnRef idx="1">
              <a:schemeClr val="accent1"/>
            </a:lnRef>
            <a:fillRef idx="0">
              <a:schemeClr val="accent1"/>
            </a:fillRef>
            <a:effectRef idx="0">
              <a:schemeClr val="accent1"/>
            </a:effectRef>
            <a:fontRef idx="minor">
              <a:schemeClr val="tx1"/>
            </a:fontRef>
          </p:style>
        </p:cxnSp>
        <p:cxnSp>
          <p:nvCxnSpPr>
            <p:cNvPr id="78" name="77 Conector recto"/>
            <p:cNvCxnSpPr/>
            <p:nvPr/>
          </p:nvCxnSpPr>
          <p:spPr>
            <a:xfrm rot="5400000">
              <a:off x="7011342" y="4315872"/>
              <a:ext cx="28800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9" name="78 Abrir llave"/>
            <p:cNvSpPr/>
            <p:nvPr/>
          </p:nvSpPr>
          <p:spPr>
            <a:xfrm>
              <a:off x="5207444" y="2827807"/>
              <a:ext cx="245590" cy="1013265"/>
            </a:xfrm>
            <a:prstGeom prst="leftBrace">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80" name="79 CuadroTexto"/>
            <p:cNvSpPr txBox="1"/>
            <p:nvPr/>
          </p:nvSpPr>
          <p:spPr>
            <a:xfrm>
              <a:off x="4142584" y="3171384"/>
              <a:ext cx="1224034" cy="261467"/>
            </a:xfrm>
            <a:prstGeom prst="rect">
              <a:avLst/>
            </a:prstGeom>
            <a:noFill/>
          </p:spPr>
          <p:txBody>
            <a:bodyPr wrap="square" rtlCol="0">
              <a:spAutoFit/>
            </a:bodyPr>
            <a:lstStyle/>
            <a:p>
              <a:r>
                <a:rPr lang="es-MX" sz="1000" b="1" dirty="0">
                  <a:solidFill>
                    <a:schemeClr val="accent1">
                      <a:lumMod val="75000"/>
                    </a:schemeClr>
                  </a:solidFill>
                </a:rPr>
                <a:t>Página 1</a:t>
              </a:r>
            </a:p>
          </p:txBody>
        </p:sp>
        <p:sp>
          <p:nvSpPr>
            <p:cNvPr id="83" name="82 Elipse"/>
            <p:cNvSpPr/>
            <p:nvPr/>
          </p:nvSpPr>
          <p:spPr>
            <a:xfrm>
              <a:off x="4860337" y="419166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84" name="83 Elipse"/>
            <p:cNvSpPr/>
            <p:nvPr/>
          </p:nvSpPr>
          <p:spPr>
            <a:xfrm>
              <a:off x="4860337" y="428885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85" name="84 Elipse"/>
            <p:cNvSpPr/>
            <p:nvPr/>
          </p:nvSpPr>
          <p:spPr>
            <a:xfrm>
              <a:off x="4861512" y="438211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92" name="91 Rectángulo"/>
            <p:cNvSpPr/>
            <p:nvPr/>
          </p:nvSpPr>
          <p:spPr>
            <a:xfrm>
              <a:off x="5583707" y="4823035"/>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1</a:t>
              </a:r>
            </a:p>
          </p:txBody>
        </p:sp>
        <p:sp>
          <p:nvSpPr>
            <p:cNvPr id="93" name="92 Rectángulo"/>
            <p:cNvSpPr/>
            <p:nvPr/>
          </p:nvSpPr>
          <p:spPr>
            <a:xfrm>
              <a:off x="5583707" y="5159790"/>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endParaRPr lang="es-MX" sz="1000" b="1" dirty="0">
                <a:solidFill>
                  <a:schemeClr val="tx1"/>
                </a:solidFill>
              </a:endParaRPr>
            </a:p>
          </p:txBody>
        </p:sp>
        <p:sp>
          <p:nvSpPr>
            <p:cNvPr id="94" name="93 Rectángulo"/>
            <p:cNvSpPr/>
            <p:nvPr/>
          </p:nvSpPr>
          <p:spPr>
            <a:xfrm>
              <a:off x="5583707" y="5496025"/>
              <a:ext cx="1571636" cy="340276"/>
            </a:xfrm>
            <a:prstGeom prst="rect">
              <a:avLst/>
            </a:prstGeom>
            <a:ln w="38100"/>
          </p:spPr>
          <p:style>
            <a:lnRef idx="1">
              <a:schemeClr val="dk1"/>
            </a:lnRef>
            <a:fillRef idx="2">
              <a:schemeClr val="dk1"/>
            </a:fillRef>
            <a:effectRef idx="1">
              <a:schemeClr val="dk1"/>
            </a:effectRef>
            <a:fontRef idx="minor">
              <a:schemeClr val="dk1"/>
            </a:fontRef>
          </p:style>
          <p:txBody>
            <a:bodyPr rtlCol="0" anchor="ctr"/>
            <a:lstStyle/>
            <a:p>
              <a:pPr algn="ctr"/>
              <a:r>
                <a:rPr lang="es-MX" sz="1000" b="1" dirty="0">
                  <a:solidFill>
                    <a:schemeClr val="tx1"/>
                  </a:solidFill>
                </a:rPr>
                <a:t>Palabra z</a:t>
              </a:r>
            </a:p>
          </p:txBody>
        </p:sp>
        <p:sp>
          <p:nvSpPr>
            <p:cNvPr id="95" name="94 Elipse"/>
            <p:cNvSpPr/>
            <p:nvPr/>
          </p:nvSpPr>
          <p:spPr>
            <a:xfrm>
              <a:off x="6323806" y="521693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97" name="96 Elipse"/>
            <p:cNvSpPr/>
            <p:nvPr/>
          </p:nvSpPr>
          <p:spPr>
            <a:xfrm>
              <a:off x="6323806" y="531412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98" name="97 Elipse"/>
            <p:cNvSpPr/>
            <p:nvPr/>
          </p:nvSpPr>
          <p:spPr>
            <a:xfrm>
              <a:off x="6324981" y="5407385"/>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102" name="101 Abrir llave"/>
            <p:cNvSpPr/>
            <p:nvPr/>
          </p:nvSpPr>
          <p:spPr>
            <a:xfrm>
              <a:off x="5219213" y="4823035"/>
              <a:ext cx="244147" cy="1013265"/>
            </a:xfrm>
            <a:prstGeom prst="leftBrace">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sp>
          <p:nvSpPr>
            <p:cNvPr id="103" name="102 CuadroTexto"/>
            <p:cNvSpPr txBox="1"/>
            <p:nvPr/>
          </p:nvSpPr>
          <p:spPr>
            <a:xfrm>
              <a:off x="3873427" y="5188248"/>
              <a:ext cx="1435504" cy="261467"/>
            </a:xfrm>
            <a:prstGeom prst="rect">
              <a:avLst/>
            </a:prstGeom>
            <a:noFill/>
          </p:spPr>
          <p:txBody>
            <a:bodyPr wrap="square" rtlCol="0">
              <a:spAutoFit/>
            </a:bodyPr>
            <a:lstStyle/>
            <a:p>
              <a:r>
                <a:rPr lang="es-MX" sz="1000" b="1" dirty="0">
                  <a:solidFill>
                    <a:schemeClr val="accent1">
                      <a:lumMod val="75000"/>
                    </a:schemeClr>
                  </a:solidFill>
                </a:rPr>
                <a:t>Página n-1</a:t>
              </a:r>
            </a:p>
          </p:txBody>
        </p:sp>
        <p:sp>
          <p:nvSpPr>
            <p:cNvPr id="104" name="103 Rectángulo"/>
            <p:cNvSpPr/>
            <p:nvPr/>
          </p:nvSpPr>
          <p:spPr>
            <a:xfrm>
              <a:off x="5583707" y="4823035"/>
              <a:ext cx="1571636" cy="101326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grpSp>
      <p:sp>
        <p:nvSpPr>
          <p:cNvPr id="106" name="105 Cerrar llave"/>
          <p:cNvSpPr/>
          <p:nvPr/>
        </p:nvSpPr>
        <p:spPr>
          <a:xfrm>
            <a:off x="4167174" y="2290150"/>
            <a:ext cx="357190" cy="2391798"/>
          </a:xfrm>
          <a:prstGeom prst="rightBrace">
            <a:avLst/>
          </a:prstGeom>
          <a:solidFill>
            <a:schemeClr val="bg1"/>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sz="1100"/>
          </a:p>
        </p:txBody>
      </p:sp>
      <p:grpSp>
        <p:nvGrpSpPr>
          <p:cNvPr id="3" name="187 Grupo"/>
          <p:cNvGrpSpPr/>
          <p:nvPr/>
        </p:nvGrpSpPr>
        <p:grpSpPr>
          <a:xfrm>
            <a:off x="3097609" y="1604354"/>
            <a:ext cx="1376695" cy="330927"/>
            <a:chOff x="578817" y="1769817"/>
            <a:chExt cx="1376695" cy="330927"/>
          </a:xfrm>
        </p:grpSpPr>
        <p:sp>
          <p:nvSpPr>
            <p:cNvPr id="115" name="114 Rectángulo"/>
            <p:cNvSpPr/>
            <p:nvPr/>
          </p:nvSpPr>
          <p:spPr>
            <a:xfrm>
              <a:off x="1667512" y="1781392"/>
              <a:ext cx="288000" cy="307777"/>
            </a:xfrm>
            <a:prstGeom prst="rect">
              <a:avLst/>
            </a:prstGeom>
          </p:spPr>
          <p:txBody>
            <a:bodyPr wrap="square">
              <a:spAutoFit/>
            </a:bodyPr>
            <a:lstStyle/>
            <a:p>
              <a:pPr algn="ctr"/>
              <a:r>
                <a:rPr lang="es-MX" sz="1400" dirty="0">
                  <a:solidFill>
                    <a:prstClr val="black"/>
                  </a:solidFill>
                  <a:latin typeface="Calibri"/>
                </a:rPr>
                <a:t>)</a:t>
              </a:r>
              <a:endParaRPr lang="es-MX" sz="1400" dirty="0"/>
            </a:p>
          </p:txBody>
        </p:sp>
        <p:sp>
          <p:nvSpPr>
            <p:cNvPr id="113" name="112 Rectángulo"/>
            <p:cNvSpPr/>
            <p:nvPr/>
          </p:nvSpPr>
          <p:spPr>
            <a:xfrm>
              <a:off x="1277386" y="1769817"/>
              <a:ext cx="288000" cy="307777"/>
            </a:xfrm>
            <a:prstGeom prst="rect">
              <a:avLst/>
            </a:prstGeom>
          </p:spPr>
          <p:txBody>
            <a:bodyPr wrap="square">
              <a:spAutoFit/>
            </a:bodyPr>
            <a:lstStyle/>
            <a:p>
              <a:pPr algn="ctr"/>
              <a:r>
                <a:rPr lang="es-MX" sz="1400" dirty="0">
                  <a:solidFill>
                    <a:prstClr val="black"/>
                  </a:solidFill>
                  <a:latin typeface="Calibri"/>
                </a:rPr>
                <a:t>,</a:t>
              </a:r>
              <a:endParaRPr lang="es-MX" sz="1400" dirty="0"/>
            </a:p>
          </p:txBody>
        </p:sp>
        <p:sp>
          <p:nvSpPr>
            <p:cNvPr id="114" name="113 Rectángulo"/>
            <p:cNvSpPr/>
            <p:nvPr/>
          </p:nvSpPr>
          <p:spPr>
            <a:xfrm>
              <a:off x="936007" y="1781392"/>
              <a:ext cx="288000" cy="307777"/>
            </a:xfrm>
            <a:prstGeom prst="rect">
              <a:avLst/>
            </a:prstGeom>
          </p:spPr>
          <p:txBody>
            <a:bodyPr wrap="square">
              <a:spAutoFit/>
            </a:bodyPr>
            <a:lstStyle/>
            <a:p>
              <a:pPr algn="ctr"/>
              <a:r>
                <a:rPr lang="es-MX" sz="1400" dirty="0">
                  <a:solidFill>
                    <a:prstClr val="black"/>
                  </a:solidFill>
                  <a:latin typeface="Calibri"/>
                </a:rPr>
                <a:t>(</a:t>
              </a:r>
              <a:endParaRPr lang="es-MX" sz="1400" dirty="0"/>
            </a:p>
          </p:txBody>
        </p:sp>
        <p:sp>
          <p:nvSpPr>
            <p:cNvPr id="108" name="107 Rectángulo"/>
            <p:cNvSpPr/>
            <p:nvPr/>
          </p:nvSpPr>
          <p:spPr>
            <a:xfrm>
              <a:off x="578817" y="1769817"/>
              <a:ext cx="288000" cy="307777"/>
            </a:xfrm>
            <a:prstGeom prst="rect">
              <a:avLst/>
            </a:prstGeom>
          </p:spPr>
          <p:txBody>
            <a:bodyPr wrap="square">
              <a:spAutoFit/>
            </a:bodyPr>
            <a:lstStyle/>
            <a:p>
              <a:pPr algn="ctr"/>
              <a:r>
                <a:rPr lang="es-MX" sz="1400" dirty="0">
                  <a:solidFill>
                    <a:prstClr val="black"/>
                  </a:solidFill>
                  <a:latin typeface="Calibri"/>
                </a:rPr>
                <a:t>a </a:t>
              </a:r>
              <a:endParaRPr lang="es-MX" sz="1400" dirty="0"/>
            </a:p>
          </p:txBody>
        </p:sp>
        <p:sp>
          <p:nvSpPr>
            <p:cNvPr id="109" name="108 Rectángulo"/>
            <p:cNvSpPr/>
            <p:nvPr/>
          </p:nvSpPr>
          <p:spPr>
            <a:xfrm>
              <a:off x="806694" y="1781392"/>
              <a:ext cx="288000" cy="307777"/>
            </a:xfrm>
            <a:prstGeom prst="rect">
              <a:avLst/>
            </a:prstGeom>
          </p:spPr>
          <p:txBody>
            <a:bodyPr wrap="square">
              <a:spAutoFit/>
            </a:bodyPr>
            <a:lstStyle/>
            <a:p>
              <a:pPr algn="ctr"/>
              <a:r>
                <a:rPr lang="es-MX" sz="1400" dirty="0">
                  <a:solidFill>
                    <a:prstClr val="black"/>
                  </a:solidFill>
                  <a:latin typeface="Calibri"/>
                </a:rPr>
                <a:t>=</a:t>
              </a:r>
              <a:r>
                <a:rPr lang="es-MX" sz="1200" dirty="0">
                  <a:solidFill>
                    <a:prstClr val="black"/>
                  </a:solidFill>
                  <a:latin typeface="Calibri"/>
                </a:rPr>
                <a:t> </a:t>
              </a:r>
              <a:endParaRPr lang="es-MX" sz="1200" dirty="0"/>
            </a:p>
          </p:txBody>
        </p:sp>
        <p:sp>
          <p:nvSpPr>
            <p:cNvPr id="110" name="109 Rectángulo"/>
            <p:cNvSpPr/>
            <p:nvPr/>
          </p:nvSpPr>
          <p:spPr>
            <a:xfrm>
              <a:off x="1445400" y="1792967"/>
              <a:ext cx="288000" cy="307777"/>
            </a:xfrm>
            <a:prstGeom prst="rect">
              <a:avLst/>
            </a:prstGeom>
          </p:spPr>
          <p:txBody>
            <a:bodyPr wrap="square">
              <a:spAutoFit/>
            </a:bodyPr>
            <a:lstStyle/>
            <a:p>
              <a:pPr algn="ctr"/>
              <a:r>
                <a:rPr lang="es-MX" sz="1400" dirty="0">
                  <a:solidFill>
                    <a:prstClr val="black"/>
                  </a:solidFill>
                  <a:latin typeface="Calibri"/>
                </a:rPr>
                <a:t>d </a:t>
              </a:r>
            </a:p>
          </p:txBody>
        </p:sp>
        <p:sp>
          <p:nvSpPr>
            <p:cNvPr id="111" name="110 Rectángulo"/>
            <p:cNvSpPr/>
            <p:nvPr/>
          </p:nvSpPr>
          <p:spPr>
            <a:xfrm>
              <a:off x="1099982" y="1781392"/>
              <a:ext cx="288000" cy="307777"/>
            </a:xfrm>
            <a:prstGeom prst="rect">
              <a:avLst/>
            </a:prstGeom>
          </p:spPr>
          <p:txBody>
            <a:bodyPr wrap="square">
              <a:spAutoFit/>
            </a:bodyPr>
            <a:lstStyle/>
            <a:p>
              <a:pPr algn="ctr"/>
              <a:r>
                <a:rPr lang="es-MX" sz="1400" dirty="0">
                  <a:solidFill>
                    <a:prstClr val="black"/>
                  </a:solidFill>
                  <a:latin typeface="Calibri"/>
                </a:rPr>
                <a:t>p</a:t>
              </a:r>
            </a:p>
          </p:txBody>
        </p:sp>
      </p:grpSp>
      <p:cxnSp>
        <p:nvCxnSpPr>
          <p:cNvPr id="117" name="116 Forma"/>
          <p:cNvCxnSpPr>
            <a:stCxn id="111" idx="2"/>
            <a:endCxn id="80" idx="1"/>
          </p:cNvCxnSpPr>
          <p:nvPr/>
        </p:nvCxnSpPr>
        <p:spPr>
          <a:xfrm rot="5400000">
            <a:off x="2119023" y="2065945"/>
            <a:ext cx="1785990" cy="1501510"/>
          </a:xfrm>
          <a:prstGeom prst="bentConnector4">
            <a:avLst>
              <a:gd name="adj1" fmla="val 46553"/>
              <a:gd name="adj2" fmla="val 115225"/>
            </a:avLst>
          </a:prstGeom>
          <a:ln w="38100">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9" name="118 Forma"/>
          <p:cNvCxnSpPr>
            <a:stCxn id="110" idx="2"/>
            <a:endCxn id="41" idx="3"/>
          </p:cNvCxnSpPr>
          <p:nvPr/>
        </p:nvCxnSpPr>
        <p:spPr>
          <a:xfrm rot="16200000" flipH="1">
            <a:off x="3386927" y="2656545"/>
            <a:ext cx="1450131" cy="7600"/>
          </a:xfrm>
          <a:prstGeom prst="bentConnector4">
            <a:avLst>
              <a:gd name="adj1" fmla="val 15890"/>
              <a:gd name="adj2" fmla="val 4902632"/>
            </a:avLst>
          </a:prstGeom>
          <a:ln w="38100">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7" name="106 CuadroTexto"/>
          <p:cNvSpPr txBox="1"/>
          <p:nvPr/>
        </p:nvSpPr>
        <p:spPr>
          <a:xfrm>
            <a:off x="4505565" y="3340364"/>
            <a:ext cx="748056" cy="246221"/>
          </a:xfrm>
          <a:prstGeom prst="rect">
            <a:avLst/>
          </a:prstGeom>
          <a:noFill/>
        </p:spPr>
        <p:txBody>
          <a:bodyPr wrap="square" rtlCol="0">
            <a:spAutoFit/>
          </a:bodyPr>
          <a:lstStyle/>
          <a:p>
            <a:r>
              <a:rPr lang="es-MX" sz="1000" b="1" dirty="0">
                <a:solidFill>
                  <a:schemeClr val="accent1">
                    <a:lumMod val="75000"/>
                  </a:schemeClr>
                </a:solidFill>
              </a:rPr>
              <a:t>Marco 0</a:t>
            </a:r>
          </a:p>
        </p:txBody>
      </p:sp>
      <p:grpSp>
        <p:nvGrpSpPr>
          <p:cNvPr id="4" name="185 Grupo"/>
          <p:cNvGrpSpPr/>
          <p:nvPr/>
        </p:nvGrpSpPr>
        <p:grpSpPr>
          <a:xfrm>
            <a:off x="6124245" y="1402978"/>
            <a:ext cx="3437440" cy="1234009"/>
            <a:chOff x="5072066" y="2952489"/>
            <a:chExt cx="3643306" cy="1234009"/>
          </a:xfrm>
        </p:grpSpPr>
        <p:sp>
          <p:nvSpPr>
            <p:cNvPr id="121" name="120 CuadroTexto"/>
            <p:cNvSpPr txBox="1"/>
            <p:nvPr/>
          </p:nvSpPr>
          <p:spPr>
            <a:xfrm>
              <a:off x="5072066" y="2952489"/>
              <a:ext cx="1296681" cy="246221"/>
            </a:xfrm>
            <a:prstGeom prst="rect">
              <a:avLst/>
            </a:prstGeom>
            <a:noFill/>
          </p:spPr>
          <p:txBody>
            <a:bodyPr wrap="none" rtlCol="0">
              <a:spAutoFit/>
            </a:bodyPr>
            <a:lstStyle/>
            <a:p>
              <a:r>
                <a:rPr lang="es-MX" sz="1000" dirty="0"/>
                <a:t>Palabra de 16 bits</a:t>
              </a:r>
            </a:p>
          </p:txBody>
        </p:sp>
        <p:sp>
          <p:nvSpPr>
            <p:cNvPr id="128" name="127 Rectángulo"/>
            <p:cNvSpPr/>
            <p:nvPr/>
          </p:nvSpPr>
          <p:spPr>
            <a:xfrm>
              <a:off x="5500694" y="3277746"/>
              <a:ext cx="1728000" cy="228059"/>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200" dirty="0">
                  <a:solidFill>
                    <a:sysClr val="windowText" lastClr="000000"/>
                  </a:solidFill>
                </a:rPr>
                <a:t>0000010111011110</a:t>
              </a:r>
            </a:p>
          </p:txBody>
        </p:sp>
        <p:sp>
          <p:nvSpPr>
            <p:cNvPr id="129" name="128 Rectángulo"/>
            <p:cNvSpPr/>
            <p:nvPr/>
          </p:nvSpPr>
          <p:spPr>
            <a:xfrm>
              <a:off x="5500694" y="3503293"/>
              <a:ext cx="1728000" cy="228059"/>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dirty="0">
                <a:solidFill>
                  <a:sysClr val="windowText" lastClr="000000"/>
                </a:solidFill>
              </a:endParaRPr>
            </a:p>
          </p:txBody>
        </p:sp>
        <p:sp>
          <p:nvSpPr>
            <p:cNvPr id="130" name="129 Rectángulo"/>
            <p:cNvSpPr/>
            <p:nvPr/>
          </p:nvSpPr>
          <p:spPr>
            <a:xfrm>
              <a:off x="5500694" y="3731352"/>
              <a:ext cx="1728000" cy="228059"/>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dirty="0">
                <a:solidFill>
                  <a:sysClr val="windowText" lastClr="000000"/>
                </a:solidFill>
              </a:endParaRPr>
            </a:p>
          </p:txBody>
        </p:sp>
        <p:sp>
          <p:nvSpPr>
            <p:cNvPr id="132" name="131 Rectángulo"/>
            <p:cNvSpPr/>
            <p:nvPr/>
          </p:nvSpPr>
          <p:spPr>
            <a:xfrm>
              <a:off x="5500694" y="3958439"/>
              <a:ext cx="1728000" cy="228059"/>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dirty="0">
                <a:solidFill>
                  <a:sysClr val="windowText" lastClr="000000"/>
                </a:solidFill>
              </a:endParaRPr>
            </a:p>
          </p:txBody>
        </p:sp>
        <p:cxnSp>
          <p:nvCxnSpPr>
            <p:cNvPr id="136" name="135 Forma"/>
            <p:cNvCxnSpPr>
              <a:stCxn id="121" idx="1"/>
              <a:endCxn id="128" idx="1"/>
            </p:cNvCxnSpPr>
            <p:nvPr/>
          </p:nvCxnSpPr>
          <p:spPr>
            <a:xfrm rot="10800000" flipH="1" flipV="1">
              <a:off x="5072066" y="3075600"/>
              <a:ext cx="428628" cy="316176"/>
            </a:xfrm>
            <a:prstGeom prst="bentConnector3">
              <a:avLst>
                <a:gd name="adj1" fmla="val -56527"/>
              </a:avLst>
            </a:prstGeom>
            <a:ln>
              <a:tailEnd type="arrow"/>
            </a:ln>
          </p:spPr>
          <p:style>
            <a:lnRef idx="2">
              <a:schemeClr val="dk1"/>
            </a:lnRef>
            <a:fillRef idx="0">
              <a:schemeClr val="dk1"/>
            </a:fillRef>
            <a:effectRef idx="1">
              <a:schemeClr val="dk1"/>
            </a:effectRef>
            <a:fontRef idx="minor">
              <a:schemeClr val="tx1"/>
            </a:fontRef>
          </p:style>
        </p:cxnSp>
        <p:sp>
          <p:nvSpPr>
            <p:cNvPr id="138" name="137 Cerrar llave"/>
            <p:cNvSpPr/>
            <p:nvPr/>
          </p:nvSpPr>
          <p:spPr>
            <a:xfrm>
              <a:off x="7323357" y="3277746"/>
              <a:ext cx="214314" cy="908752"/>
            </a:xfrm>
            <a:prstGeom prst="rightBrace">
              <a:avLst>
                <a:gd name="adj1" fmla="val 8333"/>
                <a:gd name="adj2" fmla="val 51847"/>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s-MX"/>
            </a:p>
          </p:txBody>
        </p:sp>
        <p:sp>
          <p:nvSpPr>
            <p:cNvPr id="139" name="138 CuadroTexto"/>
            <p:cNvSpPr txBox="1"/>
            <p:nvPr/>
          </p:nvSpPr>
          <p:spPr>
            <a:xfrm>
              <a:off x="7647922" y="3494879"/>
              <a:ext cx="1067450" cy="553998"/>
            </a:xfrm>
            <a:prstGeom prst="rect">
              <a:avLst/>
            </a:prstGeom>
            <a:noFill/>
          </p:spPr>
          <p:txBody>
            <a:bodyPr wrap="square" rtlCol="0">
              <a:spAutoFit/>
            </a:bodyPr>
            <a:lstStyle/>
            <a:p>
              <a:r>
                <a:rPr lang="es-MX" sz="1000" dirty="0"/>
                <a:t>Página de 1024 bits = 1 K</a:t>
              </a:r>
            </a:p>
          </p:txBody>
        </p:sp>
      </p:grpSp>
      <p:sp>
        <p:nvSpPr>
          <p:cNvPr id="141" name="140 Rectángulo"/>
          <p:cNvSpPr/>
          <p:nvPr/>
        </p:nvSpPr>
        <p:spPr>
          <a:xfrm>
            <a:off x="6626404"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42" name="141 Rectángulo"/>
          <p:cNvSpPr/>
          <p:nvPr/>
        </p:nvSpPr>
        <p:spPr>
          <a:xfrm>
            <a:off x="6804546"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43" name="142 Rectángulo"/>
          <p:cNvSpPr/>
          <p:nvPr/>
        </p:nvSpPr>
        <p:spPr>
          <a:xfrm>
            <a:off x="5552547"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44" name="143 Rectángulo"/>
          <p:cNvSpPr/>
          <p:nvPr/>
        </p:nvSpPr>
        <p:spPr>
          <a:xfrm>
            <a:off x="5729177"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45" name="144 Rectángulo"/>
          <p:cNvSpPr/>
          <p:nvPr/>
        </p:nvSpPr>
        <p:spPr>
          <a:xfrm>
            <a:off x="5908142"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46" name="145 Rectángulo"/>
          <p:cNvSpPr/>
          <p:nvPr/>
        </p:nvSpPr>
        <p:spPr>
          <a:xfrm>
            <a:off x="6085569"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47" name="146 Rectángulo"/>
          <p:cNvSpPr/>
          <p:nvPr/>
        </p:nvSpPr>
        <p:spPr>
          <a:xfrm>
            <a:off x="6447434"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48" name="147 Rectángulo"/>
          <p:cNvSpPr/>
          <p:nvPr/>
        </p:nvSpPr>
        <p:spPr>
          <a:xfrm>
            <a:off x="6263440"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49" name="148 Rectángulo"/>
          <p:cNvSpPr/>
          <p:nvPr/>
        </p:nvSpPr>
        <p:spPr>
          <a:xfrm>
            <a:off x="6983516"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50" name="149 Rectángulo"/>
          <p:cNvSpPr/>
          <p:nvPr/>
        </p:nvSpPr>
        <p:spPr>
          <a:xfrm>
            <a:off x="7162486"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51" name="150 Rectángulo"/>
          <p:cNvSpPr/>
          <p:nvPr/>
        </p:nvSpPr>
        <p:spPr>
          <a:xfrm>
            <a:off x="7345651"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52" name="151 Rectángulo"/>
          <p:cNvSpPr/>
          <p:nvPr/>
        </p:nvSpPr>
        <p:spPr>
          <a:xfrm>
            <a:off x="7524621"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53" name="152 Rectángulo"/>
          <p:cNvSpPr/>
          <p:nvPr/>
        </p:nvSpPr>
        <p:spPr>
          <a:xfrm>
            <a:off x="7882561"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54" name="153 Rectángulo"/>
          <p:cNvSpPr/>
          <p:nvPr/>
        </p:nvSpPr>
        <p:spPr>
          <a:xfrm>
            <a:off x="7703591"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55" name="154 Rectángulo"/>
          <p:cNvSpPr/>
          <p:nvPr/>
        </p:nvSpPr>
        <p:spPr>
          <a:xfrm>
            <a:off x="8061531"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56" name="155 Rectángulo"/>
          <p:cNvSpPr/>
          <p:nvPr/>
        </p:nvSpPr>
        <p:spPr>
          <a:xfrm>
            <a:off x="8240501" y="409327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74" name="173 Cerrar llave"/>
          <p:cNvSpPr/>
          <p:nvPr/>
        </p:nvSpPr>
        <p:spPr>
          <a:xfrm rot="5400000">
            <a:off x="6856560" y="3190020"/>
            <a:ext cx="265330" cy="2873357"/>
          </a:xfrm>
          <a:prstGeom prst="rightBrace">
            <a:avLst>
              <a:gd name="adj1" fmla="val 8333"/>
              <a:gd name="adj2" fmla="val 51208"/>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75" name="174 CuadroTexto"/>
          <p:cNvSpPr txBox="1"/>
          <p:nvPr/>
        </p:nvSpPr>
        <p:spPr>
          <a:xfrm>
            <a:off x="6259182" y="4748145"/>
            <a:ext cx="1479892" cy="230832"/>
          </a:xfrm>
          <a:prstGeom prst="rect">
            <a:avLst/>
          </a:prstGeom>
          <a:noFill/>
        </p:spPr>
        <p:txBody>
          <a:bodyPr wrap="none" rtlCol="0">
            <a:spAutoFit/>
          </a:bodyPr>
          <a:lstStyle/>
          <a:p>
            <a:r>
              <a:rPr lang="es-MX" sz="900" b="1" dirty="0"/>
              <a:t>Dirección lógica de bits</a:t>
            </a:r>
          </a:p>
        </p:txBody>
      </p:sp>
      <p:sp>
        <p:nvSpPr>
          <p:cNvPr id="176" name="175 CuadroTexto"/>
          <p:cNvSpPr txBox="1"/>
          <p:nvPr/>
        </p:nvSpPr>
        <p:spPr>
          <a:xfrm>
            <a:off x="5616472" y="3484374"/>
            <a:ext cx="1027839" cy="369332"/>
          </a:xfrm>
          <a:prstGeom prst="rect">
            <a:avLst/>
          </a:prstGeom>
          <a:noFill/>
        </p:spPr>
        <p:txBody>
          <a:bodyPr wrap="square" rtlCol="0">
            <a:spAutoFit/>
          </a:bodyPr>
          <a:lstStyle/>
          <a:p>
            <a:pPr algn="ctr"/>
            <a:r>
              <a:rPr lang="es-MX" sz="900" b="1" dirty="0"/>
              <a:t>No. de página de 6 bits</a:t>
            </a:r>
          </a:p>
        </p:txBody>
      </p:sp>
      <p:sp>
        <p:nvSpPr>
          <p:cNvPr id="177" name="176 Abrir llave"/>
          <p:cNvSpPr/>
          <p:nvPr/>
        </p:nvSpPr>
        <p:spPr>
          <a:xfrm rot="5400000">
            <a:off x="5980503" y="3397648"/>
            <a:ext cx="228212" cy="1063590"/>
          </a:xfrm>
          <a:prstGeom prst="leftBrace">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98" name="197 Rectángulo"/>
          <p:cNvSpPr/>
          <p:nvPr/>
        </p:nvSpPr>
        <p:spPr>
          <a:xfrm>
            <a:off x="6453204" y="5323975"/>
            <a:ext cx="648000" cy="2616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000101</a:t>
            </a:r>
            <a:endParaRPr lang="es-MX" dirty="0"/>
          </a:p>
        </p:txBody>
      </p:sp>
      <p:sp>
        <p:nvSpPr>
          <p:cNvPr id="199" name="198 Rectángulo"/>
          <p:cNvSpPr/>
          <p:nvPr/>
        </p:nvSpPr>
        <p:spPr>
          <a:xfrm>
            <a:off x="6453527" y="5585584"/>
            <a:ext cx="648000" cy="2616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000110</a:t>
            </a:r>
            <a:endParaRPr lang="es-MX" dirty="0"/>
          </a:p>
        </p:txBody>
      </p:sp>
      <p:sp>
        <p:nvSpPr>
          <p:cNvPr id="200" name="199 Rectángulo"/>
          <p:cNvSpPr/>
          <p:nvPr/>
        </p:nvSpPr>
        <p:spPr>
          <a:xfrm>
            <a:off x="6457703" y="5847193"/>
            <a:ext cx="648000" cy="2616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000101</a:t>
            </a:r>
            <a:endParaRPr lang="es-MX" dirty="0"/>
          </a:p>
        </p:txBody>
      </p:sp>
      <p:sp>
        <p:nvSpPr>
          <p:cNvPr id="201" name="200 Rectángulo"/>
          <p:cNvSpPr/>
          <p:nvPr/>
        </p:nvSpPr>
        <p:spPr>
          <a:xfrm>
            <a:off x="6240105" y="5323974"/>
            <a:ext cx="216000" cy="2616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a:t>
            </a:r>
          </a:p>
        </p:txBody>
      </p:sp>
      <p:sp>
        <p:nvSpPr>
          <p:cNvPr id="202" name="201 Rectángulo"/>
          <p:cNvSpPr/>
          <p:nvPr/>
        </p:nvSpPr>
        <p:spPr>
          <a:xfrm>
            <a:off x="6240105" y="5585820"/>
            <a:ext cx="216000" cy="2616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1</a:t>
            </a:r>
          </a:p>
        </p:txBody>
      </p:sp>
      <p:sp>
        <p:nvSpPr>
          <p:cNvPr id="203" name="202 Rectángulo"/>
          <p:cNvSpPr/>
          <p:nvPr/>
        </p:nvSpPr>
        <p:spPr>
          <a:xfrm>
            <a:off x="6241859" y="5847430"/>
            <a:ext cx="216000" cy="2616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2</a:t>
            </a:r>
          </a:p>
        </p:txBody>
      </p:sp>
      <p:cxnSp>
        <p:nvCxnSpPr>
          <p:cNvPr id="205" name="204 Forma"/>
          <p:cNvCxnSpPr>
            <a:stCxn id="176" idx="1"/>
            <a:endCxn id="202" idx="1"/>
          </p:cNvCxnSpPr>
          <p:nvPr/>
        </p:nvCxnSpPr>
        <p:spPr>
          <a:xfrm rot="10800000" flipH="1" flipV="1">
            <a:off x="5616471" y="3669040"/>
            <a:ext cx="623634" cy="2047585"/>
          </a:xfrm>
          <a:prstGeom prst="bentConnector3">
            <a:avLst>
              <a:gd name="adj1" fmla="val -36656"/>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07" name="206 Rectángulo"/>
          <p:cNvSpPr/>
          <p:nvPr/>
        </p:nvSpPr>
        <p:spPr>
          <a:xfrm>
            <a:off x="8483090"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08" name="207 Rectángulo"/>
          <p:cNvSpPr/>
          <p:nvPr/>
        </p:nvSpPr>
        <p:spPr>
          <a:xfrm>
            <a:off x="8661232"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09" name="208 Rectángulo"/>
          <p:cNvSpPr/>
          <p:nvPr/>
        </p:nvSpPr>
        <p:spPr>
          <a:xfrm>
            <a:off x="7409233"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10" name="209 Rectángulo"/>
          <p:cNvSpPr/>
          <p:nvPr/>
        </p:nvSpPr>
        <p:spPr>
          <a:xfrm>
            <a:off x="7585863"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11" name="210 Rectángulo"/>
          <p:cNvSpPr/>
          <p:nvPr/>
        </p:nvSpPr>
        <p:spPr>
          <a:xfrm>
            <a:off x="7764828"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12" name="211 Rectángulo"/>
          <p:cNvSpPr/>
          <p:nvPr/>
        </p:nvSpPr>
        <p:spPr>
          <a:xfrm>
            <a:off x="7942255"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13" name="212 Rectángulo"/>
          <p:cNvSpPr/>
          <p:nvPr/>
        </p:nvSpPr>
        <p:spPr>
          <a:xfrm>
            <a:off x="8304120"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14" name="213 Rectángulo"/>
          <p:cNvSpPr/>
          <p:nvPr/>
        </p:nvSpPr>
        <p:spPr>
          <a:xfrm>
            <a:off x="8120126"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15" name="214 Rectángulo"/>
          <p:cNvSpPr/>
          <p:nvPr/>
        </p:nvSpPr>
        <p:spPr>
          <a:xfrm>
            <a:off x="8840202"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16" name="215 Rectángulo"/>
          <p:cNvSpPr/>
          <p:nvPr/>
        </p:nvSpPr>
        <p:spPr>
          <a:xfrm>
            <a:off x="9019172"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17" name="216 Rectángulo"/>
          <p:cNvSpPr/>
          <p:nvPr/>
        </p:nvSpPr>
        <p:spPr>
          <a:xfrm>
            <a:off x="920233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18" name="217 Rectángulo"/>
          <p:cNvSpPr/>
          <p:nvPr/>
        </p:nvSpPr>
        <p:spPr>
          <a:xfrm>
            <a:off x="938130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19" name="218 Rectángulo"/>
          <p:cNvSpPr/>
          <p:nvPr/>
        </p:nvSpPr>
        <p:spPr>
          <a:xfrm>
            <a:off x="973924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20" name="219 Rectángulo"/>
          <p:cNvSpPr/>
          <p:nvPr/>
        </p:nvSpPr>
        <p:spPr>
          <a:xfrm>
            <a:off x="956027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21" name="220 Rectángulo"/>
          <p:cNvSpPr/>
          <p:nvPr/>
        </p:nvSpPr>
        <p:spPr>
          <a:xfrm>
            <a:off x="991821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222" name="221 Rectángulo"/>
          <p:cNvSpPr/>
          <p:nvPr/>
        </p:nvSpPr>
        <p:spPr>
          <a:xfrm>
            <a:off x="1009718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23" name="222 Abrir llave"/>
          <p:cNvSpPr/>
          <p:nvPr/>
        </p:nvSpPr>
        <p:spPr>
          <a:xfrm rot="5400000">
            <a:off x="7413706" y="3043059"/>
            <a:ext cx="231851" cy="1782495"/>
          </a:xfrm>
          <a:prstGeom prst="leftBrace">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227" name="226 CuadroTexto"/>
          <p:cNvSpPr txBox="1"/>
          <p:nvPr/>
        </p:nvSpPr>
        <p:spPr>
          <a:xfrm>
            <a:off x="6691364" y="3511665"/>
            <a:ext cx="1653318" cy="230832"/>
          </a:xfrm>
          <a:prstGeom prst="rect">
            <a:avLst/>
          </a:prstGeom>
          <a:noFill/>
        </p:spPr>
        <p:txBody>
          <a:bodyPr wrap="square" rtlCol="0">
            <a:spAutoFit/>
          </a:bodyPr>
          <a:lstStyle/>
          <a:p>
            <a:r>
              <a:rPr lang="es-MX" sz="900" b="1" dirty="0"/>
              <a:t>Desplazamiento de 10 bits</a:t>
            </a:r>
          </a:p>
        </p:txBody>
      </p:sp>
      <p:cxnSp>
        <p:nvCxnSpPr>
          <p:cNvPr id="120" name="119 Conector angular"/>
          <p:cNvCxnSpPr>
            <a:stCxn id="199" idx="3"/>
            <a:endCxn id="122" idx="1"/>
          </p:cNvCxnSpPr>
          <p:nvPr/>
        </p:nvCxnSpPr>
        <p:spPr>
          <a:xfrm flipV="1">
            <a:off x="7101527" y="5263760"/>
            <a:ext cx="845584" cy="452628"/>
          </a:xfrm>
          <a:prstGeom prst="bentConnector4">
            <a:avLst>
              <a:gd name="adj1" fmla="val 19125"/>
              <a:gd name="adj2" fmla="val 161173"/>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2" name="121 Abrir llave"/>
          <p:cNvSpPr/>
          <p:nvPr/>
        </p:nvSpPr>
        <p:spPr>
          <a:xfrm rot="5400000">
            <a:off x="7865634" y="4807851"/>
            <a:ext cx="162954" cy="1074772"/>
          </a:xfrm>
          <a:prstGeom prst="leftBrace">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25" name="124 CuadroTexto"/>
          <p:cNvSpPr txBox="1"/>
          <p:nvPr/>
        </p:nvSpPr>
        <p:spPr>
          <a:xfrm>
            <a:off x="8039342" y="6198564"/>
            <a:ext cx="1601721" cy="230832"/>
          </a:xfrm>
          <a:prstGeom prst="rect">
            <a:avLst/>
          </a:prstGeom>
          <a:noFill/>
        </p:spPr>
        <p:txBody>
          <a:bodyPr wrap="none" rtlCol="0">
            <a:spAutoFit/>
          </a:bodyPr>
          <a:lstStyle/>
          <a:p>
            <a:r>
              <a:rPr lang="es-MX" sz="900" b="1" dirty="0"/>
              <a:t>Dirección física de 16 bits</a:t>
            </a:r>
          </a:p>
        </p:txBody>
      </p:sp>
      <p:sp>
        <p:nvSpPr>
          <p:cNvPr id="126" name="125 Cerrar llave"/>
          <p:cNvSpPr/>
          <p:nvPr/>
        </p:nvSpPr>
        <p:spPr>
          <a:xfrm rot="5400000">
            <a:off x="8719421" y="4640421"/>
            <a:ext cx="276206" cy="2840081"/>
          </a:xfrm>
          <a:prstGeom prst="rightBrace">
            <a:avLst>
              <a:gd name="adj1" fmla="val 8333"/>
              <a:gd name="adj2" fmla="val 51208"/>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60" name="159 Abrir llave"/>
          <p:cNvSpPr/>
          <p:nvPr/>
        </p:nvSpPr>
        <p:spPr>
          <a:xfrm rot="5400000">
            <a:off x="9292860" y="4453990"/>
            <a:ext cx="162954" cy="1782495"/>
          </a:xfrm>
          <a:prstGeom prst="leftBrace">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cxnSp>
        <p:nvCxnSpPr>
          <p:cNvPr id="162" name="161 Conector angular"/>
          <p:cNvCxnSpPr>
            <a:stCxn id="227" idx="0"/>
            <a:endCxn id="160" idx="1"/>
          </p:cNvCxnSpPr>
          <p:nvPr/>
        </p:nvCxnSpPr>
        <p:spPr>
          <a:xfrm rot="16200000" flipH="1">
            <a:off x="7570133" y="3459555"/>
            <a:ext cx="1752095" cy="1856314"/>
          </a:xfrm>
          <a:prstGeom prst="bentConnector3">
            <a:avLst>
              <a:gd name="adj1" fmla="val -6130"/>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49155" name="Rectangle 3"/>
          <p:cNvSpPr>
            <a:spLocks noGrp="1" noChangeArrowheads="1"/>
          </p:cNvSpPr>
          <p:nvPr>
            <p:ph idx="1"/>
          </p:nvPr>
        </p:nvSpPr>
        <p:spPr/>
        <p:txBody>
          <a:bodyPr/>
          <a:lstStyle/>
          <a:p>
            <a:pPr eaLnBrk="1" hangingPunct="1"/>
            <a:r>
              <a:rPr lang="es-PR">
                <a:latin typeface="Tahoma" charset="0"/>
                <a:ea typeface="ＭＳ Ｐゴシック" charset="0"/>
                <a:cs typeface="ＭＳ Ｐゴシック" charset="0"/>
              </a:rPr>
              <a:t>Cada vez que se ejecuta una instrucción o se utiliza un valor de datos, el s.o. debe traducir las direcciones relativas que maneja el programa a direcciones absolutas.</a:t>
            </a:r>
          </a:p>
          <a:p>
            <a:pPr eaLnBrk="1" hangingPunct="1"/>
            <a:r>
              <a:rPr lang="es-PR">
                <a:latin typeface="Tahoma" charset="0"/>
                <a:ea typeface="ＭＳ Ｐゴシック" charset="0"/>
                <a:cs typeface="ＭＳ Ｐゴシック" charset="0"/>
              </a:rPr>
              <a:t>Esto se conoce como </a:t>
            </a:r>
            <a:r>
              <a:rPr lang="es-PR" b="1">
                <a:latin typeface="Tahoma" charset="0"/>
                <a:ea typeface="ＭＳ Ｐゴシック" charset="0"/>
                <a:cs typeface="ＭＳ Ｐゴシック" charset="0"/>
              </a:rPr>
              <a:t>resolución de direcciones</a:t>
            </a:r>
            <a:r>
              <a:rPr lang="es-PR">
                <a:latin typeface="Tahoma" charset="0"/>
                <a:ea typeface="ＭＳ Ｐゴシック" charset="0"/>
                <a:cs typeface="ＭＳ Ｐゴシック" charset="0"/>
              </a:rPr>
              <a:t> (</a:t>
            </a:r>
            <a:r>
              <a:rPr lang="es-PR" i="1">
                <a:latin typeface="Tahoma" charset="0"/>
                <a:ea typeface="ＭＳ Ｐゴシック" charset="0"/>
                <a:cs typeface="ＭＳ Ｐゴシック" charset="0"/>
              </a:rPr>
              <a:t>address resolution</a:t>
            </a:r>
            <a:r>
              <a:rPr lang="es-PR">
                <a:latin typeface="Tahoma" charset="0"/>
                <a:ea typeface="ＭＳ Ｐゴシック" charset="0"/>
                <a:cs typeface="ＭＳ Ｐゴシック" charset="0"/>
              </a:rPr>
              <a:t>).</a:t>
            </a:r>
          </a:p>
        </p:txBody>
      </p:sp>
      <p:sp>
        <p:nvSpPr>
          <p:cNvPr id="4915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308E824-D840-B64A-AFEA-F22BD0B7307F}" type="slidenum">
              <a:rPr lang="en-US" sz="1400"/>
              <a:pPr eaLnBrk="1" hangingPunct="1"/>
              <a:t>37</a:t>
            </a:fld>
            <a:endParaRPr lang="en-US"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Paginada de Memoria (cont.)</a:t>
            </a:r>
          </a:p>
        </p:txBody>
      </p:sp>
      <p:sp>
        <p:nvSpPr>
          <p:cNvPr id="51203" name="Rectangle 3"/>
          <p:cNvSpPr>
            <a:spLocks noGrp="1" noChangeArrowheads="1"/>
          </p:cNvSpPr>
          <p:nvPr>
            <p:ph idx="1"/>
          </p:nvPr>
        </p:nvSpPr>
        <p:spPr/>
        <p:txBody>
          <a:bodyPr/>
          <a:lstStyle/>
          <a:p>
            <a:pPr eaLnBrk="1" hangingPunct="1">
              <a:lnSpc>
                <a:spcPct val="90000"/>
              </a:lnSpc>
            </a:pPr>
            <a:r>
              <a:rPr lang="es-PR">
                <a:latin typeface="Tahoma" charset="0"/>
                <a:ea typeface="ＭＳ Ｐゴシック" charset="0"/>
                <a:cs typeface="ＭＳ Ｐゴシック" charset="0"/>
              </a:rPr>
              <a:t>En muchos sistemas de computadoras se utilizan registros para la asignación paginada de memoria.</a:t>
            </a:r>
          </a:p>
          <a:p>
            <a:pPr eaLnBrk="1" hangingPunct="1">
              <a:lnSpc>
                <a:spcPct val="90000"/>
              </a:lnSpc>
            </a:pPr>
            <a:r>
              <a:rPr lang="es-PR">
                <a:latin typeface="Tahoma" charset="0"/>
                <a:ea typeface="ＭＳ Ｐゴシック" charset="0"/>
                <a:cs typeface="ＭＳ Ｐゴシック" charset="0"/>
              </a:rPr>
              <a:t>Esto aligera la resolución de direcciones pero requiere que la arquitectura de la computadora asuma que se usará el esquema de paginación.</a:t>
            </a:r>
          </a:p>
        </p:txBody>
      </p:sp>
      <p:sp>
        <p:nvSpPr>
          <p:cNvPr id="5120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BB06B26-489F-7943-96E9-BC6A7C7DABBD}" type="slidenum">
              <a:rPr lang="en-US" sz="1400"/>
              <a:pPr eaLnBrk="1" hangingPunct="1"/>
              <a:t>38</a:t>
            </a:fld>
            <a:endParaRPr lang="en-US"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5381620" y="1500175"/>
            <a:ext cx="4857784" cy="3089649"/>
          </a:xfrm>
          <a:prstGeom prst="rect">
            <a:avLst/>
          </a:prstGeom>
          <a:noFill/>
          <a:ln w="9525">
            <a:noFill/>
            <a:miter lim="800000"/>
            <a:headEnd/>
            <a:tailEnd/>
          </a:ln>
          <a:effectLst/>
        </p:spPr>
      </p:pic>
      <p:sp>
        <p:nvSpPr>
          <p:cNvPr id="3" name="2 Rectángulo"/>
          <p:cNvSpPr/>
          <p:nvPr/>
        </p:nvSpPr>
        <p:spPr>
          <a:xfrm>
            <a:off x="2361200" y="1357299"/>
            <a:ext cx="2163165"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Memoria Asociativa</a:t>
            </a:r>
          </a:p>
        </p:txBody>
      </p:sp>
      <p:sp>
        <p:nvSpPr>
          <p:cNvPr id="4" name="3 CuadroTexto"/>
          <p:cNvSpPr txBox="1"/>
          <p:nvPr/>
        </p:nvSpPr>
        <p:spPr>
          <a:xfrm>
            <a:off x="2052142" y="2214554"/>
            <a:ext cx="2972289" cy="3382144"/>
          </a:xfrm>
          <a:prstGeom prst="rect">
            <a:avLst/>
          </a:prstGeom>
          <a:noFill/>
        </p:spPr>
        <p:txBody>
          <a:bodyPr wrap="square" rtlCol="0">
            <a:spAutoFit/>
          </a:bodyPr>
          <a:lstStyle/>
          <a:p>
            <a:pPr>
              <a:lnSpc>
                <a:spcPct val="150000"/>
              </a:lnSpc>
            </a:pPr>
            <a:r>
              <a:rPr lang="es-MX" sz="1200" dirty="0"/>
              <a:t>En la práctica es necesario que la mayoría de los accesos a memoria no impliquen una consulta a la tabla de páginas, sino que únicamente requieran el acceso a la posición solicitada. Esto se logra mediante el uso de una memoria asociativa interna en la MMU que mantiene información sobre las últimas páginas accedidas. </a:t>
            </a:r>
          </a:p>
          <a:p>
            <a:pPr>
              <a:lnSpc>
                <a:spcPct val="150000"/>
              </a:lnSpc>
            </a:pPr>
            <a:r>
              <a:rPr lang="es-MX" sz="1200" dirty="0"/>
              <a:t>Esta memoria asociativa es considerada memoria cache especial de alta velocidad.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2361200" y="1357299"/>
            <a:ext cx="2163165"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Páginas compartidas</a:t>
            </a:r>
          </a:p>
        </p:txBody>
      </p:sp>
      <p:sp>
        <p:nvSpPr>
          <p:cNvPr id="4" name="3 CuadroTexto"/>
          <p:cNvSpPr txBox="1"/>
          <p:nvPr/>
        </p:nvSpPr>
        <p:spPr>
          <a:xfrm>
            <a:off x="2361200" y="2500307"/>
            <a:ext cx="3043727" cy="3139321"/>
          </a:xfrm>
          <a:prstGeom prst="rect">
            <a:avLst/>
          </a:prstGeom>
          <a:noFill/>
        </p:spPr>
        <p:txBody>
          <a:bodyPr wrap="square" rtlCol="0">
            <a:spAutoFit/>
          </a:bodyPr>
          <a:lstStyle/>
          <a:p>
            <a:pPr>
              <a:lnSpc>
                <a:spcPct val="150000"/>
              </a:lnSpc>
            </a:pPr>
            <a:r>
              <a:rPr lang="es-MX" sz="1200" dirty="0"/>
              <a:t>Otra ventaja de la paginación es la posibilidad de compartir programas de uso común. Esta técnica resulta sumamente importante en un entorno de tiempo compartido. Se pueden compartir desde editores como compiladores, ensambladores y sistemas de base de datos. Para que sean compartibles, el código debe ser reentrante (no automodificable), es decir, el código es sólo de búsqueda o sólo lectura.</a:t>
            </a:r>
          </a:p>
        </p:txBody>
      </p:sp>
      <p:sp>
        <p:nvSpPr>
          <p:cNvPr id="5" name="4 Rectángulo"/>
          <p:cNvSpPr/>
          <p:nvPr/>
        </p:nvSpPr>
        <p:spPr>
          <a:xfrm>
            <a:off x="6024562" y="1071546"/>
            <a:ext cx="785818"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6" name="5 Rectángulo"/>
          <p:cNvSpPr/>
          <p:nvPr/>
        </p:nvSpPr>
        <p:spPr>
          <a:xfrm>
            <a:off x="6024562" y="1357298"/>
            <a:ext cx="785818"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7" name="6 Rectángulo"/>
          <p:cNvSpPr/>
          <p:nvPr/>
        </p:nvSpPr>
        <p:spPr>
          <a:xfrm>
            <a:off x="6024562" y="1643050"/>
            <a:ext cx="785818"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8" name="7 Rectángulo"/>
          <p:cNvSpPr/>
          <p:nvPr/>
        </p:nvSpPr>
        <p:spPr>
          <a:xfrm>
            <a:off x="6024562" y="1928802"/>
            <a:ext cx="785818"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Datos 1</a:t>
            </a:r>
          </a:p>
        </p:txBody>
      </p:sp>
      <p:sp>
        <p:nvSpPr>
          <p:cNvPr id="9" name="8 Rectángulo"/>
          <p:cNvSpPr/>
          <p:nvPr/>
        </p:nvSpPr>
        <p:spPr>
          <a:xfrm>
            <a:off x="6024562" y="4433934"/>
            <a:ext cx="785818"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10" name="9 Rectángulo"/>
          <p:cNvSpPr/>
          <p:nvPr/>
        </p:nvSpPr>
        <p:spPr>
          <a:xfrm>
            <a:off x="6024562" y="4719686"/>
            <a:ext cx="785818"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11" name="10 Rectángulo"/>
          <p:cNvSpPr/>
          <p:nvPr/>
        </p:nvSpPr>
        <p:spPr>
          <a:xfrm>
            <a:off x="6024562" y="5005438"/>
            <a:ext cx="785818"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12" name="11 Rectángulo"/>
          <p:cNvSpPr/>
          <p:nvPr/>
        </p:nvSpPr>
        <p:spPr>
          <a:xfrm>
            <a:off x="6024562" y="5291190"/>
            <a:ext cx="785818"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Datos 1</a:t>
            </a:r>
          </a:p>
        </p:txBody>
      </p:sp>
      <p:sp>
        <p:nvSpPr>
          <p:cNvPr id="13" name="12 Rectángulo"/>
          <p:cNvSpPr/>
          <p:nvPr/>
        </p:nvSpPr>
        <p:spPr>
          <a:xfrm>
            <a:off x="6024562" y="2786058"/>
            <a:ext cx="785818"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14" name="13 Rectángulo"/>
          <p:cNvSpPr/>
          <p:nvPr/>
        </p:nvSpPr>
        <p:spPr>
          <a:xfrm>
            <a:off x="6024562" y="3071810"/>
            <a:ext cx="785818"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15" name="14 Rectángulo"/>
          <p:cNvSpPr/>
          <p:nvPr/>
        </p:nvSpPr>
        <p:spPr>
          <a:xfrm>
            <a:off x="6024562" y="3357562"/>
            <a:ext cx="785818"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ed1</a:t>
            </a:r>
          </a:p>
        </p:txBody>
      </p:sp>
      <p:sp>
        <p:nvSpPr>
          <p:cNvPr id="16" name="15 Rectángulo"/>
          <p:cNvSpPr/>
          <p:nvPr/>
        </p:nvSpPr>
        <p:spPr>
          <a:xfrm>
            <a:off x="6024562" y="3643314"/>
            <a:ext cx="785818"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Datos 1</a:t>
            </a:r>
          </a:p>
        </p:txBody>
      </p:sp>
      <p:sp>
        <p:nvSpPr>
          <p:cNvPr id="17" name="16 Rectángulo"/>
          <p:cNvSpPr/>
          <p:nvPr/>
        </p:nvSpPr>
        <p:spPr>
          <a:xfrm>
            <a:off x="6962780" y="1070053"/>
            <a:ext cx="419104"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3</a:t>
            </a:r>
          </a:p>
        </p:txBody>
      </p:sp>
      <p:sp>
        <p:nvSpPr>
          <p:cNvPr id="18" name="17 Rectángulo"/>
          <p:cNvSpPr/>
          <p:nvPr/>
        </p:nvSpPr>
        <p:spPr>
          <a:xfrm>
            <a:off x="6962780" y="1355805"/>
            <a:ext cx="419104"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4</a:t>
            </a:r>
          </a:p>
        </p:txBody>
      </p:sp>
      <p:sp>
        <p:nvSpPr>
          <p:cNvPr id="19" name="18 Rectángulo"/>
          <p:cNvSpPr/>
          <p:nvPr/>
        </p:nvSpPr>
        <p:spPr>
          <a:xfrm>
            <a:off x="6962780" y="1641557"/>
            <a:ext cx="419104"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6</a:t>
            </a:r>
          </a:p>
        </p:txBody>
      </p:sp>
      <p:sp>
        <p:nvSpPr>
          <p:cNvPr id="20" name="19 Rectángulo"/>
          <p:cNvSpPr/>
          <p:nvPr/>
        </p:nvSpPr>
        <p:spPr>
          <a:xfrm>
            <a:off x="6962780" y="1927309"/>
            <a:ext cx="419104" cy="285752"/>
          </a:xfrm>
          <a:prstGeom prst="rect">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1</a:t>
            </a:r>
          </a:p>
        </p:txBody>
      </p:sp>
      <p:sp>
        <p:nvSpPr>
          <p:cNvPr id="21" name="20 Rectángulo"/>
          <p:cNvSpPr/>
          <p:nvPr/>
        </p:nvSpPr>
        <p:spPr>
          <a:xfrm>
            <a:off x="6962780" y="2786058"/>
            <a:ext cx="419104"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3</a:t>
            </a:r>
          </a:p>
        </p:txBody>
      </p:sp>
      <p:sp>
        <p:nvSpPr>
          <p:cNvPr id="22" name="21 Rectángulo"/>
          <p:cNvSpPr/>
          <p:nvPr/>
        </p:nvSpPr>
        <p:spPr>
          <a:xfrm>
            <a:off x="6962780" y="3071810"/>
            <a:ext cx="419104"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4</a:t>
            </a:r>
          </a:p>
        </p:txBody>
      </p:sp>
      <p:sp>
        <p:nvSpPr>
          <p:cNvPr id="23" name="22 Rectángulo"/>
          <p:cNvSpPr/>
          <p:nvPr/>
        </p:nvSpPr>
        <p:spPr>
          <a:xfrm>
            <a:off x="6962780" y="3357562"/>
            <a:ext cx="419104"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6</a:t>
            </a:r>
          </a:p>
        </p:txBody>
      </p:sp>
      <p:sp>
        <p:nvSpPr>
          <p:cNvPr id="24" name="23 Rectángulo"/>
          <p:cNvSpPr/>
          <p:nvPr/>
        </p:nvSpPr>
        <p:spPr>
          <a:xfrm>
            <a:off x="6962780" y="3643314"/>
            <a:ext cx="419104" cy="285752"/>
          </a:xfrm>
          <a:prstGeom prst="rect">
            <a:avLst/>
          </a:prstGeom>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7</a:t>
            </a:r>
          </a:p>
        </p:txBody>
      </p:sp>
      <p:sp>
        <p:nvSpPr>
          <p:cNvPr id="25" name="24 Rectángulo"/>
          <p:cNvSpPr/>
          <p:nvPr/>
        </p:nvSpPr>
        <p:spPr>
          <a:xfrm>
            <a:off x="6962780" y="4433934"/>
            <a:ext cx="419104"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3</a:t>
            </a:r>
          </a:p>
        </p:txBody>
      </p:sp>
      <p:sp>
        <p:nvSpPr>
          <p:cNvPr id="26" name="25 Rectángulo"/>
          <p:cNvSpPr/>
          <p:nvPr/>
        </p:nvSpPr>
        <p:spPr>
          <a:xfrm>
            <a:off x="6962780" y="4719686"/>
            <a:ext cx="419104"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4</a:t>
            </a:r>
          </a:p>
        </p:txBody>
      </p:sp>
      <p:sp>
        <p:nvSpPr>
          <p:cNvPr id="27" name="26 Rectángulo"/>
          <p:cNvSpPr/>
          <p:nvPr/>
        </p:nvSpPr>
        <p:spPr>
          <a:xfrm>
            <a:off x="6962780" y="5005438"/>
            <a:ext cx="419104"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6</a:t>
            </a:r>
          </a:p>
        </p:txBody>
      </p:sp>
      <p:sp>
        <p:nvSpPr>
          <p:cNvPr id="28" name="27 Rectángulo"/>
          <p:cNvSpPr/>
          <p:nvPr/>
        </p:nvSpPr>
        <p:spPr>
          <a:xfrm>
            <a:off x="6962780" y="5291190"/>
            <a:ext cx="419104" cy="285752"/>
          </a:xfrm>
          <a:prstGeom prst="rect">
            <a:avLst/>
          </a:prstGeom>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dirty="0"/>
              <a:t>2</a:t>
            </a:r>
          </a:p>
        </p:txBody>
      </p:sp>
      <p:sp>
        <p:nvSpPr>
          <p:cNvPr id="29" name="28 Rectángulo"/>
          <p:cNvSpPr/>
          <p:nvPr/>
        </p:nvSpPr>
        <p:spPr>
          <a:xfrm>
            <a:off x="6024562" y="729216"/>
            <a:ext cx="785818" cy="28575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b="1" dirty="0"/>
              <a:t>ProcesoP1</a:t>
            </a:r>
          </a:p>
        </p:txBody>
      </p:sp>
      <p:sp>
        <p:nvSpPr>
          <p:cNvPr id="30" name="29 Rectángulo"/>
          <p:cNvSpPr/>
          <p:nvPr/>
        </p:nvSpPr>
        <p:spPr>
          <a:xfrm>
            <a:off x="6024562" y="2445221"/>
            <a:ext cx="785818" cy="28575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b="1" dirty="0"/>
              <a:t>ProcesoP2</a:t>
            </a:r>
          </a:p>
        </p:txBody>
      </p:sp>
      <p:sp>
        <p:nvSpPr>
          <p:cNvPr id="31" name="30 Rectángulo"/>
          <p:cNvSpPr/>
          <p:nvPr/>
        </p:nvSpPr>
        <p:spPr>
          <a:xfrm>
            <a:off x="6024562" y="4093976"/>
            <a:ext cx="785818" cy="28575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b="1" dirty="0"/>
              <a:t>ProcesoP3</a:t>
            </a:r>
          </a:p>
        </p:txBody>
      </p:sp>
      <p:sp>
        <p:nvSpPr>
          <p:cNvPr id="32" name="31 Rectángulo"/>
          <p:cNvSpPr/>
          <p:nvPr/>
        </p:nvSpPr>
        <p:spPr>
          <a:xfrm>
            <a:off x="7453323" y="1428736"/>
            <a:ext cx="1035851" cy="42862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b="1" dirty="0"/>
              <a:t>Tabla de Páginas  P1</a:t>
            </a:r>
          </a:p>
        </p:txBody>
      </p:sp>
      <p:sp>
        <p:nvSpPr>
          <p:cNvPr id="33" name="32 Rectángulo"/>
          <p:cNvSpPr/>
          <p:nvPr/>
        </p:nvSpPr>
        <p:spPr>
          <a:xfrm>
            <a:off x="7453323" y="3137912"/>
            <a:ext cx="1035851" cy="42862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b="1" dirty="0"/>
              <a:t>Tabla de Páginas  P2</a:t>
            </a:r>
          </a:p>
        </p:txBody>
      </p:sp>
      <p:sp>
        <p:nvSpPr>
          <p:cNvPr id="34" name="33 Rectángulo"/>
          <p:cNvSpPr/>
          <p:nvPr/>
        </p:nvSpPr>
        <p:spPr>
          <a:xfrm>
            <a:off x="7453323" y="4862562"/>
            <a:ext cx="1035851" cy="28575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400" b="1" dirty="0"/>
              <a:t>Tabla de Páginas  P3</a:t>
            </a:r>
          </a:p>
        </p:txBody>
      </p:sp>
      <p:sp>
        <p:nvSpPr>
          <p:cNvPr id="39" name="38 Rectángulo"/>
          <p:cNvSpPr/>
          <p:nvPr/>
        </p:nvSpPr>
        <p:spPr>
          <a:xfrm>
            <a:off x="9167834" y="1071546"/>
            <a:ext cx="714380" cy="35719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0" name="39 Rectángulo"/>
          <p:cNvSpPr/>
          <p:nvPr/>
        </p:nvSpPr>
        <p:spPr>
          <a:xfrm>
            <a:off x="9167834" y="1428736"/>
            <a:ext cx="714380" cy="357190"/>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100" dirty="0"/>
              <a:t>Datos 1</a:t>
            </a:r>
          </a:p>
        </p:txBody>
      </p:sp>
      <p:sp>
        <p:nvSpPr>
          <p:cNvPr id="41" name="40 Rectángulo"/>
          <p:cNvSpPr/>
          <p:nvPr/>
        </p:nvSpPr>
        <p:spPr>
          <a:xfrm>
            <a:off x="9167834" y="1785926"/>
            <a:ext cx="714380" cy="357190"/>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100" dirty="0"/>
              <a:t>Datos 3</a:t>
            </a:r>
          </a:p>
        </p:txBody>
      </p:sp>
      <p:sp>
        <p:nvSpPr>
          <p:cNvPr id="42" name="41 Rectángulo"/>
          <p:cNvSpPr/>
          <p:nvPr/>
        </p:nvSpPr>
        <p:spPr>
          <a:xfrm>
            <a:off x="9167834" y="2143116"/>
            <a:ext cx="714380" cy="357190"/>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100" dirty="0"/>
              <a:t>ed1</a:t>
            </a:r>
          </a:p>
        </p:txBody>
      </p:sp>
      <p:sp>
        <p:nvSpPr>
          <p:cNvPr id="43" name="42 Rectángulo"/>
          <p:cNvSpPr/>
          <p:nvPr/>
        </p:nvSpPr>
        <p:spPr>
          <a:xfrm>
            <a:off x="9167834" y="2500306"/>
            <a:ext cx="714380" cy="357190"/>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100" dirty="0"/>
              <a:t>ed2</a:t>
            </a:r>
          </a:p>
        </p:txBody>
      </p:sp>
      <p:sp>
        <p:nvSpPr>
          <p:cNvPr id="44" name="43 Rectángulo"/>
          <p:cNvSpPr/>
          <p:nvPr/>
        </p:nvSpPr>
        <p:spPr>
          <a:xfrm>
            <a:off x="9167834" y="2857496"/>
            <a:ext cx="714380" cy="35719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5" name="44 Rectángulo"/>
          <p:cNvSpPr/>
          <p:nvPr/>
        </p:nvSpPr>
        <p:spPr>
          <a:xfrm>
            <a:off x="9167834" y="3214686"/>
            <a:ext cx="714380" cy="357190"/>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100" dirty="0"/>
              <a:t>ed3</a:t>
            </a:r>
          </a:p>
        </p:txBody>
      </p:sp>
      <p:sp>
        <p:nvSpPr>
          <p:cNvPr id="46" name="45 Rectángulo"/>
          <p:cNvSpPr/>
          <p:nvPr/>
        </p:nvSpPr>
        <p:spPr>
          <a:xfrm>
            <a:off x="9167834" y="3571876"/>
            <a:ext cx="714380" cy="357190"/>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MX" sz="1100" dirty="0"/>
              <a:t>Datos 2</a:t>
            </a:r>
          </a:p>
        </p:txBody>
      </p:sp>
      <p:sp>
        <p:nvSpPr>
          <p:cNvPr id="47" name="46 Rectángulo"/>
          <p:cNvSpPr/>
          <p:nvPr/>
        </p:nvSpPr>
        <p:spPr>
          <a:xfrm>
            <a:off x="9167834" y="3929066"/>
            <a:ext cx="714380" cy="35719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8" name="47 Rectángulo"/>
          <p:cNvSpPr/>
          <p:nvPr/>
        </p:nvSpPr>
        <p:spPr>
          <a:xfrm>
            <a:off x="9167834" y="4286256"/>
            <a:ext cx="714380" cy="35719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49" name="48 Rectángulo"/>
          <p:cNvSpPr/>
          <p:nvPr/>
        </p:nvSpPr>
        <p:spPr>
          <a:xfrm>
            <a:off x="9167834" y="4643446"/>
            <a:ext cx="714380" cy="35719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100"/>
          </a:p>
        </p:txBody>
      </p:sp>
      <p:sp>
        <p:nvSpPr>
          <p:cNvPr id="50" name="49 Rectángulo"/>
          <p:cNvSpPr/>
          <p:nvPr/>
        </p:nvSpPr>
        <p:spPr>
          <a:xfrm>
            <a:off x="8860048" y="107634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0</a:t>
            </a:r>
          </a:p>
        </p:txBody>
      </p:sp>
      <p:sp>
        <p:nvSpPr>
          <p:cNvPr id="51" name="50 Rectángulo"/>
          <p:cNvSpPr/>
          <p:nvPr/>
        </p:nvSpPr>
        <p:spPr>
          <a:xfrm>
            <a:off x="8860048" y="143353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1</a:t>
            </a:r>
          </a:p>
        </p:txBody>
      </p:sp>
      <p:sp>
        <p:nvSpPr>
          <p:cNvPr id="52" name="51 Rectángulo"/>
          <p:cNvSpPr/>
          <p:nvPr/>
        </p:nvSpPr>
        <p:spPr>
          <a:xfrm>
            <a:off x="8860048" y="179072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2</a:t>
            </a:r>
          </a:p>
        </p:txBody>
      </p:sp>
      <p:sp>
        <p:nvSpPr>
          <p:cNvPr id="53" name="52 Rectángulo"/>
          <p:cNvSpPr/>
          <p:nvPr/>
        </p:nvSpPr>
        <p:spPr>
          <a:xfrm>
            <a:off x="8860048" y="214791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3</a:t>
            </a:r>
          </a:p>
        </p:txBody>
      </p:sp>
      <p:sp>
        <p:nvSpPr>
          <p:cNvPr id="54" name="53 Rectángulo"/>
          <p:cNvSpPr/>
          <p:nvPr/>
        </p:nvSpPr>
        <p:spPr>
          <a:xfrm>
            <a:off x="8860048" y="250510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4</a:t>
            </a:r>
          </a:p>
        </p:txBody>
      </p:sp>
      <p:sp>
        <p:nvSpPr>
          <p:cNvPr id="55" name="54 Rectángulo"/>
          <p:cNvSpPr/>
          <p:nvPr/>
        </p:nvSpPr>
        <p:spPr>
          <a:xfrm>
            <a:off x="8860048" y="286229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5</a:t>
            </a:r>
          </a:p>
        </p:txBody>
      </p:sp>
      <p:sp>
        <p:nvSpPr>
          <p:cNvPr id="56" name="55 Rectángulo"/>
          <p:cNvSpPr/>
          <p:nvPr/>
        </p:nvSpPr>
        <p:spPr>
          <a:xfrm>
            <a:off x="8860048" y="321948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6</a:t>
            </a:r>
          </a:p>
        </p:txBody>
      </p:sp>
      <p:sp>
        <p:nvSpPr>
          <p:cNvPr id="57" name="56 Rectángulo"/>
          <p:cNvSpPr/>
          <p:nvPr/>
        </p:nvSpPr>
        <p:spPr>
          <a:xfrm>
            <a:off x="8860048" y="357667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7</a:t>
            </a:r>
          </a:p>
        </p:txBody>
      </p:sp>
      <p:sp>
        <p:nvSpPr>
          <p:cNvPr id="58" name="57 Rectángulo"/>
          <p:cNvSpPr/>
          <p:nvPr/>
        </p:nvSpPr>
        <p:spPr>
          <a:xfrm>
            <a:off x="8860048" y="393386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8</a:t>
            </a:r>
          </a:p>
        </p:txBody>
      </p:sp>
      <p:sp>
        <p:nvSpPr>
          <p:cNvPr id="59" name="58 Rectángulo"/>
          <p:cNvSpPr/>
          <p:nvPr/>
        </p:nvSpPr>
        <p:spPr>
          <a:xfrm>
            <a:off x="8860048" y="429105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9</a:t>
            </a:r>
          </a:p>
        </p:txBody>
      </p:sp>
      <p:sp>
        <p:nvSpPr>
          <p:cNvPr id="60" name="59 Rectángulo"/>
          <p:cNvSpPr/>
          <p:nvPr/>
        </p:nvSpPr>
        <p:spPr>
          <a:xfrm>
            <a:off x="8860048" y="4648248"/>
            <a:ext cx="324000" cy="357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50" dirty="0">
                <a:solidFill>
                  <a:schemeClr val="tx1"/>
                </a:solidFill>
              </a:rPr>
              <a:t>10</a:t>
            </a:r>
          </a:p>
        </p:txBody>
      </p:sp>
      <p:cxnSp>
        <p:nvCxnSpPr>
          <p:cNvPr id="62" name="61 Conector angular"/>
          <p:cNvCxnSpPr>
            <a:stCxn id="24" idx="3"/>
            <a:endCxn id="57" idx="1"/>
          </p:cNvCxnSpPr>
          <p:nvPr/>
        </p:nvCxnSpPr>
        <p:spPr>
          <a:xfrm flipV="1">
            <a:off x="7381884" y="3755274"/>
            <a:ext cx="1478164" cy="30917"/>
          </a:xfrm>
          <a:prstGeom prst="bentConnector3">
            <a:avLst>
              <a:gd name="adj1" fmla="val 50000"/>
            </a:avLst>
          </a:prstGeom>
          <a:ln w="19050">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5" name="64 Conector angular"/>
          <p:cNvCxnSpPr>
            <a:stCxn id="20" idx="3"/>
          </p:cNvCxnSpPr>
          <p:nvPr/>
        </p:nvCxnSpPr>
        <p:spPr>
          <a:xfrm flipV="1">
            <a:off x="7381884" y="1641557"/>
            <a:ext cx="1478164" cy="428628"/>
          </a:xfrm>
          <a:prstGeom prst="bentConnector3">
            <a:avLst>
              <a:gd name="adj1" fmla="val 76086"/>
            </a:avLst>
          </a:prstGeom>
          <a:ln w="1905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8" name="67 Conector angular"/>
          <p:cNvCxnSpPr>
            <a:stCxn id="28" idx="3"/>
            <a:endCxn id="52" idx="1"/>
          </p:cNvCxnSpPr>
          <p:nvPr/>
        </p:nvCxnSpPr>
        <p:spPr>
          <a:xfrm flipV="1">
            <a:off x="7381884" y="1969324"/>
            <a:ext cx="1478164" cy="3464743"/>
          </a:xfrm>
          <a:prstGeom prst="bentConnector3">
            <a:avLst>
              <a:gd name="adj1" fmla="val 85029"/>
            </a:avLst>
          </a:prstGeom>
          <a:ln w="1905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a:t>
            </a:r>
          </a:p>
        </p:txBody>
      </p:sp>
      <p:sp>
        <p:nvSpPr>
          <p:cNvPr id="53251" name="Rectangle 3"/>
          <p:cNvSpPr>
            <a:spLocks noGrp="1" noChangeArrowheads="1"/>
          </p:cNvSpPr>
          <p:nvPr>
            <p:ph idx="1"/>
          </p:nvPr>
        </p:nvSpPr>
        <p:spPr>
          <a:xfrm>
            <a:off x="2894013" y="1827214"/>
            <a:ext cx="7313612" cy="4649787"/>
          </a:xfrm>
        </p:spPr>
        <p:txBody>
          <a:bodyPr/>
          <a:lstStyle/>
          <a:p>
            <a:pPr eaLnBrk="1" hangingPunct="1">
              <a:lnSpc>
                <a:spcPct val="90000"/>
              </a:lnSpc>
            </a:pPr>
            <a:r>
              <a:rPr lang="es-PR">
                <a:latin typeface="Tahoma" charset="0"/>
                <a:ea typeface="ＭＳ Ｐゴシック" charset="0"/>
                <a:cs typeface="ＭＳ Ｐゴシック" charset="0"/>
              </a:rPr>
              <a:t>La </a:t>
            </a:r>
            <a:r>
              <a:rPr lang="es-PR" b="1">
                <a:latin typeface="Tahoma" charset="0"/>
                <a:ea typeface="ＭＳ Ｐゴシック" charset="0"/>
                <a:cs typeface="ＭＳ Ｐゴシック" charset="0"/>
              </a:rPr>
              <a:t>paginación por demanda</a:t>
            </a:r>
            <a:r>
              <a:rPr lang="es-PR">
                <a:latin typeface="Tahoma" charset="0"/>
                <a:ea typeface="ＭＳ Ｐゴシック" charset="0"/>
                <a:cs typeface="ＭＳ Ｐゴシック" charset="0"/>
              </a:rPr>
              <a:t> (</a:t>
            </a:r>
            <a:r>
              <a:rPr lang="es-PR" i="1">
                <a:latin typeface="Tahoma" charset="0"/>
                <a:ea typeface="ＭＳ Ｐゴシック" charset="0"/>
                <a:cs typeface="ＭＳ Ｐゴシック" charset="0"/>
              </a:rPr>
              <a:t>demand paging</a:t>
            </a:r>
            <a:r>
              <a:rPr lang="es-PR">
                <a:latin typeface="Tahoma" charset="0"/>
                <a:ea typeface="ＭＳ Ｐゴシック" charset="0"/>
                <a:cs typeface="ＭＳ Ｐゴシック" charset="0"/>
              </a:rPr>
              <a:t>) permite cargar sólo una parte del programa en memoria.</a:t>
            </a:r>
          </a:p>
          <a:p>
            <a:pPr eaLnBrk="1" hangingPunct="1">
              <a:lnSpc>
                <a:spcPct val="90000"/>
              </a:lnSpc>
            </a:pPr>
            <a:r>
              <a:rPr lang="es-PR">
                <a:latin typeface="Tahoma" charset="0"/>
                <a:ea typeface="ＭＳ Ｐゴシック" charset="0"/>
                <a:cs typeface="ＭＳ Ｐゴシック" charset="0"/>
              </a:rPr>
              <a:t>En este esquema el programa sigue dividiéndose en porciones de tamaño fijo (páginas) que inicialmente residen en memoria secundaria.</a:t>
            </a:r>
          </a:p>
          <a:p>
            <a:pPr eaLnBrk="1" hangingPunct="1">
              <a:lnSpc>
                <a:spcPct val="90000"/>
              </a:lnSpc>
            </a:pPr>
            <a:r>
              <a:rPr lang="es-PR">
                <a:latin typeface="Tahoma" charset="0"/>
                <a:ea typeface="ＭＳ Ｐゴシック" charset="0"/>
                <a:cs typeface="ＭＳ Ｐゴシック" charset="0"/>
              </a:rPr>
              <a:t>Estas páginas sólo se cargan cuando sea necesario.</a:t>
            </a:r>
          </a:p>
        </p:txBody>
      </p:sp>
      <p:sp>
        <p:nvSpPr>
          <p:cNvPr id="5325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09DD0C1-646A-A74D-BE59-4702B49E949D}" type="slidenum">
              <a:rPr lang="en-US" sz="1400"/>
              <a:pPr eaLnBrk="1" hangingPunct="1"/>
              <a:t>41</a:t>
            </a:fld>
            <a:endParaRPr lang="en-US" sz="1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55299" name="Rectangle 3"/>
          <p:cNvSpPr>
            <a:spLocks noGrp="1" noChangeArrowheads="1"/>
          </p:cNvSpPr>
          <p:nvPr>
            <p:ph idx="1"/>
          </p:nvPr>
        </p:nvSpPr>
        <p:spPr>
          <a:xfrm>
            <a:off x="2894013" y="1827214"/>
            <a:ext cx="7313612" cy="4649787"/>
          </a:xfrm>
        </p:spPr>
        <p:txBody>
          <a:bodyPr/>
          <a:lstStyle/>
          <a:p>
            <a:pPr eaLnBrk="1" hangingPunct="1"/>
            <a:r>
              <a:rPr lang="es-PR" sz="2500">
                <a:latin typeface="Tahoma" charset="0"/>
                <a:ea typeface="ＭＳ Ｐゴシック" charset="0"/>
                <a:cs typeface="ＭＳ Ｐゴシック" charset="0"/>
              </a:rPr>
              <a:t>La clave de la paginación por demanda requiere un acceso de alta velocidad a las páginas que están en disco.</a:t>
            </a:r>
          </a:p>
          <a:p>
            <a:pPr eaLnBrk="1" hangingPunct="1"/>
            <a:r>
              <a:rPr lang="es-PR" sz="2500">
                <a:latin typeface="Tahoma" charset="0"/>
                <a:ea typeface="ＭＳ Ｐゴシック" charset="0"/>
                <a:cs typeface="ＭＳ Ｐゴシック" charset="0"/>
              </a:rPr>
              <a:t>Este esquema hizo viable la </a:t>
            </a:r>
            <a:r>
              <a:rPr lang="es-PR" sz="2500" b="1">
                <a:latin typeface="Tahoma" charset="0"/>
                <a:ea typeface="ＭＳ Ｐゴシック" charset="0"/>
                <a:cs typeface="ＭＳ Ｐゴシック" charset="0"/>
              </a:rPr>
              <a:t>memoria virtual</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virtual memory</a:t>
            </a:r>
            <a:r>
              <a:rPr lang="es-PR" sz="2500">
                <a:latin typeface="Tahoma" charset="0"/>
                <a:ea typeface="ＭＳ Ｐゴシック" charset="0"/>
                <a:cs typeface="ＭＳ Ｐゴシック" charset="0"/>
              </a:rPr>
              <a:t>) ya que permite dar la apariencia de tener disponible una cantidad ilimitada de memoria al utilizar parte de la memoria secundaria como resguardo de la memoria primaria.</a:t>
            </a:r>
          </a:p>
        </p:txBody>
      </p:sp>
      <p:sp>
        <p:nvSpPr>
          <p:cNvPr id="5530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7465FD5-C77C-FD4B-BEA7-2D3F841C2438}" type="slidenum">
              <a:rPr lang="en-US" sz="1400"/>
              <a:pPr eaLnBrk="1" hangingPunct="1"/>
              <a:t>42</a:t>
            </a:fld>
            <a:endParaRPr 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57347" name="Rectangle 3"/>
          <p:cNvSpPr>
            <a:spLocks noGrp="1" noChangeArrowheads="1"/>
          </p:cNvSpPr>
          <p:nvPr>
            <p:ph idx="1"/>
          </p:nvPr>
        </p:nvSpPr>
        <p:spPr>
          <a:xfrm>
            <a:off x="2894013" y="1827214"/>
            <a:ext cx="7313612" cy="4573587"/>
          </a:xfrm>
        </p:spPr>
        <p:txBody>
          <a:bodyPr/>
          <a:lstStyle/>
          <a:p>
            <a:pPr eaLnBrk="1" hangingPunct="1"/>
            <a:r>
              <a:rPr lang="es-PR" sz="2500">
                <a:latin typeface="Tahoma" charset="0"/>
                <a:ea typeface="ＭＳ Ｐゴシック" charset="0"/>
                <a:cs typeface="ＭＳ Ｐゴシック" charset="0"/>
              </a:rPr>
              <a:t>Como en el esquema tradicional de paginación, el s.o. mantiene las tablas JT, PMT y MMT.</a:t>
            </a:r>
          </a:p>
          <a:p>
            <a:pPr eaLnBrk="1" hangingPunct="1"/>
            <a:r>
              <a:rPr lang="es-PR" sz="2500">
                <a:latin typeface="Tahoma" charset="0"/>
                <a:ea typeface="ＭＳ Ｐゴシック" charset="0"/>
                <a:cs typeface="ＭＳ Ｐゴシック" charset="0"/>
              </a:rPr>
              <a:t>En el caso de la Tabla de Correspondencia de Páginas, cada entrada tiene tres columnas adicionales:</a:t>
            </a:r>
          </a:p>
          <a:p>
            <a:pPr lvl="1" eaLnBrk="1" hangingPunct="1"/>
            <a:r>
              <a:rPr lang="es-PR" sz="2100">
                <a:latin typeface="Tahoma" charset="0"/>
                <a:ea typeface="ＭＳ Ｐゴシック" charset="0"/>
              </a:rPr>
              <a:t>Bit para determinar si la página ya está en memoria (bit de estatus de presencia)</a:t>
            </a:r>
          </a:p>
          <a:p>
            <a:pPr lvl="1" eaLnBrk="1" hangingPunct="1"/>
            <a:r>
              <a:rPr lang="es-PR" sz="2100">
                <a:latin typeface="Tahoma" charset="0"/>
                <a:ea typeface="ＭＳ Ｐゴシック" charset="0"/>
              </a:rPr>
              <a:t>Bit para determinar si el contenido de la página ha sido modificado</a:t>
            </a:r>
          </a:p>
          <a:p>
            <a:pPr lvl="1" eaLnBrk="1" hangingPunct="1"/>
            <a:r>
              <a:rPr lang="es-PR" sz="2100">
                <a:latin typeface="Tahoma" charset="0"/>
                <a:ea typeface="ＭＳ Ｐゴシック" charset="0"/>
              </a:rPr>
              <a:t>Bit para determinar si la página ha sido accedida (referenciada) recientemente</a:t>
            </a:r>
          </a:p>
        </p:txBody>
      </p:sp>
      <p:sp>
        <p:nvSpPr>
          <p:cNvPr id="5734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7C65159E-01FF-FB4A-B08A-700A689B45C5}" type="slidenum">
              <a:rPr lang="en-US" sz="1400"/>
              <a:pPr eaLnBrk="1" hangingPunct="1"/>
              <a:t>43</a:t>
            </a:fld>
            <a:endParaRPr lang="en-US" sz="14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59395"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0F9E3A27-6687-E44D-81F9-DE2515EC520B}" type="slidenum">
              <a:rPr lang="en-US" sz="1400"/>
              <a:pPr eaLnBrk="1" hangingPunct="1"/>
              <a:t>44</a:t>
            </a:fld>
            <a:endParaRPr lang="en-US" sz="1400"/>
          </a:p>
        </p:txBody>
      </p:sp>
      <p:pic>
        <p:nvPicPr>
          <p:cNvPr id="59396"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00400" y="1676400"/>
            <a:ext cx="6362700" cy="4757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61443" name="Rectangle 3"/>
          <p:cNvSpPr>
            <a:spLocks noGrp="1" noChangeArrowheads="1"/>
          </p:cNvSpPr>
          <p:nvPr>
            <p:ph idx="1"/>
          </p:nvPr>
        </p:nvSpPr>
        <p:spPr>
          <a:xfrm>
            <a:off x="2894013" y="1827214"/>
            <a:ext cx="7313612" cy="4497387"/>
          </a:xfrm>
        </p:spPr>
        <p:txBody>
          <a:bodyPr/>
          <a:lstStyle/>
          <a:p>
            <a:pPr eaLnBrk="1" hangingPunct="1">
              <a:lnSpc>
                <a:spcPct val="80000"/>
              </a:lnSpc>
            </a:pPr>
            <a:r>
              <a:rPr lang="es-PR" sz="2500">
                <a:latin typeface="Tahoma" charset="0"/>
                <a:ea typeface="ＭＳ Ｐゴシック" charset="0"/>
                <a:cs typeface="ＭＳ Ｐゴシック" charset="0"/>
              </a:rPr>
              <a:t>El </a:t>
            </a:r>
            <a:r>
              <a:rPr lang="es-PR" sz="2500" b="1">
                <a:latin typeface="Tahoma" charset="0"/>
                <a:ea typeface="ＭＳ Ｐゴシック" charset="0"/>
                <a:cs typeface="ＭＳ Ｐゴシック" charset="0"/>
              </a:rPr>
              <a:t>bit de estatus de página</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in-memory status bit</a:t>
            </a:r>
            <a:r>
              <a:rPr lang="es-PR" sz="2500">
                <a:latin typeface="Tahoma" charset="0"/>
                <a:ea typeface="ＭＳ Ｐゴシック" charset="0"/>
                <a:cs typeface="ＭＳ Ｐゴシック" charset="0"/>
              </a:rPr>
              <a:t>) se utiliza para saber si hay que buscar en disco la página o si sólo hay que localizarla en memoria principal, lo que es mucho más rápido.</a:t>
            </a:r>
          </a:p>
          <a:p>
            <a:pPr eaLnBrk="1" hangingPunct="1">
              <a:lnSpc>
                <a:spcPct val="80000"/>
              </a:lnSpc>
            </a:pPr>
            <a:r>
              <a:rPr lang="es-PR" sz="2500">
                <a:latin typeface="Tahoma" charset="0"/>
                <a:ea typeface="ＭＳ Ｐゴシック" charset="0"/>
                <a:cs typeface="ＭＳ Ｐゴシック" charset="0"/>
              </a:rPr>
              <a:t>El </a:t>
            </a:r>
            <a:r>
              <a:rPr lang="es-PR" sz="2500" b="1">
                <a:latin typeface="Tahoma" charset="0"/>
                <a:ea typeface="ＭＳ Ｐゴシック" charset="0"/>
                <a:cs typeface="ＭＳ Ｐゴシック" charset="0"/>
              </a:rPr>
              <a:t>bit de página modificada</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modified bit</a:t>
            </a:r>
            <a:r>
              <a:rPr lang="es-PR" sz="2500">
                <a:latin typeface="Tahoma" charset="0"/>
                <a:ea typeface="ＭＳ Ｐゴシック" charset="0"/>
                <a:cs typeface="ＭＳ Ｐゴシック" charset="0"/>
              </a:rPr>
              <a:t>) es utilizado cuando hay que sacar una página de memoria.  Si no ha sido modificada, no hay que reescribir la copia en disco.</a:t>
            </a:r>
          </a:p>
          <a:p>
            <a:pPr eaLnBrk="1" hangingPunct="1">
              <a:lnSpc>
                <a:spcPct val="80000"/>
              </a:lnSpc>
            </a:pPr>
            <a:r>
              <a:rPr lang="es-PR" sz="2500">
                <a:latin typeface="Tahoma" charset="0"/>
                <a:ea typeface="ＭＳ Ｐゴシック" charset="0"/>
                <a:cs typeface="ＭＳ Ｐゴシック" charset="0"/>
              </a:rPr>
              <a:t>El </a:t>
            </a:r>
            <a:r>
              <a:rPr lang="es-PR" sz="2500" b="1">
                <a:latin typeface="Tahoma" charset="0"/>
                <a:ea typeface="ＭＳ Ｐゴシック" charset="0"/>
                <a:cs typeface="ＭＳ Ｐゴシック" charset="0"/>
              </a:rPr>
              <a:t>bit de página referenciada</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referenced bit</a:t>
            </a:r>
            <a:r>
              <a:rPr lang="es-PR" sz="2500">
                <a:latin typeface="Tahoma" charset="0"/>
                <a:ea typeface="ＭＳ Ｐゴシック" charset="0"/>
                <a:cs typeface="ＭＳ Ｐゴシック" charset="0"/>
              </a:rPr>
              <a:t>) se utiliza para determinar si la página es o no candidata a remoción.</a:t>
            </a:r>
          </a:p>
        </p:txBody>
      </p:sp>
      <p:sp>
        <p:nvSpPr>
          <p:cNvPr id="6144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4DC6707-8175-CB4A-8938-1099E783965D}" type="slidenum">
              <a:rPr lang="en-US" sz="1400"/>
              <a:pPr eaLnBrk="1" hangingPunct="1"/>
              <a:t>45</a:t>
            </a:fld>
            <a:endParaRPr lang="en-US" sz="1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63491" name="Rectangle 3"/>
          <p:cNvSpPr>
            <a:spLocks noGrp="1" noChangeArrowheads="1"/>
          </p:cNvSpPr>
          <p:nvPr>
            <p:ph idx="1"/>
          </p:nvPr>
        </p:nvSpPr>
        <p:spPr/>
        <p:txBody>
          <a:bodyPr/>
          <a:lstStyle/>
          <a:p>
            <a:pPr eaLnBrk="1" hangingPunct="1">
              <a:lnSpc>
                <a:spcPct val="90000"/>
              </a:lnSpc>
            </a:pPr>
            <a:r>
              <a:rPr lang="es-PR">
                <a:latin typeface="Tahoma" charset="0"/>
                <a:ea typeface="ＭＳ Ｐゴシック" charset="0"/>
                <a:cs typeface="ＭＳ Ｐゴシック" charset="0"/>
              </a:rPr>
              <a:t>Cada vez que se necesita acceder a una instrucción o a un dato hay que buscarlo en memoria.</a:t>
            </a:r>
          </a:p>
          <a:p>
            <a:pPr eaLnBrk="1" hangingPunct="1">
              <a:lnSpc>
                <a:spcPct val="90000"/>
              </a:lnSpc>
            </a:pPr>
            <a:r>
              <a:rPr lang="es-PR">
                <a:latin typeface="Tahoma" charset="0"/>
                <a:ea typeface="ＭＳ Ｐゴシック" charset="0"/>
                <a:cs typeface="ＭＳ Ｐゴシック" charset="0"/>
              </a:rPr>
              <a:t>Cuando el s.o. no lo encuentra, ocurre lo que se conoce como </a:t>
            </a:r>
            <a:r>
              <a:rPr lang="es-PR" b="1">
                <a:latin typeface="Tahoma" charset="0"/>
                <a:ea typeface="ＭＳ Ｐゴシック" charset="0"/>
                <a:cs typeface="ＭＳ Ｐゴシック" charset="0"/>
              </a:rPr>
              <a:t>falla de página</a:t>
            </a:r>
            <a:r>
              <a:rPr lang="es-PR">
                <a:latin typeface="Tahoma" charset="0"/>
                <a:ea typeface="ＭＳ Ｐゴシック" charset="0"/>
                <a:cs typeface="ＭＳ Ｐゴシック" charset="0"/>
              </a:rPr>
              <a:t> (</a:t>
            </a:r>
            <a:r>
              <a:rPr lang="es-PR" i="1">
                <a:latin typeface="Tahoma" charset="0"/>
                <a:ea typeface="ＭＳ Ｐゴシック" charset="0"/>
                <a:cs typeface="ＭＳ Ｐゴシック" charset="0"/>
              </a:rPr>
              <a:t>page fault</a:t>
            </a:r>
            <a:r>
              <a:rPr lang="es-PR">
                <a:latin typeface="Tahoma" charset="0"/>
                <a:ea typeface="ＭＳ Ｐゴシック" charset="0"/>
                <a:cs typeface="ＭＳ Ｐゴシック" charset="0"/>
              </a:rPr>
              <a:t>).</a:t>
            </a:r>
          </a:p>
          <a:p>
            <a:pPr eaLnBrk="1" hangingPunct="1">
              <a:lnSpc>
                <a:spcPct val="90000"/>
              </a:lnSpc>
            </a:pPr>
            <a:r>
              <a:rPr lang="es-PR">
                <a:latin typeface="Tahoma" charset="0"/>
                <a:ea typeface="ＭＳ Ｐゴシック" charset="0"/>
                <a:cs typeface="ＭＳ Ｐゴシック" charset="0"/>
              </a:rPr>
              <a:t>Si hay marcos disponibles, el s.o. simplemente busca la página y la carga al marco correspondiente.</a:t>
            </a:r>
            <a:endParaRPr lang="es-PR" b="1">
              <a:latin typeface="Tahoma" charset="0"/>
              <a:ea typeface="ＭＳ Ｐゴシック" charset="0"/>
              <a:cs typeface="ＭＳ Ｐゴシック" charset="0"/>
            </a:endParaRPr>
          </a:p>
        </p:txBody>
      </p:sp>
      <p:sp>
        <p:nvSpPr>
          <p:cNvPr id="6349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58F533EF-819A-DA44-95D2-2FD5C339D498}" type="slidenum">
              <a:rPr lang="en-US" sz="1400"/>
              <a:pPr eaLnBrk="1" hangingPunct="1"/>
              <a:t>46</a:t>
            </a:fld>
            <a:endParaRPr lang="en-US" sz="1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65539" name="Rectangle 3"/>
          <p:cNvSpPr>
            <a:spLocks noGrp="1" noChangeArrowheads="1"/>
          </p:cNvSpPr>
          <p:nvPr>
            <p:ph idx="1"/>
          </p:nvPr>
        </p:nvSpPr>
        <p:spPr>
          <a:xfrm>
            <a:off x="2894013" y="1827214"/>
            <a:ext cx="7313612" cy="4344987"/>
          </a:xfrm>
        </p:spPr>
        <p:txBody>
          <a:bodyPr/>
          <a:lstStyle/>
          <a:p>
            <a:pPr eaLnBrk="1" hangingPunct="1"/>
            <a:r>
              <a:rPr lang="es-PR" sz="2500">
                <a:latin typeface="Tahoma" charset="0"/>
                <a:ea typeface="ＭＳ Ｐゴシック" charset="0"/>
                <a:cs typeface="ＭＳ Ｐゴシック" charset="0"/>
              </a:rPr>
              <a:t>Si no hay marcos disponibles, el s.o. determina cuál marco debe vacíar para hacer espacio para la página.</a:t>
            </a:r>
          </a:p>
          <a:p>
            <a:pPr eaLnBrk="1" hangingPunct="1"/>
            <a:r>
              <a:rPr lang="es-PR" sz="2500">
                <a:latin typeface="Tahoma" charset="0"/>
                <a:ea typeface="ＭＳ Ｐゴシック" charset="0"/>
                <a:cs typeface="ＭＳ Ｐゴシック" charset="0"/>
              </a:rPr>
              <a:t>En caso de que el marco contenga una página que ha sido modificada, se genera una interrupción y hay que pasar la copia modificada a disco antes de cargar la nueva página de disco a memoria.</a:t>
            </a:r>
          </a:p>
          <a:p>
            <a:pPr eaLnBrk="1" hangingPunct="1"/>
            <a:r>
              <a:rPr lang="es-PR" sz="2500">
                <a:latin typeface="Tahoma" charset="0"/>
                <a:ea typeface="ＭＳ Ｐゴシック" charset="0"/>
                <a:cs typeface="ＭＳ Ｐゴシック" charset="0"/>
              </a:rPr>
              <a:t>Este proceso se conoce como </a:t>
            </a:r>
            <a:r>
              <a:rPr lang="es-PR" sz="2500" b="1">
                <a:latin typeface="Tahoma" charset="0"/>
                <a:ea typeface="ＭＳ Ｐゴシック" charset="0"/>
                <a:cs typeface="ＭＳ Ｐゴシック" charset="0"/>
              </a:rPr>
              <a:t>intercambio</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swapping</a:t>
            </a:r>
            <a:r>
              <a:rPr lang="es-PR" sz="2500">
                <a:latin typeface="Tahoma" charset="0"/>
                <a:ea typeface="ＭＳ Ｐゴシック" charset="0"/>
                <a:cs typeface="ＭＳ Ｐゴシック" charset="0"/>
              </a:rPr>
              <a:t>).</a:t>
            </a:r>
          </a:p>
        </p:txBody>
      </p:sp>
      <p:sp>
        <p:nvSpPr>
          <p:cNvPr id="6554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7DC8ADA4-E388-4D4C-BE33-CFB29860A124}" type="slidenum">
              <a:rPr lang="en-US" sz="1400"/>
              <a:pPr eaLnBrk="1" hangingPunct="1"/>
              <a:t>47</a:t>
            </a:fld>
            <a:endParaRPr lang="en-US"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67587" name="Rectangle 3"/>
          <p:cNvSpPr>
            <a:spLocks noGrp="1" noChangeArrowheads="1"/>
          </p:cNvSpPr>
          <p:nvPr>
            <p:ph idx="1"/>
          </p:nvPr>
        </p:nvSpPr>
        <p:spPr>
          <a:xfrm>
            <a:off x="2894013" y="1827214"/>
            <a:ext cx="7313612" cy="4573587"/>
          </a:xfrm>
        </p:spPr>
        <p:txBody>
          <a:bodyPr/>
          <a:lstStyle/>
          <a:p>
            <a:pPr eaLnBrk="1" hangingPunct="1">
              <a:lnSpc>
                <a:spcPct val="90000"/>
              </a:lnSpc>
            </a:pPr>
            <a:r>
              <a:rPr lang="es-PR" dirty="0">
                <a:latin typeface="Tahoma" charset="0"/>
                <a:ea typeface="ＭＳ Ｐゴシック" charset="0"/>
                <a:cs typeface="ＭＳ Ｐゴシック" charset="0"/>
              </a:rPr>
              <a:t>El proceso de intercambio requiere que se actualice el PMT para ambos programas (el que tiene la página que se remueve y el que tiene la página que se carga).</a:t>
            </a:r>
          </a:p>
          <a:p>
            <a:pPr eaLnBrk="1" hangingPunct="1">
              <a:lnSpc>
                <a:spcPct val="90000"/>
              </a:lnSpc>
            </a:pPr>
            <a:r>
              <a:rPr lang="es-PR" dirty="0">
                <a:latin typeface="Tahoma" charset="0"/>
                <a:ea typeface="ＭＳ Ｐゴシック" charset="0"/>
                <a:cs typeface="ＭＳ Ｐゴシック" charset="0"/>
              </a:rPr>
              <a:t>Si hay una cantidad excesiva de intercambios de página entre la memoria principal y el almacenamiento secundario, ocurre lo que se conoce como </a:t>
            </a:r>
            <a:r>
              <a:rPr lang="es-PR" i="1" dirty="0">
                <a:latin typeface="Tahoma" charset="0"/>
                <a:ea typeface="ＭＳ Ｐゴシック" charset="0"/>
                <a:cs typeface="ＭＳ Ｐゴシック" charset="0"/>
              </a:rPr>
              <a:t>thrashing</a:t>
            </a:r>
            <a:r>
              <a:rPr lang="es-PR" dirty="0">
                <a:latin typeface="Tahoma" charset="0"/>
                <a:ea typeface="ＭＳ Ｐゴシック" charset="0"/>
                <a:cs typeface="ＭＳ Ｐゴシック" charset="0"/>
              </a:rPr>
              <a:t>. (Distorsion de swapping)</a:t>
            </a:r>
          </a:p>
        </p:txBody>
      </p:sp>
      <p:sp>
        <p:nvSpPr>
          <p:cNvPr id="6758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C14390D0-5E65-124F-BE09-907E9522E50F}" type="slidenum">
              <a:rPr lang="en-US" sz="1400"/>
              <a:pPr eaLnBrk="1" hangingPunct="1"/>
              <a:t>48</a:t>
            </a:fld>
            <a:endParaRPr lang="en-US" sz="1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69635" name="Rectangle 3"/>
          <p:cNvSpPr>
            <a:spLocks noGrp="1" noChangeArrowheads="1"/>
          </p:cNvSpPr>
          <p:nvPr>
            <p:ph idx="1"/>
          </p:nvPr>
        </p:nvSpPr>
        <p:spPr/>
        <p:txBody>
          <a:bodyPr/>
          <a:lstStyle/>
          <a:p>
            <a:pPr eaLnBrk="1" hangingPunct="1">
              <a:lnSpc>
                <a:spcPct val="90000"/>
              </a:lnSpc>
            </a:pPr>
            <a:r>
              <a:rPr lang="es-PR" dirty="0">
                <a:latin typeface="Tahoma" charset="0"/>
                <a:ea typeface="ＭＳ Ｐゴシック" charset="0"/>
                <a:cs typeface="ＭＳ Ｐゴシック" charset="0"/>
              </a:rPr>
              <a:t>El problema del thrasing es que requiere mucho esfuerzo por parte de la computadora pero logra muy poco.</a:t>
            </a:r>
          </a:p>
          <a:p>
            <a:pPr eaLnBrk="1" hangingPunct="1">
              <a:lnSpc>
                <a:spcPct val="90000"/>
              </a:lnSpc>
            </a:pPr>
            <a:r>
              <a:rPr lang="es-PR" dirty="0">
                <a:latin typeface="Tahoma" charset="0"/>
                <a:ea typeface="ＭＳ Ｐゴシック" charset="0"/>
                <a:cs typeface="ＭＳ Ｐゴシック" charset="0"/>
              </a:rPr>
              <a:t>La razón principal de los azotes es tener una gran cantidad de programas compitiendo por una pequeña cantidad de marcos en memoria.</a:t>
            </a:r>
          </a:p>
          <a:p>
            <a:pPr lvl="1" eaLnBrk="1" hangingPunct="1">
              <a:lnSpc>
                <a:spcPct val="90000"/>
              </a:lnSpc>
            </a:pPr>
            <a:endParaRPr lang="es-PR" dirty="0">
              <a:latin typeface="Tahoma" charset="0"/>
              <a:ea typeface="ＭＳ Ｐゴシック" charset="0"/>
            </a:endParaRPr>
          </a:p>
        </p:txBody>
      </p:sp>
      <p:sp>
        <p:nvSpPr>
          <p:cNvPr id="6963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0457089E-A8BF-0A46-87C1-6C3E162B302C}" type="slidenum">
              <a:rPr lang="en-US" sz="1400"/>
              <a:pPr eaLnBrk="1" hangingPunct="1"/>
              <a:t>49</a:t>
            </a:fld>
            <a:endParaRPr lang="en-US" sz="1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71683" name="Rectangle 3"/>
          <p:cNvSpPr>
            <a:spLocks noGrp="1" noChangeArrowheads="1"/>
          </p:cNvSpPr>
          <p:nvPr>
            <p:ph idx="1"/>
          </p:nvPr>
        </p:nvSpPr>
        <p:spPr>
          <a:xfrm>
            <a:off x="2894013" y="1827214"/>
            <a:ext cx="7313612" cy="1449387"/>
          </a:xfrm>
        </p:spPr>
        <p:txBody>
          <a:bodyPr/>
          <a:lstStyle/>
          <a:p>
            <a:pPr eaLnBrk="1" hangingPunct="1"/>
            <a:r>
              <a:rPr lang="es-PR">
                <a:latin typeface="Tahoma" charset="0"/>
                <a:ea typeface="ＭＳ Ｐゴシック" charset="0"/>
                <a:cs typeface="ＭＳ Ｐゴシック" charset="0"/>
              </a:rPr>
              <a:t>El siguiente es el algoritmo que utiliza el s.o para procesar una instrucción:</a:t>
            </a:r>
          </a:p>
        </p:txBody>
      </p:sp>
      <p:sp>
        <p:nvSpPr>
          <p:cNvPr id="7168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1677F59-0EA2-9E4E-B528-ADED3D2B7FBB}" type="slidenum">
              <a:rPr lang="en-US" sz="1400"/>
              <a:pPr eaLnBrk="1" hangingPunct="1"/>
              <a:t>50</a:t>
            </a:fld>
            <a:endParaRPr lang="en-US" sz="1400"/>
          </a:p>
        </p:txBody>
      </p:sp>
      <p:sp>
        <p:nvSpPr>
          <p:cNvPr id="71685" name="Text Box 4"/>
          <p:cNvSpPr txBox="1">
            <a:spLocks noChangeArrowheads="1"/>
          </p:cNvSpPr>
          <p:nvPr/>
        </p:nvSpPr>
        <p:spPr bwMode="auto">
          <a:xfrm>
            <a:off x="2819400" y="3276600"/>
            <a:ext cx="7391400" cy="278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r>
              <a:rPr lang="en-US" sz="1600" b="1">
                <a:latin typeface="Courier New" charset="0"/>
              </a:rPr>
              <a:t>For each</a:t>
            </a:r>
            <a:r>
              <a:rPr lang="en-US" sz="1600">
                <a:latin typeface="Courier New" charset="0"/>
              </a:rPr>
              <a:t> instruction in job:</a:t>
            </a:r>
          </a:p>
          <a:p>
            <a:pPr eaLnBrk="1" hangingPunct="1"/>
            <a:r>
              <a:rPr lang="en-US" sz="1600">
                <a:latin typeface="Courier New" charset="0"/>
              </a:rPr>
              <a:t>   </a:t>
            </a:r>
            <a:r>
              <a:rPr lang="en-US" sz="1600" b="1">
                <a:latin typeface="Courier New" charset="0"/>
              </a:rPr>
              <a:t>Compute</a:t>
            </a:r>
            <a:r>
              <a:rPr lang="en-US" sz="1600">
                <a:latin typeface="Courier New" charset="0"/>
              </a:rPr>
              <a:t> page number</a:t>
            </a:r>
          </a:p>
          <a:p>
            <a:pPr eaLnBrk="1" hangingPunct="1"/>
            <a:endParaRPr lang="en-US" sz="1600">
              <a:latin typeface="Courier New" charset="0"/>
            </a:endParaRPr>
          </a:p>
          <a:p>
            <a:pPr eaLnBrk="1" hangingPunct="1"/>
            <a:r>
              <a:rPr lang="en-US" sz="1600">
                <a:latin typeface="Courier New" charset="0"/>
              </a:rPr>
              <a:t>   </a:t>
            </a:r>
            <a:r>
              <a:rPr lang="en-US" sz="1600" b="1">
                <a:latin typeface="Courier New" charset="0"/>
              </a:rPr>
              <a:t>If</a:t>
            </a:r>
            <a:r>
              <a:rPr lang="en-US" sz="1600">
                <a:latin typeface="Courier New" charset="0"/>
              </a:rPr>
              <a:t> page is in memory:</a:t>
            </a:r>
          </a:p>
          <a:p>
            <a:pPr eaLnBrk="1" hangingPunct="1"/>
            <a:r>
              <a:rPr lang="en-US" sz="1600">
                <a:latin typeface="Courier New" charset="0"/>
              </a:rPr>
              <a:t>      </a:t>
            </a:r>
            <a:r>
              <a:rPr lang="en-US" sz="1600" b="1">
                <a:latin typeface="Courier New" charset="0"/>
              </a:rPr>
              <a:t>Fetch</a:t>
            </a:r>
            <a:r>
              <a:rPr lang="en-US" sz="1600">
                <a:latin typeface="Courier New" charset="0"/>
              </a:rPr>
              <a:t> instruction from memory</a:t>
            </a:r>
          </a:p>
          <a:p>
            <a:pPr eaLnBrk="1" hangingPunct="1"/>
            <a:r>
              <a:rPr lang="en-US" sz="1600">
                <a:latin typeface="Courier New" charset="0"/>
              </a:rPr>
              <a:t>      </a:t>
            </a:r>
            <a:r>
              <a:rPr lang="en-US" sz="1600" b="1">
                <a:latin typeface="Courier New" charset="0"/>
              </a:rPr>
              <a:t>Decode</a:t>
            </a:r>
            <a:r>
              <a:rPr lang="en-US" sz="1600">
                <a:latin typeface="Courier New" charset="0"/>
              </a:rPr>
              <a:t> instruction</a:t>
            </a:r>
          </a:p>
          <a:p>
            <a:pPr eaLnBrk="1" hangingPunct="1"/>
            <a:r>
              <a:rPr lang="en-US" sz="1600">
                <a:latin typeface="Courier New" charset="0"/>
              </a:rPr>
              <a:t>      </a:t>
            </a:r>
            <a:r>
              <a:rPr lang="en-US" sz="1600" b="1">
                <a:latin typeface="Courier New" charset="0"/>
              </a:rPr>
              <a:t>Execute</a:t>
            </a:r>
            <a:r>
              <a:rPr lang="en-US" sz="1600">
                <a:latin typeface="Courier New" charset="0"/>
              </a:rPr>
              <a:t> instruction</a:t>
            </a:r>
          </a:p>
          <a:p>
            <a:pPr eaLnBrk="1" hangingPunct="1"/>
            <a:r>
              <a:rPr lang="en-US" sz="1600">
                <a:latin typeface="Courier New" charset="0"/>
              </a:rPr>
              <a:t>   </a:t>
            </a:r>
            <a:r>
              <a:rPr lang="en-US" sz="1600" b="1">
                <a:latin typeface="Courier New" charset="0"/>
              </a:rPr>
              <a:t>Else</a:t>
            </a:r>
          </a:p>
          <a:p>
            <a:pPr eaLnBrk="1" hangingPunct="1"/>
            <a:r>
              <a:rPr lang="en-US" sz="1600">
                <a:latin typeface="Courier New" charset="0"/>
              </a:rPr>
              <a:t>      </a:t>
            </a:r>
            <a:r>
              <a:rPr lang="en-US" sz="1600" b="1">
                <a:latin typeface="Courier New" charset="0"/>
              </a:rPr>
              <a:t>Generate</a:t>
            </a:r>
            <a:r>
              <a:rPr lang="en-US" sz="1600">
                <a:latin typeface="Courier New" charset="0"/>
              </a:rPr>
              <a:t> page interrupt</a:t>
            </a:r>
          </a:p>
          <a:p>
            <a:pPr eaLnBrk="1" hangingPunct="1"/>
            <a:r>
              <a:rPr lang="en-US" sz="1600">
                <a:latin typeface="Courier New" charset="0"/>
              </a:rPr>
              <a:t>      </a:t>
            </a:r>
            <a:r>
              <a:rPr lang="en-US" sz="1600" b="1">
                <a:latin typeface="Courier New" charset="0"/>
              </a:rPr>
              <a:t>Call</a:t>
            </a:r>
            <a:r>
              <a:rPr lang="en-US" sz="1600">
                <a:latin typeface="Courier New" charset="0"/>
              </a:rPr>
              <a:t> page_fault_handler</a:t>
            </a:r>
          </a:p>
          <a:p>
            <a:pPr eaLnBrk="1" hangingPunct="1"/>
            <a:r>
              <a:rPr lang="en-US" sz="1600" b="1">
                <a:latin typeface="Courier New" charset="0"/>
              </a:rPr>
              <a:t>End For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Paginación por Demanda (cont.)</a:t>
            </a:r>
          </a:p>
        </p:txBody>
      </p:sp>
      <p:sp>
        <p:nvSpPr>
          <p:cNvPr id="73731"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559174FB-DE24-4A4E-9412-767A26208108}" type="slidenum">
              <a:rPr lang="en-US" sz="1400"/>
              <a:pPr eaLnBrk="1" hangingPunct="1"/>
              <a:t>51</a:t>
            </a:fld>
            <a:endParaRPr lang="en-US" sz="1400"/>
          </a:p>
        </p:txBody>
      </p:sp>
      <p:sp>
        <p:nvSpPr>
          <p:cNvPr id="73732" name="Text Box 4"/>
          <p:cNvSpPr txBox="1">
            <a:spLocks noChangeArrowheads="1"/>
          </p:cNvSpPr>
          <p:nvPr/>
        </p:nvSpPr>
        <p:spPr bwMode="auto">
          <a:xfrm>
            <a:off x="2895600" y="1752601"/>
            <a:ext cx="7315200" cy="4003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r>
              <a:rPr lang="en-US" sz="1600" b="1">
                <a:latin typeface="Courier New" charset="0"/>
              </a:rPr>
              <a:t>Procedure</a:t>
            </a:r>
            <a:r>
              <a:rPr lang="en-US" sz="1600">
                <a:latin typeface="Courier New" charset="0"/>
              </a:rPr>
              <a:t> page_fault_handler:</a:t>
            </a:r>
          </a:p>
          <a:p>
            <a:pPr eaLnBrk="1" hangingPunct="1"/>
            <a:r>
              <a:rPr lang="en-US" sz="1600">
                <a:latin typeface="Courier New" charset="0"/>
              </a:rPr>
              <a:t>   </a:t>
            </a:r>
            <a:r>
              <a:rPr lang="en-US" sz="1600" b="1">
                <a:latin typeface="Courier New" charset="0"/>
              </a:rPr>
              <a:t>If</a:t>
            </a:r>
            <a:r>
              <a:rPr lang="en-US" sz="1600">
                <a:latin typeface="Courier New" charset="0"/>
              </a:rPr>
              <a:t> there is no free page frame:</a:t>
            </a:r>
          </a:p>
          <a:p>
            <a:pPr eaLnBrk="1" hangingPunct="1"/>
            <a:r>
              <a:rPr lang="en-US" sz="1600">
                <a:latin typeface="Courier New" charset="0"/>
              </a:rPr>
              <a:t>      </a:t>
            </a:r>
            <a:r>
              <a:rPr lang="en-US" sz="1600" b="1">
                <a:latin typeface="Courier New" charset="0"/>
              </a:rPr>
              <a:t>Select</a:t>
            </a:r>
            <a:r>
              <a:rPr lang="en-US" sz="1600">
                <a:latin typeface="Courier New" charset="0"/>
              </a:rPr>
              <a:t> page to be swapped out</a:t>
            </a:r>
          </a:p>
          <a:p>
            <a:pPr eaLnBrk="1" hangingPunct="1"/>
            <a:r>
              <a:rPr lang="en-US" sz="1600">
                <a:latin typeface="Courier New" charset="0"/>
              </a:rPr>
              <a:t>      </a:t>
            </a:r>
            <a:r>
              <a:rPr lang="en-US" sz="1600" b="1">
                <a:latin typeface="Courier New" charset="0"/>
              </a:rPr>
              <a:t>Update</a:t>
            </a:r>
            <a:r>
              <a:rPr lang="en-US" sz="1600">
                <a:latin typeface="Courier New" charset="0"/>
              </a:rPr>
              <a:t> job's Page Map Table</a:t>
            </a:r>
          </a:p>
          <a:p>
            <a:pPr eaLnBrk="1" hangingPunct="1"/>
            <a:endParaRPr lang="en-US" sz="1600">
              <a:latin typeface="Courier New" charset="0"/>
            </a:endParaRPr>
          </a:p>
          <a:p>
            <a:pPr eaLnBrk="1" hangingPunct="1"/>
            <a:r>
              <a:rPr lang="en-US" sz="1600">
                <a:latin typeface="Courier New" charset="0"/>
              </a:rPr>
              <a:t>      </a:t>
            </a:r>
            <a:r>
              <a:rPr lang="en-US" sz="1600" b="1">
                <a:latin typeface="Courier New" charset="0"/>
              </a:rPr>
              <a:t>If</a:t>
            </a:r>
            <a:r>
              <a:rPr lang="en-US" sz="1600">
                <a:latin typeface="Courier New" charset="0"/>
              </a:rPr>
              <a:t> content of page has been changed:</a:t>
            </a:r>
          </a:p>
          <a:p>
            <a:pPr eaLnBrk="1" hangingPunct="1"/>
            <a:r>
              <a:rPr lang="en-US" sz="1600">
                <a:latin typeface="Courier New" charset="0"/>
              </a:rPr>
              <a:t>         </a:t>
            </a:r>
            <a:r>
              <a:rPr lang="en-US" sz="1600" b="1">
                <a:latin typeface="Courier New" charset="0"/>
              </a:rPr>
              <a:t>Write</a:t>
            </a:r>
            <a:r>
              <a:rPr lang="en-US" sz="1600">
                <a:latin typeface="Courier New" charset="0"/>
              </a:rPr>
              <a:t> page to disk</a:t>
            </a:r>
          </a:p>
          <a:p>
            <a:pPr eaLnBrk="1" hangingPunct="1"/>
            <a:r>
              <a:rPr lang="en-US" sz="1600">
                <a:latin typeface="Courier New" charset="0"/>
              </a:rPr>
              <a:t>      </a:t>
            </a:r>
            <a:r>
              <a:rPr lang="en-US" sz="1600" b="1">
                <a:latin typeface="Courier New" charset="0"/>
              </a:rPr>
              <a:t>End If</a:t>
            </a:r>
          </a:p>
          <a:p>
            <a:pPr eaLnBrk="1" hangingPunct="1"/>
            <a:r>
              <a:rPr lang="en-US" sz="1600" b="1">
                <a:latin typeface="Courier New" charset="0"/>
              </a:rPr>
              <a:t>   End If</a:t>
            </a:r>
          </a:p>
          <a:p>
            <a:pPr eaLnBrk="1" hangingPunct="1"/>
            <a:endParaRPr lang="en-US" sz="1600" b="1">
              <a:latin typeface="Courier New" charset="0"/>
            </a:endParaRPr>
          </a:p>
          <a:p>
            <a:pPr eaLnBrk="1" hangingPunct="1"/>
            <a:r>
              <a:rPr lang="en-US" sz="1600" b="1">
                <a:latin typeface="Courier New" charset="0"/>
              </a:rPr>
              <a:t>   Compute</a:t>
            </a:r>
            <a:r>
              <a:rPr lang="en-US" sz="1600">
                <a:latin typeface="Courier New" charset="0"/>
              </a:rPr>
              <a:t> disk address for the page</a:t>
            </a:r>
          </a:p>
          <a:p>
            <a:pPr eaLnBrk="1" hangingPunct="1"/>
            <a:r>
              <a:rPr lang="en-US" sz="1600">
                <a:latin typeface="Courier New" charset="0"/>
              </a:rPr>
              <a:t>   </a:t>
            </a:r>
            <a:r>
              <a:rPr lang="en-US" sz="1600" b="1">
                <a:latin typeface="Courier New" charset="0"/>
              </a:rPr>
              <a:t>Read</a:t>
            </a:r>
            <a:r>
              <a:rPr lang="en-US" sz="1600">
                <a:latin typeface="Courier New" charset="0"/>
              </a:rPr>
              <a:t> page from disk into memory</a:t>
            </a:r>
          </a:p>
          <a:p>
            <a:pPr eaLnBrk="1" hangingPunct="1"/>
            <a:r>
              <a:rPr lang="en-US" sz="1600">
                <a:latin typeface="Courier New" charset="0"/>
              </a:rPr>
              <a:t>   </a:t>
            </a:r>
            <a:r>
              <a:rPr lang="en-US" sz="1600" b="1">
                <a:latin typeface="Courier New" charset="0"/>
              </a:rPr>
              <a:t>Update</a:t>
            </a:r>
            <a:r>
              <a:rPr lang="en-US" sz="1600">
                <a:latin typeface="Courier New" charset="0"/>
              </a:rPr>
              <a:t> job's Page Map Table</a:t>
            </a:r>
          </a:p>
          <a:p>
            <a:pPr eaLnBrk="1" hangingPunct="1"/>
            <a:r>
              <a:rPr lang="en-US" sz="1600">
                <a:latin typeface="Courier New" charset="0"/>
              </a:rPr>
              <a:t>   </a:t>
            </a:r>
            <a:r>
              <a:rPr lang="en-US" sz="1600" b="1">
                <a:latin typeface="Courier New" charset="0"/>
              </a:rPr>
              <a:t>Update</a:t>
            </a:r>
            <a:r>
              <a:rPr lang="en-US" sz="1600">
                <a:latin typeface="Courier New" charset="0"/>
              </a:rPr>
              <a:t> Memory Map Table</a:t>
            </a:r>
          </a:p>
          <a:p>
            <a:pPr eaLnBrk="1" hangingPunct="1"/>
            <a:r>
              <a:rPr lang="en-US" sz="1600">
                <a:latin typeface="Courier New" charset="0"/>
              </a:rPr>
              <a:t>   </a:t>
            </a:r>
            <a:r>
              <a:rPr lang="en-US" sz="1600" b="1">
                <a:latin typeface="Courier New" charset="0"/>
              </a:rPr>
              <a:t>Restart</a:t>
            </a:r>
            <a:r>
              <a:rPr lang="en-US" sz="1600">
                <a:latin typeface="Courier New" charset="0"/>
              </a:rPr>
              <a:t> interrupted instruction</a:t>
            </a:r>
          </a:p>
          <a:p>
            <a:pPr eaLnBrk="1" hangingPunct="1"/>
            <a:r>
              <a:rPr lang="en-US" sz="1600" b="1">
                <a:latin typeface="Courier New" charset="0"/>
              </a:rPr>
              <a:t>End Procedure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a:t>
            </a:r>
          </a:p>
        </p:txBody>
      </p:sp>
      <p:sp>
        <p:nvSpPr>
          <p:cNvPr id="75779" name="Rectangle 3"/>
          <p:cNvSpPr>
            <a:spLocks noGrp="1" noChangeArrowheads="1"/>
          </p:cNvSpPr>
          <p:nvPr>
            <p:ph idx="1"/>
          </p:nvPr>
        </p:nvSpPr>
        <p:spPr/>
        <p:txBody>
          <a:bodyPr/>
          <a:lstStyle/>
          <a:p>
            <a:pPr eaLnBrk="1" hangingPunct="1"/>
            <a:r>
              <a:rPr lang="es-PR">
                <a:latin typeface="Tahoma" charset="0"/>
                <a:ea typeface="ＭＳ Ｐゴシック" charset="0"/>
                <a:cs typeface="ＭＳ Ｐゴシック" charset="0"/>
              </a:rPr>
              <a:t>Como hemos visto, cuando todos los marcos están ocupados y se tiene que cargar una página a memoria, se debe seleccionar cuál de las páginas que ya están cargadas debe reemplazarse.</a:t>
            </a:r>
          </a:p>
          <a:p>
            <a:pPr eaLnBrk="1" hangingPunct="1"/>
            <a:r>
              <a:rPr lang="es-PR">
                <a:latin typeface="Tahoma" charset="0"/>
                <a:ea typeface="ＭＳ Ｐゴシック" charset="0"/>
                <a:cs typeface="ＭＳ Ｐゴシック" charset="0"/>
              </a:rPr>
              <a:t>Esta decisión es crucial para la eficiencia del sistema.</a:t>
            </a:r>
          </a:p>
        </p:txBody>
      </p:sp>
      <p:sp>
        <p:nvSpPr>
          <p:cNvPr id="7578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9645F4B-3DC8-8144-B3FE-50CA6494AF0E}" type="slidenum">
              <a:rPr lang="en-US" sz="1400"/>
              <a:pPr eaLnBrk="1" hangingPunct="1"/>
              <a:t>52</a:t>
            </a:fld>
            <a:endParaRPr lang="en-US" sz="1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p>
        </p:txBody>
      </p:sp>
      <p:sp>
        <p:nvSpPr>
          <p:cNvPr id="77827" name="Rectangle 3"/>
          <p:cNvSpPr>
            <a:spLocks noGrp="1" noChangeArrowheads="1"/>
          </p:cNvSpPr>
          <p:nvPr>
            <p:ph idx="1"/>
          </p:nvPr>
        </p:nvSpPr>
        <p:spPr>
          <a:xfrm>
            <a:off x="2894013" y="1827214"/>
            <a:ext cx="7313612" cy="4497387"/>
          </a:xfrm>
        </p:spPr>
        <p:txBody>
          <a:bodyPr/>
          <a:lstStyle/>
          <a:p>
            <a:pPr eaLnBrk="1" hangingPunct="1"/>
            <a:r>
              <a:rPr lang="es-PR">
                <a:latin typeface="Tahoma" charset="0"/>
                <a:ea typeface="ＭＳ Ｐゴシック" charset="0"/>
                <a:cs typeface="ＭＳ Ｐゴシック" charset="0"/>
              </a:rPr>
              <a:t>Existen varios algoritmos para remoción de páginas, tales como:</a:t>
            </a:r>
          </a:p>
          <a:p>
            <a:pPr lvl="1" eaLnBrk="1" hangingPunct="1"/>
            <a:r>
              <a:rPr lang="es-PR">
                <a:latin typeface="Tahoma" charset="0"/>
                <a:ea typeface="ＭＳ Ｐゴシック" charset="0"/>
              </a:rPr>
              <a:t>Reemplazo óptimo (</a:t>
            </a:r>
            <a:r>
              <a:rPr lang="es-PR" i="1">
                <a:latin typeface="Tahoma" charset="0"/>
                <a:ea typeface="ＭＳ Ｐゴシック" charset="0"/>
              </a:rPr>
              <a:t>optimal replacement</a:t>
            </a:r>
            <a:r>
              <a:rPr lang="es-PR">
                <a:latin typeface="Tahoma" charset="0"/>
                <a:ea typeface="ＭＳ Ｐゴシック" charset="0"/>
              </a:rPr>
              <a:t>)</a:t>
            </a:r>
          </a:p>
          <a:p>
            <a:pPr lvl="1" eaLnBrk="1" hangingPunct="1"/>
            <a:r>
              <a:rPr lang="es-PR">
                <a:latin typeface="Tahoma" charset="0"/>
                <a:ea typeface="ＭＳ Ｐゴシック" charset="0"/>
              </a:rPr>
              <a:t>La primera página que llegó es la primera que sale (</a:t>
            </a:r>
            <a:r>
              <a:rPr lang="es-PR" i="1">
                <a:latin typeface="Tahoma" charset="0"/>
                <a:ea typeface="ＭＳ Ｐゴシック" charset="0"/>
              </a:rPr>
              <a:t>first-in first-out</a:t>
            </a:r>
            <a:r>
              <a:rPr lang="es-PR">
                <a:latin typeface="Tahoma" charset="0"/>
                <a:ea typeface="ＭＳ Ｐゴシック" charset="0"/>
              </a:rPr>
              <a:t>, FIFO)</a:t>
            </a:r>
          </a:p>
          <a:p>
            <a:pPr lvl="1" eaLnBrk="1" hangingPunct="1"/>
            <a:r>
              <a:rPr lang="es-PR">
                <a:latin typeface="Tahoma" charset="0"/>
                <a:ea typeface="ＭＳ Ｐゴシック" charset="0"/>
              </a:rPr>
              <a:t>Página menos usada recientemiente (</a:t>
            </a:r>
            <a:r>
              <a:rPr lang="es-PR" i="1">
                <a:latin typeface="Tahoma" charset="0"/>
                <a:ea typeface="ＭＳ Ｐゴシック" charset="0"/>
              </a:rPr>
              <a:t>least recently used</a:t>
            </a:r>
            <a:r>
              <a:rPr lang="es-PR">
                <a:latin typeface="Tahoma" charset="0"/>
                <a:ea typeface="ＭＳ Ｐゴシック" charset="0"/>
              </a:rPr>
              <a:t>, LRU)</a:t>
            </a:r>
          </a:p>
        </p:txBody>
      </p:sp>
      <p:sp>
        <p:nvSpPr>
          <p:cNvPr id="7782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83C6C08-33DC-E641-B4DA-E044F6A0DEB4}" type="slidenum">
              <a:rPr lang="en-US" sz="1400"/>
              <a:pPr eaLnBrk="1" hangingPunct="1"/>
              <a:t>53</a:t>
            </a:fld>
            <a:endParaRPr lang="en-US"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p>
        </p:txBody>
      </p:sp>
      <p:sp>
        <p:nvSpPr>
          <p:cNvPr id="79875" name="Rectangle 3"/>
          <p:cNvSpPr>
            <a:spLocks noGrp="1" noChangeArrowheads="1"/>
          </p:cNvSpPr>
          <p:nvPr>
            <p:ph idx="1"/>
          </p:nvPr>
        </p:nvSpPr>
        <p:spPr/>
        <p:txBody>
          <a:bodyPr>
            <a:normAutofit/>
          </a:bodyPr>
          <a:lstStyle/>
          <a:p>
            <a:pPr eaLnBrk="1" hangingPunct="1">
              <a:lnSpc>
                <a:spcPct val="90000"/>
              </a:lnSpc>
            </a:pPr>
            <a:r>
              <a:rPr lang="es-PR" sz="2500">
                <a:latin typeface="Tahoma" charset="0"/>
                <a:ea typeface="ＭＳ Ｐゴシック" charset="0"/>
                <a:cs typeface="ＭＳ Ｐゴシック" charset="0"/>
              </a:rPr>
              <a:t>La política del </a:t>
            </a:r>
            <a:r>
              <a:rPr lang="es-PR" sz="2500" b="1">
                <a:latin typeface="Tahoma" charset="0"/>
                <a:ea typeface="ＭＳ Ｐゴシック" charset="0"/>
                <a:cs typeface="ＭＳ Ｐゴシック" charset="0"/>
              </a:rPr>
              <a:t>reemplazo óptimo</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optimal replacement</a:t>
            </a:r>
            <a:r>
              <a:rPr lang="es-PR" sz="2500">
                <a:latin typeface="Tahoma" charset="0"/>
                <a:ea typeface="ＭＳ Ｐゴシック" charset="0"/>
                <a:cs typeface="ＭＳ Ｐゴシック" charset="0"/>
              </a:rPr>
              <a:t>) selecciona para reemplazo aquella página que tardará más tiempo en ser referenciada en el futuro.</a:t>
            </a:r>
          </a:p>
          <a:p>
            <a:pPr eaLnBrk="1" hangingPunct="1">
              <a:lnSpc>
                <a:spcPct val="90000"/>
              </a:lnSpc>
            </a:pPr>
            <a:r>
              <a:rPr lang="es-PR" sz="2500">
                <a:latin typeface="Tahoma" charset="0"/>
                <a:ea typeface="ＭＳ Ｐゴシック" charset="0"/>
                <a:cs typeface="ＭＳ Ｐゴシック" charset="0"/>
              </a:rPr>
              <a:t>Esta política es la mejor teóricamente pero es imposible de implementar ya que requiere que el s.o. sea clarividente.</a:t>
            </a:r>
          </a:p>
          <a:p>
            <a:pPr eaLnBrk="1" hangingPunct="1">
              <a:lnSpc>
                <a:spcPct val="90000"/>
              </a:lnSpc>
            </a:pPr>
            <a:r>
              <a:rPr lang="es-PR" sz="2500">
                <a:latin typeface="Tahoma" charset="0"/>
                <a:ea typeface="ＭＳ Ｐゴシック" charset="0"/>
                <a:cs typeface="ＭＳ Ｐゴシック" charset="0"/>
              </a:rPr>
              <a:t>El interés de este algoritmo es que sirve para comparar el rendimiento de otros algoritmos.</a:t>
            </a:r>
          </a:p>
        </p:txBody>
      </p:sp>
      <p:sp>
        <p:nvSpPr>
          <p:cNvPr id="7987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31964DE-5E59-E242-AC98-552762655062}" type="slidenum">
              <a:rPr lang="en-US" sz="1400"/>
              <a:pPr eaLnBrk="1" hangingPunct="1"/>
              <a:t>54</a:t>
            </a:fld>
            <a:endParaRPr lang="en-US" sz="1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p>
        </p:txBody>
      </p:sp>
      <p:sp>
        <p:nvSpPr>
          <p:cNvPr id="81923" name="Rectangle 3"/>
          <p:cNvSpPr>
            <a:spLocks noGrp="1" noChangeArrowheads="1"/>
          </p:cNvSpPr>
          <p:nvPr>
            <p:ph idx="1"/>
          </p:nvPr>
        </p:nvSpPr>
        <p:spPr>
          <a:xfrm>
            <a:off x="2894013" y="1827214"/>
            <a:ext cx="7313612" cy="4421187"/>
          </a:xfrm>
        </p:spPr>
        <p:txBody>
          <a:bodyPr/>
          <a:lstStyle/>
          <a:p>
            <a:pPr eaLnBrk="1" hangingPunct="1">
              <a:lnSpc>
                <a:spcPct val="90000"/>
              </a:lnSpc>
            </a:pPr>
            <a:r>
              <a:rPr lang="es-PR" sz="2500">
                <a:latin typeface="Tahoma" charset="0"/>
                <a:ea typeface="ＭＳ Ｐゴシック" charset="0"/>
                <a:cs typeface="ＭＳ Ｐゴシック" charset="0"/>
              </a:rPr>
              <a:t>La política de que </a:t>
            </a:r>
            <a:r>
              <a:rPr lang="es-PR" sz="2500" b="1">
                <a:latin typeface="Tahoma" charset="0"/>
                <a:ea typeface="ＭＳ Ｐゴシック" charset="0"/>
                <a:cs typeface="ＭＳ Ｐゴシック" charset="0"/>
              </a:rPr>
              <a:t>la primera página que llegó es la primera que sale</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first-in first-out</a:t>
            </a:r>
            <a:r>
              <a:rPr lang="es-PR" sz="2500">
                <a:latin typeface="Tahoma" charset="0"/>
                <a:ea typeface="ＭＳ Ｐゴシック" charset="0"/>
                <a:cs typeface="ＭＳ Ｐゴシック" charset="0"/>
              </a:rPr>
              <a:t>, FIFO), el s.o. mantiene una cola con un ID para cada página que se carga.</a:t>
            </a:r>
          </a:p>
          <a:p>
            <a:pPr eaLnBrk="1" hangingPunct="1">
              <a:lnSpc>
                <a:spcPct val="90000"/>
              </a:lnSpc>
            </a:pPr>
            <a:r>
              <a:rPr lang="es-PR" sz="2500">
                <a:latin typeface="Tahoma" charset="0"/>
                <a:ea typeface="ＭＳ Ｐゴシック" charset="0"/>
                <a:cs typeface="ＭＳ Ｐゴシック" charset="0"/>
              </a:rPr>
              <a:t>En esta cola las páginas siempre se añaden al final, por lo que la página que más tiempo lleve cargada estará al inicio de la cola.</a:t>
            </a:r>
          </a:p>
          <a:p>
            <a:pPr eaLnBrk="1" hangingPunct="1">
              <a:lnSpc>
                <a:spcPct val="90000"/>
              </a:lnSpc>
            </a:pPr>
            <a:r>
              <a:rPr lang="es-PR" sz="2500">
                <a:latin typeface="Tahoma" charset="0"/>
                <a:ea typeface="ＭＳ Ｐゴシック" charset="0"/>
                <a:cs typeface="ＭＳ Ｐゴシック" charset="0"/>
              </a:rPr>
              <a:t>Cuando hay que remover una página, el s.o. simplemente selecciona la primera página en la cola.</a:t>
            </a:r>
          </a:p>
        </p:txBody>
      </p:sp>
      <p:sp>
        <p:nvSpPr>
          <p:cNvPr id="8192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55A28E1C-B981-9649-A9F9-FBB96FF98146}" type="slidenum">
              <a:rPr lang="en-US" sz="1400"/>
              <a:pPr eaLnBrk="1" hangingPunct="1"/>
              <a:t>55</a:t>
            </a:fld>
            <a:endParaRPr lang="en-US" sz="1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p>
        </p:txBody>
      </p:sp>
      <p:sp>
        <p:nvSpPr>
          <p:cNvPr id="83971" name="Rectangle 3"/>
          <p:cNvSpPr>
            <a:spLocks noGrp="1" noChangeArrowheads="1"/>
          </p:cNvSpPr>
          <p:nvPr>
            <p:ph idx="1"/>
          </p:nvPr>
        </p:nvSpPr>
        <p:spPr>
          <a:xfrm>
            <a:off x="2894013" y="1827214"/>
            <a:ext cx="7313612" cy="4573587"/>
          </a:xfrm>
        </p:spPr>
        <p:txBody>
          <a:bodyPr/>
          <a:lstStyle/>
          <a:p>
            <a:pPr eaLnBrk="1" hangingPunct="1">
              <a:lnSpc>
                <a:spcPct val="90000"/>
              </a:lnSpc>
            </a:pPr>
            <a:r>
              <a:rPr lang="es-PR">
                <a:latin typeface="Tahoma" charset="0"/>
                <a:ea typeface="ＭＳ Ｐゴシック" charset="0"/>
                <a:cs typeface="ＭＳ Ｐゴシック" charset="0"/>
              </a:rPr>
              <a:t>Este algoritmo no toma en consideración cuántas veces ha sido referenciada la página que se selecciona para remoción.</a:t>
            </a:r>
          </a:p>
          <a:p>
            <a:pPr eaLnBrk="1" hangingPunct="1">
              <a:lnSpc>
                <a:spcPct val="90000"/>
              </a:lnSpc>
            </a:pPr>
            <a:r>
              <a:rPr lang="es-PR">
                <a:latin typeface="Tahoma" charset="0"/>
                <a:ea typeface="ＭＳ Ｐゴシック" charset="0"/>
                <a:cs typeface="ＭＳ Ｐゴシック" charset="0"/>
              </a:rPr>
              <a:t>Además, la </a:t>
            </a:r>
            <a:r>
              <a:rPr lang="es-PR" b="1">
                <a:latin typeface="Tahoma" charset="0"/>
                <a:ea typeface="ＭＳ Ｐゴシック" charset="0"/>
                <a:cs typeface="ＭＳ Ｐゴシック" charset="0"/>
              </a:rPr>
              <a:t>anomalía de Belady</a:t>
            </a:r>
            <a:r>
              <a:rPr lang="es-PR">
                <a:latin typeface="Tahoma" charset="0"/>
                <a:ea typeface="ＭＳ Ｐゴシック" charset="0"/>
                <a:cs typeface="ＭＳ Ｐゴシック" charset="0"/>
              </a:rPr>
              <a:t> demuestra que hay situaciones en las cuales aumentar la cantidad de marcos en memoria sólo logra aumentar la cantidad de fallas (</a:t>
            </a:r>
            <a:r>
              <a:rPr lang="es-PR" i="1">
                <a:latin typeface="Tahoma" charset="0"/>
                <a:ea typeface="ＭＳ Ｐゴシック" charset="0"/>
                <a:cs typeface="ＭＳ Ｐゴシック" charset="0"/>
              </a:rPr>
              <a:t>page faults</a:t>
            </a:r>
            <a:r>
              <a:rPr lang="es-PR">
                <a:latin typeface="Tahoma" charset="0"/>
                <a:ea typeface="ＭＳ Ｐゴシック" charset="0"/>
                <a:cs typeface="ＭＳ Ｐゴシック" charset="0"/>
              </a:rPr>
              <a:t>).</a:t>
            </a:r>
          </a:p>
        </p:txBody>
      </p:sp>
      <p:sp>
        <p:nvSpPr>
          <p:cNvPr id="8397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F2C5823-3BCE-D240-8B21-C304A92402F6}" type="slidenum">
              <a:rPr lang="en-US" sz="1400"/>
              <a:pPr eaLnBrk="1" hangingPunct="1"/>
              <a:t>56</a:t>
            </a:fld>
            <a:endParaRPr lang="en-US" sz="1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endParaRPr lang="en-US">
              <a:latin typeface="Tahoma" charset="0"/>
              <a:ea typeface="ＭＳ Ｐゴシック" charset="0"/>
              <a:cs typeface="ＭＳ Ｐゴシック" charset="0"/>
            </a:endParaRPr>
          </a:p>
        </p:txBody>
      </p:sp>
      <p:sp>
        <p:nvSpPr>
          <p:cNvPr id="86019" name="Rectangle 3"/>
          <p:cNvSpPr>
            <a:spLocks noGrp="1" noChangeArrowheads="1"/>
          </p:cNvSpPr>
          <p:nvPr>
            <p:ph idx="1"/>
          </p:nvPr>
        </p:nvSpPr>
        <p:spPr>
          <a:xfrm>
            <a:off x="2894013" y="1827214"/>
            <a:ext cx="7313612" cy="4497387"/>
          </a:xfrm>
        </p:spPr>
        <p:txBody>
          <a:bodyPr/>
          <a:lstStyle/>
          <a:p>
            <a:pPr eaLnBrk="1" hangingPunct="1"/>
            <a:r>
              <a:rPr lang="en-US">
                <a:latin typeface="Tahoma" charset="0"/>
                <a:ea typeface="ＭＳ Ｐゴシック" charset="0"/>
                <a:cs typeface="ＭＳ Ｐゴシック" charset="0"/>
              </a:rPr>
              <a:t>La siguiente figura muestra cómo muestra el algoritmo FIFO con un programa que tiene cuatro páginas (A, B, C y D) y que se desea cargar a una memoria con sólo dos marcos disponibles.</a:t>
            </a:r>
          </a:p>
          <a:p>
            <a:pPr eaLnBrk="1" hangingPunct="1"/>
            <a:r>
              <a:rPr lang="en-US">
                <a:latin typeface="Tahoma" charset="0"/>
                <a:ea typeface="ＭＳ Ｐゴシック" charset="0"/>
                <a:cs typeface="ＭＳ Ｐゴシック" charset="0"/>
              </a:rPr>
              <a:t>El programa necesita procesar sus páginas en este orden: A, B, A, C, A, B, D, B, A, C, D.</a:t>
            </a:r>
          </a:p>
        </p:txBody>
      </p:sp>
      <p:sp>
        <p:nvSpPr>
          <p:cNvPr id="8602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0F4C018F-5442-EB44-A9D6-10BE27F5FBB2}" type="slidenum">
              <a:rPr lang="en-US" sz="1400"/>
              <a:pPr eaLnBrk="1" hangingPunct="1"/>
              <a:t>57</a:t>
            </a:fld>
            <a:endParaRPr lang="en-US" sz="1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endParaRPr lang="en-US">
              <a:latin typeface="Tahoma" charset="0"/>
              <a:ea typeface="ＭＳ Ｐゴシック" charset="0"/>
              <a:cs typeface="ＭＳ Ｐゴシック" charset="0"/>
            </a:endParaRPr>
          </a:p>
        </p:txBody>
      </p:sp>
      <p:sp>
        <p:nvSpPr>
          <p:cNvPr id="88067"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780AA818-C065-4E4F-84E5-6A80F31CB570}" type="slidenum">
              <a:rPr lang="en-US" sz="1400"/>
              <a:pPr eaLnBrk="1" hangingPunct="1"/>
              <a:t>58</a:t>
            </a:fld>
            <a:endParaRPr lang="en-US" sz="1400"/>
          </a:p>
        </p:txBody>
      </p:sp>
      <p:pic>
        <p:nvPicPr>
          <p:cNvPr id="88068"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00400" y="1635126"/>
            <a:ext cx="6096000" cy="4945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endParaRPr lang="en-US">
              <a:latin typeface="Tahoma" charset="0"/>
              <a:ea typeface="ＭＳ Ｐゴシック" charset="0"/>
              <a:cs typeface="ＭＳ Ｐゴシック" charset="0"/>
            </a:endParaRPr>
          </a:p>
        </p:txBody>
      </p:sp>
      <p:sp>
        <p:nvSpPr>
          <p:cNvPr id="90115" name="Rectangle 3"/>
          <p:cNvSpPr>
            <a:spLocks noGrp="1" noChangeArrowheads="1"/>
          </p:cNvSpPr>
          <p:nvPr>
            <p:ph idx="1"/>
          </p:nvPr>
        </p:nvSpPr>
        <p:spPr/>
        <p:txBody>
          <a:bodyPr/>
          <a:lstStyle/>
          <a:p>
            <a:pPr eaLnBrk="1" hangingPunct="1"/>
            <a:r>
              <a:rPr lang="en-US">
                <a:latin typeface="Tahoma" charset="0"/>
                <a:ea typeface="ＭＳ Ｐゴシック" charset="0"/>
                <a:cs typeface="ＭＳ Ｐゴシック" charset="0"/>
              </a:rPr>
              <a:t>En la figura anterior, cada asterísco representa una falla de página.</a:t>
            </a:r>
          </a:p>
          <a:p>
            <a:pPr eaLnBrk="1" hangingPunct="1"/>
            <a:r>
              <a:rPr lang="en-US">
                <a:latin typeface="Tahoma" charset="0"/>
                <a:ea typeface="ＭＳ Ｐゴシック" charset="0"/>
                <a:cs typeface="ＭＳ Ｐゴシック" charset="0"/>
              </a:rPr>
              <a:t>Por lo tanto, hay 9 fallas para 11 solicitudes de página (un 82% de </a:t>
            </a:r>
            <a:r>
              <a:rPr lang="en-US" b="1">
                <a:latin typeface="Tahoma" charset="0"/>
                <a:ea typeface="ＭＳ Ｐゴシック" charset="0"/>
                <a:cs typeface="ＭＳ Ｐゴシック" charset="0"/>
              </a:rPr>
              <a:t>tasa de fallas</a:t>
            </a:r>
            <a:r>
              <a:rPr lang="en-US">
                <a:latin typeface="Tahoma" charset="0"/>
                <a:ea typeface="ＭＳ Ｐゴシック" charset="0"/>
                <a:cs typeface="ＭＳ Ｐゴシック" charset="0"/>
              </a:rPr>
              <a:t> [</a:t>
            </a:r>
            <a:r>
              <a:rPr lang="en-US" i="1">
                <a:latin typeface="Tahoma" charset="0"/>
                <a:ea typeface="ＭＳ Ｐゴシック" charset="0"/>
                <a:cs typeface="ＭＳ Ｐゴシック" charset="0"/>
              </a:rPr>
              <a:t>failure rate</a:t>
            </a:r>
            <a:r>
              <a:rPr lang="en-US">
                <a:latin typeface="Tahoma" charset="0"/>
                <a:ea typeface="ＭＳ Ｐゴシック" charset="0"/>
                <a:cs typeface="ＭＳ Ｐゴシック" charset="0"/>
              </a:rPr>
              <a:t>]) lo cual es inaceptable.</a:t>
            </a:r>
          </a:p>
          <a:p>
            <a:pPr eaLnBrk="1" hangingPunct="1">
              <a:buFont typeface="Wingdings" charset="0"/>
              <a:buNone/>
            </a:pPr>
            <a:endParaRPr lang="en-US">
              <a:latin typeface="Tahoma" charset="0"/>
              <a:ea typeface="ＭＳ Ｐゴシック" charset="0"/>
              <a:cs typeface="ＭＳ Ｐゴシック" charset="0"/>
            </a:endParaRPr>
          </a:p>
          <a:p>
            <a:pPr eaLnBrk="1" hangingPunct="1">
              <a:buFont typeface="Wingdings" charset="0"/>
              <a:buNone/>
            </a:pPr>
            <a:endParaRPr lang="en-US">
              <a:latin typeface="Tahoma" charset="0"/>
              <a:ea typeface="ＭＳ Ｐゴシック" charset="0"/>
              <a:cs typeface="ＭＳ Ｐゴシック" charset="0"/>
            </a:endParaRPr>
          </a:p>
          <a:p>
            <a:pPr eaLnBrk="1" hangingPunct="1">
              <a:buFont typeface="Wingdings" charset="0"/>
              <a:buNone/>
            </a:pPr>
            <a:r>
              <a:rPr lang="en-US" sz="1400">
                <a:latin typeface="Tahoma" charset="0"/>
                <a:ea typeface="ＭＳ Ｐゴシック" charset="0"/>
                <a:cs typeface="ＭＳ Ｐゴシック" charset="0"/>
              </a:rPr>
              <a:t>L/Joct10</a:t>
            </a:r>
          </a:p>
        </p:txBody>
      </p:sp>
      <p:sp>
        <p:nvSpPr>
          <p:cNvPr id="9011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B17072E3-085D-7A41-AF7C-AB5736349280}" type="slidenum">
              <a:rPr lang="en-US" sz="1400"/>
              <a:pPr eaLnBrk="1" hangingPunct="1"/>
              <a:t>59</a:t>
            </a:fld>
            <a:endParaRPr lang="en-US" sz="1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p>
        </p:txBody>
      </p:sp>
      <p:sp>
        <p:nvSpPr>
          <p:cNvPr id="92163" name="Rectangle 3"/>
          <p:cNvSpPr>
            <a:spLocks noGrp="1" noChangeArrowheads="1"/>
          </p:cNvSpPr>
          <p:nvPr>
            <p:ph idx="1"/>
          </p:nvPr>
        </p:nvSpPr>
        <p:spPr/>
        <p:txBody>
          <a:bodyPr>
            <a:normAutofit/>
          </a:bodyPr>
          <a:lstStyle/>
          <a:p>
            <a:pPr eaLnBrk="1" hangingPunct="1"/>
            <a:r>
              <a:rPr lang="es-PR" sz="2500" dirty="0">
                <a:latin typeface="Tahoma" charset="0"/>
                <a:ea typeface="ＭＳ Ｐゴシック" charset="0"/>
                <a:cs typeface="ＭＳ Ｐゴシック" charset="0"/>
              </a:rPr>
              <a:t>La política de remoción de la </a:t>
            </a:r>
            <a:r>
              <a:rPr lang="es-PR" sz="2500" b="1" dirty="0">
                <a:latin typeface="Tahoma" charset="0"/>
                <a:ea typeface="ＭＳ Ｐゴシック" charset="0"/>
                <a:cs typeface="ＭＳ Ｐゴシック" charset="0"/>
              </a:rPr>
              <a:t>página menos usada </a:t>
            </a:r>
            <a:r>
              <a:rPr lang="es-PR" sz="2500" b="1" dirty="0" err="1">
                <a:latin typeface="Tahoma" charset="0"/>
                <a:ea typeface="ＭＳ Ｐゴシック" charset="0"/>
                <a:cs typeface="ＭＳ Ｐゴシック" charset="0"/>
              </a:rPr>
              <a:t>recientemiente</a:t>
            </a:r>
            <a:r>
              <a:rPr lang="es-PR" sz="2500" dirty="0">
                <a:latin typeface="Tahoma" charset="0"/>
                <a:ea typeface="ＭＳ Ｐゴシック" charset="0"/>
                <a:cs typeface="ＭＳ Ｐゴシック" charset="0"/>
              </a:rPr>
              <a:t> (</a:t>
            </a:r>
            <a:r>
              <a:rPr lang="es-PR" sz="2500" i="1" dirty="0" err="1">
                <a:latin typeface="Tahoma" charset="0"/>
                <a:ea typeface="ＭＳ Ｐゴシック" charset="0"/>
                <a:cs typeface="ＭＳ Ｐゴシック" charset="0"/>
              </a:rPr>
              <a:t>least</a:t>
            </a:r>
            <a:r>
              <a:rPr lang="es-PR" sz="2500" i="1" dirty="0">
                <a:latin typeface="Tahoma" charset="0"/>
                <a:ea typeface="ＭＳ Ｐゴシック" charset="0"/>
                <a:cs typeface="ＭＳ Ｐゴシック" charset="0"/>
              </a:rPr>
              <a:t> </a:t>
            </a:r>
            <a:r>
              <a:rPr lang="es-PR" sz="2500" i="1" dirty="0" err="1">
                <a:latin typeface="Tahoma" charset="0"/>
                <a:ea typeface="ＭＳ Ｐゴシック" charset="0"/>
                <a:cs typeface="ＭＳ Ｐゴシック" charset="0"/>
              </a:rPr>
              <a:t>recently</a:t>
            </a:r>
            <a:r>
              <a:rPr lang="es-PR" sz="2500" i="1" dirty="0">
                <a:latin typeface="Tahoma" charset="0"/>
                <a:ea typeface="ＭＳ Ｐゴシック" charset="0"/>
                <a:cs typeface="ＭＳ Ｐゴシック" charset="0"/>
              </a:rPr>
              <a:t> </a:t>
            </a:r>
            <a:r>
              <a:rPr lang="es-PR" sz="2500" i="1" dirty="0" err="1">
                <a:latin typeface="Tahoma" charset="0"/>
                <a:ea typeface="ＭＳ Ｐゴシック" charset="0"/>
                <a:cs typeface="ＭＳ Ｐゴシック" charset="0"/>
              </a:rPr>
              <a:t>used</a:t>
            </a:r>
            <a:r>
              <a:rPr lang="es-PR" sz="2500" dirty="0">
                <a:latin typeface="Tahoma" charset="0"/>
                <a:ea typeface="ＭＳ Ｐゴシック" charset="0"/>
                <a:cs typeface="ＭＳ Ｐゴシック" charset="0"/>
              </a:rPr>
              <a:t>, LRU, NRU </a:t>
            </a:r>
            <a:r>
              <a:rPr lang="es-PR" sz="2500" dirty="0" err="1">
                <a:latin typeface="Tahoma" charset="0"/>
                <a:ea typeface="ＭＳ Ｐゴシック" charset="0"/>
                <a:cs typeface="ＭＳ Ｐゴシック" charset="0"/>
              </a:rPr>
              <a:t>Not</a:t>
            </a:r>
            <a:r>
              <a:rPr lang="es-PR" sz="2500" dirty="0">
                <a:latin typeface="Tahoma" charset="0"/>
                <a:ea typeface="ＭＳ Ｐゴシック" charset="0"/>
                <a:cs typeface="ＭＳ Ｐゴシック" charset="0"/>
              </a:rPr>
              <a:t> </a:t>
            </a:r>
            <a:r>
              <a:rPr lang="es-PR" sz="2500" dirty="0" err="1">
                <a:latin typeface="Tahoma" charset="0"/>
                <a:ea typeface="ＭＳ Ｐゴシック" charset="0"/>
                <a:cs typeface="ＭＳ Ｐゴシック" charset="0"/>
              </a:rPr>
              <a:t>Recently</a:t>
            </a:r>
            <a:r>
              <a:rPr lang="es-PR" sz="2500" dirty="0">
                <a:latin typeface="Tahoma" charset="0"/>
                <a:ea typeface="ＭＳ Ｐゴシック" charset="0"/>
                <a:cs typeface="ＭＳ Ｐゴシック" charset="0"/>
              </a:rPr>
              <a:t> Use, Algoritmo Reloj ) parte de la premisa que aquellas páginas que han sido usadas frecuentemente por las últimas instrucciones ejecutadas serán también usadas frecuentemente por las próximas instrucciones que se ejecutarán.</a:t>
            </a:r>
          </a:p>
          <a:p>
            <a:pPr eaLnBrk="1" hangingPunct="1"/>
            <a:r>
              <a:rPr lang="es-PR" sz="2500" dirty="0">
                <a:latin typeface="Tahoma" charset="0"/>
                <a:ea typeface="ＭＳ Ｐゴシック" charset="0"/>
                <a:cs typeface="ＭＳ Ｐゴシック" charset="0"/>
              </a:rPr>
              <a:t>Esto se conoce como el </a:t>
            </a:r>
            <a:r>
              <a:rPr lang="es-PR" sz="2500" b="1" dirty="0">
                <a:latin typeface="Tahoma" charset="0"/>
                <a:ea typeface="ＭＳ Ｐゴシック" charset="0"/>
                <a:cs typeface="ＭＳ Ｐゴシック" charset="0"/>
              </a:rPr>
              <a:t>principio de localidad</a:t>
            </a:r>
            <a:r>
              <a:rPr lang="es-PR" sz="2500" dirty="0">
                <a:latin typeface="Tahoma" charset="0"/>
                <a:ea typeface="ＭＳ Ｐゴシック" charset="0"/>
                <a:cs typeface="ＭＳ Ｐゴシック" charset="0"/>
              </a:rPr>
              <a:t> (</a:t>
            </a:r>
            <a:r>
              <a:rPr lang="es-PR" sz="2500" i="1" dirty="0" err="1">
                <a:latin typeface="Tahoma" charset="0"/>
                <a:ea typeface="ＭＳ Ｐゴシック" charset="0"/>
                <a:cs typeface="ＭＳ Ｐゴシック" charset="0"/>
              </a:rPr>
              <a:t>principle</a:t>
            </a:r>
            <a:r>
              <a:rPr lang="es-PR" sz="2500" i="1" dirty="0">
                <a:latin typeface="Tahoma" charset="0"/>
                <a:ea typeface="ＭＳ Ｐゴシック" charset="0"/>
                <a:cs typeface="ＭＳ Ｐゴシック" charset="0"/>
              </a:rPr>
              <a:t> </a:t>
            </a:r>
            <a:r>
              <a:rPr lang="es-PR" sz="2500" i="1" dirty="0" err="1">
                <a:latin typeface="Tahoma" charset="0"/>
                <a:ea typeface="ＭＳ Ｐゴシック" charset="0"/>
                <a:cs typeface="ＭＳ Ｐゴシック" charset="0"/>
              </a:rPr>
              <a:t>of</a:t>
            </a:r>
            <a:r>
              <a:rPr lang="es-PR" sz="2500" i="1" dirty="0">
                <a:latin typeface="Tahoma" charset="0"/>
                <a:ea typeface="ＭＳ Ｐゴシック" charset="0"/>
                <a:cs typeface="ＭＳ Ｐゴシック" charset="0"/>
              </a:rPr>
              <a:t> </a:t>
            </a:r>
            <a:r>
              <a:rPr lang="es-PR" sz="2500" i="1" dirty="0" err="1">
                <a:latin typeface="Tahoma" charset="0"/>
                <a:ea typeface="ＭＳ Ｐゴシック" charset="0"/>
                <a:cs typeface="ＭＳ Ｐゴシック" charset="0"/>
              </a:rPr>
              <a:t>locality</a:t>
            </a:r>
            <a:r>
              <a:rPr lang="es-PR" sz="2500" dirty="0">
                <a:latin typeface="Tahoma" charset="0"/>
                <a:ea typeface="ＭＳ Ｐゴシック" charset="0"/>
                <a:cs typeface="ＭＳ Ｐゴシック" charset="0"/>
              </a:rPr>
              <a:t>).</a:t>
            </a:r>
          </a:p>
        </p:txBody>
      </p:sp>
      <p:sp>
        <p:nvSpPr>
          <p:cNvPr id="9216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749A1A4-C0DC-0F4D-8896-D1C469AD93C9}" type="slidenum">
              <a:rPr lang="en-US" sz="1400"/>
              <a:pPr eaLnBrk="1" hangingPunct="1"/>
              <a:t>60</a:t>
            </a:fld>
            <a:endParaRPr lang="en-US" sz="1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p>
        </p:txBody>
      </p:sp>
      <p:sp>
        <p:nvSpPr>
          <p:cNvPr id="94211" name="Rectangle 3"/>
          <p:cNvSpPr>
            <a:spLocks noGrp="1" noChangeArrowheads="1"/>
          </p:cNvSpPr>
          <p:nvPr>
            <p:ph idx="1"/>
          </p:nvPr>
        </p:nvSpPr>
        <p:spPr>
          <a:xfrm>
            <a:off x="2894013" y="1827214"/>
            <a:ext cx="7313612" cy="4421187"/>
          </a:xfrm>
        </p:spPr>
        <p:txBody>
          <a:bodyPr/>
          <a:lstStyle/>
          <a:p>
            <a:pPr eaLnBrk="1" hangingPunct="1">
              <a:lnSpc>
                <a:spcPct val="90000"/>
              </a:lnSpc>
            </a:pPr>
            <a:r>
              <a:rPr lang="es-PR">
                <a:latin typeface="Tahoma" charset="0"/>
                <a:ea typeface="ＭＳ Ｐゴシック" charset="0"/>
                <a:cs typeface="ＭＳ Ｐゴシック" charset="0"/>
              </a:rPr>
              <a:t>Por lo tanto, hace sentido remover aquellas páginas que no han sido utilizadas recientemente pues se asume que no serán referenciadas en el futuro inmediato.</a:t>
            </a:r>
          </a:p>
          <a:p>
            <a:pPr eaLnBrk="1" hangingPunct="1">
              <a:lnSpc>
                <a:spcPct val="90000"/>
              </a:lnSpc>
            </a:pPr>
            <a:r>
              <a:rPr lang="es-PR">
                <a:latin typeface="Tahoma" charset="0"/>
                <a:ea typeface="ＭＳ Ｐゴシック" charset="0"/>
                <a:cs typeface="ＭＳ Ｐゴシック" charset="0"/>
              </a:rPr>
              <a:t>El s.o. debe llevar un temporizador (</a:t>
            </a:r>
            <a:r>
              <a:rPr lang="es-PR" i="1">
                <a:latin typeface="Tahoma" charset="0"/>
                <a:ea typeface="ＭＳ Ｐゴシック" charset="0"/>
                <a:cs typeface="ＭＳ Ｐゴシック" charset="0"/>
              </a:rPr>
              <a:t>timer</a:t>
            </a:r>
            <a:r>
              <a:rPr lang="es-PR">
                <a:latin typeface="Tahoma" charset="0"/>
                <a:ea typeface="ＭＳ Ｐゴシック" charset="0"/>
                <a:cs typeface="ＭＳ Ｐゴシック" charset="0"/>
              </a:rPr>
              <a:t>) que indique cuándo fue la última vez que se referenció cada página para poder decidir cuál remover.</a:t>
            </a:r>
          </a:p>
        </p:txBody>
      </p:sp>
      <p:sp>
        <p:nvSpPr>
          <p:cNvPr id="9421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A80B204-6E9B-6047-9375-182ECB25012F}" type="slidenum">
              <a:rPr lang="en-US" sz="1400"/>
              <a:pPr eaLnBrk="1" hangingPunct="1"/>
              <a:t>61</a:t>
            </a:fld>
            <a:endParaRPr lang="en-US"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Políticas de Reemplazo de Páginas (cont.)</a:t>
            </a:r>
            <a:endParaRPr lang="en-US">
              <a:latin typeface="Tahoma" charset="0"/>
              <a:ea typeface="ＭＳ Ｐゴシック" charset="0"/>
              <a:cs typeface="ＭＳ Ｐゴシック" charset="0"/>
            </a:endParaRPr>
          </a:p>
        </p:txBody>
      </p:sp>
      <p:sp>
        <p:nvSpPr>
          <p:cNvPr id="96259"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5CF06A5-2BC6-F646-8C2D-52E5156BEA74}" type="slidenum">
              <a:rPr lang="en-US" sz="1400"/>
              <a:pPr eaLnBrk="1" hangingPunct="1"/>
              <a:t>62</a:t>
            </a:fld>
            <a:endParaRPr lang="en-US" sz="1400"/>
          </a:p>
        </p:txBody>
      </p:sp>
      <p:pic>
        <p:nvPicPr>
          <p:cNvPr id="96260"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267200" y="1600200"/>
            <a:ext cx="6172200" cy="4610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6261" name="Text Box 6"/>
          <p:cNvSpPr txBox="1">
            <a:spLocks noChangeArrowheads="1"/>
          </p:cNvSpPr>
          <p:nvPr/>
        </p:nvSpPr>
        <p:spPr bwMode="auto">
          <a:xfrm>
            <a:off x="2819400" y="1905001"/>
            <a:ext cx="1676400" cy="2530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spcBef>
                <a:spcPct val="50000"/>
              </a:spcBef>
            </a:pPr>
            <a:r>
              <a:rPr lang="en-US" sz="2000"/>
              <a:t>La siguiente figura muestra cómo el algoritmo LRU trabaja:</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Segmentada de Memoria</a:t>
            </a:r>
          </a:p>
        </p:txBody>
      </p:sp>
      <p:sp>
        <p:nvSpPr>
          <p:cNvPr id="98307" name="Rectangle 3"/>
          <p:cNvSpPr>
            <a:spLocks noGrp="1" noChangeArrowheads="1"/>
          </p:cNvSpPr>
          <p:nvPr>
            <p:ph idx="1"/>
          </p:nvPr>
        </p:nvSpPr>
        <p:spPr>
          <a:xfrm>
            <a:off x="2894013" y="1827214"/>
            <a:ext cx="7313612" cy="4649787"/>
          </a:xfrm>
        </p:spPr>
        <p:txBody>
          <a:bodyPr/>
          <a:lstStyle/>
          <a:p>
            <a:pPr eaLnBrk="1" hangingPunct="1"/>
            <a:r>
              <a:rPr lang="es-PR" sz="2500">
                <a:latin typeface="Tahoma" charset="0"/>
                <a:ea typeface="ＭＳ Ｐゴシック" charset="0"/>
                <a:cs typeface="ＭＳ Ｐゴシック" charset="0"/>
              </a:rPr>
              <a:t>En el esquema de </a:t>
            </a:r>
            <a:r>
              <a:rPr lang="es-PR" sz="2500" b="1">
                <a:latin typeface="Tahoma" charset="0"/>
                <a:ea typeface="ＭＳ Ｐゴシック" charset="0"/>
                <a:cs typeface="ＭＳ Ｐゴシック" charset="0"/>
              </a:rPr>
              <a:t>asignación segmentada de memoria</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segmented memory allocation</a:t>
            </a:r>
            <a:r>
              <a:rPr lang="es-PR" sz="2500">
                <a:latin typeface="Tahoma" charset="0"/>
                <a:ea typeface="ＭＳ Ｐゴシック" charset="0"/>
                <a:cs typeface="ＭＳ Ｐゴシック" charset="0"/>
              </a:rPr>
              <a:t>), cada programa se divide en varios segmentos de distinto tamaño.</a:t>
            </a:r>
          </a:p>
          <a:p>
            <a:pPr eaLnBrk="1" hangingPunct="1"/>
            <a:r>
              <a:rPr lang="es-PR" sz="2500">
                <a:latin typeface="Tahoma" charset="0"/>
                <a:ea typeface="ＭＳ Ｐゴシック" charset="0"/>
                <a:cs typeface="ＭＳ Ｐゴシック" charset="0"/>
              </a:rPr>
              <a:t>Muchas veces el criterio es segmentar el programa por módulos o subrutinas.</a:t>
            </a:r>
          </a:p>
          <a:p>
            <a:pPr eaLnBrk="1" hangingPunct="1"/>
            <a:r>
              <a:rPr lang="es-PR" sz="2500">
                <a:latin typeface="Tahoma" charset="0"/>
                <a:ea typeface="ＭＳ Ｐゴシック" charset="0"/>
                <a:cs typeface="ＭＳ Ｐゴシック" charset="0"/>
              </a:rPr>
              <a:t>Esto reduce las fallas de página que resultan de tener código relacionado que distribuido en más de una página.</a:t>
            </a:r>
          </a:p>
        </p:txBody>
      </p:sp>
      <p:sp>
        <p:nvSpPr>
          <p:cNvPr id="9830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C87EE8E8-896C-7447-AEE2-D2A4B17E57F3}" type="slidenum">
              <a:rPr lang="en-US" sz="1400"/>
              <a:pPr eaLnBrk="1" hangingPunct="1"/>
              <a:t>63</a:t>
            </a:fld>
            <a:endParaRPr lang="en-US" sz="1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991544" y="367888"/>
            <a:ext cx="2857520" cy="400110"/>
          </a:xfrm>
          <a:prstGeom prst="rect">
            <a:avLst/>
          </a:prstGeom>
          <a:ln/>
        </p:spPr>
        <p:style>
          <a:lnRef idx="2">
            <a:schemeClr val="accent3"/>
          </a:lnRef>
          <a:fillRef idx="1">
            <a:schemeClr val="lt1"/>
          </a:fillRef>
          <a:effectRef idx="0">
            <a:schemeClr val="accent3"/>
          </a:effectRef>
          <a:fontRef idx="minor">
            <a:schemeClr val="dk1"/>
          </a:fontRef>
        </p:style>
        <p:txBody>
          <a:bodyPr wrap="square" rtlCol="0">
            <a:spAutoFit/>
          </a:bodyPr>
          <a:lstStyle/>
          <a:p>
            <a:pPr marL="352425"/>
            <a:r>
              <a:rPr lang="es-MX" sz="2000" b="1" i="1" dirty="0">
                <a:solidFill>
                  <a:schemeClr val="tx1"/>
                </a:solidFill>
              </a:rPr>
              <a:t>Memoria virtual</a:t>
            </a:r>
          </a:p>
        </p:txBody>
      </p:sp>
      <p:sp>
        <p:nvSpPr>
          <p:cNvPr id="3" name="2 Rectángulo"/>
          <p:cNvSpPr/>
          <p:nvPr/>
        </p:nvSpPr>
        <p:spPr>
          <a:xfrm>
            <a:off x="2361200" y="1357299"/>
            <a:ext cx="2734669" cy="50959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2400" dirty="0">
                <a:latin typeface="Consolas" pitchFamily="49" charset="0"/>
                <a:cs typeface="Consolas" pitchFamily="49" charset="0"/>
              </a:rPr>
              <a:t>Segmentación</a:t>
            </a:r>
          </a:p>
        </p:txBody>
      </p:sp>
      <p:grpSp>
        <p:nvGrpSpPr>
          <p:cNvPr id="36" name="35 Grupo"/>
          <p:cNvGrpSpPr/>
          <p:nvPr/>
        </p:nvGrpSpPr>
        <p:grpSpPr>
          <a:xfrm>
            <a:off x="5689095" y="1269982"/>
            <a:ext cx="2725661" cy="3051485"/>
            <a:chOff x="3324503" y="2053639"/>
            <a:chExt cx="2725661" cy="3051485"/>
          </a:xfrm>
        </p:grpSpPr>
        <p:sp>
          <p:nvSpPr>
            <p:cNvPr id="4" name="3 Rectángulo redondeado"/>
            <p:cNvSpPr/>
            <p:nvPr/>
          </p:nvSpPr>
          <p:spPr>
            <a:xfrm>
              <a:off x="3324503" y="2053639"/>
              <a:ext cx="2725661" cy="305148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MX"/>
            </a:p>
          </p:txBody>
        </p:sp>
        <p:sp>
          <p:nvSpPr>
            <p:cNvPr id="5" name="4 Rectángulo"/>
            <p:cNvSpPr/>
            <p:nvPr/>
          </p:nvSpPr>
          <p:spPr>
            <a:xfrm>
              <a:off x="3740033" y="2460234"/>
              <a:ext cx="785818" cy="857256"/>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t"/>
            <a:lstStyle/>
            <a:p>
              <a:pPr algn="ctr"/>
              <a:r>
                <a:rPr lang="es-MX" sz="1050" dirty="0"/>
                <a:t>subrutina</a:t>
              </a:r>
            </a:p>
          </p:txBody>
        </p:sp>
        <p:sp>
          <p:nvSpPr>
            <p:cNvPr id="6" name="5 Rectángulo"/>
            <p:cNvSpPr/>
            <p:nvPr/>
          </p:nvSpPr>
          <p:spPr>
            <a:xfrm>
              <a:off x="4883041" y="2326883"/>
              <a:ext cx="928694" cy="347665"/>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rtlCol="0" anchor="t"/>
            <a:lstStyle/>
            <a:p>
              <a:r>
                <a:rPr lang="es-MX" sz="1050" dirty="0"/>
                <a:t>pila</a:t>
              </a:r>
            </a:p>
          </p:txBody>
        </p:sp>
        <p:sp>
          <p:nvSpPr>
            <p:cNvPr id="7" name="6 Rectángulo"/>
            <p:cNvSpPr/>
            <p:nvPr/>
          </p:nvSpPr>
          <p:spPr>
            <a:xfrm>
              <a:off x="5035441" y="2969825"/>
              <a:ext cx="928694" cy="490541"/>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t"/>
            <a:lstStyle/>
            <a:p>
              <a:r>
                <a:rPr lang="es-MX" sz="1050" dirty="0"/>
                <a:t>Tabla de símbolos</a:t>
              </a:r>
            </a:p>
          </p:txBody>
        </p:sp>
        <p:sp>
          <p:nvSpPr>
            <p:cNvPr id="8" name="7 Rectángulo"/>
            <p:cNvSpPr/>
            <p:nvPr/>
          </p:nvSpPr>
          <p:spPr>
            <a:xfrm>
              <a:off x="4571094" y="3919936"/>
              <a:ext cx="900000" cy="396000"/>
            </a:xfrm>
            <a:prstGeom prst="rect">
              <a:avLst/>
            </a:prstGeom>
            <a:solidFill>
              <a:schemeClr val="accent2">
                <a:lumMod val="60000"/>
                <a:lumOff val="40000"/>
              </a:schemeClr>
            </a:solidFill>
          </p:spPr>
          <p:style>
            <a:lnRef idx="2">
              <a:schemeClr val="dk1"/>
            </a:lnRef>
            <a:fillRef idx="1">
              <a:schemeClr val="lt1"/>
            </a:fillRef>
            <a:effectRef idx="0">
              <a:schemeClr val="dk1"/>
            </a:effectRef>
            <a:fontRef idx="minor">
              <a:schemeClr val="dk1"/>
            </a:fontRef>
          </p:style>
          <p:txBody>
            <a:bodyPr rtlCol="0" anchor="t"/>
            <a:lstStyle/>
            <a:p>
              <a:r>
                <a:rPr lang="es-MX" sz="1050" dirty="0"/>
                <a:t>Programa principal</a:t>
              </a:r>
            </a:p>
          </p:txBody>
        </p:sp>
        <p:sp>
          <p:nvSpPr>
            <p:cNvPr id="9" name="8 Rectángulo"/>
            <p:cNvSpPr/>
            <p:nvPr/>
          </p:nvSpPr>
          <p:spPr>
            <a:xfrm>
              <a:off x="3498349" y="3898518"/>
              <a:ext cx="648000" cy="857256"/>
            </a:xfrm>
            <a:prstGeom prst="rect">
              <a:avLst/>
            </a:prstGeom>
            <a:solidFill>
              <a:srgbClr val="00B050"/>
            </a:solidFill>
          </p:spPr>
          <p:style>
            <a:lnRef idx="2">
              <a:schemeClr val="dk1"/>
            </a:lnRef>
            <a:fillRef idx="1">
              <a:schemeClr val="lt1"/>
            </a:fillRef>
            <a:effectRef idx="0">
              <a:schemeClr val="dk1"/>
            </a:effectRef>
            <a:fontRef idx="minor">
              <a:schemeClr val="dk1"/>
            </a:fontRef>
          </p:style>
          <p:txBody>
            <a:bodyPr rtlCol="0" anchor="t"/>
            <a:lstStyle/>
            <a:p>
              <a:r>
                <a:rPr lang="es-MX" sz="1050" dirty="0" err="1"/>
                <a:t>Sqrt</a:t>
              </a:r>
              <a:endParaRPr lang="es-MX" sz="1050" dirty="0"/>
            </a:p>
          </p:txBody>
        </p:sp>
        <p:sp>
          <p:nvSpPr>
            <p:cNvPr id="10" name="9 Rectángulo"/>
            <p:cNvSpPr/>
            <p:nvPr/>
          </p:nvSpPr>
          <p:spPr>
            <a:xfrm>
              <a:off x="3680787" y="3317489"/>
              <a:ext cx="954889" cy="216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r>
                <a:rPr lang="es-MX" sz="1050" b="1" dirty="0"/>
                <a:t>Segmento 0</a:t>
              </a:r>
            </a:p>
          </p:txBody>
        </p:sp>
        <p:sp>
          <p:nvSpPr>
            <p:cNvPr id="11" name="10 Rectángulo"/>
            <p:cNvSpPr/>
            <p:nvPr/>
          </p:nvSpPr>
          <p:spPr>
            <a:xfrm>
              <a:off x="3355742" y="4766791"/>
              <a:ext cx="954889" cy="216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r>
                <a:rPr lang="es-MX" sz="1050" b="1" dirty="0"/>
                <a:t>Segmento 1</a:t>
              </a:r>
            </a:p>
          </p:txBody>
        </p:sp>
        <p:sp>
          <p:nvSpPr>
            <p:cNvPr id="12" name="11 Rectángulo"/>
            <p:cNvSpPr/>
            <p:nvPr/>
          </p:nvSpPr>
          <p:spPr>
            <a:xfrm>
              <a:off x="4524945" y="4315936"/>
              <a:ext cx="954889" cy="216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r>
                <a:rPr lang="es-MX" sz="1050" b="1" dirty="0"/>
                <a:t>Segmento 2</a:t>
              </a:r>
            </a:p>
          </p:txBody>
        </p:sp>
        <p:sp>
          <p:nvSpPr>
            <p:cNvPr id="13" name="12 Rectángulo"/>
            <p:cNvSpPr/>
            <p:nvPr/>
          </p:nvSpPr>
          <p:spPr>
            <a:xfrm>
              <a:off x="5010739" y="3458680"/>
              <a:ext cx="954889" cy="216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r>
                <a:rPr lang="es-MX" sz="1050" b="1" dirty="0"/>
                <a:t>Segmento 4</a:t>
              </a:r>
            </a:p>
          </p:txBody>
        </p:sp>
        <p:sp>
          <p:nvSpPr>
            <p:cNvPr id="14" name="13 Rectángulo"/>
            <p:cNvSpPr/>
            <p:nvPr/>
          </p:nvSpPr>
          <p:spPr>
            <a:xfrm>
              <a:off x="4838973" y="2674548"/>
              <a:ext cx="954889" cy="216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r>
                <a:rPr lang="es-MX" sz="1050" b="1" dirty="0"/>
                <a:t>Segmento 3</a:t>
              </a:r>
            </a:p>
          </p:txBody>
        </p:sp>
      </p:grpSp>
      <p:grpSp>
        <p:nvGrpSpPr>
          <p:cNvPr id="50" name="49 Grupo"/>
          <p:cNvGrpSpPr/>
          <p:nvPr/>
        </p:nvGrpSpPr>
        <p:grpSpPr>
          <a:xfrm>
            <a:off x="6810380" y="4617155"/>
            <a:ext cx="1569114" cy="1647262"/>
            <a:chOff x="5509768" y="1851684"/>
            <a:chExt cx="1569114" cy="1647262"/>
          </a:xfrm>
        </p:grpSpPr>
        <p:sp>
          <p:nvSpPr>
            <p:cNvPr id="15" name="14 Rectángulo"/>
            <p:cNvSpPr/>
            <p:nvPr/>
          </p:nvSpPr>
          <p:spPr>
            <a:xfrm>
              <a:off x="5822751" y="1851684"/>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Límite</a:t>
              </a:r>
            </a:p>
          </p:txBody>
        </p:sp>
        <p:sp>
          <p:nvSpPr>
            <p:cNvPr id="16" name="15 Rectángulo"/>
            <p:cNvSpPr/>
            <p:nvPr/>
          </p:nvSpPr>
          <p:spPr>
            <a:xfrm>
              <a:off x="5822751" y="2065998"/>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1000</a:t>
              </a:r>
            </a:p>
          </p:txBody>
        </p:sp>
        <p:sp>
          <p:nvSpPr>
            <p:cNvPr id="17" name="16 Rectángulo"/>
            <p:cNvSpPr/>
            <p:nvPr/>
          </p:nvSpPr>
          <p:spPr>
            <a:xfrm>
              <a:off x="5822751" y="2273483"/>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400</a:t>
              </a:r>
            </a:p>
          </p:txBody>
        </p:sp>
        <p:sp>
          <p:nvSpPr>
            <p:cNvPr id="18" name="17 Rectángulo"/>
            <p:cNvSpPr/>
            <p:nvPr/>
          </p:nvSpPr>
          <p:spPr>
            <a:xfrm>
              <a:off x="5822751" y="2487797"/>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400</a:t>
              </a:r>
            </a:p>
          </p:txBody>
        </p:sp>
        <p:sp>
          <p:nvSpPr>
            <p:cNvPr id="19" name="18 Rectángulo"/>
            <p:cNvSpPr/>
            <p:nvPr/>
          </p:nvSpPr>
          <p:spPr>
            <a:xfrm>
              <a:off x="5822751" y="2702111"/>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1100</a:t>
              </a:r>
            </a:p>
          </p:txBody>
        </p:sp>
        <p:sp>
          <p:nvSpPr>
            <p:cNvPr id="20" name="19 Rectángulo"/>
            <p:cNvSpPr/>
            <p:nvPr/>
          </p:nvSpPr>
          <p:spPr>
            <a:xfrm>
              <a:off x="5822751" y="2909596"/>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1000</a:t>
              </a:r>
            </a:p>
          </p:txBody>
        </p:sp>
        <p:sp>
          <p:nvSpPr>
            <p:cNvPr id="21" name="20 Rectángulo"/>
            <p:cNvSpPr/>
            <p:nvPr/>
          </p:nvSpPr>
          <p:spPr>
            <a:xfrm>
              <a:off x="6394255" y="1851684"/>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Base</a:t>
              </a:r>
            </a:p>
          </p:txBody>
        </p:sp>
        <p:sp>
          <p:nvSpPr>
            <p:cNvPr id="22" name="21 Rectángulo"/>
            <p:cNvSpPr/>
            <p:nvPr/>
          </p:nvSpPr>
          <p:spPr>
            <a:xfrm>
              <a:off x="6394255" y="2065998"/>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1400</a:t>
              </a:r>
            </a:p>
          </p:txBody>
        </p:sp>
        <p:sp>
          <p:nvSpPr>
            <p:cNvPr id="23" name="22 Rectángulo"/>
            <p:cNvSpPr/>
            <p:nvPr/>
          </p:nvSpPr>
          <p:spPr>
            <a:xfrm>
              <a:off x="6394255" y="2273483"/>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6300</a:t>
              </a:r>
            </a:p>
          </p:txBody>
        </p:sp>
        <p:sp>
          <p:nvSpPr>
            <p:cNvPr id="24" name="23 Rectángulo"/>
            <p:cNvSpPr/>
            <p:nvPr/>
          </p:nvSpPr>
          <p:spPr>
            <a:xfrm>
              <a:off x="6394255" y="2487797"/>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4300</a:t>
              </a:r>
            </a:p>
          </p:txBody>
        </p:sp>
        <p:sp>
          <p:nvSpPr>
            <p:cNvPr id="25" name="24 Rectángulo"/>
            <p:cNvSpPr/>
            <p:nvPr/>
          </p:nvSpPr>
          <p:spPr>
            <a:xfrm>
              <a:off x="6394255" y="2702111"/>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3200</a:t>
              </a:r>
            </a:p>
          </p:txBody>
        </p:sp>
        <p:sp>
          <p:nvSpPr>
            <p:cNvPr id="26" name="25 Rectángulo"/>
            <p:cNvSpPr/>
            <p:nvPr/>
          </p:nvSpPr>
          <p:spPr>
            <a:xfrm>
              <a:off x="6394255" y="2909596"/>
              <a:ext cx="571504"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4700</a:t>
              </a:r>
            </a:p>
          </p:txBody>
        </p:sp>
        <p:sp>
          <p:nvSpPr>
            <p:cNvPr id="29" name="28 Rectángulo"/>
            <p:cNvSpPr/>
            <p:nvPr/>
          </p:nvSpPr>
          <p:spPr>
            <a:xfrm>
              <a:off x="5509768" y="2072827"/>
              <a:ext cx="324000" cy="21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0</a:t>
              </a:r>
            </a:p>
          </p:txBody>
        </p:sp>
        <p:sp>
          <p:nvSpPr>
            <p:cNvPr id="30" name="29 Rectángulo"/>
            <p:cNvSpPr/>
            <p:nvPr/>
          </p:nvSpPr>
          <p:spPr>
            <a:xfrm>
              <a:off x="5509768" y="2280312"/>
              <a:ext cx="324000" cy="21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1</a:t>
              </a:r>
            </a:p>
          </p:txBody>
        </p:sp>
        <p:sp>
          <p:nvSpPr>
            <p:cNvPr id="31" name="30 Rectángulo"/>
            <p:cNvSpPr/>
            <p:nvPr/>
          </p:nvSpPr>
          <p:spPr>
            <a:xfrm>
              <a:off x="5509768" y="2494626"/>
              <a:ext cx="324000" cy="21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2</a:t>
              </a:r>
            </a:p>
          </p:txBody>
        </p:sp>
        <p:sp>
          <p:nvSpPr>
            <p:cNvPr id="32" name="31 Rectángulo"/>
            <p:cNvSpPr/>
            <p:nvPr/>
          </p:nvSpPr>
          <p:spPr>
            <a:xfrm>
              <a:off x="5509768" y="2708940"/>
              <a:ext cx="324000" cy="21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3</a:t>
              </a:r>
            </a:p>
          </p:txBody>
        </p:sp>
        <p:sp>
          <p:nvSpPr>
            <p:cNvPr id="33" name="32 Rectángulo"/>
            <p:cNvSpPr/>
            <p:nvPr/>
          </p:nvSpPr>
          <p:spPr>
            <a:xfrm>
              <a:off x="5509768" y="2916425"/>
              <a:ext cx="324000" cy="214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4</a:t>
              </a:r>
            </a:p>
          </p:txBody>
        </p:sp>
        <p:sp>
          <p:nvSpPr>
            <p:cNvPr id="34" name="33 Rectángulo"/>
            <p:cNvSpPr/>
            <p:nvPr/>
          </p:nvSpPr>
          <p:spPr>
            <a:xfrm>
              <a:off x="5599813" y="3130739"/>
              <a:ext cx="1479069" cy="36820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r>
                <a:rPr lang="es-MX" sz="1050" b="1" dirty="0"/>
                <a:t>Tabla de segmentos</a:t>
              </a:r>
            </a:p>
          </p:txBody>
        </p:sp>
      </p:grpSp>
      <p:grpSp>
        <p:nvGrpSpPr>
          <p:cNvPr id="55" name="54 Grupo"/>
          <p:cNvGrpSpPr/>
          <p:nvPr/>
        </p:nvGrpSpPr>
        <p:grpSpPr>
          <a:xfrm>
            <a:off x="8739206" y="1114466"/>
            <a:ext cx="1285884" cy="4196318"/>
            <a:chOff x="7000892" y="1114466"/>
            <a:chExt cx="1285884" cy="4196318"/>
          </a:xfrm>
        </p:grpSpPr>
        <p:sp>
          <p:nvSpPr>
            <p:cNvPr id="37" name="36 Rectángulo"/>
            <p:cNvSpPr/>
            <p:nvPr/>
          </p:nvSpPr>
          <p:spPr>
            <a:xfrm>
              <a:off x="7500958" y="1114466"/>
              <a:ext cx="785818" cy="698831"/>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s-MX" sz="900" dirty="0"/>
            </a:p>
          </p:txBody>
        </p:sp>
        <p:sp>
          <p:nvSpPr>
            <p:cNvPr id="38" name="37 Rectángulo"/>
            <p:cNvSpPr/>
            <p:nvPr/>
          </p:nvSpPr>
          <p:spPr>
            <a:xfrm>
              <a:off x="7500958" y="1813297"/>
              <a:ext cx="785818" cy="252701"/>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900" dirty="0"/>
                <a:t>Segmento 0</a:t>
              </a:r>
            </a:p>
          </p:txBody>
        </p:sp>
        <p:sp>
          <p:nvSpPr>
            <p:cNvPr id="39" name="38 Rectángulo"/>
            <p:cNvSpPr/>
            <p:nvPr/>
          </p:nvSpPr>
          <p:spPr>
            <a:xfrm>
              <a:off x="7500958" y="2072827"/>
              <a:ext cx="785818" cy="629284"/>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s-MX" sz="900" dirty="0"/>
            </a:p>
          </p:txBody>
        </p:sp>
        <p:sp>
          <p:nvSpPr>
            <p:cNvPr id="40" name="39 Rectángulo"/>
            <p:cNvSpPr/>
            <p:nvPr/>
          </p:nvSpPr>
          <p:spPr>
            <a:xfrm>
              <a:off x="7500958" y="2697923"/>
              <a:ext cx="785818" cy="919847"/>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900" dirty="0"/>
                <a:t>Segmento 3</a:t>
              </a:r>
            </a:p>
          </p:txBody>
        </p:sp>
        <p:sp>
          <p:nvSpPr>
            <p:cNvPr id="41" name="40 Rectángulo"/>
            <p:cNvSpPr/>
            <p:nvPr/>
          </p:nvSpPr>
          <p:spPr>
            <a:xfrm>
              <a:off x="7500958" y="3617770"/>
              <a:ext cx="785818" cy="252701"/>
            </a:xfrm>
            <a:prstGeom prst="rect">
              <a:avLst/>
            </a:prstGeom>
            <a:solidFill>
              <a:schemeClr val="accent2">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s-MX" sz="900" dirty="0"/>
                <a:t>Segmento 2</a:t>
              </a:r>
            </a:p>
          </p:txBody>
        </p:sp>
        <p:sp>
          <p:nvSpPr>
            <p:cNvPr id="42" name="41 Rectángulo"/>
            <p:cNvSpPr/>
            <p:nvPr/>
          </p:nvSpPr>
          <p:spPr>
            <a:xfrm>
              <a:off x="7500958" y="3863642"/>
              <a:ext cx="785818" cy="857256"/>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rtlCol="0" anchor="ctr"/>
            <a:lstStyle/>
            <a:p>
              <a:pPr algn="ctr"/>
              <a:r>
                <a:rPr lang="es-MX" sz="900" dirty="0"/>
                <a:t>Segmento 4</a:t>
              </a:r>
            </a:p>
          </p:txBody>
        </p:sp>
        <p:sp>
          <p:nvSpPr>
            <p:cNvPr id="43" name="42 Rectángulo"/>
            <p:cNvSpPr/>
            <p:nvPr/>
          </p:nvSpPr>
          <p:spPr>
            <a:xfrm>
              <a:off x="7500958" y="4720898"/>
              <a:ext cx="785818" cy="252701"/>
            </a:xfrm>
            <a:prstGeom prst="rect">
              <a:avLst/>
            </a:prstGeom>
            <a:solidFill>
              <a:schemeClr val="bg2">
                <a:lumMod val="9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s-MX" sz="900" dirty="0"/>
            </a:p>
          </p:txBody>
        </p:sp>
        <p:sp>
          <p:nvSpPr>
            <p:cNvPr id="44" name="43 Rectángulo"/>
            <p:cNvSpPr/>
            <p:nvPr/>
          </p:nvSpPr>
          <p:spPr>
            <a:xfrm>
              <a:off x="7500958" y="4973599"/>
              <a:ext cx="785818" cy="252701"/>
            </a:xfrm>
            <a:prstGeom prst="rect">
              <a:avLst/>
            </a:prstGeom>
            <a:solidFill>
              <a:srgbClr val="00B050"/>
            </a:solidFill>
          </p:spPr>
          <p:style>
            <a:lnRef idx="2">
              <a:schemeClr val="dk1"/>
            </a:lnRef>
            <a:fillRef idx="1">
              <a:schemeClr val="lt1"/>
            </a:fillRef>
            <a:effectRef idx="0">
              <a:schemeClr val="dk1"/>
            </a:effectRef>
            <a:fontRef idx="minor">
              <a:schemeClr val="dk1"/>
            </a:fontRef>
          </p:style>
          <p:txBody>
            <a:bodyPr rtlCol="0" anchor="ctr"/>
            <a:lstStyle/>
            <a:p>
              <a:pPr algn="ctr"/>
              <a:r>
                <a:rPr lang="es-MX" sz="900" dirty="0"/>
                <a:t>Segmento 1</a:t>
              </a:r>
            </a:p>
          </p:txBody>
        </p:sp>
        <p:sp>
          <p:nvSpPr>
            <p:cNvPr id="45" name="44 Rectángulo"/>
            <p:cNvSpPr/>
            <p:nvPr/>
          </p:nvSpPr>
          <p:spPr>
            <a:xfrm>
              <a:off x="7000892" y="1703099"/>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1400</a:t>
              </a:r>
            </a:p>
          </p:txBody>
        </p:sp>
        <p:sp>
          <p:nvSpPr>
            <p:cNvPr id="46" name="45 Rectángulo"/>
            <p:cNvSpPr/>
            <p:nvPr/>
          </p:nvSpPr>
          <p:spPr>
            <a:xfrm>
              <a:off x="7000892" y="1935631"/>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2400</a:t>
              </a:r>
            </a:p>
          </p:txBody>
        </p:sp>
        <p:sp>
          <p:nvSpPr>
            <p:cNvPr id="48" name="47 Rectángulo"/>
            <p:cNvSpPr/>
            <p:nvPr/>
          </p:nvSpPr>
          <p:spPr>
            <a:xfrm>
              <a:off x="7000892" y="2594180"/>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3200</a:t>
              </a:r>
            </a:p>
          </p:txBody>
        </p:sp>
        <p:sp>
          <p:nvSpPr>
            <p:cNvPr id="49" name="48 Rectángulo"/>
            <p:cNvSpPr/>
            <p:nvPr/>
          </p:nvSpPr>
          <p:spPr>
            <a:xfrm>
              <a:off x="7000892" y="5103299"/>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6700</a:t>
              </a:r>
            </a:p>
          </p:txBody>
        </p:sp>
        <p:sp>
          <p:nvSpPr>
            <p:cNvPr id="51" name="50 Rectángulo"/>
            <p:cNvSpPr/>
            <p:nvPr/>
          </p:nvSpPr>
          <p:spPr>
            <a:xfrm>
              <a:off x="7000892" y="4869856"/>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6300</a:t>
              </a:r>
            </a:p>
          </p:txBody>
        </p:sp>
        <p:sp>
          <p:nvSpPr>
            <p:cNvPr id="52" name="51 Rectángulo"/>
            <p:cNvSpPr/>
            <p:nvPr/>
          </p:nvSpPr>
          <p:spPr>
            <a:xfrm>
              <a:off x="7000892" y="4617155"/>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5700</a:t>
              </a:r>
            </a:p>
          </p:txBody>
        </p:sp>
        <p:sp>
          <p:nvSpPr>
            <p:cNvPr id="53" name="52 Rectángulo"/>
            <p:cNvSpPr/>
            <p:nvPr/>
          </p:nvSpPr>
          <p:spPr>
            <a:xfrm>
              <a:off x="7000892" y="3759899"/>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4700</a:t>
              </a:r>
            </a:p>
          </p:txBody>
        </p:sp>
        <p:sp>
          <p:nvSpPr>
            <p:cNvPr id="54" name="53 Rectángulo"/>
            <p:cNvSpPr/>
            <p:nvPr/>
          </p:nvSpPr>
          <p:spPr>
            <a:xfrm>
              <a:off x="7000892" y="3487596"/>
              <a:ext cx="500066" cy="2074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100" dirty="0">
                  <a:solidFill>
                    <a:sysClr val="windowText" lastClr="000000"/>
                  </a:solidFill>
                </a:rPr>
                <a:t>4300</a:t>
              </a:r>
            </a:p>
          </p:txBody>
        </p:sp>
      </p:grpSp>
      <p:sp>
        <p:nvSpPr>
          <p:cNvPr id="56" name="55 Rectángulo"/>
          <p:cNvSpPr/>
          <p:nvPr/>
        </p:nvSpPr>
        <p:spPr>
          <a:xfrm>
            <a:off x="2361200" y="2065998"/>
            <a:ext cx="3096229" cy="3659400"/>
          </a:xfrm>
          <a:prstGeom prst="rect">
            <a:avLst/>
          </a:prstGeom>
        </p:spPr>
        <p:txBody>
          <a:bodyPr wrap="square">
            <a:spAutoFit/>
          </a:bodyPr>
          <a:lstStyle/>
          <a:p>
            <a:pPr>
              <a:lnSpc>
                <a:spcPct val="150000"/>
              </a:lnSpc>
            </a:pPr>
            <a:r>
              <a:rPr lang="es-MX" sz="1200" dirty="0"/>
              <a:t>La </a:t>
            </a:r>
            <a:r>
              <a:rPr lang="es-MX" sz="1200" b="1" dirty="0"/>
              <a:t>segmentación</a:t>
            </a:r>
            <a:r>
              <a:rPr lang="es-MX" sz="1200" dirty="0"/>
              <a:t> es un esquema de administración de la memoria que soporta la visión que el usuario tiene de la misma. Un espacio de direcciones lógicas es una colección de segmentos. Cada segmento tiene un nombre y una longitud.</a:t>
            </a:r>
          </a:p>
          <a:p>
            <a:pPr>
              <a:lnSpc>
                <a:spcPct val="150000"/>
              </a:lnSpc>
            </a:pPr>
            <a:r>
              <a:rPr lang="es-MX" sz="1200" dirty="0"/>
              <a:t>Las direcciones especifican tanto el nombre del segmento como el desplazamiento dentro del segmento. Por lo tanto, el usuario especifica cada dirección mediante dos cantidades: un nombre de segmento y un desplazamiento.</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Segmentada de Memoria</a:t>
            </a:r>
          </a:p>
        </p:txBody>
      </p:sp>
      <p:sp>
        <p:nvSpPr>
          <p:cNvPr id="100355" name="Rectangle 3"/>
          <p:cNvSpPr>
            <a:spLocks noGrp="1" noChangeArrowheads="1"/>
          </p:cNvSpPr>
          <p:nvPr>
            <p:ph idx="1"/>
          </p:nvPr>
        </p:nvSpPr>
        <p:spPr>
          <a:xfrm>
            <a:off x="2894013" y="1827214"/>
            <a:ext cx="7313612" cy="1144587"/>
          </a:xfrm>
        </p:spPr>
        <p:txBody>
          <a:bodyPr/>
          <a:lstStyle/>
          <a:p>
            <a:pPr eaLnBrk="1" hangingPunct="1"/>
            <a:r>
              <a:rPr lang="es-PR">
                <a:latin typeface="Tahoma" charset="0"/>
                <a:ea typeface="ＭＳ Ｐゴシック" charset="0"/>
                <a:cs typeface="ＭＳ Ｐゴシック" charset="0"/>
              </a:rPr>
              <a:t>Aquí se muestra un programa divido en segmentos:</a:t>
            </a:r>
          </a:p>
        </p:txBody>
      </p:sp>
      <p:sp>
        <p:nvSpPr>
          <p:cNvPr id="10035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BA82039-2DDB-D140-93BE-71B93C93DE82}" type="slidenum">
              <a:rPr lang="en-US" sz="1400"/>
              <a:pPr eaLnBrk="1" hangingPunct="1"/>
              <a:t>65</a:t>
            </a:fld>
            <a:endParaRPr lang="en-US" sz="1400"/>
          </a:p>
        </p:txBody>
      </p:sp>
      <p:pic>
        <p:nvPicPr>
          <p:cNvPr id="1003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429000"/>
            <a:ext cx="8027988" cy="2724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2874964" y="304800"/>
            <a:ext cx="7793037" cy="692150"/>
          </a:xfrm>
        </p:spPr>
        <p:txBody>
          <a:bodyPr>
            <a:normAutofit fontScale="90000"/>
          </a:bodyPr>
          <a:lstStyle/>
          <a:p>
            <a:pPr eaLnBrk="1" hangingPunct="1"/>
            <a:r>
              <a:rPr lang="es-PR">
                <a:latin typeface="Tahoma" charset="0"/>
                <a:ea typeface="ＭＳ Ｐゴシック" charset="0"/>
                <a:cs typeface="ＭＳ Ｐゴシック" charset="0"/>
              </a:rPr>
              <a:t>Asignación Segmentada de Memoria (cont.)</a:t>
            </a:r>
          </a:p>
        </p:txBody>
      </p:sp>
      <p:sp>
        <p:nvSpPr>
          <p:cNvPr id="102403" name="Rectangle 3"/>
          <p:cNvSpPr>
            <a:spLocks noGrp="1" noChangeArrowheads="1"/>
          </p:cNvSpPr>
          <p:nvPr>
            <p:ph idx="1"/>
          </p:nvPr>
        </p:nvSpPr>
        <p:spPr>
          <a:xfrm>
            <a:off x="2894013" y="1827214"/>
            <a:ext cx="7313612" cy="4649787"/>
          </a:xfrm>
        </p:spPr>
        <p:txBody>
          <a:bodyPr/>
          <a:lstStyle/>
          <a:p>
            <a:pPr eaLnBrk="1" hangingPunct="1"/>
            <a:r>
              <a:rPr lang="es-PR" sz="2500">
                <a:latin typeface="Tahoma" charset="0"/>
                <a:ea typeface="ＭＳ Ｐゴシック" charset="0"/>
                <a:cs typeface="ＭＳ Ｐゴシック" charset="0"/>
              </a:rPr>
              <a:t>Cuando se usa la segmentación, la memoria principal ya no se divide en marcos de página sino que se asigna dinámicamente.</a:t>
            </a:r>
          </a:p>
          <a:p>
            <a:pPr eaLnBrk="1" hangingPunct="1"/>
            <a:r>
              <a:rPr lang="es-PR" sz="2500">
                <a:latin typeface="Tahoma" charset="0"/>
                <a:ea typeface="ＭＳ Ｐゴシック" charset="0"/>
                <a:cs typeface="ＭＳ Ｐゴシック" charset="0"/>
              </a:rPr>
              <a:t>En este esquema, como en paginación, el s.o. mantiene tres tablas:</a:t>
            </a:r>
          </a:p>
          <a:p>
            <a:pPr lvl="1" eaLnBrk="1" hangingPunct="1"/>
            <a:r>
              <a:rPr lang="es-PR" sz="2100">
                <a:latin typeface="Tahoma" charset="0"/>
                <a:ea typeface="ＭＳ Ｐゴシック" charset="0"/>
              </a:rPr>
              <a:t>Tabla de Trabajos (</a:t>
            </a:r>
            <a:r>
              <a:rPr lang="es-PR" sz="2100" i="1">
                <a:latin typeface="Tahoma" charset="0"/>
                <a:ea typeface="ＭＳ Ｐゴシック" charset="0"/>
              </a:rPr>
              <a:t>Job Table</a:t>
            </a:r>
            <a:r>
              <a:rPr lang="es-PR" sz="2100">
                <a:latin typeface="Tahoma" charset="0"/>
                <a:ea typeface="ＭＳ Ｐゴシック" charset="0"/>
              </a:rPr>
              <a:t> o JT)</a:t>
            </a:r>
          </a:p>
          <a:p>
            <a:pPr lvl="1" eaLnBrk="1" hangingPunct="1"/>
            <a:r>
              <a:rPr lang="es-PR" sz="2100">
                <a:latin typeface="Tahoma" charset="0"/>
                <a:ea typeface="ＭＳ Ｐゴシック" charset="0"/>
              </a:rPr>
              <a:t>Tabla de Correspondencia de Segmentos (</a:t>
            </a:r>
            <a:r>
              <a:rPr lang="es-PR" sz="2100" i="1">
                <a:latin typeface="Tahoma" charset="0"/>
                <a:ea typeface="ＭＳ Ｐゴシック" charset="0"/>
              </a:rPr>
              <a:t>Segment Map Table</a:t>
            </a:r>
            <a:r>
              <a:rPr lang="es-PR" sz="2100">
                <a:latin typeface="Tahoma" charset="0"/>
                <a:ea typeface="ＭＳ Ｐゴシック" charset="0"/>
              </a:rPr>
              <a:t> o SMT)</a:t>
            </a:r>
          </a:p>
          <a:p>
            <a:pPr lvl="1" eaLnBrk="1" hangingPunct="1"/>
            <a:r>
              <a:rPr lang="es-PR" sz="2100">
                <a:latin typeface="Tahoma" charset="0"/>
                <a:ea typeface="ＭＳ Ｐゴシック" charset="0"/>
              </a:rPr>
              <a:t>Tabla de Correspondencia de Memoria (</a:t>
            </a:r>
            <a:r>
              <a:rPr lang="es-PR" sz="2100" i="1">
                <a:latin typeface="Tahoma" charset="0"/>
                <a:ea typeface="ＭＳ Ｐゴシック" charset="0"/>
              </a:rPr>
              <a:t>Memory Map Table</a:t>
            </a:r>
            <a:r>
              <a:rPr lang="es-PR" sz="2100">
                <a:latin typeface="Tahoma" charset="0"/>
                <a:ea typeface="ＭＳ Ｐゴシック" charset="0"/>
              </a:rPr>
              <a:t> o MMT)</a:t>
            </a:r>
          </a:p>
        </p:txBody>
      </p:sp>
      <p:sp>
        <p:nvSpPr>
          <p:cNvPr id="10240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29F5400-F8B1-3E40-B92D-F14B2318569B}" type="slidenum">
              <a:rPr lang="en-US" sz="1400"/>
              <a:pPr eaLnBrk="1" hangingPunct="1"/>
              <a:t>66</a:t>
            </a:fld>
            <a:endParaRPr lang="en-US" sz="1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2874964" y="152400"/>
            <a:ext cx="7793037" cy="692150"/>
          </a:xfrm>
        </p:spPr>
        <p:txBody>
          <a:bodyPr>
            <a:normAutofit fontScale="90000"/>
          </a:bodyPr>
          <a:lstStyle/>
          <a:p>
            <a:pPr eaLnBrk="1" hangingPunct="1"/>
            <a:r>
              <a:rPr lang="es-PR">
                <a:latin typeface="Tahoma" charset="0"/>
                <a:ea typeface="ＭＳ Ｐゴシック" charset="0"/>
                <a:cs typeface="ＭＳ Ｐゴシック" charset="0"/>
              </a:rPr>
              <a:t>Asignación Segmentada de Memoria (cont.)</a:t>
            </a:r>
          </a:p>
        </p:txBody>
      </p:sp>
      <p:sp>
        <p:nvSpPr>
          <p:cNvPr id="104451" name="Rectangle 3"/>
          <p:cNvSpPr>
            <a:spLocks noGrp="1" noChangeArrowheads="1"/>
          </p:cNvSpPr>
          <p:nvPr>
            <p:ph idx="1"/>
          </p:nvPr>
        </p:nvSpPr>
        <p:spPr/>
        <p:txBody>
          <a:bodyPr>
            <a:normAutofit lnSpcReduction="10000"/>
          </a:bodyPr>
          <a:lstStyle/>
          <a:p>
            <a:pPr eaLnBrk="1" hangingPunct="1">
              <a:lnSpc>
                <a:spcPct val="90000"/>
              </a:lnSpc>
            </a:pPr>
            <a:r>
              <a:rPr lang="es-PR" sz="2500">
                <a:latin typeface="Tahoma" charset="0"/>
                <a:ea typeface="ＭＳ Ｐゴシック" charset="0"/>
                <a:cs typeface="ＭＳ Ｐゴシック" charset="0"/>
              </a:rPr>
              <a:t>La </a:t>
            </a:r>
            <a:r>
              <a:rPr lang="es-PR" sz="2500" b="1">
                <a:latin typeface="Tahoma" charset="0"/>
                <a:ea typeface="ＭＳ Ｐゴシック" charset="0"/>
                <a:cs typeface="ＭＳ Ｐゴシック" charset="0"/>
              </a:rPr>
              <a:t>tabla de correspondencia de segmentos</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Segment Map Table</a:t>
            </a:r>
            <a:r>
              <a:rPr lang="es-PR" sz="2500">
                <a:latin typeface="Tahoma" charset="0"/>
                <a:ea typeface="ＭＳ Ｐゴシック" charset="0"/>
                <a:cs typeface="ＭＳ Ｐゴシック" charset="0"/>
              </a:rPr>
              <a:t> o SMT) es creada para cada programa.</a:t>
            </a:r>
          </a:p>
          <a:p>
            <a:pPr eaLnBrk="1" hangingPunct="1">
              <a:lnSpc>
                <a:spcPct val="90000"/>
              </a:lnSpc>
            </a:pPr>
            <a:r>
              <a:rPr lang="es-PR" sz="2500">
                <a:latin typeface="Tahoma" charset="0"/>
                <a:ea typeface="ＭＳ Ｐゴシック" charset="0"/>
                <a:cs typeface="ＭＳ Ｐゴシック" charset="0"/>
              </a:rPr>
              <a:t>El SMT contiene:</a:t>
            </a:r>
          </a:p>
          <a:p>
            <a:pPr lvl="1" eaLnBrk="1" hangingPunct="1">
              <a:lnSpc>
                <a:spcPct val="90000"/>
              </a:lnSpc>
            </a:pPr>
            <a:r>
              <a:rPr lang="es-PR" sz="2100">
                <a:latin typeface="Tahoma" charset="0"/>
                <a:ea typeface="ＭＳ Ｐゴシック" charset="0"/>
              </a:rPr>
              <a:t>El número de cada segmento</a:t>
            </a:r>
          </a:p>
          <a:p>
            <a:pPr lvl="1" eaLnBrk="1" hangingPunct="1">
              <a:lnSpc>
                <a:spcPct val="90000"/>
              </a:lnSpc>
            </a:pPr>
            <a:r>
              <a:rPr lang="es-PR" sz="2100">
                <a:latin typeface="Tahoma" charset="0"/>
                <a:ea typeface="ＭＳ Ｐゴシック" charset="0"/>
              </a:rPr>
              <a:t>Su tamaño</a:t>
            </a:r>
          </a:p>
          <a:p>
            <a:pPr lvl="1" eaLnBrk="1" hangingPunct="1">
              <a:lnSpc>
                <a:spcPct val="90000"/>
              </a:lnSpc>
            </a:pPr>
            <a:r>
              <a:rPr lang="es-PR" sz="2100">
                <a:latin typeface="Tahoma" charset="0"/>
                <a:ea typeface="ＭＳ Ｐゴシック" charset="0"/>
              </a:rPr>
              <a:t>Bits de estatus (presencia en memoria), referencia y modificación</a:t>
            </a:r>
          </a:p>
          <a:p>
            <a:pPr lvl="1" eaLnBrk="1" hangingPunct="1">
              <a:lnSpc>
                <a:spcPct val="90000"/>
              </a:lnSpc>
            </a:pPr>
            <a:r>
              <a:rPr lang="es-PR" sz="2100">
                <a:latin typeface="Tahoma" charset="0"/>
                <a:ea typeface="ＭＳ Ｐゴシック" charset="0"/>
              </a:rPr>
              <a:t>Derechos de acceso (lectura, escritura, ejecución)</a:t>
            </a:r>
          </a:p>
          <a:p>
            <a:pPr lvl="1" eaLnBrk="1" hangingPunct="1">
              <a:lnSpc>
                <a:spcPct val="90000"/>
              </a:lnSpc>
            </a:pPr>
            <a:r>
              <a:rPr lang="es-PR" sz="2100">
                <a:latin typeface="Tahoma" charset="0"/>
                <a:ea typeface="ＭＳ Ｐゴシック" charset="0"/>
              </a:rPr>
              <a:t>Localización en memoria</a:t>
            </a:r>
          </a:p>
        </p:txBody>
      </p:sp>
      <p:sp>
        <p:nvSpPr>
          <p:cNvPr id="10445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B162F475-C469-0A42-817B-F9CC5377CE92}" type="slidenum">
              <a:rPr lang="en-US" sz="1400"/>
              <a:pPr eaLnBrk="1" hangingPunct="1"/>
              <a:t>67</a:t>
            </a:fld>
            <a:endParaRPr lang="en-US" sz="1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2874964" y="304800"/>
            <a:ext cx="7793037" cy="692150"/>
          </a:xfrm>
        </p:spPr>
        <p:txBody>
          <a:bodyPr>
            <a:normAutofit fontScale="90000"/>
          </a:bodyPr>
          <a:lstStyle/>
          <a:p>
            <a:pPr eaLnBrk="1" hangingPunct="1"/>
            <a:r>
              <a:rPr lang="es-PR">
                <a:latin typeface="Tahoma" charset="0"/>
                <a:ea typeface="ＭＳ Ｐゴシック" charset="0"/>
                <a:cs typeface="ＭＳ Ｐゴシック" charset="0"/>
              </a:rPr>
              <a:t>Asignación Segmentada de Memoria (cont.)</a:t>
            </a:r>
          </a:p>
        </p:txBody>
      </p:sp>
      <p:sp>
        <p:nvSpPr>
          <p:cNvPr id="106499"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86BF97CD-AA7E-6243-A12A-FD8D81881A33}" type="slidenum">
              <a:rPr lang="en-US" sz="1400"/>
              <a:pPr eaLnBrk="1" hangingPunct="1"/>
              <a:t>68</a:t>
            </a:fld>
            <a:endParaRPr lang="en-US" sz="1400"/>
          </a:p>
        </p:txBody>
      </p:sp>
      <p:pic>
        <p:nvPicPr>
          <p:cNvPr id="106500"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667000" y="1752600"/>
            <a:ext cx="7443788" cy="4876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2874964" y="152400"/>
            <a:ext cx="7793037" cy="692150"/>
          </a:xfrm>
        </p:spPr>
        <p:txBody>
          <a:bodyPr>
            <a:normAutofit fontScale="90000"/>
          </a:bodyPr>
          <a:lstStyle/>
          <a:p>
            <a:pPr eaLnBrk="1" hangingPunct="1"/>
            <a:r>
              <a:rPr lang="es-PR">
                <a:latin typeface="Tahoma" charset="0"/>
                <a:ea typeface="ＭＳ Ｐゴシック" charset="0"/>
                <a:cs typeface="ＭＳ Ｐゴシック" charset="0"/>
              </a:rPr>
              <a:t>Asignación Segmentada de Memoria (cont.)</a:t>
            </a:r>
          </a:p>
        </p:txBody>
      </p:sp>
      <p:sp>
        <p:nvSpPr>
          <p:cNvPr id="108547" name="Rectangle 3"/>
          <p:cNvSpPr>
            <a:spLocks noGrp="1" noChangeArrowheads="1"/>
          </p:cNvSpPr>
          <p:nvPr>
            <p:ph idx="1"/>
          </p:nvPr>
        </p:nvSpPr>
        <p:spPr/>
        <p:txBody>
          <a:bodyPr/>
          <a:lstStyle/>
          <a:p>
            <a:pPr eaLnBrk="1" hangingPunct="1"/>
            <a:r>
              <a:rPr lang="es-PR" sz="2500">
                <a:latin typeface="Tahoma" charset="0"/>
                <a:ea typeface="ＭＳ Ｐゴシック" charset="0"/>
                <a:cs typeface="ＭＳ Ｐゴシック" charset="0"/>
              </a:rPr>
              <a:t>El esquema de segmentación permite que los segmentos no estén colocados de forma continua en memoria principal y que sólo se carguen a medida de que se necesitan (de acuerdo a la demanda).</a:t>
            </a:r>
          </a:p>
          <a:p>
            <a:pPr eaLnBrk="1" hangingPunct="1"/>
            <a:r>
              <a:rPr lang="es-PR" sz="2500">
                <a:latin typeface="Tahoma" charset="0"/>
                <a:ea typeface="ＭＳ Ｐゴシック" charset="0"/>
                <a:cs typeface="ＭＳ Ｐゴシック" charset="0"/>
              </a:rPr>
              <a:t>Para encontrar la localización real en memoria de una línea de código se lleva a cabo un proceso similar al que se llevaba a cabo en la paginación.</a:t>
            </a:r>
          </a:p>
        </p:txBody>
      </p:sp>
      <p:sp>
        <p:nvSpPr>
          <p:cNvPr id="10854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DD8D0F12-191C-C443-8977-F6DEC8F6F712}" type="slidenum">
              <a:rPr lang="en-US" sz="1400"/>
              <a:pPr eaLnBrk="1" hangingPunct="1"/>
              <a:t>69</a:t>
            </a:fld>
            <a:endParaRPr lang="en-US" sz="14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Segmentada de Memoria (cont.)</a:t>
            </a:r>
          </a:p>
        </p:txBody>
      </p:sp>
      <p:sp>
        <p:nvSpPr>
          <p:cNvPr id="110595" name="Rectangle 3"/>
          <p:cNvSpPr>
            <a:spLocks noGrp="1" noChangeArrowheads="1"/>
          </p:cNvSpPr>
          <p:nvPr>
            <p:ph idx="1"/>
          </p:nvPr>
        </p:nvSpPr>
        <p:spPr>
          <a:xfrm>
            <a:off x="2894013" y="1827214"/>
            <a:ext cx="7313612" cy="4725987"/>
          </a:xfrm>
        </p:spPr>
        <p:txBody>
          <a:bodyPr/>
          <a:lstStyle/>
          <a:p>
            <a:pPr eaLnBrk="1" hangingPunct="1"/>
            <a:r>
              <a:rPr lang="es-PR">
                <a:latin typeface="Tahoma" charset="0"/>
                <a:ea typeface="ＭＳ Ｐゴシック" charset="0"/>
                <a:cs typeface="ＭＳ Ｐゴシック" charset="0"/>
              </a:rPr>
              <a:t>Para calcular la </a:t>
            </a:r>
            <a:r>
              <a:rPr lang="es-PR" b="1" i="1">
                <a:latin typeface="Tahoma" charset="0"/>
                <a:ea typeface="ＭＳ Ｐゴシック" charset="0"/>
                <a:cs typeface="ＭＳ Ｐゴシック" charset="0"/>
              </a:rPr>
              <a:t>localización absoluta</a:t>
            </a:r>
            <a:r>
              <a:rPr lang="es-PR">
                <a:latin typeface="Tahoma" charset="0"/>
                <a:ea typeface="ＭＳ Ｐゴシック" charset="0"/>
                <a:cs typeface="ＭＳ Ｐゴシック" charset="0"/>
              </a:rPr>
              <a:t> de la línea en memoria:</a:t>
            </a:r>
          </a:p>
          <a:p>
            <a:pPr lvl="1" eaLnBrk="1" hangingPunct="1"/>
            <a:r>
              <a:rPr lang="es-PR">
                <a:latin typeface="Tahoma" charset="0"/>
                <a:ea typeface="ＭＳ Ｐゴシック" charset="0"/>
              </a:rPr>
              <a:t>Hay que buscar en el SMT del programa dónde comienza el segmento que contiene la línea.</a:t>
            </a:r>
          </a:p>
          <a:p>
            <a:pPr lvl="1" eaLnBrk="1" hangingPunct="1"/>
            <a:r>
              <a:rPr lang="es-PR">
                <a:latin typeface="Tahoma" charset="0"/>
                <a:ea typeface="ＭＳ Ｐゴシック" charset="0"/>
              </a:rPr>
              <a:t>Hay que obtener la dirección de la línea dentro del segmento de acuerdo a su desplazamiento:</a:t>
            </a:r>
          </a:p>
          <a:p>
            <a:pPr lvl="1" eaLnBrk="1" hangingPunct="1">
              <a:buFont typeface="Wingdings" charset="0"/>
              <a:buNone/>
            </a:pPr>
            <a:r>
              <a:rPr lang="es-PR" sz="2000">
                <a:latin typeface="Tahoma" charset="0"/>
                <a:ea typeface="ＭＳ Ｐゴシック" charset="0"/>
              </a:rPr>
              <a:t>addressOfInstruction = beginLocationOfSegment + displacement</a:t>
            </a:r>
          </a:p>
        </p:txBody>
      </p:sp>
      <p:sp>
        <p:nvSpPr>
          <p:cNvPr id="11059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E9B111D-6BC4-6448-B85F-FBEA38FA2131}" type="slidenum">
              <a:rPr lang="en-US" sz="1400"/>
              <a:pPr eaLnBrk="1" hangingPunct="1"/>
              <a:t>70</a:t>
            </a:fld>
            <a:endParaRPr lang="en-US" sz="14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86 Grupo"/>
          <p:cNvGrpSpPr/>
          <p:nvPr/>
        </p:nvGrpSpPr>
        <p:grpSpPr>
          <a:xfrm>
            <a:off x="6370983" y="1000109"/>
            <a:ext cx="3906583" cy="3777477"/>
            <a:chOff x="4846982" y="2071678"/>
            <a:chExt cx="3906583" cy="3777477"/>
          </a:xfrm>
        </p:grpSpPr>
        <p:sp>
          <p:nvSpPr>
            <p:cNvPr id="33" name="32 Rectángulo"/>
            <p:cNvSpPr/>
            <p:nvPr/>
          </p:nvSpPr>
          <p:spPr>
            <a:xfrm>
              <a:off x="5885233"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2" name="1 Rectángulo"/>
            <p:cNvSpPr/>
            <p:nvPr/>
          </p:nvSpPr>
          <p:spPr>
            <a:xfrm>
              <a:off x="5926551"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3" name="2 Rectángulo"/>
            <p:cNvSpPr/>
            <p:nvPr/>
          </p:nvSpPr>
          <p:spPr>
            <a:xfrm>
              <a:off x="6104693"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4" name="3 Rectángulo"/>
            <p:cNvSpPr/>
            <p:nvPr/>
          </p:nvSpPr>
          <p:spPr>
            <a:xfrm>
              <a:off x="4852694"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5" name="4 Rectángulo"/>
            <p:cNvSpPr/>
            <p:nvPr/>
          </p:nvSpPr>
          <p:spPr>
            <a:xfrm>
              <a:off x="5029324"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6" name="5 Rectángulo"/>
            <p:cNvSpPr/>
            <p:nvPr/>
          </p:nvSpPr>
          <p:spPr>
            <a:xfrm>
              <a:off x="5208289"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7" name="6 Rectángulo"/>
            <p:cNvSpPr/>
            <p:nvPr/>
          </p:nvSpPr>
          <p:spPr>
            <a:xfrm>
              <a:off x="5385716"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8" name="7 Rectángulo"/>
            <p:cNvSpPr/>
            <p:nvPr/>
          </p:nvSpPr>
          <p:spPr>
            <a:xfrm>
              <a:off x="5747581"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9" name="8 Rectángulo"/>
            <p:cNvSpPr/>
            <p:nvPr/>
          </p:nvSpPr>
          <p:spPr>
            <a:xfrm>
              <a:off x="5563587"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0" name="9 Rectángulo"/>
            <p:cNvSpPr/>
            <p:nvPr/>
          </p:nvSpPr>
          <p:spPr>
            <a:xfrm>
              <a:off x="6283663"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1" name="10 Rectángulo"/>
            <p:cNvSpPr/>
            <p:nvPr/>
          </p:nvSpPr>
          <p:spPr>
            <a:xfrm>
              <a:off x="6462633"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2" name="11 Rectángulo"/>
            <p:cNvSpPr/>
            <p:nvPr/>
          </p:nvSpPr>
          <p:spPr>
            <a:xfrm>
              <a:off x="6645798"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3" name="12 Rectángulo"/>
            <p:cNvSpPr/>
            <p:nvPr/>
          </p:nvSpPr>
          <p:spPr>
            <a:xfrm>
              <a:off x="6824768"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14" name="13 Rectángulo"/>
            <p:cNvSpPr/>
            <p:nvPr/>
          </p:nvSpPr>
          <p:spPr>
            <a:xfrm>
              <a:off x="7182708"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5" name="14 Rectángulo"/>
            <p:cNvSpPr/>
            <p:nvPr/>
          </p:nvSpPr>
          <p:spPr>
            <a:xfrm>
              <a:off x="7003738"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6" name="15 Rectángulo"/>
            <p:cNvSpPr/>
            <p:nvPr/>
          </p:nvSpPr>
          <p:spPr>
            <a:xfrm>
              <a:off x="7361678"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7" name="16 Rectángulo"/>
            <p:cNvSpPr/>
            <p:nvPr/>
          </p:nvSpPr>
          <p:spPr>
            <a:xfrm>
              <a:off x="7540648" y="3224212"/>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18" name="17 Cerrar llave"/>
            <p:cNvSpPr/>
            <p:nvPr/>
          </p:nvSpPr>
          <p:spPr>
            <a:xfrm rot="5400000" flipH="1">
              <a:off x="6176503" y="972989"/>
              <a:ext cx="214315" cy="2873357"/>
            </a:xfrm>
            <a:prstGeom prst="rightBrace">
              <a:avLst>
                <a:gd name="adj1" fmla="val 8333"/>
                <a:gd name="adj2" fmla="val 51208"/>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19" name="18 CuadroTexto"/>
            <p:cNvSpPr txBox="1"/>
            <p:nvPr/>
          </p:nvSpPr>
          <p:spPr>
            <a:xfrm>
              <a:off x="5388667" y="2071678"/>
              <a:ext cx="1640193" cy="230832"/>
            </a:xfrm>
            <a:prstGeom prst="rect">
              <a:avLst/>
            </a:prstGeom>
            <a:noFill/>
          </p:spPr>
          <p:txBody>
            <a:bodyPr wrap="none" rtlCol="0">
              <a:spAutoFit/>
            </a:bodyPr>
            <a:lstStyle/>
            <a:p>
              <a:r>
                <a:rPr lang="es-MX" sz="900" b="1" dirty="0"/>
                <a:t>Dirección lógica de 16 bits</a:t>
              </a:r>
            </a:p>
          </p:txBody>
        </p:sp>
        <p:sp>
          <p:nvSpPr>
            <p:cNvPr id="20" name="19 CuadroTexto"/>
            <p:cNvSpPr txBox="1"/>
            <p:nvPr/>
          </p:nvSpPr>
          <p:spPr>
            <a:xfrm>
              <a:off x="4857752" y="2428868"/>
              <a:ext cx="665085" cy="507831"/>
            </a:xfrm>
            <a:prstGeom prst="rect">
              <a:avLst/>
            </a:prstGeom>
            <a:noFill/>
          </p:spPr>
          <p:txBody>
            <a:bodyPr wrap="square" rtlCol="0">
              <a:spAutoFit/>
            </a:bodyPr>
            <a:lstStyle/>
            <a:p>
              <a:pPr algn="ctr"/>
              <a:r>
                <a:rPr lang="es-MX" sz="900" b="1" dirty="0"/>
                <a:t>No. de página de 4 bits</a:t>
              </a:r>
            </a:p>
          </p:txBody>
        </p:sp>
        <p:sp>
          <p:nvSpPr>
            <p:cNvPr id="21" name="20 Abrir llave"/>
            <p:cNvSpPr/>
            <p:nvPr/>
          </p:nvSpPr>
          <p:spPr>
            <a:xfrm rot="5400000">
              <a:off x="5093698" y="2715540"/>
              <a:ext cx="234894" cy="696368"/>
            </a:xfrm>
            <a:prstGeom prst="leftBrace">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22" name="21 Abrir llave"/>
            <p:cNvSpPr/>
            <p:nvPr/>
          </p:nvSpPr>
          <p:spPr>
            <a:xfrm rot="5400000">
              <a:off x="6526380" y="1986527"/>
              <a:ext cx="231851" cy="2157438"/>
            </a:xfrm>
            <a:prstGeom prst="leftBrace">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23" name="22 CuadroTexto"/>
            <p:cNvSpPr txBox="1"/>
            <p:nvPr/>
          </p:nvSpPr>
          <p:spPr>
            <a:xfrm>
              <a:off x="5786446" y="2642605"/>
              <a:ext cx="1653318" cy="230832"/>
            </a:xfrm>
            <a:prstGeom prst="rect">
              <a:avLst/>
            </a:prstGeom>
            <a:noFill/>
          </p:spPr>
          <p:txBody>
            <a:bodyPr wrap="square" rtlCol="0">
              <a:spAutoFit/>
            </a:bodyPr>
            <a:lstStyle/>
            <a:p>
              <a:r>
                <a:rPr lang="es-MX" sz="900" b="1" dirty="0"/>
                <a:t>Desplazamiento de 12 bits</a:t>
              </a:r>
            </a:p>
          </p:txBody>
        </p:sp>
        <p:sp>
          <p:nvSpPr>
            <p:cNvPr id="24" name="23 Rectángulo"/>
            <p:cNvSpPr/>
            <p:nvPr/>
          </p:nvSpPr>
          <p:spPr>
            <a:xfrm>
              <a:off x="5181922" y="4167761"/>
              <a:ext cx="1127461" cy="2616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001011101110</a:t>
              </a:r>
              <a:endParaRPr lang="es-MX" dirty="0"/>
            </a:p>
          </p:txBody>
        </p:sp>
        <p:sp>
          <p:nvSpPr>
            <p:cNvPr id="25" name="24 Rectángulo"/>
            <p:cNvSpPr/>
            <p:nvPr/>
          </p:nvSpPr>
          <p:spPr>
            <a:xfrm>
              <a:off x="5182245" y="4429370"/>
              <a:ext cx="1126800" cy="2616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011110011110</a:t>
              </a:r>
              <a:endParaRPr lang="es-MX" dirty="0"/>
            </a:p>
          </p:txBody>
        </p:sp>
        <p:sp>
          <p:nvSpPr>
            <p:cNvPr id="27" name="26 Rectángulo"/>
            <p:cNvSpPr/>
            <p:nvPr/>
          </p:nvSpPr>
          <p:spPr>
            <a:xfrm>
              <a:off x="4929190" y="4167761"/>
              <a:ext cx="216000" cy="26161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a:t>
              </a:r>
            </a:p>
          </p:txBody>
        </p:sp>
        <p:sp>
          <p:nvSpPr>
            <p:cNvPr id="28" name="27 Rectángulo"/>
            <p:cNvSpPr/>
            <p:nvPr/>
          </p:nvSpPr>
          <p:spPr>
            <a:xfrm>
              <a:off x="4929190" y="4429607"/>
              <a:ext cx="216000" cy="26161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1</a:t>
              </a:r>
            </a:p>
          </p:txBody>
        </p:sp>
        <p:sp>
          <p:nvSpPr>
            <p:cNvPr id="30" name="29 Rectángulo"/>
            <p:cNvSpPr/>
            <p:nvPr/>
          </p:nvSpPr>
          <p:spPr>
            <a:xfrm>
              <a:off x="5885233"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31" name="30 Rectángulo"/>
            <p:cNvSpPr/>
            <p:nvPr/>
          </p:nvSpPr>
          <p:spPr>
            <a:xfrm>
              <a:off x="6959090"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32" name="31 Rectángulo"/>
            <p:cNvSpPr/>
            <p:nvPr/>
          </p:nvSpPr>
          <p:spPr>
            <a:xfrm>
              <a:off x="7137232"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34" name="33 Rectángulo"/>
            <p:cNvSpPr/>
            <p:nvPr/>
          </p:nvSpPr>
          <p:spPr>
            <a:xfrm>
              <a:off x="6061863"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35" name="34 Rectángulo"/>
            <p:cNvSpPr/>
            <p:nvPr/>
          </p:nvSpPr>
          <p:spPr>
            <a:xfrm>
              <a:off x="6240828"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36" name="35 Rectángulo"/>
            <p:cNvSpPr/>
            <p:nvPr/>
          </p:nvSpPr>
          <p:spPr>
            <a:xfrm>
              <a:off x="6418255"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37" name="36 Rectángulo"/>
            <p:cNvSpPr/>
            <p:nvPr/>
          </p:nvSpPr>
          <p:spPr>
            <a:xfrm>
              <a:off x="6780120"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38" name="37 Rectángulo"/>
            <p:cNvSpPr/>
            <p:nvPr/>
          </p:nvSpPr>
          <p:spPr>
            <a:xfrm>
              <a:off x="6596126"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39" name="38 Rectángulo"/>
            <p:cNvSpPr/>
            <p:nvPr/>
          </p:nvSpPr>
          <p:spPr>
            <a:xfrm>
              <a:off x="7316202"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40" name="39 Rectángulo"/>
            <p:cNvSpPr/>
            <p:nvPr/>
          </p:nvSpPr>
          <p:spPr>
            <a:xfrm>
              <a:off x="7495172"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41" name="40 Rectángulo"/>
            <p:cNvSpPr/>
            <p:nvPr/>
          </p:nvSpPr>
          <p:spPr>
            <a:xfrm>
              <a:off x="767833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42" name="41 Rectángulo"/>
            <p:cNvSpPr/>
            <p:nvPr/>
          </p:nvSpPr>
          <p:spPr>
            <a:xfrm>
              <a:off x="785730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1</a:t>
              </a:r>
            </a:p>
          </p:txBody>
        </p:sp>
        <p:sp>
          <p:nvSpPr>
            <p:cNvPr id="43" name="42 Rectángulo"/>
            <p:cNvSpPr/>
            <p:nvPr/>
          </p:nvSpPr>
          <p:spPr>
            <a:xfrm>
              <a:off x="821524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44" name="43 Rectángulo"/>
            <p:cNvSpPr/>
            <p:nvPr/>
          </p:nvSpPr>
          <p:spPr>
            <a:xfrm>
              <a:off x="803627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45" name="44 Rectángulo"/>
            <p:cNvSpPr/>
            <p:nvPr/>
          </p:nvSpPr>
          <p:spPr>
            <a:xfrm>
              <a:off x="839421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46" name="45 Rectángulo"/>
            <p:cNvSpPr/>
            <p:nvPr/>
          </p:nvSpPr>
          <p:spPr>
            <a:xfrm>
              <a:off x="8573187" y="5491965"/>
              <a:ext cx="180378" cy="35719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MX" sz="1050" dirty="0"/>
                <a:t>0</a:t>
              </a:r>
            </a:p>
          </p:txBody>
        </p:sp>
        <p:sp>
          <p:nvSpPr>
            <p:cNvPr id="50" name="49 Abrir llave"/>
            <p:cNvSpPr/>
            <p:nvPr/>
          </p:nvSpPr>
          <p:spPr>
            <a:xfrm rot="5400000">
              <a:off x="7231932" y="3917061"/>
              <a:ext cx="162954" cy="2856352"/>
            </a:xfrm>
            <a:prstGeom prst="leftBrace">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sp>
          <p:nvSpPr>
            <p:cNvPr id="54" name="53 Rectángulo"/>
            <p:cNvSpPr/>
            <p:nvPr/>
          </p:nvSpPr>
          <p:spPr>
            <a:xfrm>
              <a:off x="6307288" y="4167761"/>
              <a:ext cx="1392575" cy="261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0000010000000000</a:t>
              </a:r>
              <a:endParaRPr lang="es-MX" dirty="0"/>
            </a:p>
          </p:txBody>
        </p:sp>
        <p:sp>
          <p:nvSpPr>
            <p:cNvPr id="55" name="54 Rectángulo"/>
            <p:cNvSpPr/>
            <p:nvPr/>
          </p:nvSpPr>
          <p:spPr>
            <a:xfrm>
              <a:off x="6307612" y="4429370"/>
              <a:ext cx="1392251" cy="2618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sz="1100" dirty="0">
                  <a:solidFill>
                    <a:prstClr val="black"/>
                  </a:solidFill>
                </a:rPr>
                <a:t>0010000000100000</a:t>
              </a:r>
              <a:endParaRPr lang="es-MX" dirty="0"/>
            </a:p>
          </p:txBody>
        </p:sp>
        <p:sp>
          <p:nvSpPr>
            <p:cNvPr id="57" name="56 Cerrar llave"/>
            <p:cNvSpPr/>
            <p:nvPr/>
          </p:nvSpPr>
          <p:spPr>
            <a:xfrm rot="5400000">
              <a:off x="5103922" y="3395458"/>
              <a:ext cx="216002" cy="708341"/>
            </a:xfrm>
            <a:prstGeom prst="rightBrace">
              <a:avLst>
                <a:gd name="adj1" fmla="val 8333"/>
                <a:gd name="adj2" fmla="val 51208"/>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cxnSp>
          <p:nvCxnSpPr>
            <p:cNvPr id="59" name="58 Forma"/>
            <p:cNvCxnSpPr>
              <a:stCxn id="57" idx="1"/>
              <a:endCxn id="28" idx="1"/>
            </p:cNvCxnSpPr>
            <p:nvPr/>
          </p:nvCxnSpPr>
          <p:spPr>
            <a:xfrm rot="16200000" flipH="1" flipV="1">
              <a:off x="4714888" y="4071932"/>
              <a:ext cx="702782" cy="274177"/>
            </a:xfrm>
            <a:prstGeom prst="bentConnector4">
              <a:avLst>
                <a:gd name="adj1" fmla="val 23982"/>
                <a:gd name="adj2" fmla="val 183377"/>
              </a:avLst>
            </a:prstGeom>
            <a:ln>
              <a:tailEnd type="arrow"/>
            </a:ln>
          </p:spPr>
          <p:style>
            <a:lnRef idx="2">
              <a:schemeClr val="dk1"/>
            </a:lnRef>
            <a:fillRef idx="0">
              <a:schemeClr val="dk1"/>
            </a:fillRef>
            <a:effectRef idx="1">
              <a:schemeClr val="dk1"/>
            </a:effectRef>
            <a:fontRef idx="minor">
              <a:schemeClr val="tx1"/>
            </a:fontRef>
          </p:style>
        </p:cxnSp>
        <p:sp>
          <p:nvSpPr>
            <p:cNvPr id="61" name="60 Elipse"/>
            <p:cNvSpPr/>
            <p:nvPr/>
          </p:nvSpPr>
          <p:spPr>
            <a:xfrm>
              <a:off x="8118470" y="4429133"/>
              <a:ext cx="277155" cy="26184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dirty="0">
                  <a:solidFill>
                    <a:sysClr val="windowText" lastClr="000000"/>
                  </a:solidFill>
                </a:rPr>
                <a:t>+</a:t>
              </a:r>
            </a:p>
          </p:txBody>
        </p:sp>
        <p:sp>
          <p:nvSpPr>
            <p:cNvPr id="62" name="61 Cerrar llave"/>
            <p:cNvSpPr/>
            <p:nvPr/>
          </p:nvSpPr>
          <p:spPr>
            <a:xfrm rot="5400000">
              <a:off x="6540967" y="2677573"/>
              <a:ext cx="216004" cy="2144113"/>
            </a:xfrm>
            <a:prstGeom prst="rightBrace">
              <a:avLst>
                <a:gd name="adj1" fmla="val 8333"/>
                <a:gd name="adj2" fmla="val 51208"/>
              </a:avLst>
            </a:prstGeom>
            <a:ln w="19050"/>
          </p:spPr>
          <p:style>
            <a:lnRef idx="3">
              <a:schemeClr val="dk1"/>
            </a:lnRef>
            <a:fillRef idx="0">
              <a:schemeClr val="dk1"/>
            </a:fillRef>
            <a:effectRef idx="2">
              <a:schemeClr val="dk1"/>
            </a:effectRef>
            <a:fontRef idx="minor">
              <a:schemeClr val="tx1"/>
            </a:fontRef>
          </p:style>
          <p:txBody>
            <a:bodyPr rtlCol="0" anchor="ctr"/>
            <a:lstStyle/>
            <a:p>
              <a:pPr algn="ctr"/>
              <a:endParaRPr lang="es-MX"/>
            </a:p>
          </p:txBody>
        </p:sp>
        <p:cxnSp>
          <p:nvCxnSpPr>
            <p:cNvPr id="64" name="63 Conector angular"/>
            <p:cNvCxnSpPr>
              <a:stCxn id="62" idx="1"/>
              <a:endCxn id="61" idx="0"/>
            </p:cNvCxnSpPr>
            <p:nvPr/>
          </p:nvCxnSpPr>
          <p:spPr>
            <a:xfrm rot="16200000" flipH="1">
              <a:off x="7154307" y="3326393"/>
              <a:ext cx="571501" cy="1633979"/>
            </a:xfrm>
            <a:prstGeom prst="bentConnector3">
              <a:avLst>
                <a:gd name="adj1" fmla="val 23395"/>
              </a:avLst>
            </a:prstGeom>
            <a:ln>
              <a:tailEnd type="arrow"/>
            </a:ln>
          </p:spPr>
          <p:style>
            <a:lnRef idx="2">
              <a:schemeClr val="dk1"/>
            </a:lnRef>
            <a:fillRef idx="0">
              <a:schemeClr val="dk1"/>
            </a:fillRef>
            <a:effectRef idx="1">
              <a:schemeClr val="dk1"/>
            </a:effectRef>
            <a:fontRef idx="minor">
              <a:schemeClr val="tx1"/>
            </a:fontRef>
          </p:style>
        </p:cxnSp>
        <p:cxnSp>
          <p:nvCxnSpPr>
            <p:cNvPr id="67" name="66 Conector angular"/>
            <p:cNvCxnSpPr>
              <a:stCxn id="55" idx="3"/>
              <a:endCxn id="61" idx="2"/>
            </p:cNvCxnSpPr>
            <p:nvPr/>
          </p:nvCxnSpPr>
          <p:spPr>
            <a:xfrm flipV="1">
              <a:off x="7699863" y="4560056"/>
              <a:ext cx="418607" cy="238"/>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73" name="72 Forma"/>
            <p:cNvCxnSpPr>
              <a:stCxn id="61" idx="5"/>
              <a:endCxn id="50" idx="1"/>
            </p:cNvCxnSpPr>
            <p:nvPr/>
          </p:nvCxnSpPr>
          <p:spPr>
            <a:xfrm rot="5400000">
              <a:off x="7528660" y="4437382"/>
              <a:ext cx="611127" cy="1041628"/>
            </a:xfrm>
            <a:prstGeom prst="bentConnector5">
              <a:avLst>
                <a:gd name="adj1" fmla="val 37406"/>
                <a:gd name="adj2" fmla="val 37349"/>
                <a:gd name="adj3" fmla="val 73410"/>
              </a:avLst>
            </a:prstGeom>
            <a:ln>
              <a:tailEnd type="arrow"/>
            </a:ln>
          </p:spPr>
          <p:style>
            <a:lnRef idx="2">
              <a:schemeClr val="dk1"/>
            </a:lnRef>
            <a:fillRef idx="0">
              <a:schemeClr val="dk1"/>
            </a:fillRef>
            <a:effectRef idx="1">
              <a:schemeClr val="dk1"/>
            </a:effectRef>
            <a:fontRef idx="minor">
              <a:schemeClr val="tx1"/>
            </a:fontRef>
          </p:style>
        </p:cxnSp>
        <p:sp>
          <p:nvSpPr>
            <p:cNvPr id="76" name="75 CuadroTexto"/>
            <p:cNvSpPr txBox="1"/>
            <p:nvPr/>
          </p:nvSpPr>
          <p:spPr>
            <a:xfrm>
              <a:off x="5393807" y="4691217"/>
              <a:ext cx="678391" cy="230832"/>
            </a:xfrm>
            <a:prstGeom prst="rect">
              <a:avLst/>
            </a:prstGeom>
            <a:noFill/>
          </p:spPr>
          <p:txBody>
            <a:bodyPr wrap="none" rtlCol="0">
              <a:spAutoFit/>
            </a:bodyPr>
            <a:lstStyle/>
            <a:p>
              <a:r>
                <a:rPr lang="es-MX" sz="900" b="1" dirty="0"/>
                <a:t>Longitud</a:t>
              </a:r>
            </a:p>
          </p:txBody>
        </p:sp>
        <p:sp>
          <p:nvSpPr>
            <p:cNvPr id="77" name="76 CuadroTexto"/>
            <p:cNvSpPr txBox="1"/>
            <p:nvPr/>
          </p:nvSpPr>
          <p:spPr>
            <a:xfrm>
              <a:off x="6775561" y="4698531"/>
              <a:ext cx="429926" cy="230832"/>
            </a:xfrm>
            <a:prstGeom prst="rect">
              <a:avLst/>
            </a:prstGeom>
            <a:noFill/>
          </p:spPr>
          <p:txBody>
            <a:bodyPr wrap="none" rtlCol="0">
              <a:spAutoFit/>
            </a:bodyPr>
            <a:lstStyle/>
            <a:p>
              <a:r>
                <a:rPr lang="es-MX" sz="900" b="1" dirty="0"/>
                <a:t>Base</a:t>
              </a:r>
            </a:p>
          </p:txBody>
        </p:sp>
        <p:sp>
          <p:nvSpPr>
            <p:cNvPr id="78" name="77 CuadroTexto"/>
            <p:cNvSpPr txBox="1"/>
            <p:nvPr/>
          </p:nvSpPr>
          <p:spPr>
            <a:xfrm>
              <a:off x="5557224" y="4868777"/>
              <a:ext cx="1973617" cy="230832"/>
            </a:xfrm>
            <a:prstGeom prst="rect">
              <a:avLst/>
            </a:prstGeom>
            <a:noFill/>
          </p:spPr>
          <p:txBody>
            <a:bodyPr wrap="none" rtlCol="0">
              <a:spAutoFit/>
            </a:bodyPr>
            <a:lstStyle/>
            <a:p>
              <a:r>
                <a:rPr lang="es-MX" sz="900" b="1" dirty="0"/>
                <a:t>Tabla de segmentos del proceso</a:t>
              </a:r>
            </a:p>
          </p:txBody>
        </p:sp>
      </p:grpSp>
      <p:sp>
        <p:nvSpPr>
          <p:cNvPr id="85" name="84 Rectángulo"/>
          <p:cNvSpPr/>
          <p:nvPr/>
        </p:nvSpPr>
        <p:spPr>
          <a:xfrm>
            <a:off x="2361199" y="1500174"/>
            <a:ext cx="3242084" cy="4170372"/>
          </a:xfrm>
          <a:prstGeom prst="rect">
            <a:avLst/>
          </a:prstGeom>
        </p:spPr>
        <p:txBody>
          <a:bodyPr wrap="square">
            <a:spAutoFit/>
          </a:bodyPr>
          <a:lstStyle/>
          <a:p>
            <a:pPr>
              <a:spcBef>
                <a:spcPts val="300"/>
              </a:spcBef>
              <a:spcAft>
                <a:spcPts val="300"/>
              </a:spcAft>
            </a:pPr>
            <a:r>
              <a:rPr lang="es-MX" sz="1200" dirty="0"/>
              <a:t>En forma análoga a la paginación, el proceso de traducción de direcciones en la segmentación, consiste en los siguientes pasos:</a:t>
            </a:r>
          </a:p>
          <a:p>
            <a:pPr marL="228600" indent="-228600">
              <a:spcBef>
                <a:spcPts val="300"/>
              </a:spcBef>
              <a:spcAft>
                <a:spcPts val="300"/>
              </a:spcAft>
              <a:buAutoNum type="arabicPeriod"/>
            </a:pPr>
            <a:r>
              <a:rPr lang="es-MX" sz="1200" dirty="0"/>
              <a:t>Extraer el número de segmentos de los n bits más significativos de la dirección lógica.</a:t>
            </a:r>
          </a:p>
          <a:p>
            <a:pPr marL="228600" indent="-228600">
              <a:spcBef>
                <a:spcPts val="300"/>
              </a:spcBef>
              <a:spcAft>
                <a:spcPts val="300"/>
              </a:spcAft>
              <a:buAutoNum type="arabicPeriod"/>
            </a:pPr>
            <a:r>
              <a:rPr lang="es-MX" sz="1200" dirty="0"/>
              <a:t>Emplear el número de segmentos como índice en la tabla de segmentos del proceso para obtener la dirección física de comienzo del segmento.</a:t>
            </a:r>
          </a:p>
          <a:p>
            <a:pPr marL="228600" indent="-228600">
              <a:spcBef>
                <a:spcPts val="300"/>
              </a:spcBef>
              <a:spcAft>
                <a:spcPts val="300"/>
              </a:spcAft>
              <a:buAutoNum type="arabicPeriod"/>
            </a:pPr>
            <a:r>
              <a:rPr lang="es-MX" sz="1200" dirty="0"/>
              <a:t>Comparar el desplazamiento expresado en los m bits menos significativos de la dirección lógica con la longitud del segmento, si es mayor, la dirección no es válida. </a:t>
            </a:r>
          </a:p>
          <a:p>
            <a:pPr marL="228600" indent="-228600">
              <a:spcBef>
                <a:spcPts val="300"/>
              </a:spcBef>
              <a:spcAft>
                <a:spcPts val="300"/>
              </a:spcAft>
              <a:buAutoNum type="arabicPeriod"/>
            </a:pPr>
            <a:r>
              <a:rPr lang="es-MX" sz="1200" dirty="0"/>
              <a:t>La dirección física buscada es la suma de la dirección física del inicio del segmento más el desplazamiento.</a:t>
            </a:r>
          </a:p>
          <a:p>
            <a:pPr>
              <a:spcBef>
                <a:spcPts val="300"/>
              </a:spcBef>
              <a:spcAft>
                <a:spcPts val="300"/>
              </a:spcAft>
            </a:pPr>
            <a:endParaRPr lang="es-MX" sz="1200" dirty="0"/>
          </a:p>
        </p:txBody>
      </p:sp>
      <p:sp>
        <p:nvSpPr>
          <p:cNvPr id="86" name="85 Rectángulo"/>
          <p:cNvSpPr/>
          <p:nvPr/>
        </p:nvSpPr>
        <p:spPr>
          <a:xfrm>
            <a:off x="5953124" y="5214951"/>
            <a:ext cx="4154860" cy="646331"/>
          </a:xfrm>
          <a:prstGeom prst="rect">
            <a:avLst/>
          </a:prstGeom>
        </p:spPr>
        <p:txBody>
          <a:bodyPr wrap="square">
            <a:spAutoFit/>
          </a:bodyPr>
          <a:lstStyle/>
          <a:p>
            <a:r>
              <a:rPr lang="es-MX" sz="1200" dirty="0"/>
              <a:t>Cuando un proceso se introduce en memoria, se cargan todos sus segmentos en regiones de memoria libres y se crea la tabla de segmentos.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Segmentada de Memoria (cont.)</a:t>
            </a:r>
          </a:p>
        </p:txBody>
      </p:sp>
      <p:sp>
        <p:nvSpPr>
          <p:cNvPr id="112643"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C354F467-1063-A54F-B965-C6FC88E4D218}" type="slidenum">
              <a:rPr lang="en-US" sz="1400"/>
              <a:pPr eaLnBrk="1" hangingPunct="1"/>
              <a:t>72</a:t>
            </a:fld>
            <a:endParaRPr lang="en-US" sz="1400"/>
          </a:p>
        </p:txBody>
      </p:sp>
      <p:pic>
        <p:nvPicPr>
          <p:cNvPr id="112644"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10001" y="1752601"/>
            <a:ext cx="5268913" cy="4702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Asignación Segmentada de Memoria (cont.)</a:t>
            </a:r>
          </a:p>
        </p:txBody>
      </p:sp>
      <p:sp>
        <p:nvSpPr>
          <p:cNvPr id="114691" name="Rectangle 3"/>
          <p:cNvSpPr>
            <a:spLocks noGrp="1" noChangeArrowheads="1"/>
          </p:cNvSpPr>
          <p:nvPr>
            <p:ph idx="1"/>
          </p:nvPr>
        </p:nvSpPr>
        <p:spPr>
          <a:xfrm>
            <a:off x="2894013" y="1827214"/>
            <a:ext cx="7313612" cy="4497387"/>
          </a:xfrm>
        </p:spPr>
        <p:txBody>
          <a:bodyPr/>
          <a:lstStyle/>
          <a:p>
            <a:pPr eaLnBrk="1" hangingPunct="1">
              <a:lnSpc>
                <a:spcPct val="90000"/>
              </a:lnSpc>
            </a:pPr>
            <a:r>
              <a:rPr lang="es-PR">
                <a:latin typeface="Tahoma" charset="0"/>
                <a:ea typeface="ＭＳ Ｐゴシック" charset="0"/>
                <a:cs typeface="ＭＳ Ｐゴシック" charset="0"/>
              </a:rPr>
              <a:t>Un problema que trae la asignación segmentada es que, como la memoria se divide dinámicamente, se forma fragmentación externa y es necesario recompactar la memoria cada cierto tempo.</a:t>
            </a:r>
          </a:p>
          <a:p>
            <a:pPr eaLnBrk="1" hangingPunct="1">
              <a:lnSpc>
                <a:spcPct val="90000"/>
              </a:lnSpc>
            </a:pPr>
            <a:r>
              <a:rPr lang="es-PR">
                <a:latin typeface="Tahoma" charset="0"/>
                <a:ea typeface="ＭＳ Ｐゴシック" charset="0"/>
                <a:cs typeface="ＭＳ Ｐゴシック" charset="0"/>
              </a:rPr>
              <a:t>Además normalmente se necesitan varias operaciones de acceso a memoria secundaria para cargar cada segmento.</a:t>
            </a:r>
          </a:p>
        </p:txBody>
      </p:sp>
      <p:sp>
        <p:nvSpPr>
          <p:cNvPr id="11469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7C350AF4-84AA-5645-A540-2DB86C14982B}" type="slidenum">
              <a:rPr lang="en-US" sz="1400"/>
              <a:pPr eaLnBrk="1" hangingPunct="1"/>
              <a:t>73</a:t>
            </a:fld>
            <a:endParaRPr lang="en-US" sz="14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ormAutofit/>
          </a:bodyPr>
          <a:lstStyle/>
          <a:p>
            <a:pPr eaLnBrk="1" hangingPunct="1"/>
            <a:r>
              <a:rPr lang="es-PR">
                <a:latin typeface="Tahoma" charset="0"/>
                <a:ea typeface="ＭＳ Ｐゴシック" charset="0"/>
                <a:cs typeface="ＭＳ Ｐゴシック" charset="0"/>
              </a:rPr>
              <a:t>Asignación Segmentada y Paginada por Demanda de Memoria</a:t>
            </a:r>
          </a:p>
        </p:txBody>
      </p:sp>
      <p:sp>
        <p:nvSpPr>
          <p:cNvPr id="116739" name="Rectangle 3"/>
          <p:cNvSpPr>
            <a:spLocks noGrp="1" noChangeArrowheads="1"/>
          </p:cNvSpPr>
          <p:nvPr>
            <p:ph idx="1"/>
          </p:nvPr>
        </p:nvSpPr>
        <p:spPr>
          <a:xfrm>
            <a:off x="2894013" y="1827214"/>
            <a:ext cx="7313612" cy="4725987"/>
          </a:xfrm>
        </p:spPr>
        <p:txBody>
          <a:bodyPr/>
          <a:lstStyle/>
          <a:p>
            <a:pPr eaLnBrk="1" hangingPunct="1">
              <a:lnSpc>
                <a:spcPct val="90000"/>
              </a:lnSpc>
            </a:pPr>
            <a:r>
              <a:rPr lang="es-PR" sz="2500">
                <a:latin typeface="Tahoma" charset="0"/>
                <a:ea typeface="ＭＳ Ｐゴシック" charset="0"/>
                <a:cs typeface="ＭＳ Ｐゴシック" charset="0"/>
              </a:rPr>
              <a:t>El esquema de </a:t>
            </a:r>
            <a:r>
              <a:rPr lang="es-PR" sz="2500" b="1">
                <a:latin typeface="Tahoma" charset="0"/>
                <a:ea typeface="ＭＳ Ｐゴシック" charset="0"/>
                <a:cs typeface="ＭＳ Ｐゴシック" charset="0"/>
              </a:rPr>
              <a:t>asignación segmentada y paginada por demanda</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segmented/demand paged memory allocation</a:t>
            </a:r>
            <a:r>
              <a:rPr lang="es-PR" sz="2500">
                <a:latin typeface="Tahoma" charset="0"/>
                <a:ea typeface="ＭＳ Ｐゴシック" charset="0"/>
                <a:cs typeface="ＭＳ Ｐゴシック" charset="0"/>
              </a:rPr>
              <a:t>) divide lógicamente el programa en segmentos de distinto tamaño que forman grupos relacionados de instrucciones (subrutinas).</a:t>
            </a:r>
          </a:p>
          <a:p>
            <a:pPr eaLnBrk="1" hangingPunct="1">
              <a:lnSpc>
                <a:spcPct val="90000"/>
              </a:lnSpc>
            </a:pPr>
            <a:r>
              <a:rPr lang="es-PR" sz="2500">
                <a:latin typeface="Tahoma" charset="0"/>
                <a:ea typeface="ＭＳ Ｐゴシック" charset="0"/>
                <a:cs typeface="ＭＳ Ｐゴシック" charset="0"/>
              </a:rPr>
              <a:t>Pero estos segmentos son divididos físicamente en páginas de tamaño fijo para su manipulación eficiente.</a:t>
            </a:r>
          </a:p>
          <a:p>
            <a:pPr eaLnBrk="1" hangingPunct="1">
              <a:lnSpc>
                <a:spcPct val="90000"/>
              </a:lnSpc>
            </a:pPr>
            <a:r>
              <a:rPr lang="es-PR" sz="2500">
                <a:latin typeface="Tahoma" charset="0"/>
                <a:ea typeface="ＭＳ Ｐゴシック" charset="0"/>
                <a:cs typeface="ＭＳ Ｐゴシック" charset="0"/>
              </a:rPr>
              <a:t>No todas las páginas de un segmento tienen que estar en memoria a la vez.</a:t>
            </a:r>
          </a:p>
        </p:txBody>
      </p:sp>
      <p:sp>
        <p:nvSpPr>
          <p:cNvPr id="11674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801E3F6-4D0D-464C-8702-B1A1F8B0B9A4}" type="slidenum">
              <a:rPr lang="en-US" sz="1400"/>
              <a:pPr eaLnBrk="1" hangingPunct="1"/>
              <a:t>74</a:t>
            </a:fld>
            <a:endParaRPr lang="en-US" sz="14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pPr eaLnBrk="1" hangingPunct="1"/>
            <a:r>
              <a:rPr lang="es-PR">
                <a:latin typeface="Tahoma" charset="0"/>
                <a:ea typeface="ＭＳ Ｐゴシック" charset="0"/>
                <a:cs typeface="ＭＳ Ｐゴシック" charset="0"/>
              </a:rPr>
              <a:t>Asignación Segmentada y Paginada por Demanda de Memoria (cont.)</a:t>
            </a:r>
          </a:p>
        </p:txBody>
      </p:sp>
      <p:sp>
        <p:nvSpPr>
          <p:cNvPr id="118787" name="Rectangle 3"/>
          <p:cNvSpPr>
            <a:spLocks noGrp="1" noChangeArrowheads="1"/>
          </p:cNvSpPr>
          <p:nvPr>
            <p:ph idx="1"/>
          </p:nvPr>
        </p:nvSpPr>
        <p:spPr>
          <a:xfrm>
            <a:off x="2894013" y="1827214"/>
            <a:ext cx="7313612" cy="4725987"/>
          </a:xfrm>
        </p:spPr>
        <p:txBody>
          <a:bodyPr>
            <a:normAutofit lnSpcReduction="10000"/>
          </a:bodyPr>
          <a:lstStyle/>
          <a:p>
            <a:pPr eaLnBrk="1" hangingPunct="1">
              <a:lnSpc>
                <a:spcPct val="90000"/>
              </a:lnSpc>
            </a:pPr>
            <a:r>
              <a:rPr lang="es-PR" sz="2500">
                <a:latin typeface="Tahoma" charset="0"/>
                <a:ea typeface="ＭＳ Ｐゴシック" charset="0"/>
                <a:cs typeface="ＭＳ Ｐゴシック" charset="0"/>
              </a:rPr>
              <a:t>Este esquema resuelve muchos de los problemas de la segmentación en términos de manejo de memoria.</a:t>
            </a:r>
          </a:p>
          <a:p>
            <a:pPr eaLnBrk="1" hangingPunct="1">
              <a:lnSpc>
                <a:spcPct val="90000"/>
              </a:lnSpc>
            </a:pPr>
            <a:r>
              <a:rPr lang="es-PR" sz="2500">
                <a:latin typeface="Tahoma" charset="0"/>
                <a:ea typeface="ＭＳ Ｐゴシック" charset="0"/>
                <a:cs typeface="ＭＳ Ｐゴシック" charset="0"/>
              </a:rPr>
              <a:t>Sin embargo, ahora el s.o. debe administrar cuatro tablas:</a:t>
            </a:r>
          </a:p>
          <a:p>
            <a:pPr lvl="1" eaLnBrk="1" hangingPunct="1">
              <a:lnSpc>
                <a:spcPct val="90000"/>
              </a:lnSpc>
            </a:pPr>
            <a:r>
              <a:rPr lang="es-PR" sz="2100" i="1">
                <a:latin typeface="Tahoma" charset="0"/>
                <a:ea typeface="ＭＳ Ｐゴシック" charset="0"/>
              </a:rPr>
              <a:t>Job Table</a:t>
            </a:r>
            <a:r>
              <a:rPr lang="es-PR" sz="2100">
                <a:latin typeface="Tahoma" charset="0"/>
                <a:ea typeface="ＭＳ Ｐゴシック" charset="0"/>
              </a:rPr>
              <a:t> – una para el sistema, lista cada programa en memoria</a:t>
            </a:r>
          </a:p>
          <a:p>
            <a:pPr lvl="1" eaLnBrk="1" hangingPunct="1">
              <a:lnSpc>
                <a:spcPct val="90000"/>
              </a:lnSpc>
            </a:pPr>
            <a:r>
              <a:rPr lang="es-PR" sz="2100" i="1">
                <a:latin typeface="Tahoma" charset="0"/>
                <a:ea typeface="ＭＳ Ｐゴシック" charset="0"/>
              </a:rPr>
              <a:t>Segment Map Table</a:t>
            </a:r>
            <a:r>
              <a:rPr lang="es-PR" sz="2100">
                <a:latin typeface="Tahoma" charset="0"/>
                <a:ea typeface="ＭＳ Ｐゴシック" charset="0"/>
              </a:rPr>
              <a:t> – una para cada programa, lista los detalles de cada segmento</a:t>
            </a:r>
          </a:p>
          <a:p>
            <a:pPr lvl="1" eaLnBrk="1" hangingPunct="1">
              <a:lnSpc>
                <a:spcPct val="90000"/>
              </a:lnSpc>
            </a:pPr>
            <a:r>
              <a:rPr lang="es-PR" sz="2100" i="1">
                <a:latin typeface="Tahoma" charset="0"/>
                <a:ea typeface="ＭＳ Ｐゴシック" charset="0"/>
              </a:rPr>
              <a:t>Page Map Table</a:t>
            </a:r>
            <a:r>
              <a:rPr lang="es-PR" sz="2100">
                <a:latin typeface="Tahoma" charset="0"/>
                <a:ea typeface="ＭＳ Ｐゴシック" charset="0"/>
              </a:rPr>
              <a:t> – una para cada segmento, lista los detalles de cada página</a:t>
            </a:r>
          </a:p>
          <a:p>
            <a:pPr lvl="1" eaLnBrk="1" hangingPunct="1">
              <a:lnSpc>
                <a:spcPct val="90000"/>
              </a:lnSpc>
            </a:pPr>
            <a:r>
              <a:rPr lang="es-PR" sz="2100" i="1">
                <a:latin typeface="Tahoma" charset="0"/>
                <a:ea typeface="ＭＳ Ｐゴシック" charset="0"/>
              </a:rPr>
              <a:t>Memory Map Table</a:t>
            </a:r>
            <a:r>
              <a:rPr lang="es-PR" sz="2100">
                <a:latin typeface="Tahoma" charset="0"/>
                <a:ea typeface="ＭＳ Ｐゴシック" charset="0"/>
              </a:rPr>
              <a:t> – una para el sistema, indica cómo se asignaron los marcos de página</a:t>
            </a:r>
          </a:p>
        </p:txBody>
      </p:sp>
      <p:sp>
        <p:nvSpPr>
          <p:cNvPr id="11878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56F461D-FEE1-0140-B94E-9C4AE310791A}" type="slidenum">
              <a:rPr lang="en-US" sz="1400"/>
              <a:pPr eaLnBrk="1" hangingPunct="1"/>
              <a:t>75</a:t>
            </a:fld>
            <a:endParaRPr lang="en-US" sz="14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2874964" y="304800"/>
            <a:ext cx="7793037" cy="692150"/>
          </a:xfrm>
        </p:spPr>
        <p:txBody>
          <a:bodyPr>
            <a:normAutofit fontScale="90000"/>
          </a:bodyPr>
          <a:lstStyle/>
          <a:p>
            <a:pPr eaLnBrk="1" hangingPunct="1"/>
            <a:r>
              <a:rPr lang="es-PR">
                <a:latin typeface="Tahoma" charset="0"/>
                <a:ea typeface="ＭＳ Ｐゴシック" charset="0"/>
                <a:cs typeface="ＭＳ Ｐゴシック" charset="0"/>
              </a:rPr>
              <a:t>Asignación Segmentada y Paginada por Demanda de Memoria (cont.)</a:t>
            </a:r>
          </a:p>
        </p:txBody>
      </p:sp>
      <p:sp>
        <p:nvSpPr>
          <p:cNvPr id="120835"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r>
              <a:rPr lang="en-US" sz="1400"/>
              <a:t>V oct10 bl3</a:t>
            </a:r>
            <a:fld id="{14671C14-2AE2-CC42-847B-8DC61D52D981}" type="slidenum">
              <a:rPr lang="en-US" sz="1400"/>
              <a:pPr eaLnBrk="1" hangingPunct="1"/>
              <a:t>76</a:t>
            </a:fld>
            <a:endParaRPr lang="en-US" sz="1400"/>
          </a:p>
        </p:txBody>
      </p:sp>
      <p:pic>
        <p:nvPicPr>
          <p:cNvPr id="120836" name="Picture 5"/>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00401" y="1676400"/>
            <a:ext cx="6435725" cy="4679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normAutofit/>
          </a:bodyPr>
          <a:lstStyle/>
          <a:p>
            <a:pPr eaLnBrk="1" hangingPunct="1"/>
            <a:r>
              <a:rPr lang="es-PR">
                <a:latin typeface="Tahoma" charset="0"/>
                <a:ea typeface="ＭＳ Ｐゴシック" charset="0"/>
                <a:cs typeface="ＭＳ Ｐゴシック" charset="0"/>
              </a:rPr>
              <a:t>Asignación Segmentada y Paginada por Demanda de Memoria (cont.)</a:t>
            </a:r>
          </a:p>
        </p:txBody>
      </p:sp>
      <p:sp>
        <p:nvSpPr>
          <p:cNvPr id="122883" name="Rectangle 3"/>
          <p:cNvSpPr>
            <a:spLocks noGrp="1" noChangeArrowheads="1"/>
          </p:cNvSpPr>
          <p:nvPr>
            <p:ph idx="1"/>
          </p:nvPr>
        </p:nvSpPr>
        <p:spPr/>
        <p:txBody>
          <a:bodyPr/>
          <a:lstStyle/>
          <a:p>
            <a:pPr eaLnBrk="1" hangingPunct="1"/>
            <a:r>
              <a:rPr lang="es-PR">
                <a:latin typeface="Tahoma" charset="0"/>
                <a:ea typeface="ＭＳ Ｐゴシック" charset="0"/>
                <a:cs typeface="ＭＳ Ｐゴシック" charset="0"/>
              </a:rPr>
              <a:t>Para determinar la localización en memoria de una instrucción o un dato, el s.o. debe:</a:t>
            </a:r>
          </a:p>
          <a:p>
            <a:pPr lvl="1" eaLnBrk="1" hangingPunct="1"/>
            <a:r>
              <a:rPr lang="es-PR">
                <a:latin typeface="Tahoma" charset="0"/>
                <a:ea typeface="ＭＳ Ｐゴシック" charset="0"/>
              </a:rPr>
              <a:t>Determinar el segmento en que se localiza.</a:t>
            </a:r>
          </a:p>
          <a:p>
            <a:pPr lvl="1" eaLnBrk="1" hangingPunct="1"/>
            <a:r>
              <a:rPr lang="es-PR">
                <a:latin typeface="Tahoma" charset="0"/>
                <a:ea typeface="ＭＳ Ｐゴシック" charset="0"/>
              </a:rPr>
              <a:t>Ir a la página adecuada dentro del segmento.</a:t>
            </a:r>
          </a:p>
          <a:p>
            <a:pPr lvl="1" eaLnBrk="1" hangingPunct="1"/>
            <a:r>
              <a:rPr lang="es-PR">
                <a:latin typeface="Tahoma" charset="0"/>
                <a:ea typeface="ＭＳ Ｐゴシック" charset="0"/>
              </a:rPr>
              <a:t>Moverse dentro de la página usando el desplazamiento adecuado.</a:t>
            </a:r>
          </a:p>
        </p:txBody>
      </p:sp>
      <p:sp>
        <p:nvSpPr>
          <p:cNvPr id="12288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1EF973C6-61CB-024E-B758-8532DB1F7302}" type="slidenum">
              <a:rPr lang="en-US" sz="1400"/>
              <a:pPr eaLnBrk="1" hangingPunct="1"/>
              <a:t>77</a:t>
            </a:fld>
            <a:endParaRPr lang="en-US" sz="14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normAutofit/>
          </a:bodyPr>
          <a:lstStyle/>
          <a:p>
            <a:pPr eaLnBrk="1" hangingPunct="1"/>
            <a:r>
              <a:rPr lang="es-PR">
                <a:latin typeface="Tahoma" charset="0"/>
                <a:ea typeface="ＭＳ Ｐゴシック" charset="0"/>
                <a:cs typeface="ＭＳ Ｐゴシック" charset="0"/>
              </a:rPr>
              <a:t>Asignación Segmentada y Paginada por Demanda de Memoria (cont.)</a:t>
            </a:r>
          </a:p>
        </p:txBody>
      </p:sp>
      <p:sp>
        <p:nvSpPr>
          <p:cNvPr id="124931" name="Rectangle 3"/>
          <p:cNvSpPr>
            <a:spLocks noGrp="1" noChangeArrowheads="1"/>
          </p:cNvSpPr>
          <p:nvPr>
            <p:ph idx="1"/>
          </p:nvPr>
        </p:nvSpPr>
        <p:spPr/>
        <p:txBody>
          <a:bodyPr/>
          <a:lstStyle/>
          <a:p>
            <a:pPr eaLnBrk="1" hangingPunct="1">
              <a:lnSpc>
                <a:spcPct val="90000"/>
              </a:lnSpc>
            </a:pPr>
            <a:r>
              <a:rPr lang="es-PR">
                <a:latin typeface="Tahoma" charset="0"/>
                <a:ea typeface="ＭＳ Ｐゴシック" charset="0"/>
                <a:cs typeface="ＭＳ Ｐゴシック" charset="0"/>
              </a:rPr>
              <a:t>La mayor desventaja de este esquema es el esfuerzo extra (</a:t>
            </a:r>
            <a:r>
              <a:rPr lang="es-PR" i="1">
                <a:latin typeface="Tahoma" charset="0"/>
                <a:ea typeface="ＭＳ Ｐゴシック" charset="0"/>
                <a:cs typeface="ＭＳ Ｐゴシック" charset="0"/>
              </a:rPr>
              <a:t>overhead</a:t>
            </a:r>
            <a:r>
              <a:rPr lang="es-PR">
                <a:latin typeface="Tahoma" charset="0"/>
                <a:ea typeface="ＭＳ Ｐゴシック" charset="0"/>
                <a:cs typeface="ＭＳ Ｐゴシック" charset="0"/>
              </a:rPr>
              <a:t>) que se requiere para la manipulación de las tablas y el tiempo que requiere buscar una localización de memoria.</a:t>
            </a:r>
          </a:p>
          <a:p>
            <a:pPr eaLnBrk="1" hangingPunct="1">
              <a:lnSpc>
                <a:spcPct val="90000"/>
              </a:lnSpc>
            </a:pPr>
            <a:r>
              <a:rPr lang="es-PR">
                <a:latin typeface="Tahoma" charset="0"/>
                <a:ea typeface="ＭＳ Ｐゴシック" charset="0"/>
                <a:cs typeface="ＭＳ Ｐゴシック" charset="0"/>
              </a:rPr>
              <a:t>Muchos sistemas usan memoria asociativa para acelerar este proceso.</a:t>
            </a:r>
          </a:p>
        </p:txBody>
      </p:sp>
      <p:sp>
        <p:nvSpPr>
          <p:cNvPr id="12493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B2EBB0AD-049D-1F41-848E-C244A21186AE}" type="slidenum">
              <a:rPr lang="en-US" sz="1400"/>
              <a:pPr eaLnBrk="1" hangingPunct="1"/>
              <a:t>78</a:t>
            </a:fld>
            <a:endParaRPr lang="en-US" sz="1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normAutofit/>
          </a:bodyPr>
          <a:lstStyle/>
          <a:p>
            <a:pPr eaLnBrk="1" hangingPunct="1"/>
            <a:r>
              <a:rPr lang="es-PR">
                <a:latin typeface="Tahoma" charset="0"/>
                <a:ea typeface="ＭＳ Ｐゴシック" charset="0"/>
                <a:cs typeface="ＭＳ Ｐゴシック" charset="0"/>
              </a:rPr>
              <a:t>Asignación Segmentada y Paginada por Demanda de Memoria (cont.)</a:t>
            </a:r>
          </a:p>
        </p:txBody>
      </p:sp>
      <p:sp>
        <p:nvSpPr>
          <p:cNvPr id="126979" name="Rectangle 3"/>
          <p:cNvSpPr>
            <a:spLocks noGrp="1" noChangeArrowheads="1"/>
          </p:cNvSpPr>
          <p:nvPr>
            <p:ph idx="1"/>
          </p:nvPr>
        </p:nvSpPr>
        <p:spPr>
          <a:xfrm>
            <a:off x="2894013" y="1827214"/>
            <a:ext cx="7313612" cy="4725987"/>
          </a:xfrm>
        </p:spPr>
        <p:txBody>
          <a:bodyPr/>
          <a:lstStyle/>
          <a:p>
            <a:pPr eaLnBrk="1" hangingPunct="1"/>
            <a:r>
              <a:rPr lang="es-PR" sz="2500">
                <a:latin typeface="Tahoma" charset="0"/>
                <a:ea typeface="ＭＳ Ｐゴシック" charset="0"/>
                <a:cs typeface="ＭＳ Ｐゴシック" charset="0"/>
              </a:rPr>
              <a:t>La </a:t>
            </a:r>
            <a:r>
              <a:rPr lang="es-PR" sz="2500" b="1">
                <a:latin typeface="Tahoma" charset="0"/>
                <a:ea typeface="ＭＳ Ｐゴシック" charset="0"/>
                <a:cs typeface="ＭＳ Ｐゴシック" charset="0"/>
              </a:rPr>
              <a:t>memoria asociativa o direccionada por contenido</a:t>
            </a:r>
            <a:r>
              <a:rPr lang="es-PR" sz="2500">
                <a:latin typeface="Tahoma" charset="0"/>
                <a:ea typeface="ＭＳ Ｐゴシック" charset="0"/>
                <a:cs typeface="ＭＳ Ｐゴシック" charset="0"/>
              </a:rPr>
              <a:t> (</a:t>
            </a:r>
            <a:r>
              <a:rPr lang="es-PR" sz="2500" i="1">
                <a:latin typeface="Tahoma" charset="0"/>
                <a:ea typeface="ＭＳ Ｐゴシック" charset="0"/>
                <a:cs typeface="ＭＳ Ｐゴシック" charset="0"/>
              </a:rPr>
              <a:t>associative memory, content-addresable memory</a:t>
            </a:r>
            <a:r>
              <a:rPr lang="es-PR" sz="2500">
                <a:latin typeface="Tahoma" charset="0"/>
                <a:ea typeface="ＭＳ Ｐゴシック" charset="0"/>
                <a:cs typeface="ＭＳ Ｐゴシック" charset="0"/>
              </a:rPr>
              <a:t>) es un tipo de memoria en la cual los datos no se identifican por una dirección sino por una etiqueta.</a:t>
            </a:r>
          </a:p>
          <a:p>
            <a:pPr eaLnBrk="1" hangingPunct="1"/>
            <a:r>
              <a:rPr lang="es-PR" sz="2500">
                <a:latin typeface="Tahoma" charset="0"/>
                <a:ea typeface="ＭＳ Ｐゴシック" charset="0"/>
                <a:cs typeface="ＭＳ Ｐゴシック" charset="0"/>
              </a:rPr>
              <a:t>Este tipo de memoria permite una búsqueda rápida de información.</a:t>
            </a:r>
          </a:p>
          <a:p>
            <a:pPr eaLnBrk="1" hangingPunct="1"/>
            <a:r>
              <a:rPr lang="es-PR" sz="2500">
                <a:latin typeface="Tahoma" charset="0"/>
                <a:ea typeface="ＭＳ Ｐゴシック" charset="0"/>
                <a:cs typeface="ＭＳ Ｐゴシック" charset="0"/>
              </a:rPr>
              <a:t>Los s.o. almacenan la información de las últimas páginas referenciadas en esta memoria para su rápido acceso.</a:t>
            </a:r>
          </a:p>
        </p:txBody>
      </p:sp>
      <p:sp>
        <p:nvSpPr>
          <p:cNvPr id="12698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69A0EF40-C30C-1144-B255-A72A4BA4835A}" type="slidenum">
              <a:rPr lang="en-US" sz="1400"/>
              <a:pPr eaLnBrk="1" hangingPunct="1"/>
              <a:t>79</a:t>
            </a:fld>
            <a:endParaRPr lang="en-US" sz="14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Memoria Virtual</a:t>
            </a:r>
          </a:p>
        </p:txBody>
      </p:sp>
      <p:sp>
        <p:nvSpPr>
          <p:cNvPr id="129027" name="Rectangle 3"/>
          <p:cNvSpPr>
            <a:spLocks noGrp="1" noChangeArrowheads="1"/>
          </p:cNvSpPr>
          <p:nvPr>
            <p:ph idx="1"/>
          </p:nvPr>
        </p:nvSpPr>
        <p:spPr>
          <a:xfrm>
            <a:off x="2894013" y="1827214"/>
            <a:ext cx="7313612" cy="4573587"/>
          </a:xfrm>
        </p:spPr>
        <p:txBody>
          <a:bodyPr/>
          <a:lstStyle/>
          <a:p>
            <a:pPr eaLnBrk="1" hangingPunct="1">
              <a:lnSpc>
                <a:spcPct val="80000"/>
              </a:lnSpc>
            </a:pPr>
            <a:r>
              <a:rPr lang="es-PR" sz="2500">
                <a:latin typeface="Tahoma" charset="0"/>
                <a:ea typeface="ＭＳ Ｐゴシック" charset="0"/>
                <a:cs typeface="ＭＳ Ｐゴシック" charset="0"/>
              </a:rPr>
              <a:t>Los esquemas de paginación y segmentación por demanda hacen posible tratar una porción de la memoria secundaria como si fuera parte de la memoria principal.</a:t>
            </a:r>
          </a:p>
          <a:p>
            <a:pPr eaLnBrk="1" hangingPunct="1">
              <a:lnSpc>
                <a:spcPct val="80000"/>
              </a:lnSpc>
            </a:pPr>
            <a:r>
              <a:rPr lang="es-PR" sz="2500">
                <a:latin typeface="Tahoma" charset="0"/>
                <a:ea typeface="ＭＳ Ｐゴシック" charset="0"/>
                <a:cs typeface="ＭＳ Ｐゴシック" charset="0"/>
              </a:rPr>
              <a:t>A esta porción se le conoce como </a:t>
            </a:r>
            <a:r>
              <a:rPr lang="es-PR" sz="2500" b="1">
                <a:latin typeface="Tahoma" charset="0"/>
                <a:ea typeface="ＭＳ Ｐゴシック" charset="0"/>
                <a:cs typeface="ＭＳ Ｐゴシック" charset="0"/>
              </a:rPr>
              <a:t>memoria virtual</a:t>
            </a:r>
            <a:r>
              <a:rPr lang="es-PR" sz="2500">
                <a:latin typeface="Tahoma" charset="0"/>
                <a:ea typeface="ＭＳ Ｐゴシック" charset="0"/>
                <a:cs typeface="ＭＳ Ｐゴシック" charset="0"/>
              </a:rPr>
              <a:t>.</a:t>
            </a:r>
          </a:p>
          <a:p>
            <a:pPr eaLnBrk="1" hangingPunct="1">
              <a:lnSpc>
                <a:spcPct val="80000"/>
              </a:lnSpc>
            </a:pPr>
            <a:r>
              <a:rPr lang="es-PR" sz="2500">
                <a:latin typeface="Tahoma" charset="0"/>
                <a:ea typeface="ＭＳ Ｐゴシック" charset="0"/>
                <a:cs typeface="ＭＳ Ｐゴシック" charset="0"/>
              </a:rPr>
              <a:t>El uso de la memoria virtual requiere la cooperación constante del Administrador de la Memoria (que determina dónde está cada página o segmente) y el CPU (que genera interrupciones en caso de intentos fallidos en el acceso de páginas y ayuda en la resolución de direcciones).</a:t>
            </a:r>
          </a:p>
        </p:txBody>
      </p:sp>
      <p:sp>
        <p:nvSpPr>
          <p:cNvPr id="129028"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08CAC43-75E2-7548-9892-8DA6BA871D78}" type="slidenum">
              <a:rPr lang="en-US" sz="1400"/>
              <a:pPr eaLnBrk="1" hangingPunct="1"/>
              <a:t>80</a:t>
            </a:fld>
            <a:endParaRPr lang="en-US" sz="14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Memoria Virtual (cont.)</a:t>
            </a:r>
          </a:p>
        </p:txBody>
      </p:sp>
      <p:sp>
        <p:nvSpPr>
          <p:cNvPr id="131075" name="Rectangle 3"/>
          <p:cNvSpPr>
            <a:spLocks noGrp="1" noChangeArrowheads="1"/>
          </p:cNvSpPr>
          <p:nvPr>
            <p:ph idx="1"/>
          </p:nvPr>
        </p:nvSpPr>
        <p:spPr>
          <a:xfrm>
            <a:off x="2894013" y="1827214"/>
            <a:ext cx="7313612" cy="1677987"/>
          </a:xfrm>
        </p:spPr>
        <p:txBody>
          <a:bodyPr/>
          <a:lstStyle/>
          <a:p>
            <a:pPr eaLnBrk="1" hangingPunct="1"/>
            <a:r>
              <a:rPr lang="es-PR" sz="2500">
                <a:latin typeface="Tahoma" charset="0"/>
                <a:ea typeface="ＭＳ Ｐゴシック" charset="0"/>
                <a:cs typeface="ＭＳ Ｐゴシック" charset="0"/>
              </a:rPr>
              <a:t>La siguiente tabla muestra una comparación entre el uso de paginación (por demanda) y segmentación para implementar memoria virtual:</a:t>
            </a:r>
          </a:p>
        </p:txBody>
      </p:sp>
      <p:sp>
        <p:nvSpPr>
          <p:cNvPr id="131076"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ABD857DD-3F56-D047-9D38-6036348B1845}" type="slidenum">
              <a:rPr lang="en-US" sz="1400"/>
              <a:pPr eaLnBrk="1" hangingPunct="1"/>
              <a:t>81</a:t>
            </a:fld>
            <a:endParaRPr lang="en-US" sz="1400"/>
          </a:p>
        </p:txBody>
      </p:sp>
      <p:pic>
        <p:nvPicPr>
          <p:cNvPr id="13107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1" y="3657601"/>
            <a:ext cx="8647113" cy="2676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Memoria Virtual (cont.)</a:t>
            </a:r>
          </a:p>
        </p:txBody>
      </p:sp>
      <p:sp>
        <p:nvSpPr>
          <p:cNvPr id="133123" name="Rectangle 3"/>
          <p:cNvSpPr>
            <a:spLocks noGrp="1" noChangeArrowheads="1"/>
          </p:cNvSpPr>
          <p:nvPr>
            <p:ph idx="1"/>
          </p:nvPr>
        </p:nvSpPr>
        <p:spPr/>
        <p:txBody>
          <a:bodyPr>
            <a:normAutofit/>
          </a:bodyPr>
          <a:lstStyle/>
          <a:p>
            <a:pPr eaLnBrk="1" hangingPunct="1"/>
            <a:r>
              <a:rPr lang="es-PR" sz="2500">
                <a:latin typeface="Tahoma" charset="0"/>
                <a:ea typeface="ＭＳ Ｐゴシック" charset="0"/>
                <a:cs typeface="ＭＳ Ｐゴシック" charset="0"/>
              </a:rPr>
              <a:t>Ventajas de la memoria virtual:</a:t>
            </a:r>
          </a:p>
          <a:p>
            <a:pPr lvl="1" eaLnBrk="1" hangingPunct="1"/>
            <a:r>
              <a:rPr lang="es-PR" sz="2100">
                <a:latin typeface="Tahoma" charset="0"/>
                <a:ea typeface="ＭＳ Ｐゴシック" charset="0"/>
              </a:rPr>
              <a:t>El tamaño del programa no está limitado por el tamaño de RAM</a:t>
            </a:r>
          </a:p>
          <a:p>
            <a:pPr lvl="1" eaLnBrk="1" hangingPunct="1"/>
            <a:r>
              <a:rPr lang="es-PR" sz="2100">
                <a:latin typeface="Tahoma" charset="0"/>
                <a:ea typeface="ＭＳ Ｐゴシック" charset="0"/>
              </a:rPr>
              <a:t>La memoria se usa eficientemente (acceso por demanda)</a:t>
            </a:r>
          </a:p>
          <a:p>
            <a:pPr lvl="1" eaLnBrk="1" hangingPunct="1"/>
            <a:r>
              <a:rPr lang="es-PR" sz="2100">
                <a:latin typeface="Tahoma" charset="0"/>
                <a:ea typeface="ＭＳ Ｐゴシック" charset="0"/>
              </a:rPr>
              <a:t>Elimina la fragmentación externa y minimiza la fragmentación interna (especialmente si se usa segmentación y paginación combinada)</a:t>
            </a:r>
          </a:p>
          <a:p>
            <a:pPr lvl="1" eaLnBrk="1" hangingPunct="1"/>
            <a:r>
              <a:rPr lang="es-PR" sz="2100">
                <a:latin typeface="Tahoma" charset="0"/>
                <a:ea typeface="ＭＳ Ｐゴシック" charset="0"/>
              </a:rPr>
              <a:t>Permite la multiprogramación (permite que varios programas o varios usuarios compartan la atención del CPU)</a:t>
            </a:r>
          </a:p>
        </p:txBody>
      </p:sp>
      <p:sp>
        <p:nvSpPr>
          <p:cNvPr id="13312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EAB867C-448E-8246-A461-2B891A10096D}" type="slidenum">
              <a:rPr lang="en-US" sz="1400"/>
              <a:pPr eaLnBrk="1" hangingPunct="1"/>
              <a:t>82</a:t>
            </a:fld>
            <a:endParaRPr lang="en-US" sz="14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Memoria Virtual (cont.)</a:t>
            </a:r>
          </a:p>
        </p:txBody>
      </p:sp>
      <p:sp>
        <p:nvSpPr>
          <p:cNvPr id="135171" name="Rectangle 3"/>
          <p:cNvSpPr>
            <a:spLocks noGrp="1" noChangeArrowheads="1"/>
          </p:cNvSpPr>
          <p:nvPr>
            <p:ph idx="1"/>
          </p:nvPr>
        </p:nvSpPr>
        <p:spPr>
          <a:xfrm>
            <a:off x="2894013" y="1827214"/>
            <a:ext cx="7313612" cy="4649787"/>
          </a:xfrm>
        </p:spPr>
        <p:txBody>
          <a:bodyPr/>
          <a:lstStyle/>
          <a:p>
            <a:pPr eaLnBrk="1" hangingPunct="1">
              <a:lnSpc>
                <a:spcPct val="90000"/>
              </a:lnSpc>
            </a:pPr>
            <a:r>
              <a:rPr lang="es-PR">
                <a:latin typeface="Tahoma" charset="0"/>
                <a:ea typeface="ＭＳ Ｐゴシック" charset="0"/>
                <a:cs typeface="ＭＳ Ｐゴシック" charset="0"/>
              </a:rPr>
              <a:t>Ventajas de la memoria virtual (cont.):</a:t>
            </a:r>
          </a:p>
          <a:p>
            <a:pPr lvl="1" eaLnBrk="1" hangingPunct="1">
              <a:lnSpc>
                <a:spcPct val="90000"/>
              </a:lnSpc>
            </a:pPr>
            <a:r>
              <a:rPr lang="es-PR">
                <a:latin typeface="Tahoma" charset="0"/>
                <a:ea typeface="ＭＳ Ｐゴシック" charset="0"/>
              </a:rPr>
              <a:t>Permite compartir código de un programa entre varios usuarios (</a:t>
            </a:r>
            <a:r>
              <a:rPr lang="es-PR" b="1">
                <a:latin typeface="Tahoma" charset="0"/>
                <a:ea typeface="ＭＳ Ｐゴシック" charset="0"/>
              </a:rPr>
              <a:t>código reentrante</a:t>
            </a:r>
            <a:r>
              <a:rPr lang="es-PR">
                <a:latin typeface="Tahoma" charset="0"/>
                <a:ea typeface="ＭＳ Ｐゴシック" charset="0"/>
              </a:rPr>
              <a:t> [</a:t>
            </a:r>
            <a:r>
              <a:rPr lang="es-PR" i="1">
                <a:latin typeface="Tahoma" charset="0"/>
                <a:ea typeface="ＭＳ Ｐゴシック" charset="0"/>
              </a:rPr>
              <a:t>reentrant code</a:t>
            </a:r>
            <a:r>
              <a:rPr lang="es-PR">
                <a:latin typeface="Tahoma" charset="0"/>
                <a:ea typeface="ＭＳ Ｐゴシック" charset="0"/>
              </a:rPr>
              <a:t>], se mantiene una sola copia del código ejecutable pero varias copias de las áreas de datos para los usuarios).</a:t>
            </a:r>
          </a:p>
          <a:p>
            <a:pPr lvl="1" eaLnBrk="1" hangingPunct="1">
              <a:lnSpc>
                <a:spcPct val="90000"/>
              </a:lnSpc>
            </a:pPr>
            <a:r>
              <a:rPr lang="es-PR">
                <a:latin typeface="Tahoma" charset="0"/>
                <a:ea typeface="ＭＳ Ｐゴシック" charset="0"/>
              </a:rPr>
              <a:t>Permite compartir segmentos entre varios programas y cargarlos por demanda (</a:t>
            </a:r>
            <a:r>
              <a:rPr lang="es-PR" b="1">
                <a:latin typeface="Tahoma" charset="0"/>
                <a:ea typeface="ＭＳ Ｐゴシック" charset="0"/>
              </a:rPr>
              <a:t>enlace dinámico</a:t>
            </a:r>
            <a:r>
              <a:rPr lang="es-PR">
                <a:latin typeface="Tahoma" charset="0"/>
                <a:ea typeface="ＭＳ Ｐゴシック" charset="0"/>
              </a:rPr>
              <a:t>, </a:t>
            </a:r>
            <a:r>
              <a:rPr lang="es-PR" i="1">
                <a:latin typeface="Tahoma" charset="0"/>
                <a:ea typeface="ＭＳ Ｐゴシック" charset="0"/>
              </a:rPr>
              <a:t>dynamic linking</a:t>
            </a:r>
            <a:r>
              <a:rPr lang="es-PR">
                <a:latin typeface="Tahoma" charset="0"/>
                <a:ea typeface="ＭＳ Ｐゴシック" charset="0"/>
              </a:rPr>
              <a:t>).</a:t>
            </a:r>
          </a:p>
        </p:txBody>
      </p:sp>
      <p:sp>
        <p:nvSpPr>
          <p:cNvPr id="135172"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E2DB7B1C-3B42-624C-9967-82DF5C190438}" type="slidenum">
              <a:rPr lang="en-US" sz="1400"/>
              <a:pPr eaLnBrk="1" hangingPunct="1"/>
              <a:t>83</a:t>
            </a:fld>
            <a:endParaRPr lang="en-US" sz="14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Memoria Virtual (cont.)</a:t>
            </a:r>
          </a:p>
        </p:txBody>
      </p:sp>
      <p:sp>
        <p:nvSpPr>
          <p:cNvPr id="137219" name="Rectangle 3"/>
          <p:cNvSpPr>
            <a:spLocks noGrp="1" noChangeArrowheads="1"/>
          </p:cNvSpPr>
          <p:nvPr>
            <p:ph idx="1"/>
          </p:nvPr>
        </p:nvSpPr>
        <p:spPr/>
        <p:txBody>
          <a:bodyPr/>
          <a:lstStyle/>
          <a:p>
            <a:pPr eaLnBrk="1" hangingPunct="1"/>
            <a:r>
              <a:rPr lang="es-PR">
                <a:latin typeface="Tahoma" charset="0"/>
                <a:ea typeface="ＭＳ Ｐゴシック" charset="0"/>
                <a:cs typeface="ＭＳ Ｐゴシック" charset="0"/>
              </a:rPr>
              <a:t>Desventajas de la memoria virtual:</a:t>
            </a:r>
          </a:p>
          <a:p>
            <a:pPr lvl="1" eaLnBrk="1" hangingPunct="1"/>
            <a:r>
              <a:rPr lang="es-PR">
                <a:latin typeface="Tahoma" charset="0"/>
                <a:ea typeface="ＭＳ Ｐゴシック" charset="0"/>
              </a:rPr>
              <a:t>Aumento en la complejidad (y costo) del CPU</a:t>
            </a:r>
          </a:p>
          <a:p>
            <a:pPr lvl="1" eaLnBrk="1" hangingPunct="1"/>
            <a:r>
              <a:rPr lang="es-PR">
                <a:latin typeface="Tahoma" charset="0"/>
                <a:ea typeface="ＭＳ Ｐゴシック" charset="0"/>
              </a:rPr>
              <a:t>Esfuerzo extra para atender las interrupciones</a:t>
            </a:r>
          </a:p>
          <a:p>
            <a:pPr lvl="1" eaLnBrk="1" hangingPunct="1"/>
            <a:r>
              <a:rPr lang="es-PR">
                <a:latin typeface="Tahoma" charset="0"/>
                <a:ea typeface="ＭＳ Ｐゴシック" charset="0"/>
              </a:rPr>
              <a:t>Aumento en la complejidad del sistema operativo</a:t>
            </a:r>
          </a:p>
          <a:p>
            <a:pPr eaLnBrk="1" hangingPunct="1"/>
            <a:r>
              <a:rPr lang="es-PR">
                <a:latin typeface="Tahoma" charset="0"/>
                <a:ea typeface="ＭＳ Ｐゴシック" charset="0"/>
                <a:cs typeface="ＭＳ Ｐゴシック" charset="0"/>
              </a:rPr>
              <a:t>Estas desventajas son sobrepasadas por mucho por las ventajas.</a:t>
            </a:r>
          </a:p>
        </p:txBody>
      </p:sp>
      <p:sp>
        <p:nvSpPr>
          <p:cNvPr id="137220"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C29DB175-80A3-0A47-BF89-7E8CC936FDCC}" type="slidenum">
              <a:rPr lang="en-US" sz="1400"/>
              <a:pPr eaLnBrk="1" hangingPunct="1"/>
              <a:t>84</a:t>
            </a:fld>
            <a:endParaRPr lang="en-US" sz="14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eaLnBrk="1" hangingPunct="1"/>
            <a:r>
              <a:rPr lang="es-PR">
                <a:latin typeface="Tahoma" charset="0"/>
                <a:ea typeface="ＭＳ Ｐゴシック" charset="0"/>
                <a:cs typeface="ＭＳ Ｐゴシック" charset="0"/>
              </a:rPr>
              <a:t>Comparación de los Esquemas de Asignación de Memoria</a:t>
            </a:r>
          </a:p>
        </p:txBody>
      </p:sp>
      <p:sp>
        <p:nvSpPr>
          <p:cNvPr id="139267"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FEB584C6-16D3-3549-90B8-348E9E7D97FD}" type="slidenum">
              <a:rPr lang="en-US" sz="1400"/>
              <a:pPr eaLnBrk="1" hangingPunct="1"/>
              <a:t>85</a:t>
            </a:fld>
            <a:endParaRPr lang="en-US" sz="1400"/>
          </a:p>
        </p:txBody>
      </p:sp>
      <p:pic>
        <p:nvPicPr>
          <p:cNvPr id="139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905000"/>
            <a:ext cx="7608888" cy="3714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normAutofit/>
          </a:bodyPr>
          <a:lstStyle/>
          <a:p>
            <a:pPr eaLnBrk="1" hangingPunct="1"/>
            <a:r>
              <a:rPr lang="es-PR">
                <a:latin typeface="Tahoma" charset="0"/>
                <a:ea typeface="ＭＳ Ｐゴシック" charset="0"/>
                <a:cs typeface="ＭＳ Ｐゴシック" charset="0"/>
              </a:rPr>
              <a:t>Comparación de los Esquemas de Asignación de Memoria (cont.)</a:t>
            </a:r>
          </a:p>
        </p:txBody>
      </p:sp>
      <p:sp>
        <p:nvSpPr>
          <p:cNvPr id="141315"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2A4825AD-B2DE-7946-AFBE-76F44F39A8E8}" type="slidenum">
              <a:rPr lang="en-US" sz="1400"/>
              <a:pPr eaLnBrk="1" hangingPunct="1"/>
              <a:t>86</a:t>
            </a:fld>
            <a:endParaRPr lang="en-US" sz="1400"/>
          </a:p>
        </p:txBody>
      </p:sp>
      <p:pic>
        <p:nvPicPr>
          <p:cNvPr id="141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667000"/>
            <a:ext cx="7583488" cy="3009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en-US">
                <a:latin typeface="Tahoma" charset="0"/>
                <a:ea typeface="ＭＳ Ｐゴシック" charset="0"/>
                <a:cs typeface="ＭＳ Ｐゴシック" charset="0"/>
              </a:rPr>
              <a:t>Conclusión</a:t>
            </a:r>
          </a:p>
        </p:txBody>
      </p:sp>
      <p:sp>
        <p:nvSpPr>
          <p:cNvPr id="143363" name="Rectangle 3"/>
          <p:cNvSpPr>
            <a:spLocks noGrp="1" noChangeArrowheads="1"/>
          </p:cNvSpPr>
          <p:nvPr>
            <p:ph idx="1"/>
          </p:nvPr>
        </p:nvSpPr>
        <p:spPr/>
        <p:txBody>
          <a:bodyPr>
            <a:normAutofit/>
          </a:bodyPr>
          <a:lstStyle/>
          <a:p>
            <a:pPr eaLnBrk="1" hangingPunct="1"/>
            <a:r>
              <a:rPr lang="en-US" sz="2500">
                <a:latin typeface="Tahoma" charset="0"/>
                <a:ea typeface="ＭＳ Ｐゴシック" charset="0"/>
                <a:cs typeface="ＭＳ Ｐゴシック" charset="0"/>
              </a:rPr>
              <a:t>El Administrador de la Memoria (</a:t>
            </a:r>
            <a:r>
              <a:rPr lang="en-US" sz="2500" i="1">
                <a:latin typeface="Tahoma" charset="0"/>
                <a:ea typeface="ＭＳ Ｐゴシック" charset="0"/>
                <a:cs typeface="ＭＳ Ｐゴシック" charset="0"/>
              </a:rPr>
              <a:t>Memory Manager</a:t>
            </a:r>
            <a:r>
              <a:rPr lang="en-US" sz="2500">
                <a:latin typeface="Tahoma" charset="0"/>
                <a:ea typeface="ＭＳ Ｐゴシック" charset="0"/>
                <a:cs typeface="ＭＳ Ｐゴシック" charset="0"/>
              </a:rPr>
              <a:t>) tiene la tarea de asignar la memoria a cada programa que debe ser ejecutado y reclamarla cuando termina su ejecución.</a:t>
            </a:r>
          </a:p>
          <a:p>
            <a:pPr eaLnBrk="1" hangingPunct="1"/>
            <a:r>
              <a:rPr lang="en-US" sz="2500">
                <a:latin typeface="Tahoma" charset="0"/>
                <a:ea typeface="ＭＳ Ｐゴシック" charset="0"/>
                <a:cs typeface="ＭＳ Ｐゴシック" charset="0"/>
              </a:rPr>
              <a:t>Una vez que los programas han sido cargados a memoria usando un esquema de asignación, otro módulo del s.o. debe asignar el CPU a cada programa de la forma más eficiente posible.</a:t>
            </a:r>
          </a:p>
        </p:txBody>
      </p:sp>
      <p:sp>
        <p:nvSpPr>
          <p:cNvPr id="143364" name="5 Marcador de número de diapositiva"/>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Verdana" charset="0"/>
                <a:ea typeface="ＭＳ Ｐゴシック" charset="0"/>
                <a:cs typeface="Arial" charset="0"/>
              </a:defRPr>
            </a:lvl1pPr>
            <a:lvl2pPr marL="37931725" indent="-37474525" eaLnBrk="0" hangingPunct="0">
              <a:defRPr sz="2400">
                <a:solidFill>
                  <a:schemeClr val="tx1"/>
                </a:solidFill>
                <a:latin typeface="Verdana" charset="0"/>
                <a:ea typeface="Arial" charset="0"/>
                <a:cs typeface="Arial" charset="0"/>
              </a:defRPr>
            </a:lvl2pPr>
            <a:lvl3pPr eaLnBrk="0" hangingPunct="0">
              <a:defRPr sz="2400">
                <a:solidFill>
                  <a:schemeClr val="tx1"/>
                </a:solidFill>
                <a:latin typeface="Verdana" charset="0"/>
                <a:ea typeface="Arial" charset="0"/>
                <a:cs typeface="Arial" charset="0"/>
              </a:defRPr>
            </a:lvl3pPr>
            <a:lvl4pPr eaLnBrk="0" hangingPunct="0">
              <a:defRPr sz="2400">
                <a:solidFill>
                  <a:schemeClr val="tx1"/>
                </a:solidFill>
                <a:latin typeface="Verdana" charset="0"/>
                <a:ea typeface="Arial" charset="0"/>
                <a:cs typeface="Arial" charset="0"/>
              </a:defRPr>
            </a:lvl4pPr>
            <a:lvl5pPr eaLnBrk="0" hangingPunct="0">
              <a:defRPr sz="2400">
                <a:solidFill>
                  <a:schemeClr val="tx1"/>
                </a:solidFill>
                <a:latin typeface="Verdana" charset="0"/>
                <a:ea typeface="Arial" charset="0"/>
                <a:cs typeface="Arial" charset="0"/>
              </a:defRPr>
            </a:lvl5pPr>
            <a:lvl6pPr marL="457200" eaLnBrk="0" fontAlgn="base" hangingPunct="0">
              <a:spcBef>
                <a:spcPct val="0"/>
              </a:spcBef>
              <a:spcAft>
                <a:spcPct val="0"/>
              </a:spcAft>
              <a:defRPr sz="2400">
                <a:solidFill>
                  <a:schemeClr val="tx1"/>
                </a:solidFill>
                <a:latin typeface="Verdana" charset="0"/>
                <a:ea typeface="Arial" charset="0"/>
                <a:cs typeface="Arial" charset="0"/>
              </a:defRPr>
            </a:lvl6pPr>
            <a:lvl7pPr marL="914400" eaLnBrk="0" fontAlgn="base" hangingPunct="0">
              <a:spcBef>
                <a:spcPct val="0"/>
              </a:spcBef>
              <a:spcAft>
                <a:spcPct val="0"/>
              </a:spcAft>
              <a:defRPr sz="2400">
                <a:solidFill>
                  <a:schemeClr val="tx1"/>
                </a:solidFill>
                <a:latin typeface="Verdana" charset="0"/>
                <a:ea typeface="Arial" charset="0"/>
                <a:cs typeface="Arial" charset="0"/>
              </a:defRPr>
            </a:lvl7pPr>
            <a:lvl8pPr marL="1371600" eaLnBrk="0" fontAlgn="base" hangingPunct="0">
              <a:spcBef>
                <a:spcPct val="0"/>
              </a:spcBef>
              <a:spcAft>
                <a:spcPct val="0"/>
              </a:spcAft>
              <a:defRPr sz="2400">
                <a:solidFill>
                  <a:schemeClr val="tx1"/>
                </a:solidFill>
                <a:latin typeface="Verdana" charset="0"/>
                <a:ea typeface="Arial" charset="0"/>
                <a:cs typeface="Arial" charset="0"/>
              </a:defRPr>
            </a:lvl8pPr>
            <a:lvl9pPr marL="1828800" eaLnBrk="0" fontAlgn="base" hangingPunct="0">
              <a:spcBef>
                <a:spcPct val="0"/>
              </a:spcBef>
              <a:spcAft>
                <a:spcPct val="0"/>
              </a:spcAft>
              <a:defRPr sz="2400">
                <a:solidFill>
                  <a:schemeClr val="tx1"/>
                </a:solidFill>
                <a:latin typeface="Verdana" charset="0"/>
                <a:ea typeface="Arial" charset="0"/>
                <a:cs typeface="Arial" charset="0"/>
              </a:defRPr>
            </a:lvl9pPr>
          </a:lstStyle>
          <a:p>
            <a:pPr eaLnBrk="1" hangingPunct="1"/>
            <a:fld id="{3C145913-5154-EE48-BC61-C79D61AECE81}" type="slidenum">
              <a:rPr lang="en-US" sz="1400"/>
              <a:pPr eaLnBrk="1" hangingPunct="1"/>
              <a:t>87</a:t>
            </a:fld>
            <a:endParaRPr lang="en-US" sz="1400"/>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13332</TotalTime>
  <Words>6381</Words>
  <Application>Microsoft Office PowerPoint</Application>
  <PresentationFormat>Panorámica</PresentationFormat>
  <Paragraphs>1097</Paragraphs>
  <Slides>87</Slides>
  <Notes>67</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87</vt:i4>
      </vt:variant>
    </vt:vector>
  </HeadingPairs>
  <TitlesOfParts>
    <vt:vector size="97" baseType="lpstr">
      <vt:lpstr>Arial</vt:lpstr>
      <vt:lpstr>Calibri</vt:lpstr>
      <vt:lpstr>Consolas</vt:lpstr>
      <vt:lpstr>Courier New</vt:lpstr>
      <vt:lpstr>Tahoma</vt:lpstr>
      <vt:lpstr>Trebuchet MS</vt:lpstr>
      <vt:lpstr>Verdana</vt:lpstr>
      <vt:lpstr>Wingdings</vt:lpstr>
      <vt:lpstr>Wingdings 3</vt:lpstr>
      <vt:lpstr>Faceta</vt:lpstr>
      <vt:lpstr>Administración de memoria</vt:lpstr>
      <vt:lpstr>Administración de memoria</vt:lpstr>
      <vt:lpstr>Organización de la memoria</vt:lpstr>
      <vt:lpstr>MANEJO DE MEMORIA EN SISTEMAS MONOUSUARIO SIN INTERCAMBIO.</vt:lpstr>
      <vt:lpstr>Presentación de PowerPoint</vt:lpstr>
      <vt:lpstr>Organización simple</vt:lpstr>
      <vt:lpstr>Presentación de PowerPoint</vt:lpstr>
      <vt:lpstr>MULTIPROGRAMACIÓN EN MEMORIA REAL..</vt:lpstr>
      <vt:lpstr>Presentación de PowerPoint</vt:lpstr>
      <vt:lpstr>MULTIPROGRAMACIÓN EN MEMORIA REAL..</vt:lpstr>
      <vt:lpstr>Presentación de PowerPoint</vt:lpstr>
      <vt:lpstr>PARTICIONES FIJAS.</vt:lpstr>
      <vt:lpstr>Presentación de PowerPoint</vt:lpstr>
      <vt:lpstr>PARTICIONES DINAMICAS</vt:lpstr>
      <vt:lpstr>Presentación de PowerPoint</vt:lpstr>
      <vt:lpstr>Presentación de PowerPoint</vt:lpstr>
      <vt:lpstr>Problema de la colocación.</vt:lpstr>
      <vt:lpstr>Overlays</vt:lpstr>
      <vt:lpstr>3. Administración de la Memoria: La Memoria Virtual</vt:lpstr>
      <vt:lpstr>Introducción</vt:lpstr>
      <vt:lpstr>Asignación Paginada de Memoria</vt:lpstr>
      <vt:lpstr>Presentación de PowerPoint</vt:lpstr>
      <vt:lpstr>Asignación Paginada de Memoria (cont.)</vt:lpstr>
      <vt:lpstr>Asignación Paginada de Memoria (cont.)</vt:lpstr>
      <vt:lpstr>Asignación Paginada de Memoria (cont.)</vt:lpstr>
      <vt:lpstr>Presentación de PowerPoint</vt:lpstr>
      <vt:lpstr>Asignación Paginada de Memoria (cont.)</vt:lpstr>
      <vt:lpstr>Asignación Paginada de Memoria (cont.)</vt:lpstr>
      <vt:lpstr>Asignación Paginada de Memoria (cont.)</vt:lpstr>
      <vt:lpstr>Asignación Paginada de Memoria (cont.)</vt:lpstr>
      <vt:lpstr>Asignación Paginada de Memoria (cont.)</vt:lpstr>
      <vt:lpstr>Asignación Paginada de Memoria (cont.)</vt:lpstr>
      <vt:lpstr>Asignación Paginada de Memoria (cont.)</vt:lpstr>
      <vt:lpstr>Asignación Paginada de Memoria (cont.)</vt:lpstr>
      <vt:lpstr>Asignación Paginada de Memoria (cont.)</vt:lpstr>
      <vt:lpstr>Presentación de PowerPoint</vt:lpstr>
      <vt:lpstr>Asignación Paginada de Memoria (cont.)</vt:lpstr>
      <vt:lpstr>Asignación Paginada de Memoria (cont.)</vt:lpstr>
      <vt:lpstr>Presentación de PowerPoint</vt:lpstr>
      <vt:lpstr>Presentación de PowerPoint</vt:lpstr>
      <vt:lpstr>Paginación por Demanda</vt:lpstr>
      <vt:lpstr>Paginación por Demanda (cont.)</vt:lpstr>
      <vt:lpstr>Paginación por Demanda (cont.)</vt:lpstr>
      <vt:lpstr>Paginación por Demanda (cont.)</vt:lpstr>
      <vt:lpstr>Paginación por Demanda (cont.)</vt:lpstr>
      <vt:lpstr>Paginación por Demanda (cont.)</vt:lpstr>
      <vt:lpstr>Paginación por Demanda (cont.)</vt:lpstr>
      <vt:lpstr>Paginación por Demanda (cont.)</vt:lpstr>
      <vt:lpstr>Paginación por Demanda (cont.)</vt:lpstr>
      <vt:lpstr>Paginación por Demanda (cont.)</vt:lpstr>
      <vt:lpstr>Paginación por Demanda (cont.)</vt:lpstr>
      <vt:lpstr>Políticas de Reemplazo de Páginas</vt:lpstr>
      <vt:lpstr>Políticas de Reemplazo de Páginas (cont.)</vt:lpstr>
      <vt:lpstr>Políticas de Reemplazo de Páginas (cont.)</vt:lpstr>
      <vt:lpstr>Políticas de Reemplazo de Páginas (cont.)</vt:lpstr>
      <vt:lpstr>Políticas de Reemplazo de Páginas (cont.)</vt:lpstr>
      <vt:lpstr>Políticas de Reemplazo de Páginas (cont.)</vt:lpstr>
      <vt:lpstr>Políticas de Reemplazo de Páginas (cont.)</vt:lpstr>
      <vt:lpstr>Políticas de Reemplazo de Páginas (cont.)</vt:lpstr>
      <vt:lpstr>Políticas de Reemplazo de Páginas (cont.)</vt:lpstr>
      <vt:lpstr>Políticas de Reemplazo de Páginas (cont.)</vt:lpstr>
      <vt:lpstr>Políticas de Reemplazo de Páginas (cont.)</vt:lpstr>
      <vt:lpstr>Asignación Segmentada de Memoria</vt:lpstr>
      <vt:lpstr>Presentación de PowerPoint</vt:lpstr>
      <vt:lpstr>Asignación Segmentada de Memoria</vt:lpstr>
      <vt:lpstr>Asignación Segmentada de Memoria (cont.)</vt:lpstr>
      <vt:lpstr>Asignación Segmentada de Memoria (cont.)</vt:lpstr>
      <vt:lpstr>Asignación Segmentada de Memoria (cont.)</vt:lpstr>
      <vt:lpstr>Asignación Segmentada de Memoria (cont.)</vt:lpstr>
      <vt:lpstr>Asignación Segmentada de Memoria (cont.)</vt:lpstr>
      <vt:lpstr>Presentación de PowerPoint</vt:lpstr>
      <vt:lpstr>Asignación Segmentada de Memoria (cont.)</vt:lpstr>
      <vt:lpstr>Asignación Segmentada de Memoria (cont.)</vt:lpstr>
      <vt:lpstr>Asignación Segmentada y Paginada por Demanda de Memoria</vt:lpstr>
      <vt:lpstr>Asignación Segmentada y Paginada por Demanda de Memoria (cont.)</vt:lpstr>
      <vt:lpstr>Asignación Segmentada y Paginada por Demanda de Memoria (cont.)</vt:lpstr>
      <vt:lpstr>Asignación Segmentada y Paginada por Demanda de Memoria (cont.)</vt:lpstr>
      <vt:lpstr>Asignación Segmentada y Paginada por Demanda de Memoria (cont.)</vt:lpstr>
      <vt:lpstr>Asignación Segmentada y Paginada por Demanda de Memoria (cont.)</vt:lpstr>
      <vt:lpstr>Memoria Virtual</vt:lpstr>
      <vt:lpstr>Memoria Virtual (cont.)</vt:lpstr>
      <vt:lpstr>Memoria Virtual (cont.)</vt:lpstr>
      <vt:lpstr>Memoria Virtual (cont.)</vt:lpstr>
      <vt:lpstr>Memoria Virtual (cont.)</vt:lpstr>
      <vt:lpstr>Comparación de los Esquemas de Asignación de Memoria</vt:lpstr>
      <vt:lpstr>Comparación de los Esquemas de Asignación de Memoria (cont.)</vt:lpstr>
      <vt:lpstr>Conclusión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Administración de la Memoria: Memoria Virtual</dc:title>
  <dc:creator>Antonio F. Huertas</dc:creator>
  <cp:lastModifiedBy>Jesus Antonio Garrido Antonio</cp:lastModifiedBy>
  <cp:revision>79</cp:revision>
  <dcterms:created xsi:type="dcterms:W3CDTF">2010-10-25T19:13:44Z</dcterms:created>
  <dcterms:modified xsi:type="dcterms:W3CDTF">2022-05-07T12:35:23Z</dcterms:modified>
</cp:coreProperties>
</file>